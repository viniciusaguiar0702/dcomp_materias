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57" r:id="rId5"/>
    <p:sldId id="259" r:id="rId6"/>
    <p:sldId id="261" r:id="rId7"/>
    <p:sldId id="262" r:id="rId8"/>
    <p:sldId id="263" r:id="rId9"/>
    <p:sldId id="271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Iniciativas de IA para Engenharia de Software</a:t>
            </a:r>
            <a:endParaRPr lang="pt-BR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IA não é algo novo!!!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b="1" dirty="0" smtClean="0"/>
              <a:t>Turing Test (1950)</a:t>
            </a:r>
          </a:p>
          <a:p>
            <a:r>
              <a:rPr lang="pt-BR" dirty="0" smtClean="0"/>
              <a:t>Checkers-playing program (1951)</a:t>
            </a:r>
            <a:endParaRPr lang="pt-BR" b="1" dirty="0" smtClean="0"/>
          </a:p>
          <a:p>
            <a:r>
              <a:rPr lang="pt-BR" dirty="0" smtClean="0"/>
              <a:t>Dartmouth workshop of 1956 </a:t>
            </a:r>
          </a:p>
          <a:p>
            <a:pPr lvl="1"/>
            <a:r>
              <a:rPr lang="en-US" b="1" dirty="0" smtClean="0"/>
              <a:t>Marvin </a:t>
            </a:r>
            <a:r>
              <a:rPr lang="en-US" b="1" dirty="0" err="1" smtClean="0"/>
              <a:t>Minsky</a:t>
            </a:r>
            <a:r>
              <a:rPr lang="en-US" b="1" dirty="0" smtClean="0"/>
              <a:t>, John McCarthy, Claude Shannon, Nathan Rochester</a:t>
            </a:r>
          </a:p>
          <a:p>
            <a:r>
              <a:rPr lang="en-US" b="1" dirty="0" smtClean="0"/>
              <a:t>LISP (1958)</a:t>
            </a:r>
            <a:endParaRPr lang="pt-BR" b="1" dirty="0" smtClean="0"/>
          </a:p>
          <a:p>
            <a:r>
              <a:rPr lang="en-US" dirty="0" smtClean="0"/>
              <a:t>"Some Studies in Machine Learning Using the Game of Checkers“ (1959)</a:t>
            </a:r>
          </a:p>
          <a:p>
            <a:r>
              <a:rPr lang="en-US" dirty="0" smtClean="0"/>
              <a:t>MIT AI Lab. (1959)</a:t>
            </a:r>
          </a:p>
          <a:p>
            <a:r>
              <a:rPr lang="en-US" dirty="0" smtClean="0"/>
              <a:t>ELIZA (1965)</a:t>
            </a:r>
          </a:p>
          <a:p>
            <a:r>
              <a:rPr lang="en-US" dirty="0" err="1" smtClean="0"/>
              <a:t>Dendral</a:t>
            </a:r>
            <a:r>
              <a:rPr lang="en-US" dirty="0" smtClean="0"/>
              <a:t> expert system (1965)</a:t>
            </a:r>
          </a:p>
          <a:p>
            <a:r>
              <a:rPr lang="en-US" dirty="0" smtClean="0"/>
              <a:t>PROLOG (1972)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Patentes em IA em 2024</a:t>
            </a:r>
            <a:br>
              <a:rPr lang="pt-BR" dirty="0" smtClean="0"/>
            </a:br>
            <a:r>
              <a:rPr lang="pt-BR" dirty="0" smtClean="0"/>
              <a:t>(patentes e número de empresas)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 lang="en-US" sz="800" b="1" dirty="0" smtClean="0">
              <a:solidFill>
                <a:srgbClr val="FFFFFF"/>
              </a:solidFill>
              <a:latin typeface="Segoe UI"/>
            </a:endParaRPr>
          </a:p>
          <a:p>
            <a:pPr lvl="1"/>
            <a:r>
              <a:rPr lang="en-US" sz="400" b="1" dirty="0" smtClean="0">
                <a:solidFill>
                  <a:srgbClr val="FFFFFF"/>
                </a:solidFill>
                <a:latin typeface="Segoe UI"/>
              </a:rPr>
              <a:t>Rank	Country	Total AI Patents (2024*)	Number of Companies in Dataset	</a:t>
            </a:r>
            <a:r>
              <a:rPr lang="pt-BR" sz="400" b="1" dirty="0" smtClean="0">
                <a:solidFill>
                  <a:srgbClr val="FFFFFF"/>
                </a:solidFill>
                <a:latin typeface="Segoe UI"/>
              </a:rPr>
              <a:t>	</a:t>
            </a:r>
            <a:endParaRPr lang="pt-BR" sz="2000" b="1" dirty="0" smtClean="0">
              <a:solidFill>
                <a:srgbClr val="FFFFFF"/>
              </a:solidFill>
              <a:latin typeface="Times New Roman"/>
            </a:endParaRPr>
          </a:p>
          <a:p>
            <a:r>
              <a:rPr lang="pt-BR" dirty="0" smtClean="0">
                <a:solidFill>
                  <a:srgbClr val="313131"/>
                </a:solidFill>
                <a:latin typeface="Segoe UI"/>
              </a:rPr>
              <a:t>1	China			12,945	523		</a:t>
            </a:r>
            <a:endParaRPr lang="pt-BR" sz="2400" dirty="0" smtClean="0">
              <a:solidFill>
                <a:srgbClr val="313131"/>
              </a:solidFill>
              <a:latin typeface="Times New Roman"/>
            </a:endParaRPr>
          </a:p>
          <a:p>
            <a:r>
              <a:rPr lang="en-US" dirty="0" smtClean="0">
                <a:solidFill>
                  <a:srgbClr val="313131"/>
                </a:solidFill>
                <a:latin typeface="Segoe UI"/>
              </a:rPr>
              <a:t>2	United States	8,609		257		</a:t>
            </a:r>
            <a:endParaRPr lang="en-US" sz="2400" dirty="0" smtClean="0">
              <a:solidFill>
                <a:srgbClr val="313131"/>
              </a:solidFill>
              <a:latin typeface="Times New Roman"/>
            </a:endParaRPr>
          </a:p>
          <a:p>
            <a:r>
              <a:rPr lang="en-US" dirty="0" smtClean="0">
                <a:solidFill>
                  <a:srgbClr val="313131"/>
                </a:solidFill>
                <a:latin typeface="Segoe UI"/>
              </a:rPr>
              <a:t>3	South Korea	1,537		43		</a:t>
            </a:r>
            <a:endParaRPr lang="en-US" sz="2400" dirty="0" smtClean="0">
              <a:solidFill>
                <a:srgbClr val="313131"/>
              </a:solidFill>
              <a:latin typeface="Times New Roman"/>
            </a:endParaRPr>
          </a:p>
          <a:p>
            <a:r>
              <a:rPr lang="pt-BR" dirty="0" smtClean="0">
                <a:solidFill>
                  <a:srgbClr val="313131"/>
                </a:solidFill>
                <a:latin typeface="Segoe UI"/>
              </a:rPr>
              <a:t>4	Japan			1,537		41		</a:t>
            </a:r>
            <a:endParaRPr lang="pt-BR" sz="2400" dirty="0" smtClean="0">
              <a:solidFill>
                <a:srgbClr val="313131"/>
              </a:solidFill>
              <a:latin typeface="Times New Roman"/>
            </a:endParaRPr>
          </a:p>
          <a:p>
            <a:r>
              <a:rPr lang="pt-BR" dirty="0" smtClean="0">
                <a:solidFill>
                  <a:srgbClr val="313131"/>
                </a:solidFill>
                <a:latin typeface="Segoe UI"/>
              </a:rPr>
              <a:t>5	Germany		784		18		</a:t>
            </a:r>
            <a:endParaRPr lang="pt-BR" sz="2400" dirty="0" smtClean="0">
              <a:solidFill>
                <a:srgbClr val="313131"/>
              </a:solidFill>
              <a:latin typeface="Times New Roman"/>
            </a:endParaRPr>
          </a:p>
          <a:p>
            <a:r>
              <a:rPr lang="en-US" dirty="0" smtClean="0">
                <a:solidFill>
                  <a:srgbClr val="313131"/>
                </a:solidFill>
                <a:latin typeface="Segoe UI"/>
              </a:rPr>
              <a:t>6	United Kingdom	369		11		</a:t>
            </a:r>
            <a:endParaRPr lang="en-US" sz="2400" dirty="0" smtClean="0">
              <a:solidFill>
                <a:srgbClr val="313131"/>
              </a:solidFill>
              <a:latin typeface="Times New Roman"/>
            </a:endParaRPr>
          </a:p>
          <a:p>
            <a:r>
              <a:rPr lang="pt-BR" dirty="0" smtClean="0">
                <a:solidFill>
                  <a:srgbClr val="313131"/>
                </a:solidFill>
                <a:latin typeface="Segoe UI"/>
              </a:rPr>
              <a:t>7	Netherlands	249		7		</a:t>
            </a:r>
            <a:endParaRPr lang="pt-BR" sz="2400" dirty="0" smtClean="0">
              <a:solidFill>
                <a:srgbClr val="313131"/>
              </a:solidFill>
              <a:latin typeface="Times New Roman"/>
            </a:endParaRPr>
          </a:p>
          <a:p>
            <a:r>
              <a:rPr lang="pt-BR" dirty="0" smtClean="0">
                <a:solidFill>
                  <a:srgbClr val="313131"/>
                </a:solidFill>
                <a:latin typeface="Segoe UI"/>
              </a:rPr>
              <a:t>8	Sweden		243		4		</a:t>
            </a:r>
            <a:endParaRPr lang="pt-BR" sz="2400" dirty="0" smtClean="0">
              <a:solidFill>
                <a:srgbClr val="313131"/>
              </a:solidFill>
              <a:latin typeface="Times New Roman"/>
            </a:endParaRPr>
          </a:p>
          <a:p>
            <a:r>
              <a:rPr lang="pt-BR" dirty="0" smtClean="0">
                <a:solidFill>
                  <a:srgbClr val="313131"/>
                </a:solidFill>
                <a:latin typeface="Segoe UI"/>
              </a:rPr>
              <a:t>9	Finland		180		1		</a:t>
            </a:r>
            <a:endParaRPr lang="pt-BR" sz="2400" dirty="0" smtClean="0">
              <a:solidFill>
                <a:srgbClr val="313131"/>
              </a:solidFill>
              <a:latin typeface="Times New Roman"/>
            </a:endParaRPr>
          </a:p>
          <a:p>
            <a:r>
              <a:rPr lang="pt-BR" dirty="0" smtClean="0">
                <a:solidFill>
                  <a:srgbClr val="313131"/>
                </a:solidFill>
                <a:latin typeface="Segoe UI"/>
              </a:rPr>
              <a:t>10	Taiwan		156		11</a:t>
            </a:r>
            <a:r>
              <a:rPr lang="pt-BR" sz="2400" dirty="0" smtClean="0">
                <a:solidFill>
                  <a:srgbClr val="313131"/>
                </a:solidFill>
                <a:latin typeface="Times New Roman"/>
              </a:rPr>
              <a:t>		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Quais são as tendências de IA para ES? 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Juntar IA e ES não é algo novo!</a:t>
            </a:r>
          </a:p>
          <a:p>
            <a:pPr lvl="1"/>
            <a:r>
              <a:rPr lang="pt-BR" b="1" dirty="0" smtClean="0"/>
              <a:t>ID:</a:t>
            </a:r>
            <a:r>
              <a:rPr lang="pt-BR" dirty="0" smtClean="0"/>
              <a:t>10994</a:t>
            </a:r>
            <a:br>
              <a:rPr lang="pt-BR" dirty="0" smtClean="0"/>
            </a:br>
            <a:r>
              <a:rPr lang="pt-BR" b="1" dirty="0" smtClean="0"/>
              <a:t>Tipo de material:</a:t>
            </a:r>
            <a:r>
              <a:rPr lang="pt-BR" dirty="0" smtClean="0"/>
              <a:t>livro</a:t>
            </a:r>
            <a:br>
              <a:rPr lang="pt-BR" dirty="0" smtClean="0"/>
            </a:br>
            <a:r>
              <a:rPr lang="pt-BR" b="1" dirty="0" smtClean="0"/>
              <a:t>Autor:</a:t>
            </a:r>
            <a:r>
              <a:rPr lang="pt-BR" dirty="0" smtClean="0"/>
              <a:t>Lucena, Carlos J. P. (Carlos Jose Pereira de)</a:t>
            </a:r>
            <a:br>
              <a:rPr lang="pt-BR" dirty="0" smtClean="0"/>
            </a:br>
            <a:r>
              <a:rPr lang="pt-BR" b="1" dirty="0" smtClean="0"/>
              <a:t>Título:</a:t>
            </a:r>
            <a:r>
              <a:rPr lang="pt-BR" dirty="0" smtClean="0"/>
              <a:t>Inteligência artificial e engenharia de software</a:t>
            </a:r>
            <a:br>
              <a:rPr lang="pt-BR" dirty="0" smtClean="0"/>
            </a:br>
            <a:r>
              <a:rPr lang="pt-BR" b="1" dirty="0" smtClean="0"/>
              <a:t>Local:</a:t>
            </a:r>
            <a:r>
              <a:rPr lang="pt-BR" dirty="0" smtClean="0"/>
              <a:t>Rio de Janeiro</a:t>
            </a:r>
            <a:br>
              <a:rPr lang="pt-BR" dirty="0" smtClean="0"/>
            </a:br>
            <a:r>
              <a:rPr lang="pt-BR" b="1" dirty="0" smtClean="0"/>
              <a:t>Editor:</a:t>
            </a:r>
            <a:r>
              <a:rPr lang="pt-BR" dirty="0" smtClean="0"/>
              <a:t>J. Zahar</a:t>
            </a:r>
            <a:br>
              <a:rPr lang="pt-BR" dirty="0" smtClean="0"/>
            </a:br>
            <a:r>
              <a:rPr lang="pt-BR" sz="3600" b="1" dirty="0" smtClean="0"/>
              <a:t>Ano:1987</a:t>
            </a:r>
            <a:r>
              <a:rPr lang="pt-BR" dirty="0" smtClean="0"/>
              <a:t>.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Applications of AI in classical software engineering</a:t>
            </a:r>
            <a:br>
              <a:rPr lang="en-US" dirty="0" smtClean="0"/>
            </a:b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000" smtClean="0"/>
              <a:t>https://aiperspectives-springeropen-com.translate.goog/articles/10.1186/s42467-020-00005-4?_x_tr_sl=en&amp;_x_tr_tl=pt&amp;_x_tr_hl=pt&amp;_x_tr_pto=tc</a:t>
            </a:r>
            <a:endParaRPr lang="pt-BR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Problemas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Classical </a:t>
            </a:r>
            <a:r>
              <a:rPr lang="en-US" dirty="0" smtClean="0"/>
              <a:t>software </a:t>
            </a:r>
            <a:r>
              <a:rPr lang="en-US" dirty="0" smtClean="0"/>
              <a:t>engineers would possibly become obsolete </a:t>
            </a:r>
            <a:r>
              <a:rPr lang="en-US" dirty="0" smtClean="0"/>
              <a:t>since machines </a:t>
            </a:r>
            <a:r>
              <a:rPr lang="en-US" dirty="0" smtClean="0"/>
              <a:t>could take over their tasks</a:t>
            </a:r>
            <a:r>
              <a:rPr lang="en-US" dirty="0" smtClean="0"/>
              <a:t>.</a:t>
            </a:r>
          </a:p>
          <a:p>
            <a:pPr lvl="1"/>
            <a:r>
              <a:rPr lang="en-US" dirty="0" err="1" smtClean="0"/>
              <a:t>Máquinas</a:t>
            </a:r>
            <a:r>
              <a:rPr lang="en-US" dirty="0" smtClean="0"/>
              <a:t> </a:t>
            </a:r>
            <a:r>
              <a:rPr lang="en-US" dirty="0" err="1" smtClean="0"/>
              <a:t>poderão</a:t>
            </a:r>
            <a:r>
              <a:rPr lang="en-US" dirty="0" smtClean="0"/>
              <a:t> </a:t>
            </a:r>
            <a:r>
              <a:rPr lang="en-US" dirty="0" err="1" smtClean="0"/>
              <a:t>fazer</a:t>
            </a:r>
            <a:r>
              <a:rPr lang="en-US" dirty="0" smtClean="0"/>
              <a:t> </a:t>
            </a:r>
            <a:r>
              <a:rPr lang="en-US" dirty="0" err="1" smtClean="0"/>
              <a:t>nosso</a:t>
            </a:r>
            <a:r>
              <a:rPr lang="en-US" dirty="0" smtClean="0"/>
              <a:t> </a:t>
            </a:r>
            <a:r>
              <a:rPr lang="en-US" dirty="0" err="1" smtClean="0"/>
              <a:t>trabalho</a:t>
            </a:r>
            <a:r>
              <a:rPr lang="en-US" dirty="0" smtClean="0"/>
              <a:t> </a:t>
            </a:r>
            <a:r>
              <a:rPr lang="en-US" dirty="0" smtClean="0"/>
              <a:t>de </a:t>
            </a:r>
            <a:r>
              <a:rPr lang="en-US" dirty="0" err="1" smtClean="0"/>
              <a:t>desenvolvimento</a:t>
            </a:r>
            <a:r>
              <a:rPr lang="en-US" dirty="0" smtClean="0"/>
              <a:t> e </a:t>
            </a:r>
            <a:r>
              <a:rPr lang="en-US" dirty="0" err="1" smtClean="0"/>
              <a:t>manutenção</a:t>
            </a:r>
            <a:r>
              <a:rPr lang="en-US" dirty="0" smtClean="0"/>
              <a:t> de SW?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8458200" cy="1143000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Quais são as atividades de desenvolvimento e manutenção de SW? 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4191000" cy="4525963"/>
          </a:xfrm>
        </p:spPr>
        <p:txBody>
          <a:bodyPr>
            <a:normAutofit fontScale="70000" lnSpcReduction="20000"/>
          </a:bodyPr>
          <a:lstStyle/>
          <a:p>
            <a:r>
              <a:rPr lang="pt-BR" dirty="0" smtClean="0"/>
              <a:t>Conversar com stakeholders</a:t>
            </a:r>
          </a:p>
          <a:p>
            <a:r>
              <a:rPr lang="pt-BR" dirty="0" smtClean="0"/>
              <a:t>Extrair requisitos</a:t>
            </a:r>
          </a:p>
          <a:p>
            <a:r>
              <a:rPr lang="pt-BR" dirty="0" smtClean="0"/>
              <a:t>Organizar tarefas administrativas</a:t>
            </a:r>
          </a:p>
          <a:p>
            <a:r>
              <a:rPr lang="pt-BR" dirty="0" smtClean="0"/>
              <a:t>Organizar tarefas </a:t>
            </a:r>
            <a:r>
              <a:rPr lang="pt-BR" dirty="0" smtClean="0"/>
              <a:t>técnicas</a:t>
            </a:r>
          </a:p>
          <a:p>
            <a:r>
              <a:rPr lang="pt-BR" dirty="0" smtClean="0"/>
              <a:t>Propor, Analisar e implementar a arquitetura </a:t>
            </a:r>
          </a:p>
          <a:p>
            <a:r>
              <a:rPr lang="pt-BR" dirty="0" smtClean="0"/>
              <a:t>Propor a interface gráfica</a:t>
            </a:r>
          </a:p>
          <a:p>
            <a:r>
              <a:rPr lang="pt-BR" dirty="0" smtClean="0"/>
              <a:t>Entender pontos de alteração</a:t>
            </a:r>
          </a:p>
          <a:p>
            <a:r>
              <a:rPr lang="pt-BR" dirty="0" smtClean="0"/>
              <a:t>Configurar servidores</a:t>
            </a:r>
          </a:p>
          <a:p>
            <a:r>
              <a:rPr lang="pt-BR" dirty="0" smtClean="0"/>
              <a:t>Corrigir bugs</a:t>
            </a:r>
          </a:p>
          <a:p>
            <a:r>
              <a:rPr lang="pt-BR" dirty="0" smtClean="0"/>
              <a:t>.......</a:t>
            </a:r>
          </a:p>
          <a:p>
            <a:endParaRPr lang="pt-BR" dirty="0" smtClean="0"/>
          </a:p>
          <a:p>
            <a:endParaRPr lang="pt-BR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495800" y="1600200"/>
            <a:ext cx="41910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pt-BR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Entender processos de negócios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pt-BR" sz="3200" dirty="0" smtClean="0"/>
              <a:t>Comprar equipamentos, serviços, softwares, ....</a:t>
            </a:r>
            <a:endParaRPr kumimoji="0" lang="pt-BR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pt-BR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Tomar decisões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pt-BR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Projetar o software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pt-BR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Programar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pt-BR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Testar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pt-BR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Avaliar a qualidade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pt-BR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Documentar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pt-BR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Implantar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pt-BR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Avaliar a segurança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pt-BR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.......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pt-BR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8458200" cy="1143000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Quais </a:t>
            </a:r>
            <a:r>
              <a:rPr lang="pt-BR" dirty="0" smtClean="0"/>
              <a:t>dessas atividades podem ser feitas por AI? </a:t>
            </a:r>
            <a:endParaRPr lang="pt-BR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495800" y="1600200"/>
            <a:ext cx="41910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pt-BR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Entender processos de negócios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pt-BR" sz="3200" dirty="0" smtClean="0"/>
              <a:t>Comprar equipamentos, serviços, softwares, ....</a:t>
            </a:r>
            <a:endParaRPr kumimoji="0" lang="pt-BR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pt-BR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Tomar decisões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pt-BR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Projetar o software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pt-BR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Programar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pt-BR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Testar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pt-BR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Avaliar a qualidade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pt-BR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Documentar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pt-BR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Implantar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pt-BR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Avaliar a segurança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pt-BR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.......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pt-BR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4191000" cy="4525963"/>
          </a:xfrm>
        </p:spPr>
        <p:txBody>
          <a:bodyPr>
            <a:normAutofit fontScale="70000" lnSpcReduction="20000"/>
          </a:bodyPr>
          <a:lstStyle/>
          <a:p>
            <a:r>
              <a:rPr lang="pt-BR" dirty="0" smtClean="0"/>
              <a:t>Conversar com stakeholders</a:t>
            </a:r>
          </a:p>
          <a:p>
            <a:r>
              <a:rPr lang="pt-BR" dirty="0" smtClean="0"/>
              <a:t>Extrair requisitos</a:t>
            </a:r>
          </a:p>
          <a:p>
            <a:r>
              <a:rPr lang="pt-BR" dirty="0" smtClean="0"/>
              <a:t>Organizar tarefas administrativas</a:t>
            </a:r>
          </a:p>
          <a:p>
            <a:r>
              <a:rPr lang="pt-BR" dirty="0" smtClean="0"/>
              <a:t>Organizar tarefas </a:t>
            </a:r>
            <a:r>
              <a:rPr lang="pt-BR" dirty="0" smtClean="0"/>
              <a:t>técnicas</a:t>
            </a:r>
          </a:p>
          <a:p>
            <a:r>
              <a:rPr lang="pt-BR" dirty="0" smtClean="0"/>
              <a:t>Propor, Analisar e implementar a arquitetura </a:t>
            </a:r>
          </a:p>
          <a:p>
            <a:r>
              <a:rPr lang="pt-BR" dirty="0" smtClean="0"/>
              <a:t>Propor a interface gráfica</a:t>
            </a:r>
          </a:p>
          <a:p>
            <a:r>
              <a:rPr lang="pt-BR" dirty="0" smtClean="0"/>
              <a:t>Entender pontos de alteração</a:t>
            </a:r>
          </a:p>
          <a:p>
            <a:r>
              <a:rPr lang="pt-BR" dirty="0" smtClean="0"/>
              <a:t>Configurar servidores</a:t>
            </a:r>
          </a:p>
          <a:p>
            <a:r>
              <a:rPr lang="pt-BR" dirty="0" smtClean="0"/>
              <a:t>Corrigir bugs</a:t>
            </a:r>
          </a:p>
          <a:p>
            <a:r>
              <a:rPr lang="pt-BR" dirty="0" smtClean="0"/>
              <a:t>.......</a:t>
            </a:r>
          </a:p>
          <a:p>
            <a:endParaRPr lang="pt-BR" dirty="0" smtClean="0"/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8458200" cy="1143000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Quais </a:t>
            </a:r>
            <a:r>
              <a:rPr lang="pt-BR" dirty="0" smtClean="0"/>
              <a:t>dessas atividades serão feitas por IA nos próximos 10 anos? </a:t>
            </a:r>
            <a:endParaRPr lang="pt-BR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495800" y="1600200"/>
            <a:ext cx="41910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pt-BR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Entender processos de negócios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pt-BR" sz="3200" dirty="0" smtClean="0"/>
              <a:t>Comprar equipamentos, serviços, softwares, ....</a:t>
            </a:r>
            <a:endParaRPr kumimoji="0" lang="pt-BR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pt-BR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Tomar decisões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pt-BR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Projetar o software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pt-BR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Programar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pt-BR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Testar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pt-BR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Avaliar a qualidade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pt-BR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Documentar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pt-BR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Implantar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pt-BR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Avaliar a segurança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pt-BR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.......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pt-BR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4191000" cy="4525963"/>
          </a:xfrm>
        </p:spPr>
        <p:txBody>
          <a:bodyPr>
            <a:normAutofit fontScale="70000" lnSpcReduction="20000"/>
          </a:bodyPr>
          <a:lstStyle/>
          <a:p>
            <a:r>
              <a:rPr lang="pt-BR" dirty="0" smtClean="0"/>
              <a:t>Conversar com stakeholders</a:t>
            </a:r>
          </a:p>
          <a:p>
            <a:r>
              <a:rPr lang="pt-BR" dirty="0" smtClean="0"/>
              <a:t>Extrair requisitos</a:t>
            </a:r>
          </a:p>
          <a:p>
            <a:r>
              <a:rPr lang="pt-BR" dirty="0" smtClean="0"/>
              <a:t>Organizar tarefas administrativas</a:t>
            </a:r>
          </a:p>
          <a:p>
            <a:r>
              <a:rPr lang="pt-BR" dirty="0" smtClean="0"/>
              <a:t>Organizar tarefas </a:t>
            </a:r>
            <a:r>
              <a:rPr lang="pt-BR" dirty="0" smtClean="0"/>
              <a:t>técnicas</a:t>
            </a:r>
          </a:p>
          <a:p>
            <a:r>
              <a:rPr lang="pt-BR" dirty="0" smtClean="0"/>
              <a:t>Propor, Analisar e implementar a arquitetura </a:t>
            </a:r>
          </a:p>
          <a:p>
            <a:r>
              <a:rPr lang="pt-BR" dirty="0" smtClean="0"/>
              <a:t>Propor a interface gráfica</a:t>
            </a:r>
          </a:p>
          <a:p>
            <a:r>
              <a:rPr lang="pt-BR" dirty="0" smtClean="0"/>
              <a:t>Entender pontos de alteração</a:t>
            </a:r>
          </a:p>
          <a:p>
            <a:r>
              <a:rPr lang="pt-BR" dirty="0" smtClean="0"/>
              <a:t>Configurar servidores</a:t>
            </a:r>
          </a:p>
          <a:p>
            <a:r>
              <a:rPr lang="pt-BR" dirty="0" smtClean="0"/>
              <a:t>Corrigir bugs</a:t>
            </a:r>
          </a:p>
          <a:p>
            <a:r>
              <a:rPr lang="pt-BR" dirty="0" smtClean="0"/>
              <a:t>.......</a:t>
            </a:r>
          </a:p>
          <a:p>
            <a:endParaRPr lang="pt-BR" dirty="0" smtClean="0"/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AI in software project planning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Task </a:t>
            </a:r>
            <a:r>
              <a:rPr lang="en-US" dirty="0" smtClean="0"/>
              <a:t>assignment and human resource </a:t>
            </a:r>
            <a:r>
              <a:rPr lang="en-US" dirty="0" smtClean="0"/>
              <a:t>allocation</a:t>
            </a:r>
          </a:p>
          <a:p>
            <a:r>
              <a:rPr lang="pt-BR" dirty="0" smtClean="0"/>
              <a:t>Optimization </a:t>
            </a:r>
            <a:r>
              <a:rPr lang="pt-BR" dirty="0" smtClean="0"/>
              <a:t>of cost </a:t>
            </a:r>
            <a:r>
              <a:rPr lang="pt-BR" dirty="0" smtClean="0"/>
              <a:t>and quality </a:t>
            </a:r>
            <a:r>
              <a:rPr lang="pt-BR" dirty="0" smtClean="0"/>
              <a:t>outcomes</a:t>
            </a:r>
            <a:r>
              <a:rPr lang="pt-BR" dirty="0" smtClean="0"/>
              <a:t>.</a:t>
            </a:r>
          </a:p>
          <a:p>
            <a:r>
              <a:rPr lang="pt-BR" dirty="0" smtClean="0"/>
              <a:t>Expert system </a:t>
            </a:r>
            <a:r>
              <a:rPr lang="en-US" dirty="0" smtClean="0"/>
              <a:t>able </a:t>
            </a:r>
            <a:r>
              <a:rPr lang="en-US" dirty="0" smtClean="0"/>
              <a:t>to select an ideal planning routine </a:t>
            </a:r>
            <a:r>
              <a:rPr lang="en-US" dirty="0" smtClean="0"/>
              <a:t>depending </a:t>
            </a:r>
            <a:r>
              <a:rPr lang="pt-BR" dirty="0" smtClean="0"/>
              <a:t>on </a:t>
            </a:r>
            <a:r>
              <a:rPr lang="pt-BR" dirty="0" smtClean="0"/>
              <a:t>the project characteristics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AI at the stage of problem analysis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Predict </a:t>
            </a:r>
            <a:r>
              <a:rPr lang="pt-BR" dirty="0" smtClean="0"/>
              <a:t>of </a:t>
            </a:r>
            <a:r>
              <a:rPr lang="pt-BR" dirty="0" smtClean="0"/>
              <a:t>project success </a:t>
            </a:r>
            <a:r>
              <a:rPr lang="pt-BR" dirty="0" smtClean="0"/>
              <a:t>and </a:t>
            </a:r>
            <a:r>
              <a:rPr lang="pt-BR" dirty="0" smtClean="0"/>
              <a:t>risk</a:t>
            </a:r>
          </a:p>
          <a:p>
            <a:r>
              <a:rPr lang="en-US" dirty="0" smtClean="0"/>
              <a:t>Evaluate </a:t>
            </a:r>
            <a:r>
              <a:rPr lang="en-US" dirty="0" smtClean="0"/>
              <a:t>project perspectives based on </a:t>
            </a:r>
            <a:r>
              <a:rPr lang="en-US" dirty="0" smtClean="0"/>
              <a:t>multiple </a:t>
            </a:r>
            <a:r>
              <a:rPr lang="pt-BR" dirty="0" smtClean="0"/>
              <a:t>interdependent </a:t>
            </a:r>
            <a:r>
              <a:rPr lang="pt-BR" dirty="0" smtClean="0"/>
              <a:t>determiners.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AI at the stage of software design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AI will </a:t>
            </a:r>
            <a:r>
              <a:rPr lang="en-US" dirty="0" smtClean="0"/>
              <a:t>develop own program codes, based on </a:t>
            </a:r>
            <a:r>
              <a:rPr lang="en-US" dirty="0" smtClean="0"/>
              <a:t>a simple </a:t>
            </a:r>
            <a:r>
              <a:rPr lang="en-US" dirty="0" smtClean="0"/>
              <a:t>input (the problem set).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AI at the stage of software implementation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AI software generates prototypes of codes from </a:t>
            </a:r>
            <a:r>
              <a:rPr lang="en-US" dirty="0" smtClean="0"/>
              <a:t>human language</a:t>
            </a:r>
            <a:r>
              <a:rPr lang="en-US" dirty="0" smtClean="0"/>
              <a:t>, which then are refined and adjusted by </a:t>
            </a:r>
            <a:r>
              <a:rPr lang="en-US" dirty="0" smtClean="0"/>
              <a:t>human </a:t>
            </a:r>
            <a:r>
              <a:rPr lang="pt-BR" dirty="0" smtClean="0"/>
              <a:t>programmers</a:t>
            </a:r>
          </a:p>
          <a:p>
            <a:pPr lvl="1"/>
            <a:r>
              <a:rPr lang="pt-BR" dirty="0" smtClean="0"/>
              <a:t>O quão difícil deve ser ajustar código feito por uma máquina? </a:t>
            </a:r>
          </a:p>
          <a:p>
            <a:r>
              <a:rPr lang="en-US" dirty="0" smtClean="0"/>
              <a:t>AI </a:t>
            </a:r>
            <a:r>
              <a:rPr lang="en-US" dirty="0" smtClean="0"/>
              <a:t>could be developed </a:t>
            </a:r>
            <a:r>
              <a:rPr lang="en-US" dirty="0" smtClean="0"/>
              <a:t>to produce </a:t>
            </a:r>
            <a:r>
              <a:rPr lang="en-US" dirty="0" smtClean="0"/>
              <a:t>more coherent codes and possibly even </a:t>
            </a:r>
            <a:r>
              <a:rPr lang="en-US" dirty="0" smtClean="0"/>
              <a:t>implement the </a:t>
            </a:r>
            <a:r>
              <a:rPr lang="en-US" dirty="0" smtClean="0"/>
              <a:t>code into existing routines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AI at the stage of software testing and integration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A </a:t>
            </a:r>
            <a:r>
              <a:rPr lang="pt-BR" dirty="0" smtClean="0"/>
              <a:t>script, which </a:t>
            </a:r>
            <a:r>
              <a:rPr lang="pt-BR" dirty="0" smtClean="0"/>
              <a:t>is </a:t>
            </a:r>
            <a:r>
              <a:rPr lang="en-US" dirty="0" smtClean="0"/>
              <a:t>then </a:t>
            </a:r>
            <a:r>
              <a:rPr lang="en-US" dirty="0" smtClean="0"/>
              <a:t>repeatedly executed by a machine, which then </a:t>
            </a:r>
            <a:r>
              <a:rPr lang="en-US" dirty="0" smtClean="0"/>
              <a:t>collects, stores </a:t>
            </a:r>
            <a:r>
              <a:rPr lang="en-US" dirty="0" smtClean="0"/>
              <a:t>and interprets the test </a:t>
            </a:r>
            <a:r>
              <a:rPr lang="en-US" dirty="0" smtClean="0"/>
              <a:t>results</a:t>
            </a:r>
          </a:p>
          <a:p>
            <a:r>
              <a:rPr lang="en-US" dirty="0" smtClean="0"/>
              <a:t>AI </a:t>
            </a:r>
            <a:r>
              <a:rPr lang="en-US" dirty="0" smtClean="0"/>
              <a:t>suggest changes to the </a:t>
            </a:r>
            <a:r>
              <a:rPr lang="en-US" dirty="0" smtClean="0"/>
              <a:t>program code </a:t>
            </a:r>
            <a:r>
              <a:rPr lang="en-US" dirty="0" smtClean="0"/>
              <a:t>in order to make it work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AI in software maintenance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Pattern </a:t>
            </a:r>
            <a:r>
              <a:rPr lang="pt-BR" dirty="0" smtClean="0"/>
              <a:t>tracing </a:t>
            </a:r>
            <a:r>
              <a:rPr lang="en-US" dirty="0" smtClean="0"/>
              <a:t>functions </a:t>
            </a:r>
            <a:r>
              <a:rPr lang="en-US" dirty="0" smtClean="0"/>
              <a:t>extract redundant elements from codes </a:t>
            </a:r>
            <a:r>
              <a:rPr lang="en-US" dirty="0" smtClean="0"/>
              <a:t>and </a:t>
            </a:r>
            <a:r>
              <a:rPr lang="pt-BR" dirty="0" smtClean="0"/>
              <a:t>automatically </a:t>
            </a:r>
            <a:r>
              <a:rPr lang="pt-BR" dirty="0" smtClean="0"/>
              <a:t>generate implementation </a:t>
            </a:r>
            <a:r>
              <a:rPr lang="pt-BR" dirty="0" smtClean="0"/>
              <a:t>artifacts</a:t>
            </a:r>
          </a:p>
          <a:p>
            <a:r>
              <a:rPr lang="en-US" dirty="0" smtClean="0"/>
              <a:t>In future, AI software systems could be useful to </a:t>
            </a:r>
            <a:r>
              <a:rPr lang="en-US" dirty="0" smtClean="0"/>
              <a:t>manage </a:t>
            </a:r>
            <a:r>
              <a:rPr lang="pt-BR" dirty="0" smtClean="0"/>
              <a:t>critical </a:t>
            </a:r>
            <a:r>
              <a:rPr lang="pt-BR" dirty="0" smtClean="0"/>
              <a:t>large-scale software infrastructure, </a:t>
            </a:r>
            <a:r>
              <a:rPr lang="pt-BR" dirty="0" smtClean="0"/>
              <a:t>like </a:t>
            </a:r>
            <a:r>
              <a:rPr lang="en-US" dirty="0" smtClean="0"/>
              <a:t>servers</a:t>
            </a:r>
            <a:r>
              <a:rPr lang="en-US" dirty="0" smtClean="0"/>
              <a:t>, and adapt these to environmental changes </a:t>
            </a:r>
            <a:r>
              <a:rPr lang="en-US" dirty="0" smtClean="0"/>
              <a:t>or new </a:t>
            </a:r>
            <a:r>
              <a:rPr lang="en-US" dirty="0" smtClean="0"/>
              <a:t>unexpected conditions. </a:t>
            </a:r>
            <a:endParaRPr lang="pt-BR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Conclusão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Software developers have to continuously adapt </a:t>
            </a:r>
            <a:r>
              <a:rPr lang="en-US" dirty="0" smtClean="0"/>
              <a:t>their competencies </a:t>
            </a:r>
            <a:r>
              <a:rPr lang="en-US" dirty="0" smtClean="0"/>
              <a:t>and qualifications to keep up with the </a:t>
            </a:r>
            <a:r>
              <a:rPr lang="en-US" dirty="0" smtClean="0"/>
              <a:t>dynamic and </a:t>
            </a:r>
            <a:r>
              <a:rPr lang="en-US" dirty="0" smtClean="0"/>
              <a:t>rapid development of AI tools in software engineering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Software developers who ignore the potentials of AI </a:t>
            </a:r>
            <a:r>
              <a:rPr lang="en-US" dirty="0" smtClean="0"/>
              <a:t>in the </a:t>
            </a:r>
            <a:r>
              <a:rPr lang="en-US" dirty="0" smtClean="0"/>
              <a:t>software development life cycle and stick to </a:t>
            </a:r>
            <a:r>
              <a:rPr lang="en-US" dirty="0" smtClean="0"/>
              <a:t>routine jobs</a:t>
            </a:r>
            <a:r>
              <a:rPr lang="en-US" dirty="0" smtClean="0"/>
              <a:t>, which are more reliably and cost-efficiently </a:t>
            </a:r>
            <a:r>
              <a:rPr lang="en-US" dirty="0" smtClean="0"/>
              <a:t>done by </a:t>
            </a:r>
            <a:r>
              <a:rPr lang="en-US" dirty="0" smtClean="0"/>
              <a:t>automated routines risk being substituted and </a:t>
            </a:r>
            <a:r>
              <a:rPr lang="en-US" dirty="0" smtClean="0"/>
              <a:t>losing their </a:t>
            </a:r>
            <a:r>
              <a:rPr lang="en-US" dirty="0" smtClean="0"/>
              <a:t>established jobs in the long run</a:t>
            </a:r>
            <a:endParaRPr lang="pt-B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539</TotalTime>
  <Words>594</Words>
  <Application>Microsoft Office PowerPoint</Application>
  <PresentationFormat>On-screen Show (4:3)</PresentationFormat>
  <Paragraphs>122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Iniciativas de IA para Engenharia de Software</vt:lpstr>
      <vt:lpstr>IA não é algo novo!!!</vt:lpstr>
      <vt:lpstr>Patentes em IA em 2024 (patentes e número de empresas)</vt:lpstr>
      <vt:lpstr>Quais são as tendências de IA para ES? </vt:lpstr>
      <vt:lpstr> Applications of AI in classical software engineering </vt:lpstr>
      <vt:lpstr>Problemas</vt:lpstr>
      <vt:lpstr>Quais são as atividades de desenvolvimento e manutenção de SW? </vt:lpstr>
      <vt:lpstr>Quais dessas atividades podem ser feitas por AI? </vt:lpstr>
      <vt:lpstr>Quais dessas atividades serão feitas por IA nos próximos 10 anos? </vt:lpstr>
      <vt:lpstr>AI in software project planning</vt:lpstr>
      <vt:lpstr>AI at the stage of problem analysis</vt:lpstr>
      <vt:lpstr>AI at the stage of software design</vt:lpstr>
      <vt:lpstr>AI at the stage of software implementation</vt:lpstr>
      <vt:lpstr>AI at the stage of software testing and integration</vt:lpstr>
      <vt:lpstr>AI in software maintenance</vt:lpstr>
      <vt:lpstr>Conclusão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Iniciativas de IA para Engenharia de Software</dc:title>
  <dc:creator>Michel</dc:creator>
  <cp:lastModifiedBy>Michel</cp:lastModifiedBy>
  <cp:revision>22</cp:revision>
  <dcterms:created xsi:type="dcterms:W3CDTF">2006-08-16T00:00:00Z</dcterms:created>
  <dcterms:modified xsi:type="dcterms:W3CDTF">2025-05-07T17:18:53Z</dcterms:modified>
</cp:coreProperties>
</file>
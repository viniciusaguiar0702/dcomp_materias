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301" r:id="rId22"/>
    <p:sldId id="277" r:id="rId23"/>
    <p:sldId id="278" r:id="rId24"/>
    <p:sldId id="279" r:id="rId25"/>
    <p:sldId id="280" r:id="rId26"/>
    <p:sldId id="282" r:id="rId27"/>
    <p:sldId id="299" r:id="rId28"/>
    <p:sldId id="283" r:id="rId29"/>
    <p:sldId id="284" r:id="rId30"/>
    <p:sldId id="285" r:id="rId31"/>
    <p:sldId id="286" r:id="rId32"/>
    <p:sldId id="287" r:id="rId33"/>
    <p:sldId id="297" r:id="rId34"/>
    <p:sldId id="288" r:id="rId35"/>
    <p:sldId id="298" r:id="rId36"/>
    <p:sldId id="300" r:id="rId37"/>
    <p:sldId id="289" r:id="rId38"/>
    <p:sldId id="290" r:id="rId39"/>
    <p:sldId id="291" r:id="rId40"/>
    <p:sldId id="292" r:id="rId41"/>
    <p:sldId id="293" r:id="rId42"/>
    <p:sldId id="295" r:id="rId43"/>
    <p:sldId id="296" r:id="rId4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00DB3-DBF0-4086-B675-117E7A9610B8}" type="datetimeFigureOut">
              <a:rPr lang="pt-BR" smtClean="0"/>
              <a:pPr/>
              <a:t>05/06/2023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9D8CF-8DEC-4D9F-84EE-ADF04DFF3391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Diagrama de Casos de Uso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Casos de 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O </a:t>
            </a:r>
            <a:r>
              <a:rPr lang="pt-BR" b="1" i="1" dirty="0" smtClean="0"/>
              <a:t>modelo de casos de uso é uma representação das </a:t>
            </a:r>
          </a:p>
          <a:p>
            <a:pPr lvl="1"/>
            <a:r>
              <a:rPr lang="pt-BR" i="1" dirty="0" smtClean="0"/>
              <a:t>funcionalidades externamente observáveis do sistema </a:t>
            </a:r>
            <a:r>
              <a:rPr lang="pt-BR" i="1" dirty="0" smtClean="0"/>
              <a:t> </a:t>
            </a:r>
            <a:endParaRPr lang="pt-BR" i="1" dirty="0" smtClean="0"/>
          </a:p>
          <a:p>
            <a:pPr lvl="1"/>
            <a:r>
              <a:rPr lang="pt-BR" dirty="0" smtClean="0"/>
              <a:t>e dos </a:t>
            </a:r>
            <a:r>
              <a:rPr lang="pt-BR" i="1" dirty="0" smtClean="0"/>
              <a:t>elementos externos ao sistema que interagem com o mesmo.</a:t>
            </a:r>
          </a:p>
          <a:p>
            <a:r>
              <a:rPr lang="pt-BR" dirty="0" smtClean="0"/>
              <a:t>Esse modelo representa, na UML, os </a:t>
            </a:r>
            <a:r>
              <a:rPr lang="pt-BR" b="1" i="1" dirty="0" smtClean="0"/>
              <a:t>requisitos funcionais do sistema.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Utilidade dos Casos de 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Equipe de clientes (</a:t>
            </a:r>
            <a:r>
              <a:rPr lang="pt-BR" b="1" dirty="0" smtClean="0"/>
              <a:t>validação)</a:t>
            </a:r>
          </a:p>
          <a:p>
            <a:pPr lvl="1"/>
            <a:r>
              <a:rPr lang="pt-BR" dirty="0" smtClean="0"/>
              <a:t>aprovam o que o sistema deverá fazer</a:t>
            </a:r>
          </a:p>
          <a:p>
            <a:pPr lvl="1"/>
            <a:r>
              <a:rPr lang="pt-BR" dirty="0" smtClean="0"/>
              <a:t>entendem o que o sistema deverá fazer </a:t>
            </a:r>
          </a:p>
          <a:p>
            <a:r>
              <a:rPr lang="pt-BR" dirty="0" smtClean="0"/>
              <a:t>Equipe de desenvolvedores </a:t>
            </a:r>
          </a:p>
          <a:p>
            <a:pPr lvl="1"/>
            <a:r>
              <a:rPr lang="pt-BR" dirty="0" smtClean="0"/>
              <a:t>Podem seguir um desenvolvimento dirigido a casos de uso.</a:t>
            </a:r>
          </a:p>
          <a:p>
            <a:pPr lvl="1"/>
            <a:r>
              <a:rPr lang="pt-BR" dirty="0" smtClean="0"/>
              <a:t>Projetar outros diagramas (classes e dinâmicos) </a:t>
            </a:r>
          </a:p>
          <a:p>
            <a:r>
              <a:rPr lang="pt-BR" dirty="0" smtClean="0"/>
              <a:t>Testadores: como base para </a:t>
            </a:r>
            <a:r>
              <a:rPr lang="pt-BR" b="1" dirty="0" smtClean="0"/>
              <a:t>casos de teste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Composição dos Casos de 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modelo de casos de uso é composto de duas partes: </a:t>
            </a:r>
          </a:p>
          <a:p>
            <a:pPr lvl="1"/>
            <a:r>
              <a:rPr lang="pt-BR" b="1" dirty="0" smtClean="0"/>
              <a:t>textual, </a:t>
            </a:r>
          </a:p>
          <a:p>
            <a:pPr lvl="1"/>
            <a:r>
              <a:rPr lang="pt-BR" b="1" dirty="0" smtClean="0"/>
              <a:t>gráfica.</a:t>
            </a:r>
          </a:p>
          <a:p>
            <a:r>
              <a:rPr lang="pt-BR" dirty="0" smtClean="0"/>
              <a:t>O diagrama da UML utilizado na modelagem gráfica é o </a:t>
            </a:r>
            <a:r>
              <a:rPr lang="pt-BR" b="1" i="1" dirty="0" smtClean="0"/>
              <a:t>diagrama de casos de uso.</a:t>
            </a:r>
          </a:p>
          <a:p>
            <a:pPr lvl="1"/>
            <a:r>
              <a:rPr lang="pt-BR" dirty="0" smtClean="0"/>
              <a:t>visão global e de alto nível do sistema.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Casos de Uso - Definição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Especificação de uma seqüência de interações entre um sistema e os agentes externos.</a:t>
            </a:r>
          </a:p>
          <a:p>
            <a:pPr lvl="1"/>
            <a:r>
              <a:rPr lang="pt-BR" dirty="0" smtClean="0"/>
              <a:t>Define parte da funcionalidade de um sistema, </a:t>
            </a:r>
            <a:r>
              <a:rPr lang="pt-BR" b="1" i="1" dirty="0" smtClean="0"/>
              <a:t>sem revelar a estrutura e o comportamento internos deste sistema.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Dimensões para descrições textuais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 UML não define como essa descrição textual deve ser construída.</a:t>
            </a:r>
          </a:p>
          <a:p>
            <a:r>
              <a:rPr lang="pt-BR" dirty="0" smtClean="0"/>
              <a:t>Há várias dimensões independentes para a descrição textual de um caso de uso:</a:t>
            </a:r>
          </a:p>
          <a:p>
            <a:pPr lvl="1"/>
            <a:r>
              <a:rPr lang="pt-BR" dirty="0" smtClean="0"/>
              <a:t>Formato (contínua, tabular, numerado)</a:t>
            </a:r>
          </a:p>
          <a:p>
            <a:pPr lvl="1"/>
            <a:r>
              <a:rPr lang="pt-BR" dirty="0" smtClean="0"/>
              <a:t>Grau de detalhamento (sucinta ou expandida)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Ex. Descrição Contínua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8238" y="2006625"/>
            <a:ext cx="6867525" cy="4230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Ex. Descrição Numerada</a:t>
            </a:r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1038" y="2078310"/>
            <a:ext cx="7781925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Ex. Descrição tabular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1701502"/>
            <a:ext cx="8999537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Elemento </a:t>
            </a:r>
            <a:r>
              <a:rPr lang="pt-BR" i="1" dirty="0" smtClean="0"/>
              <a:t>externo que interage com o sistema.</a:t>
            </a:r>
          </a:p>
          <a:p>
            <a:r>
              <a:rPr lang="pt-BR" dirty="0" smtClean="0"/>
              <a:t>Casos de uso representam uma seqüência de interações entre o sistema e o ator.</a:t>
            </a:r>
          </a:p>
          <a:p>
            <a:pPr lvl="1"/>
            <a:r>
              <a:rPr lang="pt-BR" dirty="0" smtClean="0"/>
              <a:t>no sentido de troca de informações entre eles.</a:t>
            </a:r>
          </a:p>
          <a:p>
            <a:r>
              <a:rPr lang="pt-BR" dirty="0" smtClean="0"/>
              <a:t>Normalmente um agente externo inicia a seqüência de interações como o sistema.</a:t>
            </a:r>
          </a:p>
          <a:p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0232" y="52983"/>
            <a:ext cx="1944687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Categorias de Atores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600200"/>
            <a:ext cx="8784976" cy="4525963"/>
          </a:xfrm>
        </p:spPr>
        <p:txBody>
          <a:bodyPr>
            <a:normAutofit/>
          </a:bodyPr>
          <a:lstStyle/>
          <a:p>
            <a:r>
              <a:rPr lang="pt-BR" sz="2800" b="1" dirty="0" smtClean="0"/>
              <a:t>cargos</a:t>
            </a:r>
            <a:r>
              <a:rPr lang="pt-BR" sz="2800" dirty="0" smtClean="0"/>
              <a:t> (Empregado, Cliente, Gerente, Almoxarife, Vendedor, </a:t>
            </a:r>
            <a:r>
              <a:rPr lang="pt-BR" sz="2800" dirty="0" err="1" smtClean="0"/>
              <a:t>etc</a:t>
            </a:r>
            <a:r>
              <a:rPr lang="pt-BR" sz="2800" dirty="0" smtClean="0"/>
              <a:t>);</a:t>
            </a:r>
          </a:p>
          <a:p>
            <a:r>
              <a:rPr lang="pt-BR" sz="2800" b="1" dirty="0" smtClean="0"/>
              <a:t>organizações</a:t>
            </a:r>
            <a:r>
              <a:rPr lang="pt-BR" sz="2800" dirty="0" smtClean="0"/>
              <a:t> (Empresa Fornecedora, Agência de Impostos, Administradora de Cartões, </a:t>
            </a:r>
            <a:r>
              <a:rPr lang="pt-BR" sz="2800" dirty="0" err="1" smtClean="0"/>
              <a:t>etc</a:t>
            </a:r>
            <a:r>
              <a:rPr lang="pt-BR" sz="2800" dirty="0" smtClean="0"/>
              <a:t>);</a:t>
            </a:r>
          </a:p>
          <a:p>
            <a:r>
              <a:rPr lang="pt-BR" sz="2800" b="1" dirty="0" smtClean="0"/>
              <a:t>outros sistemas</a:t>
            </a:r>
            <a:r>
              <a:rPr lang="pt-BR" sz="2800" dirty="0" smtClean="0"/>
              <a:t> (Sistema de Cobrança, Sistema de Estoque de Produtos, </a:t>
            </a:r>
            <a:r>
              <a:rPr lang="pt-BR" sz="2800" dirty="0" err="1" smtClean="0"/>
              <a:t>etc</a:t>
            </a:r>
            <a:r>
              <a:rPr lang="pt-BR" sz="2800" dirty="0" smtClean="0"/>
              <a:t>).</a:t>
            </a:r>
          </a:p>
          <a:p>
            <a:r>
              <a:rPr lang="pt-BR" sz="2800" b="1" dirty="0" smtClean="0"/>
              <a:t>equipamentos</a:t>
            </a:r>
            <a:r>
              <a:rPr lang="pt-BR" sz="2800" dirty="0" smtClean="0"/>
              <a:t> (Leitora de Código de Barras, Sensor, etc.)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 ator corresponde a um </a:t>
            </a:r>
            <a:r>
              <a:rPr lang="pt-BR" b="1" i="1" dirty="0" smtClean="0"/>
              <a:t>papel representado em relação ao sistema.</a:t>
            </a:r>
          </a:p>
          <a:p>
            <a:r>
              <a:rPr lang="pt-BR" dirty="0" smtClean="0"/>
              <a:t>O mesmo indivíduo pode ser o </a:t>
            </a:r>
            <a:r>
              <a:rPr lang="pt-BR" b="1" dirty="0" smtClean="0"/>
              <a:t>Cliente</a:t>
            </a:r>
            <a:r>
              <a:rPr lang="pt-BR" dirty="0" smtClean="0"/>
              <a:t> que compra mercadorias e o </a:t>
            </a:r>
            <a:r>
              <a:rPr lang="pt-BR" b="1" dirty="0" smtClean="0"/>
              <a:t>Vendedor</a:t>
            </a:r>
            <a:r>
              <a:rPr lang="pt-BR" dirty="0" smtClean="0"/>
              <a:t> que processa vendas.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Diagrama de Casos de 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Representa </a:t>
            </a:r>
            <a:r>
              <a:rPr lang="pt-BR" i="1" dirty="0" smtClean="0"/>
              <a:t>graficamente os atores, casos de uso e relacionamentos entre os elementos.</a:t>
            </a:r>
          </a:p>
          <a:p>
            <a:r>
              <a:rPr lang="pt-BR" dirty="0" smtClean="0"/>
              <a:t>Ilustra em um nível alto de abstração:</a:t>
            </a:r>
          </a:p>
          <a:p>
            <a:pPr lvl="1"/>
            <a:r>
              <a:rPr lang="pt-BR" dirty="0" smtClean="0"/>
              <a:t>elementos externos</a:t>
            </a:r>
          </a:p>
          <a:p>
            <a:pPr lvl="1"/>
            <a:r>
              <a:rPr lang="pt-BR" dirty="0" smtClean="0"/>
              <a:t>funcionalidades do sistema.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Ex. Diagrama de Casos de Uso</a:t>
            </a:r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9965" y="1800224"/>
            <a:ext cx="7760696" cy="4077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Elementos dos Diagramas de Casos de 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i="1" dirty="0" smtClean="0"/>
              <a:t>Atores e Casos de uso</a:t>
            </a:r>
          </a:p>
          <a:p>
            <a:r>
              <a:rPr lang="pt-BR" dirty="0" smtClean="0"/>
              <a:t>Relacionamentos entre esses elementos:</a:t>
            </a:r>
          </a:p>
          <a:p>
            <a:pPr lvl="1"/>
            <a:r>
              <a:rPr lang="pt-BR" i="1" dirty="0" smtClean="0"/>
              <a:t>Comunicação</a:t>
            </a:r>
          </a:p>
          <a:p>
            <a:pPr lvl="1"/>
            <a:r>
              <a:rPr lang="pt-BR" i="1" dirty="0" smtClean="0"/>
              <a:t>Inclusão</a:t>
            </a:r>
          </a:p>
          <a:p>
            <a:pPr lvl="1"/>
            <a:r>
              <a:rPr lang="pt-BR" i="1" dirty="0" smtClean="0"/>
              <a:t>Extensão</a:t>
            </a:r>
          </a:p>
          <a:p>
            <a:pPr lvl="1"/>
            <a:r>
              <a:rPr lang="pt-BR" i="1" dirty="0" smtClean="0"/>
              <a:t>Generalização</a:t>
            </a:r>
          </a:p>
          <a:p>
            <a:r>
              <a:rPr lang="pt-BR" dirty="0" smtClean="0"/>
              <a:t>Para cada um desses elementos: </a:t>
            </a:r>
          </a:p>
          <a:p>
            <a:pPr lvl="1"/>
            <a:r>
              <a:rPr lang="pt-BR" dirty="0" smtClean="0"/>
              <a:t>uma notação gráfica</a:t>
            </a:r>
          </a:p>
          <a:p>
            <a:pPr lvl="1"/>
            <a:r>
              <a:rPr lang="pt-BR" dirty="0" smtClean="0"/>
              <a:t>uma semântica específica.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Ator, caso de uso, comunicação</a:t>
            </a:r>
            <a:br>
              <a:rPr lang="pt-BR" dirty="0" smtClean="0"/>
            </a:br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8613" y="1751013"/>
            <a:ext cx="5945187" cy="335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Inclusão (include)</a:t>
            </a:r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4488" y="1628775"/>
            <a:ext cx="5913437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Extensão (</a:t>
            </a:r>
            <a:r>
              <a:rPr lang="pt-BR" dirty="0" err="1" smtClean="0"/>
              <a:t>extend</a:t>
            </a:r>
            <a:r>
              <a:rPr lang="pt-BR" dirty="0" smtClean="0"/>
              <a:t>)</a:t>
            </a:r>
            <a:endParaRPr lang="pt-BR" dirty="0"/>
          </a:p>
        </p:txBody>
      </p:sp>
      <p:pic>
        <p:nvPicPr>
          <p:cNvPr id="23554" name="Picture 2" descr="http://hslife.com.br/wp-content/uploads/2010/10/fig05_usecase_relextend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5696" y="2060848"/>
            <a:ext cx="5876925" cy="43910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Generalização</a:t>
            </a:r>
            <a:endParaRPr lang="pt-BR" dirty="0"/>
          </a:p>
        </p:txBody>
      </p:sp>
      <p:pic>
        <p:nvPicPr>
          <p:cNvPr id="10242" name="Picture 2" descr="http://gilmarborba.com.br/wp-content/uploads/2010/07/CASO_USO_GENERALIZA%C3%87%C3%83O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7804" y="2564904"/>
            <a:ext cx="3547649" cy="27363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Resumo da notação</a:t>
            </a:r>
            <a:endParaRPr lang="pt-BR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06650" y="1719039"/>
            <a:ext cx="4330700" cy="408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Quando usar os relacionamentos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Include: o mesmo comportamento se repete em mais de um caso de uso</a:t>
            </a:r>
          </a:p>
          <a:p>
            <a:r>
              <a:rPr lang="pt-BR" dirty="0" smtClean="0"/>
              <a:t>Extend: quando um comportamento eventual (opcional) de um caso de uso tiver de ser descrito.</a:t>
            </a:r>
          </a:p>
          <a:p>
            <a:r>
              <a:rPr lang="pt-BR" dirty="0" smtClean="0"/>
              <a:t>Herança: no sentido de reuso de comportamentos semelhantes</a:t>
            </a:r>
            <a:endParaRPr lang="pt-B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Identificação dos elementos dos casos de 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Identificados a partir de informações coletadas no levantamento de requisitos.</a:t>
            </a:r>
          </a:p>
          <a:p>
            <a:r>
              <a:rPr lang="pt-BR" dirty="0" smtClean="0"/>
              <a:t>Não há uma regra geral que indique quantos casos de uso e atores são necessários para descrever um sistema.</a:t>
            </a:r>
          </a:p>
          <a:p>
            <a:pPr lvl="1"/>
            <a:r>
              <a:rPr lang="pt-BR" dirty="0" smtClean="0"/>
              <a:t>A quantidade depende da complexidade do sistema.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Identificação de atores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 analista deve identificar:</a:t>
            </a:r>
          </a:p>
          <a:p>
            <a:pPr lvl="1"/>
            <a:r>
              <a:rPr lang="pt-BR" dirty="0" smtClean="0"/>
              <a:t>as áreas da empresa que serão afetadas ou utilizarão o sistema.</a:t>
            </a:r>
          </a:p>
          <a:p>
            <a:pPr lvl="1"/>
            <a:r>
              <a:rPr lang="pt-BR" dirty="0" smtClean="0"/>
              <a:t>fontes de informações a serem processadas e os destinos das informações geradas pelo sistema.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Identificação de Atores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600200"/>
            <a:ext cx="8640960" cy="4525963"/>
          </a:xfrm>
        </p:spPr>
        <p:txBody>
          <a:bodyPr>
            <a:normAutofit/>
          </a:bodyPr>
          <a:lstStyle/>
          <a:p>
            <a:r>
              <a:rPr lang="pt-BR" sz="2800" dirty="0" smtClean="0"/>
              <a:t>Que órgãos, empresas ou pessoas (cargos) irão utilizar o sistema?</a:t>
            </a:r>
          </a:p>
          <a:p>
            <a:r>
              <a:rPr lang="pt-BR" sz="2800" dirty="0" smtClean="0"/>
              <a:t>Que outros sistemas irão se comunicar com o sistema?</a:t>
            </a:r>
          </a:p>
          <a:p>
            <a:r>
              <a:rPr lang="pt-BR" sz="2800" dirty="0" smtClean="0"/>
              <a:t>Alguém deve ser informado de alguma ocorrência no sistema?</a:t>
            </a:r>
          </a:p>
          <a:p>
            <a:r>
              <a:rPr lang="pt-BR" sz="2800" dirty="0" smtClean="0"/>
              <a:t>Quem está interessado em um certo requisito funcional do sistema?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Identificação de Casos de 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Quais são as necessidades e objetivos de cada ator em relação ao sistema?</a:t>
            </a:r>
          </a:p>
          <a:p>
            <a:r>
              <a:rPr lang="pt-BR" dirty="0" smtClean="0"/>
              <a:t>Que informações o sistema deve produzir?</a:t>
            </a:r>
          </a:p>
          <a:p>
            <a:r>
              <a:rPr lang="pt-BR" dirty="0" smtClean="0"/>
              <a:t>O sistema deve realizar alguma ação que ocorre regularmente no tempo?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Construção do diagrama de casos de 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Em sistemas complexos, representar todos os casos de uso do sistema em um único diagrama talvez o torne um tanto ilegível.</a:t>
            </a:r>
          </a:p>
          <a:p>
            <a:r>
              <a:rPr lang="pt-BR" dirty="0" smtClean="0"/>
              <a:t>Alternativa: criar vários diagramas (de acordo com as necessidades de visualização) e agrupá-los em </a:t>
            </a:r>
            <a:r>
              <a:rPr lang="pt-BR" b="1" dirty="0" smtClean="0"/>
              <a:t>pacotes</a:t>
            </a:r>
            <a:r>
              <a:rPr lang="pt-BR" dirty="0" smtClean="0"/>
              <a:t>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Pacotes de Casos de Uso - opções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Todos os casos de uso para um ator;</a:t>
            </a:r>
          </a:p>
          <a:p>
            <a:r>
              <a:rPr lang="pt-BR" dirty="0" smtClean="0"/>
              <a:t>Todos os casos de uso a serem implementados em um ciclo de desenvolvimento.</a:t>
            </a:r>
          </a:p>
          <a:p>
            <a:r>
              <a:rPr lang="pt-BR" dirty="0" smtClean="0"/>
              <a:t>Todos os casos de uso de uma área (departamento, seção) específica da empresa.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pt-BR" dirty="0" smtClean="0"/>
              <a:t>Ex. de diagrama de casos de uso</a:t>
            </a:r>
            <a:endParaRPr lang="pt-BR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8563" y="1041673"/>
            <a:ext cx="6745287" cy="562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Documentação dos atores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Uma breve descrição para cada ator deve  ser adicionada.</a:t>
            </a:r>
          </a:p>
          <a:p>
            <a:r>
              <a:rPr lang="pt-BR" dirty="0" smtClean="0"/>
              <a:t>O nome de um ator deve lembrar o papel   desempenhado pelo mesmo.</a:t>
            </a:r>
          </a:p>
          <a:p>
            <a:r>
              <a:rPr lang="pt-BR" dirty="0" smtClean="0"/>
              <a:t>Exemplo</a:t>
            </a:r>
          </a:p>
          <a:p>
            <a:pPr lvl="1"/>
            <a:r>
              <a:rPr lang="pt-BR" b="1" dirty="0" smtClean="0"/>
              <a:t>“Aluno: representa pessoas que fazem um curso dentro da universidade.”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Documentação dos casos de uso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A UML não define um padrão para descrição textual dos casos de uso de um sistema.</a:t>
            </a:r>
          </a:p>
          <a:p>
            <a:r>
              <a:rPr lang="pt-BR" dirty="0" smtClean="0"/>
              <a:t>É necessário que a equipe de desenvolvimento padronize o seu estilo de descrição.</a:t>
            </a:r>
          </a:p>
          <a:p>
            <a:r>
              <a:rPr lang="pt-BR" dirty="0" smtClean="0"/>
              <a:t>Algumas seções normalmente encontradas:</a:t>
            </a:r>
          </a:p>
          <a:p>
            <a:pPr lvl="1"/>
            <a:r>
              <a:rPr lang="pt-BR" dirty="0" smtClean="0"/>
              <a:t>Sumário</a:t>
            </a:r>
          </a:p>
          <a:p>
            <a:pPr lvl="1"/>
            <a:r>
              <a:rPr lang="pt-BR" dirty="0" smtClean="0"/>
              <a:t>Atores</a:t>
            </a:r>
          </a:p>
          <a:p>
            <a:pPr lvl="1"/>
            <a:r>
              <a:rPr lang="pt-BR" dirty="0" smtClean="0"/>
              <a:t>Fluxo principal</a:t>
            </a:r>
          </a:p>
          <a:p>
            <a:pPr lvl="1"/>
            <a:r>
              <a:rPr lang="pt-BR" dirty="0" smtClean="0"/>
              <a:t>Fluxos alternativos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Documentação dos casos de uso – Exemplos de elementos</a:t>
            </a:r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4211960" y="2492896"/>
            <a:ext cx="4572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smtClean="0"/>
              <a:t>Fluxo Principal</a:t>
            </a:r>
          </a:p>
          <a:p>
            <a:r>
              <a:rPr lang="pt-BR" sz="2400" dirty="0" smtClean="0"/>
              <a:t>Fluxos Alternativos</a:t>
            </a:r>
          </a:p>
          <a:p>
            <a:r>
              <a:rPr lang="pt-BR" sz="2400" dirty="0" smtClean="0"/>
              <a:t>Fluxos de Exceção</a:t>
            </a:r>
          </a:p>
          <a:p>
            <a:r>
              <a:rPr lang="pt-BR" sz="2400" dirty="0" smtClean="0"/>
              <a:t>Pós-condições</a:t>
            </a:r>
          </a:p>
          <a:p>
            <a:r>
              <a:rPr lang="pt-BR" sz="2400" dirty="0" smtClean="0"/>
              <a:t>Regras do Negócio </a:t>
            </a:r>
          </a:p>
          <a:p>
            <a:r>
              <a:rPr lang="pt-BR" sz="2400" dirty="0" smtClean="0"/>
              <a:t>Histórico</a:t>
            </a:r>
          </a:p>
          <a:p>
            <a:r>
              <a:rPr lang="pt-BR" sz="2400" dirty="0" smtClean="0"/>
              <a:t>Notas de Implementação</a:t>
            </a:r>
          </a:p>
        </p:txBody>
      </p:sp>
      <p:sp>
        <p:nvSpPr>
          <p:cNvPr id="7" name="Retângulo 6"/>
          <p:cNvSpPr/>
          <p:nvPr/>
        </p:nvSpPr>
        <p:spPr>
          <a:xfrm>
            <a:off x="251520" y="2276872"/>
            <a:ext cx="45720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smtClean="0"/>
              <a:t>Nome</a:t>
            </a:r>
          </a:p>
          <a:p>
            <a:r>
              <a:rPr lang="pt-BR" sz="2400" dirty="0" smtClean="0"/>
              <a:t>Descrição</a:t>
            </a:r>
          </a:p>
          <a:p>
            <a:r>
              <a:rPr lang="pt-BR" sz="2400" dirty="0" smtClean="0"/>
              <a:t>Identificador</a:t>
            </a:r>
          </a:p>
          <a:p>
            <a:r>
              <a:rPr lang="pt-BR" sz="2400" dirty="0" smtClean="0"/>
              <a:t>Importância</a:t>
            </a:r>
          </a:p>
          <a:p>
            <a:r>
              <a:rPr lang="pt-BR" sz="2400" dirty="0" smtClean="0"/>
              <a:t>Sumário</a:t>
            </a:r>
          </a:p>
          <a:p>
            <a:r>
              <a:rPr lang="pt-BR" sz="2400" dirty="0" smtClean="0"/>
              <a:t>Ator Primário</a:t>
            </a:r>
          </a:p>
          <a:p>
            <a:r>
              <a:rPr lang="pt-BR" sz="2400" dirty="0" smtClean="0"/>
              <a:t>Atores Secundários</a:t>
            </a:r>
          </a:p>
          <a:p>
            <a:r>
              <a:rPr lang="pt-BR" sz="2400" dirty="0" smtClean="0"/>
              <a:t>Pré-condições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Documentação de casos de uso – boas práticas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Comece o nome do caso de uso com um verbo no infinitivo (para indicar um processo ou ação).</a:t>
            </a:r>
          </a:p>
          <a:p>
            <a:r>
              <a:rPr lang="pt-BR" dirty="0" smtClean="0"/>
              <a:t>Não descrever </a:t>
            </a:r>
            <a:r>
              <a:rPr lang="pt-BR" b="1" dirty="0" smtClean="0"/>
              <a:t>como o sistema realiza internamente um passo de um caso de uso.</a:t>
            </a:r>
          </a:p>
          <a:p>
            <a:r>
              <a:rPr lang="pt-BR" dirty="0" smtClean="0"/>
              <a:t>Tente dar nomes a casos de uso seguindo perspectiva do ator primário. </a:t>
            </a:r>
          </a:p>
          <a:p>
            <a:r>
              <a:rPr lang="pt-BR" dirty="0" smtClean="0"/>
              <a:t>Ex.: Registrar Pedido, Abrir Ordem de Produção, Manter Referência, Alugar Filme, etc.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Documentação de casos de uso – boas práticas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Não se preocupar com a interface gráfica durante a escrita</a:t>
            </a:r>
          </a:p>
          <a:p>
            <a:r>
              <a:rPr lang="pt-BR" dirty="0" smtClean="0"/>
              <a:t>Não se preocupar com detalhes técnicos, a serem preenchidos posteriormente</a:t>
            </a:r>
          </a:p>
          <a:p>
            <a:r>
              <a:rPr lang="pt-BR" dirty="0" smtClean="0"/>
              <a:t>Manter a descrição de cada caso de uso no nível mais simples possível.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5613" y="4763"/>
            <a:ext cx="8231187" cy="684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Exemplos de Escrita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sz="2400" dirty="0" smtClean="0"/>
              <a:t>1a - O administrador identifica-se. </a:t>
            </a:r>
          </a:p>
          <a:p>
            <a:pPr>
              <a:buNone/>
            </a:pPr>
            <a:r>
              <a:rPr lang="pt-BR" sz="2400" dirty="0" smtClean="0"/>
              <a:t>1b - O administrador insere seu ID e senha. </a:t>
            </a:r>
          </a:p>
          <a:p>
            <a:pPr>
              <a:buNone/>
            </a:pPr>
            <a:r>
              <a:rPr lang="pt-BR" sz="2400" dirty="0" smtClean="0"/>
              <a:t>1c - O administrador digita seu ID e senha.</a:t>
            </a:r>
          </a:p>
          <a:p>
            <a:pPr>
              <a:buNone/>
            </a:pPr>
            <a:endParaRPr lang="pt-BR" sz="2400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Exemplos de Escrita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pt-BR" sz="2400" dirty="0" smtClean="0"/>
          </a:p>
          <a:p>
            <a:pPr>
              <a:buNone/>
            </a:pPr>
            <a:r>
              <a:rPr lang="pt-BR" sz="2400" dirty="0" smtClean="0"/>
              <a:t>2a - O sistema registra a venda. </a:t>
            </a:r>
          </a:p>
          <a:p>
            <a:pPr>
              <a:buNone/>
            </a:pPr>
            <a:r>
              <a:rPr lang="pt-BR" sz="2400" dirty="0" smtClean="0"/>
              <a:t>2b - O sistema grava a venda no banco de dados usando o comando SQL </a:t>
            </a:r>
            <a:r>
              <a:rPr lang="pt-BR" sz="2400" dirty="0" err="1" smtClean="0"/>
              <a:t>insert</a:t>
            </a:r>
            <a:r>
              <a:rPr lang="pt-BR" sz="2400" dirty="0" smtClean="0"/>
              <a:t> </a:t>
            </a:r>
            <a:r>
              <a:rPr lang="pt-BR" sz="2400" dirty="0" err="1" smtClean="0"/>
              <a:t>into</a:t>
            </a:r>
            <a:r>
              <a:rPr lang="pt-BR" sz="2400" dirty="0" smtClean="0"/>
              <a:t> ...</a:t>
            </a:r>
          </a:p>
          <a:p>
            <a:pPr>
              <a:buNone/>
            </a:pPr>
            <a:r>
              <a:rPr lang="en-US" sz="2400" dirty="0" smtClean="0"/>
              <a:t>2c – O </a:t>
            </a:r>
            <a:r>
              <a:rPr lang="en-US" sz="2400" dirty="0" err="1" smtClean="0"/>
              <a:t>sistema</a:t>
            </a:r>
            <a:r>
              <a:rPr lang="en-US" sz="2400" dirty="0" smtClean="0"/>
              <a:t> </a:t>
            </a:r>
            <a:r>
              <a:rPr lang="en-US" sz="2400" dirty="0" err="1" smtClean="0"/>
              <a:t>chama</a:t>
            </a:r>
            <a:r>
              <a:rPr lang="en-US" sz="2400" dirty="0" smtClean="0"/>
              <a:t> o </a:t>
            </a:r>
            <a:r>
              <a:rPr lang="en-US" sz="2400" dirty="0" err="1" smtClean="0"/>
              <a:t>módulo</a:t>
            </a:r>
            <a:r>
              <a:rPr lang="en-US" sz="2400" dirty="0" smtClean="0"/>
              <a:t> XYZ com </a:t>
            </a:r>
            <a:r>
              <a:rPr lang="en-US" sz="2400" dirty="0" err="1" smtClean="0"/>
              <a:t>parâmetros</a:t>
            </a:r>
            <a:r>
              <a:rPr lang="en-US" sz="2400" dirty="0" smtClean="0"/>
              <a:t> do </a:t>
            </a:r>
            <a:r>
              <a:rPr lang="en-US" sz="2400" dirty="0" err="1" smtClean="0"/>
              <a:t>tipo</a:t>
            </a:r>
            <a:r>
              <a:rPr lang="en-US" sz="2400" dirty="0" smtClean="0"/>
              <a:t> </a:t>
            </a:r>
            <a:r>
              <a:rPr lang="en-US" sz="2400" dirty="0" err="1" smtClean="0"/>
              <a:t>ponto</a:t>
            </a:r>
            <a:r>
              <a:rPr lang="en-US" sz="2400" dirty="0" smtClean="0"/>
              <a:t> </a:t>
            </a:r>
            <a:r>
              <a:rPr lang="en-US" sz="2400" dirty="0" err="1" smtClean="0"/>
              <a:t>flutuante</a:t>
            </a:r>
            <a:r>
              <a:rPr lang="en-US" sz="2400" dirty="0" smtClean="0"/>
              <a:t> A e B </a:t>
            </a:r>
            <a:r>
              <a:rPr lang="en-US" sz="2400" dirty="0" err="1" smtClean="0"/>
              <a:t>para</a:t>
            </a:r>
            <a:r>
              <a:rPr lang="en-US" sz="2400" dirty="0" smtClean="0"/>
              <a:t> …</a:t>
            </a:r>
            <a:endParaRPr lang="pt-BR" sz="2400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Casos de uso e outras atividades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Validação</a:t>
            </a:r>
          </a:p>
          <a:p>
            <a:pPr lvl="1"/>
            <a:r>
              <a:rPr lang="pt-BR" dirty="0" smtClean="0"/>
              <a:t>Clientes e usuários devem entender o modelo (validação) e usá-lo para comunicação.</a:t>
            </a:r>
          </a:p>
          <a:p>
            <a:r>
              <a:rPr lang="pt-BR" dirty="0" smtClean="0"/>
              <a:t>Planejamento e gerenciamento do projeto </a:t>
            </a:r>
          </a:p>
          <a:p>
            <a:pPr lvl="1"/>
            <a:r>
              <a:rPr lang="pt-BR" dirty="0" smtClean="0"/>
              <a:t>Uma ferramenta fundamental para o gerente de um projeto no planejamento e controle de um processo de desenvolvimento incremental e iterativo </a:t>
            </a:r>
          </a:p>
          <a:p>
            <a:r>
              <a:rPr lang="pt-BR" dirty="0" smtClean="0"/>
              <a:t>Testes do sistema</a:t>
            </a:r>
          </a:p>
          <a:p>
            <a:pPr lvl="1"/>
            <a:r>
              <a:rPr lang="pt-BR" dirty="0" smtClean="0"/>
              <a:t>Os casos de uso e seus cenários oferecem </a:t>
            </a:r>
            <a:r>
              <a:rPr lang="pt-BR" i="1" dirty="0" smtClean="0"/>
              <a:t>casos de teste.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Casos de uso e outras atividades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Documentação do sistema para os usuários</a:t>
            </a:r>
          </a:p>
          <a:p>
            <a:pPr lvl="1"/>
            <a:r>
              <a:rPr lang="pt-BR" dirty="0" smtClean="0"/>
              <a:t>Manuais e guias do usuário podem ser  construídos com base nos casos de uso. </a:t>
            </a:r>
          </a:p>
          <a:p>
            <a:r>
              <a:rPr lang="pt-BR" dirty="0" smtClean="0"/>
              <a:t>Realização de uma iteração</a:t>
            </a:r>
          </a:p>
          <a:p>
            <a:pPr lvl="1"/>
            <a:r>
              <a:rPr lang="pt-BR" dirty="0" smtClean="0"/>
              <a:t>Os casos de uso podem ser alocados  entre  os membros de equipe de desenvolvimento </a:t>
            </a:r>
          </a:p>
          <a:p>
            <a:pPr lvl="1"/>
            <a:r>
              <a:rPr lang="pt-BR" i="1" dirty="0" smtClean="0"/>
              <a:t>Use Case </a:t>
            </a:r>
            <a:r>
              <a:rPr lang="pt-BR" i="1" dirty="0" err="1" smtClean="0"/>
              <a:t>Driven</a:t>
            </a:r>
            <a:r>
              <a:rPr lang="pt-BR" i="1" dirty="0" smtClean="0"/>
              <a:t> </a:t>
            </a:r>
            <a:r>
              <a:rPr lang="pt-BR" i="1" dirty="0" err="1" smtClean="0"/>
              <a:t>Development</a:t>
            </a:r>
            <a:endParaRPr lang="pt-BR" i="1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Casos de uso no processo de desenvolvimento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Um grupo de casos é alocado a cada iteração.</a:t>
            </a:r>
          </a:p>
          <a:p>
            <a:pPr lvl="1"/>
            <a:r>
              <a:rPr lang="pt-BR" dirty="0" smtClean="0"/>
              <a:t>Em cada iteração, o grupo de casos de uso  é detalhado e desenvolvido.</a:t>
            </a:r>
          </a:p>
          <a:p>
            <a:r>
              <a:rPr lang="pt-BR" dirty="0" smtClean="0"/>
              <a:t>O processo continua até que todos os casos  de uso tenham sido desenvolvidos e o  sistema esteja completamente construído.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Exercícios – Locação de </a:t>
            </a:r>
            <a:r>
              <a:rPr lang="pt-BR" dirty="0" err="1" smtClean="0"/>
              <a:t>DVD’s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Ao realizar uma locação, o sócio deve primeiros informar seu código para que o atendente possa verificar se este está cadastrado.</a:t>
            </a:r>
          </a:p>
          <a:p>
            <a:r>
              <a:rPr lang="pt-BR" dirty="0" smtClean="0"/>
              <a:t>Se o sócio não estiver cadastrado, a locação será recusada, mas a pessoa pode se cadastrar como sócio.</a:t>
            </a:r>
          </a:p>
          <a:p>
            <a:r>
              <a:rPr lang="pt-BR" dirty="0" smtClean="0"/>
              <a:t>Caso esteja cadastrado o atendente deve verificar se o sócio devolveu as locações feitas anteriormente</a:t>
            </a:r>
          </a:p>
          <a:p>
            <a:r>
              <a:rPr lang="pt-BR" dirty="0" smtClean="0"/>
              <a:t>O atendente deve registrar a locação e fornecer as cópias ao sócio</a:t>
            </a:r>
          </a:p>
          <a:p>
            <a:r>
              <a:rPr lang="pt-BR" dirty="0" smtClean="0"/>
              <a:t>É responsabilidade do atendente realizar a manutenção dos DVDs e suas cópias</a:t>
            </a:r>
          </a:p>
          <a:p>
            <a:r>
              <a:rPr lang="pt-BR" dirty="0" smtClean="0"/>
              <a:t>O atendente deve registrar novas cópias e novos sócios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243408"/>
            <a:ext cx="8229600" cy="1143000"/>
          </a:xfrm>
        </p:spPr>
        <p:txBody>
          <a:bodyPr/>
          <a:lstStyle/>
          <a:p>
            <a:r>
              <a:rPr lang="pt-BR" dirty="0" smtClean="0"/>
              <a:t>Exercícios – Consultório médico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836712"/>
            <a:ext cx="8712968" cy="5832648"/>
          </a:xfrm>
        </p:spPr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pt-BR" dirty="0" smtClean="0"/>
              <a:t>	</a:t>
            </a:r>
            <a:r>
              <a:rPr lang="pt-BR" sz="3700" dirty="0" smtClean="0"/>
              <a:t>Uma pediatra trabalha em três consultórios em bairros distintos, onde atende em horários diferentes. Sua secretária, trabalha nos três consultórios. Para que a marcação de consultas seja centralizada, a secretária tem que carregar as três agendas de um lado para outro. Existe o risco da secretária esquecer ou perder uma agenda. Para resolver o problema, a médica contratou um analista para desenvolver um sistema que controle a marcação de consultas e a ficha dos pacientes. As principais funcionalidades relativas a pacientes são o seu cadastro, remoção, e marcação de consultas. Após uma consulta pode ser necessário pedir exames a um laboratório de análises clínicas. A consulta pode ser paga em dinheiro, ou cartão de crédito, caso em que é necessário verificar o cartão do paciente com a companhia de cartão de crédito específica. Se o paciente possui plano de saúde, ele não paga a consulta, apenas assina um recibo a ser enviado ao plano de saúde.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Exercícios – Festas infantis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268760"/>
            <a:ext cx="8784976" cy="5328592"/>
          </a:xfrm>
        </p:spPr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pt-BR" dirty="0" smtClean="0"/>
              <a:t>Uma pessoa possui vários temas de festas infantis para aluguel. Ela precisa controlar os aluguéis e para isso quer uma aplicação que permita cadastrar os aluguéis: o nome e o telefone do cliente, o endereço completo da festa, o tema escolhido, a data da festa, a hora de início e término da festa. Além disso, existe a possibilidade de oferecer descontos. Para cada tema, é preciso controlar: a lista de itens que compõem o tema (ex.: castelo, boneca da cinderela, bruxa, </a:t>
            </a:r>
            <a:r>
              <a:rPr lang="pt-BR" dirty="0" err="1" smtClean="0"/>
              <a:t>etc</a:t>
            </a:r>
            <a:r>
              <a:rPr lang="pt-BR" dirty="0" smtClean="0"/>
              <a:t>), o valor do aluguel e cor da toalha da mesa que deve ser usada com o tema. Cada tema possui um valor total dependendo da data da festa e do número de pessoas. Esse valor é calculado e repassado ao cliente. O pagamento deve ser feito sempre em espécie.</a:t>
            </a:r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Ex. Matrícula em cursos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504" y="1268760"/>
            <a:ext cx="8928992" cy="54006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 smtClean="0"/>
              <a:t>O aluno solicita informações ao funcionário da empresa sobre quais cursos a empresa oferece. Se o aluno se interessar por algum curso, pedirá informações a respeito de quais turmas do curso em questão se encontram em aberto, qual o horário em que as aulas serão ministradas, qual a data prevista para início das aulas.</a:t>
            </a:r>
          </a:p>
          <a:p>
            <a:pPr algn="just"/>
            <a:r>
              <a:rPr lang="pt-BR" dirty="0" smtClean="0"/>
              <a:t>Caso o horário da turma seja compatível com os horários do aluno, este pode realizar a matrícula em uma turma relativa ao curso em que se interessou. Caso o aluno nunca tenha feito nenhum curso na empresa e portanto não esteja cadastrado, o aluno deverá ser registrado antes de realizar a matrícula.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1645</Words>
  <Application>Microsoft Office PowerPoint</Application>
  <PresentationFormat>On-screen Show (4:3)</PresentationFormat>
  <Paragraphs>172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Tema do Office</vt:lpstr>
      <vt:lpstr>Diagrama de Casos de Uso</vt:lpstr>
      <vt:lpstr>Casos de Uso</vt:lpstr>
      <vt:lpstr>Utilidade dos Casos de Uso</vt:lpstr>
      <vt:lpstr>Composição dos Casos de Uso</vt:lpstr>
      <vt:lpstr>Casos de Uso - Definição</vt:lpstr>
      <vt:lpstr>Dimensões para descrições textuais</vt:lpstr>
      <vt:lpstr>Ex. Descrição Contínua</vt:lpstr>
      <vt:lpstr>Ex. Descrição Numerada</vt:lpstr>
      <vt:lpstr>Ex. Descrição tabular</vt:lpstr>
      <vt:lpstr>Atores</vt:lpstr>
      <vt:lpstr>Categorias de Atores</vt:lpstr>
      <vt:lpstr>Atores</vt:lpstr>
      <vt:lpstr>Diagrama de Casos de Uso</vt:lpstr>
      <vt:lpstr>Ex. Diagrama de Casos de Uso</vt:lpstr>
      <vt:lpstr>Elementos dos Diagramas de Casos de Uso</vt:lpstr>
      <vt:lpstr>Ator, caso de uso, comunicação </vt:lpstr>
      <vt:lpstr>Inclusão (include)</vt:lpstr>
      <vt:lpstr>Extensão (extend)</vt:lpstr>
      <vt:lpstr>Generalização</vt:lpstr>
      <vt:lpstr>Resumo da notação</vt:lpstr>
      <vt:lpstr>Quando usar os relacionamentos</vt:lpstr>
      <vt:lpstr>Identificação dos elementos dos casos de uso</vt:lpstr>
      <vt:lpstr>Identificação de atores</vt:lpstr>
      <vt:lpstr>Identificação de Atores</vt:lpstr>
      <vt:lpstr>Identificação de Casos de Uso</vt:lpstr>
      <vt:lpstr>Construção do diagrama de casos de uso</vt:lpstr>
      <vt:lpstr>Pacotes de Casos de Uso - opções</vt:lpstr>
      <vt:lpstr>Ex. de diagrama de casos de uso</vt:lpstr>
      <vt:lpstr>Documentação dos atores</vt:lpstr>
      <vt:lpstr>Documentação dos casos de uso</vt:lpstr>
      <vt:lpstr>Documentação dos casos de uso – Exemplos de elementos</vt:lpstr>
      <vt:lpstr>Documentação de casos de uso – boas práticas</vt:lpstr>
      <vt:lpstr>Documentação de casos de uso – boas práticas</vt:lpstr>
      <vt:lpstr>Slide 34</vt:lpstr>
      <vt:lpstr>Exemplos de Escrita</vt:lpstr>
      <vt:lpstr>Exemplos de Escrita</vt:lpstr>
      <vt:lpstr>Casos de uso e outras atividades</vt:lpstr>
      <vt:lpstr>Casos de uso e outras atividades</vt:lpstr>
      <vt:lpstr>Casos de uso no processo de desenvolvimento</vt:lpstr>
      <vt:lpstr>Exercícios – Locação de DVD’s</vt:lpstr>
      <vt:lpstr>Exercícios – Consultório médico</vt:lpstr>
      <vt:lpstr>Exercícios – Festas infantis</vt:lpstr>
      <vt:lpstr>Ex. Matrícula em cursos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Casos de Uso</dc:title>
  <dc:creator>Michel</dc:creator>
  <cp:lastModifiedBy>Michel</cp:lastModifiedBy>
  <cp:revision>43</cp:revision>
  <dcterms:created xsi:type="dcterms:W3CDTF">2012-12-03T10:46:11Z</dcterms:created>
  <dcterms:modified xsi:type="dcterms:W3CDTF">2023-06-05T13:11:26Z</dcterms:modified>
</cp:coreProperties>
</file>
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10" r:id="rId4"/>
    <p:sldId id="311" r:id="rId5"/>
    <p:sldId id="312" r:id="rId6"/>
    <p:sldId id="309" r:id="rId7"/>
    <p:sldId id="261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262" r:id="rId16"/>
    <p:sldId id="263" r:id="rId17"/>
    <p:sldId id="305" r:id="rId18"/>
    <p:sldId id="264" r:id="rId19"/>
    <p:sldId id="303" r:id="rId20"/>
    <p:sldId id="302" r:id="rId21"/>
    <p:sldId id="304" r:id="rId22"/>
    <p:sldId id="259" r:id="rId23"/>
    <p:sldId id="306" r:id="rId24"/>
    <p:sldId id="307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313" r:id="rId34"/>
    <p:sldId id="314" r:id="rId35"/>
    <p:sldId id="288" r:id="rId36"/>
    <p:sldId id="315" r:id="rId37"/>
    <p:sldId id="289" r:id="rId38"/>
    <p:sldId id="316" r:id="rId39"/>
    <p:sldId id="317" r:id="rId40"/>
    <p:sldId id="323" r:id="rId41"/>
    <p:sldId id="318" r:id="rId42"/>
    <p:sldId id="319" r:id="rId43"/>
    <p:sldId id="320" r:id="rId44"/>
    <p:sldId id="321" r:id="rId45"/>
    <p:sldId id="322" r:id="rId46"/>
    <p:sldId id="290" r:id="rId47"/>
    <p:sldId id="291" r:id="rId48"/>
    <p:sldId id="324" r:id="rId49"/>
    <p:sldId id="292" r:id="rId50"/>
    <p:sldId id="293" r:id="rId51"/>
    <p:sldId id="325" r:id="rId52"/>
    <p:sldId id="326" r:id="rId53"/>
    <p:sldId id="327" r:id="rId54"/>
    <p:sldId id="294" r:id="rId55"/>
    <p:sldId id="328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Processos de Software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SDLC</a:t>
            </a:r>
            <a:br>
              <a:rPr lang="pt-BR" dirty="0" smtClean="0"/>
            </a:br>
            <a:r>
              <a:rPr lang="pt-BR" dirty="0" smtClean="0"/>
              <a:t>Software </a:t>
            </a:r>
            <a:r>
              <a:rPr lang="pt-BR" dirty="0" err="1" smtClean="0"/>
              <a:t>Development</a:t>
            </a:r>
            <a:r>
              <a:rPr lang="pt-BR" dirty="0" smtClean="0"/>
              <a:t> </a:t>
            </a:r>
            <a:r>
              <a:rPr lang="pt-BR" dirty="0" err="1" smtClean="0"/>
              <a:t>Life</a:t>
            </a:r>
            <a:r>
              <a:rPr lang="pt-BR" dirty="0" smtClean="0"/>
              <a:t> </a:t>
            </a:r>
            <a:r>
              <a:rPr lang="pt-BR" dirty="0" err="1" smtClean="0"/>
              <a:t>Cycle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5105400"/>
          </a:xfrm>
        </p:spPr>
        <p:txBody>
          <a:bodyPr>
            <a:normAutofit fontScale="40000" lnSpcReduction="20000"/>
          </a:bodyPr>
          <a:lstStyle/>
          <a:p>
            <a:r>
              <a:rPr lang="en-US" dirty="0" smtClean="0"/>
              <a:t>Basic Software Development Life Cycle Models</a:t>
            </a:r>
          </a:p>
          <a:p>
            <a:pPr lvl="1"/>
            <a:r>
              <a:rPr lang="pt-BR" dirty="0" err="1" smtClean="0"/>
              <a:t>Waterfall</a:t>
            </a:r>
            <a:endParaRPr lang="pt-BR" dirty="0" smtClean="0"/>
          </a:p>
          <a:p>
            <a:pPr lvl="1"/>
            <a:r>
              <a:rPr lang="pt-BR" dirty="0" err="1" smtClean="0"/>
              <a:t>V-Model</a:t>
            </a:r>
            <a:endParaRPr lang="pt-BR" dirty="0" smtClean="0"/>
          </a:p>
          <a:p>
            <a:pPr lvl="1"/>
            <a:r>
              <a:rPr lang="pt-BR" dirty="0" err="1" smtClean="0"/>
              <a:t>Prototyping</a:t>
            </a:r>
            <a:endParaRPr lang="pt-BR" dirty="0" smtClean="0"/>
          </a:p>
          <a:p>
            <a:pPr lvl="1"/>
            <a:r>
              <a:rPr lang="pt-BR" dirty="0" err="1" smtClean="0"/>
              <a:t>Boehm’s</a:t>
            </a:r>
            <a:r>
              <a:rPr lang="pt-BR" dirty="0" smtClean="0"/>
              <a:t> </a:t>
            </a:r>
            <a:r>
              <a:rPr lang="pt-BR" dirty="0" err="1" smtClean="0"/>
              <a:t>spiral</a:t>
            </a:r>
            <a:r>
              <a:rPr lang="pt-BR" dirty="0" smtClean="0"/>
              <a:t> </a:t>
            </a:r>
            <a:r>
              <a:rPr lang="pt-BR" dirty="0" err="1" smtClean="0"/>
              <a:t>model</a:t>
            </a:r>
            <a:endParaRPr lang="pt-BR" dirty="0" smtClean="0"/>
          </a:p>
          <a:p>
            <a:r>
              <a:rPr lang="en-US" dirty="0" smtClean="0"/>
              <a:t>Methodology-Driven Life Cycle and Process Models</a:t>
            </a:r>
          </a:p>
          <a:p>
            <a:pPr lvl="1"/>
            <a:r>
              <a:rPr lang="pt-BR" dirty="0" err="1" smtClean="0"/>
              <a:t>Structured</a:t>
            </a:r>
            <a:r>
              <a:rPr lang="pt-BR" dirty="0" smtClean="0"/>
              <a:t> </a:t>
            </a:r>
            <a:r>
              <a:rPr lang="pt-BR" dirty="0" err="1" smtClean="0"/>
              <a:t>development</a:t>
            </a:r>
            <a:endParaRPr lang="pt-BR" dirty="0" smtClean="0"/>
          </a:p>
          <a:p>
            <a:pPr lvl="1"/>
            <a:r>
              <a:rPr lang="pt-BR" dirty="0" smtClean="0"/>
              <a:t>Formal </a:t>
            </a:r>
            <a:r>
              <a:rPr lang="pt-BR" dirty="0" err="1" smtClean="0"/>
              <a:t>development</a:t>
            </a:r>
            <a:r>
              <a:rPr lang="pt-BR" dirty="0" smtClean="0"/>
              <a:t> </a:t>
            </a:r>
            <a:r>
              <a:rPr lang="pt-BR" dirty="0" err="1" smtClean="0"/>
              <a:t>methods</a:t>
            </a:r>
            <a:endParaRPr lang="pt-BR" dirty="0" smtClean="0"/>
          </a:p>
          <a:p>
            <a:pPr lvl="1"/>
            <a:r>
              <a:rPr lang="pt-BR" dirty="0" err="1" smtClean="0"/>
              <a:t>Cleanroom</a:t>
            </a:r>
            <a:r>
              <a:rPr lang="pt-BR" dirty="0" smtClean="0"/>
              <a:t>.</a:t>
            </a:r>
          </a:p>
          <a:p>
            <a:r>
              <a:rPr lang="en-US" dirty="0" smtClean="0"/>
              <a:t>Detailed, Combined Software Life Cycle and Process Models</a:t>
            </a:r>
          </a:p>
          <a:p>
            <a:pPr lvl="1"/>
            <a:r>
              <a:rPr lang="en-US" dirty="0" smtClean="0"/>
              <a:t>RUP</a:t>
            </a:r>
          </a:p>
          <a:p>
            <a:pPr lvl="1"/>
            <a:r>
              <a:rPr lang="en-US" dirty="0" smtClean="0"/>
              <a:t>Enterprise Unified Process (EUP) and Agile Unified Process (AUP).</a:t>
            </a:r>
          </a:p>
          <a:p>
            <a:r>
              <a:rPr lang="en-US" dirty="0" smtClean="0"/>
              <a:t>Agile and Lean Development Processes and Methodologies</a:t>
            </a:r>
          </a:p>
          <a:p>
            <a:pPr lvl="1"/>
            <a:r>
              <a:rPr lang="en-US" dirty="0" smtClean="0"/>
              <a:t>Scrum</a:t>
            </a:r>
          </a:p>
          <a:p>
            <a:pPr lvl="1"/>
            <a:r>
              <a:rPr lang="en-US" dirty="0" smtClean="0"/>
              <a:t>XP</a:t>
            </a:r>
          </a:p>
          <a:p>
            <a:pPr lvl="1"/>
            <a:r>
              <a:rPr lang="en-US" dirty="0" err="1" smtClean="0"/>
              <a:t>Kanban</a:t>
            </a:r>
            <a:endParaRPr lang="en-US" dirty="0" smtClean="0"/>
          </a:p>
          <a:p>
            <a:pPr lvl="1"/>
            <a:r>
              <a:rPr lang="en-US" dirty="0" smtClean="0"/>
              <a:t>RAD</a:t>
            </a:r>
          </a:p>
          <a:p>
            <a:pPr lvl="1"/>
            <a:r>
              <a:rPr lang="en-US" dirty="0" smtClean="0"/>
              <a:t>DSDM</a:t>
            </a:r>
          </a:p>
          <a:p>
            <a:pPr lvl="1"/>
            <a:r>
              <a:rPr lang="en-US" dirty="0" smtClean="0"/>
              <a:t>FDD</a:t>
            </a:r>
          </a:p>
          <a:p>
            <a:pPr lvl="1"/>
            <a:r>
              <a:rPr lang="en-US" dirty="0" smtClean="0"/>
              <a:t>TDD</a:t>
            </a:r>
          </a:p>
          <a:p>
            <a:pPr lvl="1"/>
            <a:r>
              <a:rPr lang="en-US" dirty="0" smtClean="0"/>
              <a:t>BDD</a:t>
            </a:r>
          </a:p>
          <a:p>
            <a:r>
              <a:rPr lang="en-US" dirty="0" smtClean="0"/>
              <a:t>Processes for Open Source Software Development</a:t>
            </a:r>
          </a:p>
          <a:p>
            <a:pPr lvl="1"/>
            <a:r>
              <a:rPr lang="en-US" dirty="0" smtClean="0"/>
              <a:t>The cathedral and the bazaar</a:t>
            </a:r>
          </a:p>
          <a:p>
            <a:r>
              <a:rPr lang="en-US" dirty="0" smtClean="0"/>
              <a:t>Frameworks for scaling agile development</a:t>
            </a:r>
          </a:p>
          <a:p>
            <a:pPr lvl="1"/>
            <a:r>
              <a:rPr lang="pt-BR" dirty="0" err="1" smtClean="0"/>
              <a:t>Large-Scale</a:t>
            </a:r>
            <a:r>
              <a:rPr lang="pt-BR" dirty="0" smtClean="0"/>
              <a:t> </a:t>
            </a:r>
            <a:r>
              <a:rPr lang="pt-BR" dirty="0" err="1" smtClean="0"/>
              <a:t>Scrum</a:t>
            </a:r>
            <a:r>
              <a:rPr lang="pt-BR" dirty="0" smtClean="0"/>
              <a:t> (</a:t>
            </a:r>
            <a:r>
              <a:rPr lang="pt-BR" dirty="0" err="1" smtClean="0"/>
              <a:t>LeSS</a:t>
            </a:r>
            <a:r>
              <a:rPr lang="pt-BR" dirty="0" smtClean="0"/>
              <a:t>)</a:t>
            </a:r>
          </a:p>
          <a:p>
            <a:pPr lvl="1"/>
            <a:r>
              <a:rPr lang="pt-BR" dirty="0" err="1" smtClean="0"/>
              <a:t>Nexus</a:t>
            </a:r>
            <a:endParaRPr lang="pt-BR" dirty="0" smtClean="0"/>
          </a:p>
          <a:p>
            <a:pPr lvl="1"/>
            <a:r>
              <a:rPr lang="en-US" dirty="0" smtClean="0"/>
              <a:t>Scaled Agile Framework (</a:t>
            </a:r>
            <a:r>
              <a:rPr lang="en-US" dirty="0" err="1" smtClean="0"/>
              <a:t>SAFe</a:t>
            </a:r>
            <a:r>
              <a:rPr lang="en-US" dirty="0" smtClean="0"/>
              <a:t> R)</a:t>
            </a:r>
            <a:endParaRPr lang="pt-BR" dirty="0" smtClean="0"/>
          </a:p>
          <a:p>
            <a:pPr lvl="1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Processos</a:t>
            </a:r>
            <a:r>
              <a:rPr lang="en-US" dirty="0" smtClean="0"/>
              <a:t> de </a:t>
            </a:r>
            <a:r>
              <a:rPr lang="en-US" dirty="0" err="1" smtClean="0"/>
              <a:t>Desenvolvimento</a:t>
            </a:r>
            <a:r>
              <a:rPr lang="en-US" dirty="0" smtClean="0"/>
              <a:t> de Software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err="1" smtClean="0"/>
              <a:t>Elicitação</a:t>
            </a:r>
            <a:r>
              <a:rPr lang="pt-BR" dirty="0" smtClean="0"/>
              <a:t> de Requisitos</a:t>
            </a:r>
          </a:p>
          <a:p>
            <a:pPr lvl="1"/>
            <a:r>
              <a:rPr lang="pt-BR" dirty="0" smtClean="0"/>
              <a:t>Qual o problema? </a:t>
            </a:r>
          </a:p>
          <a:p>
            <a:pPr lvl="1"/>
            <a:r>
              <a:rPr lang="pt-BR" dirty="0" smtClean="0"/>
              <a:t>O que será feito?</a:t>
            </a:r>
          </a:p>
          <a:p>
            <a:r>
              <a:rPr lang="pt-BR" dirty="0" smtClean="0"/>
              <a:t>Análise e projeto de software</a:t>
            </a:r>
          </a:p>
          <a:p>
            <a:pPr lvl="1"/>
            <a:r>
              <a:rPr lang="pt-BR" dirty="0" smtClean="0"/>
              <a:t>Como será feito?</a:t>
            </a:r>
          </a:p>
          <a:p>
            <a:pPr lvl="1"/>
            <a:r>
              <a:rPr lang="pt-BR" dirty="0" smtClean="0"/>
              <a:t>Descrição computacional</a:t>
            </a:r>
          </a:p>
          <a:p>
            <a:pPr lvl="1"/>
            <a:r>
              <a:rPr lang="pt-BR" dirty="0" smtClean="0"/>
              <a:t>Projeto de arquitetura e detalhado</a:t>
            </a:r>
          </a:p>
          <a:p>
            <a:r>
              <a:rPr lang="pt-BR" dirty="0" smtClean="0"/>
              <a:t>Implementação</a:t>
            </a:r>
          </a:p>
          <a:p>
            <a:r>
              <a:rPr lang="pt-BR" dirty="0" smtClean="0"/>
              <a:t>Testes</a:t>
            </a:r>
          </a:p>
          <a:p>
            <a:r>
              <a:rPr lang="pt-BR" dirty="0" smtClean="0"/>
              <a:t>Implantação</a:t>
            </a:r>
          </a:p>
          <a:p>
            <a:r>
              <a:rPr lang="en-US" dirty="0" err="1" smtClean="0"/>
              <a:t>Manutenção</a:t>
            </a:r>
            <a:r>
              <a:rPr lang="en-US" dirty="0" smtClean="0"/>
              <a:t> 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Desenvolvimento</a:t>
            </a:r>
            <a:r>
              <a:rPr lang="en-US" dirty="0" smtClean="0"/>
              <a:t> </a:t>
            </a:r>
            <a:r>
              <a:rPr lang="en-US" dirty="0" err="1" smtClean="0"/>
              <a:t>Iterativo</a:t>
            </a:r>
            <a:r>
              <a:rPr lang="en-US" dirty="0" smtClean="0"/>
              <a:t> e Incremental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Diversos passos (iterações) com adição de funcionalidades (incremental)</a:t>
            </a:r>
          </a:p>
          <a:p>
            <a:r>
              <a:rPr lang="pt-BR" dirty="0" smtClean="0"/>
              <a:t>Requisitos são agrupados por funcionalidade e implementados em um ciclo de desenvolvimento</a:t>
            </a:r>
          </a:p>
          <a:p>
            <a:r>
              <a:rPr lang="pt-BR" dirty="0" smtClean="0"/>
              <a:t>Partes do software são entregues baseado em requisitos prioritários.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Desenvolvimento</a:t>
            </a:r>
            <a:r>
              <a:rPr lang="en-US" dirty="0" smtClean="0"/>
              <a:t> </a:t>
            </a:r>
            <a:r>
              <a:rPr lang="en-US" dirty="0" err="1" smtClean="0"/>
              <a:t>Iterativo</a:t>
            </a:r>
            <a:r>
              <a:rPr lang="en-US" dirty="0" smtClean="0"/>
              <a:t> e Incremental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Requisitos com maiores riscos são atacados primeiro</a:t>
            </a:r>
          </a:p>
          <a:p>
            <a:pPr lvl="1"/>
            <a:r>
              <a:rPr lang="en-US" dirty="0" err="1" smtClean="0"/>
              <a:t>Partes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importantes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implementadas</a:t>
            </a:r>
            <a:r>
              <a:rPr lang="en-US" dirty="0" smtClean="0"/>
              <a:t> com </a:t>
            </a:r>
            <a:r>
              <a:rPr lang="en-US" dirty="0" err="1" smtClean="0"/>
              <a:t>prioridade</a:t>
            </a:r>
            <a:endParaRPr lang="pt-BR" dirty="0" smtClean="0"/>
          </a:p>
          <a:p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incremento</a:t>
            </a:r>
            <a:r>
              <a:rPr lang="en-US" dirty="0" smtClean="0"/>
              <a:t> </a:t>
            </a:r>
            <a:r>
              <a:rPr lang="en-US" dirty="0" err="1" smtClean="0"/>
              <a:t>incorpora</a:t>
            </a:r>
            <a:r>
              <a:rPr lang="en-US" dirty="0" smtClean="0"/>
              <a:t> </a:t>
            </a:r>
            <a:r>
              <a:rPr lang="en-US" dirty="0" err="1" smtClean="0"/>
              <a:t>funcionalidades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o </a:t>
            </a:r>
            <a:r>
              <a:rPr lang="en-US" dirty="0" err="1" smtClean="0"/>
              <a:t>cliente</a:t>
            </a:r>
            <a:endParaRPr lang="en-US" dirty="0" smtClean="0"/>
          </a:p>
          <a:p>
            <a:pPr lvl="1"/>
            <a:r>
              <a:rPr lang="en-US" dirty="0" err="1" smtClean="0"/>
              <a:t>Maiores</a:t>
            </a:r>
            <a:r>
              <a:rPr lang="en-US" dirty="0" smtClean="0"/>
              <a:t> </a:t>
            </a:r>
            <a:r>
              <a:rPr lang="en-US" dirty="0" err="1" smtClean="0"/>
              <a:t>possibilidades</a:t>
            </a:r>
            <a:r>
              <a:rPr lang="en-US" dirty="0" smtClean="0"/>
              <a:t> de </a:t>
            </a:r>
            <a:r>
              <a:rPr lang="en-US" dirty="0" err="1" smtClean="0"/>
              <a:t>receber</a:t>
            </a:r>
            <a:r>
              <a:rPr lang="en-US" dirty="0" smtClean="0"/>
              <a:t> feedback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Six Phases of a (Big) Project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1. Enthusiasm,</a:t>
            </a:r>
          </a:p>
          <a:p>
            <a:r>
              <a:rPr lang="pt-BR" dirty="0" smtClean="0"/>
              <a:t>2. Disillusionment,</a:t>
            </a:r>
          </a:p>
          <a:p>
            <a:r>
              <a:rPr lang="pt-BR" dirty="0" smtClean="0"/>
              <a:t>3. Panic and hysteria,</a:t>
            </a:r>
          </a:p>
          <a:p>
            <a:r>
              <a:rPr lang="en-US" dirty="0" smtClean="0"/>
              <a:t>4. Hunt for the guilty,</a:t>
            </a:r>
          </a:p>
          <a:p>
            <a:r>
              <a:rPr lang="en-US" dirty="0" smtClean="0"/>
              <a:t>5. Punishment of the innocent, and</a:t>
            </a:r>
          </a:p>
          <a:p>
            <a:r>
              <a:rPr lang="en-US" dirty="0" smtClean="0"/>
              <a:t>6. Reward for the uninvolved.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Basic Software Development Life Cycle Models - Waterfall</a:t>
            </a:r>
            <a:br>
              <a:rPr lang="en-US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Os problemas foram identificados antes mesmo de surgirem métodos ágeis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Modelo</a:t>
            </a:r>
            <a:r>
              <a:rPr lang="en-US" dirty="0" smtClean="0"/>
              <a:t> Linear (</a:t>
            </a:r>
            <a:r>
              <a:rPr lang="en-US" dirty="0" err="1" smtClean="0"/>
              <a:t>Cascata</a:t>
            </a:r>
            <a:r>
              <a:rPr lang="en-US" dirty="0" smtClean="0"/>
              <a:t>, Waterfall)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916832"/>
            <a:ext cx="5761037" cy="396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Modelo</a:t>
            </a:r>
            <a:r>
              <a:rPr lang="en-US" dirty="0" smtClean="0"/>
              <a:t> Linear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resultado de cada fase envolve documentos que devem ser validados</a:t>
            </a:r>
          </a:p>
          <a:p>
            <a:r>
              <a:rPr lang="pt-BR" dirty="0" smtClean="0"/>
              <a:t>A fase seguinte não deve iniciar até que a fase anterior termine</a:t>
            </a:r>
          </a:p>
          <a:p>
            <a:r>
              <a:rPr lang="pt-BR" dirty="0" smtClean="0"/>
              <a:t>Problema: inflexível divisão em fases distintas</a:t>
            </a:r>
          </a:p>
          <a:p>
            <a:r>
              <a:rPr lang="pt-BR" dirty="0" smtClean="0"/>
              <a:t>Funciona apenas quando os requisitos forem bem entendidos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Modelo</a:t>
            </a:r>
            <a:r>
              <a:rPr lang="en-US" dirty="0" smtClean="0"/>
              <a:t> Linear - </a:t>
            </a:r>
            <a:r>
              <a:rPr lang="en-US" dirty="0" err="1" smtClean="0"/>
              <a:t>críticas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Projetos reais raramente seguem o fluxo sequencial</a:t>
            </a:r>
          </a:p>
          <a:p>
            <a:r>
              <a:rPr lang="pt-BR" dirty="0" smtClean="0"/>
              <a:t>Em projetos grandes, é impossível </a:t>
            </a:r>
            <a:r>
              <a:rPr lang="pt-BR" dirty="0" err="1" smtClean="0"/>
              <a:t>elicitar</a:t>
            </a:r>
            <a:r>
              <a:rPr lang="pt-BR" dirty="0" smtClean="0"/>
              <a:t> todos os requisitos antes da fase de análise</a:t>
            </a:r>
          </a:p>
          <a:p>
            <a:r>
              <a:rPr lang="pt-BR" dirty="0" smtClean="0"/>
              <a:t>Requisitos são frequentemente alterados, o que impacta na análise e projeto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Modelo</a:t>
            </a:r>
            <a:r>
              <a:rPr lang="en-US" dirty="0" smtClean="0"/>
              <a:t> Linear - </a:t>
            </a:r>
            <a:r>
              <a:rPr lang="en-US" dirty="0" err="1" smtClean="0"/>
              <a:t>críticas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Demora na descoberta de erros</a:t>
            </a:r>
          </a:p>
          <a:p>
            <a:r>
              <a:rPr lang="pt-BR" dirty="0" smtClean="0"/>
              <a:t>Espera por fim de uma fase para iniciar outra (bloqueio)</a:t>
            </a:r>
          </a:p>
          <a:p>
            <a:r>
              <a:rPr lang="en-US" dirty="0" err="1" smtClean="0"/>
              <a:t>Raramente</a:t>
            </a:r>
            <a:r>
              <a:rPr lang="en-US" dirty="0" smtClean="0"/>
              <a:t> </a:t>
            </a:r>
            <a:r>
              <a:rPr lang="en-US" dirty="0" err="1" smtClean="0"/>
              <a:t>elabora</a:t>
            </a:r>
            <a:r>
              <a:rPr lang="en-US" dirty="0" smtClean="0"/>
              <a:t>-se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solução</a:t>
            </a:r>
            <a:r>
              <a:rPr lang="en-US" dirty="0" smtClean="0"/>
              <a:t> </a:t>
            </a:r>
            <a:r>
              <a:rPr lang="en-US" dirty="0" err="1" smtClean="0"/>
              <a:t>completa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iniciar</a:t>
            </a:r>
            <a:r>
              <a:rPr lang="en-US" dirty="0" smtClean="0"/>
              <a:t> a </a:t>
            </a:r>
            <a:r>
              <a:rPr lang="en-US" dirty="0" err="1" smtClean="0"/>
              <a:t>implementação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Processo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Cascata</a:t>
            </a:r>
            <a:r>
              <a:rPr lang="en-US" dirty="0" smtClean="0"/>
              <a:t> (Royce)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Modelo</a:t>
            </a:r>
            <a:r>
              <a:rPr lang="en-US" dirty="0" smtClean="0"/>
              <a:t> linear com feedback entre </a:t>
            </a:r>
            <a:r>
              <a:rPr lang="en-US" dirty="0" err="1" smtClean="0"/>
              <a:t>fases</a:t>
            </a:r>
            <a:endParaRPr lang="en-US" dirty="0" smtClean="0"/>
          </a:p>
          <a:p>
            <a:r>
              <a:rPr lang="en-US" dirty="0" err="1" smtClean="0"/>
              <a:t>Documentos</a:t>
            </a:r>
            <a:r>
              <a:rPr lang="en-US" dirty="0" smtClean="0"/>
              <a:t> </a:t>
            </a:r>
            <a:r>
              <a:rPr lang="en-US" dirty="0" err="1" smtClean="0"/>
              <a:t>gerados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modificados</a:t>
            </a:r>
            <a:endParaRPr lang="en-US" dirty="0" smtClean="0"/>
          </a:p>
          <a:p>
            <a:r>
              <a:rPr lang="en-US" dirty="0" smtClean="0"/>
              <a:t>Royce </a:t>
            </a:r>
            <a:r>
              <a:rPr lang="en-US" dirty="0" err="1" smtClean="0"/>
              <a:t>foi</a:t>
            </a:r>
            <a:r>
              <a:rPr lang="en-US" dirty="0" smtClean="0"/>
              <a:t> </a:t>
            </a:r>
            <a:r>
              <a:rPr lang="en-US" dirty="0" err="1" smtClean="0"/>
              <a:t>injustamente</a:t>
            </a:r>
            <a:r>
              <a:rPr lang="en-US" dirty="0" smtClean="0"/>
              <a:t> </a:t>
            </a:r>
            <a:r>
              <a:rPr lang="en-US" dirty="0" err="1" smtClean="0"/>
              <a:t>acusado</a:t>
            </a:r>
            <a:r>
              <a:rPr lang="en-US" dirty="0" smtClean="0"/>
              <a:t> de </a:t>
            </a:r>
            <a:r>
              <a:rPr lang="en-US" dirty="0" err="1" smtClean="0"/>
              <a:t>propor</a:t>
            </a:r>
            <a:r>
              <a:rPr lang="en-US" dirty="0" smtClean="0"/>
              <a:t> um </a:t>
            </a:r>
            <a:r>
              <a:rPr lang="en-US" dirty="0" err="1" smtClean="0"/>
              <a:t>modelo</a:t>
            </a:r>
            <a:r>
              <a:rPr lang="en-US" dirty="0" smtClean="0"/>
              <a:t> </a:t>
            </a:r>
            <a:r>
              <a:rPr lang="en-US" dirty="0" err="1" smtClean="0"/>
              <a:t>sequencial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…” I believe in this concept, but the implementation described above is risky and invites failure.”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Processo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Cascata</a:t>
            </a:r>
            <a:r>
              <a:rPr lang="en-US" dirty="0" smtClean="0"/>
              <a:t> (Royce) - 1970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964" y="1359510"/>
            <a:ext cx="8809524" cy="53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Processo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Cascata</a:t>
            </a:r>
            <a:r>
              <a:rPr lang="en-US" dirty="0" smtClean="0"/>
              <a:t> (Royce) - 1970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… “what a software design is going to do is subject to wide interpretation even after previous agreement.” </a:t>
            </a:r>
          </a:p>
          <a:p>
            <a:r>
              <a:rPr lang="en-US" dirty="0" smtClean="0"/>
              <a:t>“It is important to involve the customer in a formal way so that he has committed himself at earlier points before final delivery.”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Waterfall model with overlapping phases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Partes de uma fase são completadas, e pode-se mover para a próxima etapa, mesmo que a etapa anterior não tenha terminado.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429000"/>
            <a:ext cx="608647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V-model</a:t>
            </a:r>
            <a:r>
              <a:rPr lang="pt-BR" dirty="0" smtClean="0"/>
              <a:t>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Descrito por Boehm, com propósito de ter atividades de Verificação e Validação</a:t>
            </a:r>
          </a:p>
          <a:p>
            <a:r>
              <a:rPr lang="pt-BR" dirty="0" smtClean="0"/>
              <a:t>Parte esquerda: desenvolvimento sequencial</a:t>
            </a:r>
          </a:p>
          <a:p>
            <a:r>
              <a:rPr lang="pt-BR" dirty="0" smtClean="0"/>
              <a:t>Parte direita: atividades de verificação e validação</a:t>
            </a:r>
          </a:p>
          <a:p>
            <a:r>
              <a:rPr lang="pt-BR" dirty="0" smtClean="0"/>
              <a:t>Usado em sistemas críticos</a:t>
            </a:r>
          </a:p>
          <a:p>
            <a:r>
              <a:rPr lang="pt-BR" dirty="0" smtClean="0"/>
              <a:t>IEC 61508-3 (</a:t>
            </a:r>
            <a:r>
              <a:rPr lang="en-US" sz="2400" i="1" dirty="0" smtClean="0"/>
              <a:t>Functional safety of electrical/electronic/programmable electronic safety-related systems - Part 3: Software requirements</a:t>
            </a:r>
            <a:r>
              <a:rPr lang="pt-BR" dirty="0" smtClean="0"/>
              <a:t>) define o modelo em V para desenvolvimento</a:t>
            </a:r>
          </a:p>
          <a:p>
            <a:pPr lvl="1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V-model</a:t>
            </a: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1026" name="Picture 2" descr="v-model in software diagram of how a v-model works as described belo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828800"/>
            <a:ext cx="6667500" cy="4495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Prototyping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Tipicamente mostra a interface gráfica do software</a:t>
            </a:r>
          </a:p>
          <a:p>
            <a:r>
              <a:rPr lang="pt-BR" dirty="0" smtClean="0"/>
              <a:t>Ignora outras propriedades: </a:t>
            </a:r>
          </a:p>
          <a:p>
            <a:pPr lvl="1"/>
            <a:r>
              <a:rPr lang="pt-BR" dirty="0" smtClean="0"/>
              <a:t>Segurança, desempenho</a:t>
            </a:r>
          </a:p>
          <a:p>
            <a:pPr lvl="1"/>
            <a:r>
              <a:rPr lang="pt-BR" dirty="0" err="1" smtClean="0"/>
              <a:t>Modularidade</a:t>
            </a:r>
            <a:endParaRPr lang="pt-BR" dirty="0" smtClean="0"/>
          </a:p>
          <a:p>
            <a:r>
              <a:rPr lang="pt-BR" dirty="0" smtClean="0"/>
              <a:t>Risco: o cliente acreditar que está pronto, ou que é fácil desenvolver o software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Modelo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Espiral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Primeiro modelo iterativo e incremental</a:t>
            </a:r>
          </a:p>
          <a:p>
            <a:r>
              <a:rPr lang="pt-BR" dirty="0" smtClean="0"/>
              <a:t>Cada loop é dividido em 4 setores:</a:t>
            </a:r>
          </a:p>
          <a:p>
            <a:pPr lvl="1"/>
            <a:r>
              <a:rPr lang="pt-BR" dirty="0" smtClean="0"/>
              <a:t>Definição de objetivos</a:t>
            </a:r>
          </a:p>
          <a:p>
            <a:pPr lvl="1"/>
            <a:r>
              <a:rPr lang="pt-BR" dirty="0" smtClean="0"/>
              <a:t>Avaliação e redução de riscos</a:t>
            </a:r>
          </a:p>
          <a:p>
            <a:pPr lvl="1"/>
            <a:r>
              <a:rPr lang="pt-BR" dirty="0" smtClean="0"/>
              <a:t>Desenvolvimento e validação</a:t>
            </a:r>
          </a:p>
          <a:p>
            <a:pPr lvl="2"/>
            <a:r>
              <a:rPr lang="en-US" dirty="0" err="1" smtClean="0"/>
              <a:t>Uso</a:t>
            </a:r>
            <a:r>
              <a:rPr lang="en-US" dirty="0" smtClean="0"/>
              <a:t> de </a:t>
            </a:r>
            <a:r>
              <a:rPr lang="en-US" dirty="0" err="1" smtClean="0"/>
              <a:t>algum</a:t>
            </a:r>
            <a:r>
              <a:rPr lang="en-US" dirty="0" smtClean="0"/>
              <a:t> </a:t>
            </a:r>
            <a:r>
              <a:rPr lang="en-US" dirty="0" err="1" smtClean="0"/>
              <a:t>processo</a:t>
            </a:r>
            <a:r>
              <a:rPr lang="en-US" dirty="0" smtClean="0"/>
              <a:t> (</a:t>
            </a:r>
            <a:r>
              <a:rPr lang="en-US" dirty="0" err="1" smtClean="0"/>
              <a:t>Cascata</a:t>
            </a:r>
            <a:r>
              <a:rPr lang="en-US" dirty="0" smtClean="0"/>
              <a:t>, XP, …)</a:t>
            </a:r>
            <a:endParaRPr lang="pt-BR" dirty="0" smtClean="0"/>
          </a:p>
          <a:p>
            <a:pPr lvl="1"/>
            <a:r>
              <a:rPr lang="pt-BR" dirty="0" smtClean="0"/>
              <a:t>Planejamento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Modelo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Espiral</a:t>
            </a:r>
            <a:r>
              <a:rPr lang="en-US" dirty="0" smtClean="0"/>
              <a:t> (Boehm)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9242" y="732706"/>
            <a:ext cx="7637174" cy="5829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Modelo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Espiral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Riscos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Identificados</a:t>
            </a:r>
            <a:endParaRPr lang="en-US" dirty="0" smtClean="0"/>
          </a:p>
          <a:p>
            <a:pPr lvl="1"/>
            <a:r>
              <a:rPr lang="en-US" dirty="0" err="1" smtClean="0"/>
              <a:t>Avaliados</a:t>
            </a:r>
            <a:endParaRPr lang="en-US" dirty="0" smtClean="0"/>
          </a:p>
          <a:p>
            <a:pPr lvl="1"/>
            <a:r>
              <a:rPr lang="en-US" dirty="0" err="1" smtClean="0"/>
              <a:t>Gerenciados</a:t>
            </a:r>
            <a:endParaRPr lang="en-US" dirty="0" smtClean="0"/>
          </a:p>
          <a:p>
            <a:pPr lvl="1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Anti </a:t>
            </a:r>
            <a:r>
              <a:rPr lang="pt-BR" dirty="0" err="1" smtClean="0"/>
              <a:t>pattern</a:t>
            </a:r>
            <a:r>
              <a:rPr lang="pt-BR" dirty="0" smtClean="0"/>
              <a:t>: </a:t>
            </a:r>
            <a:r>
              <a:rPr lang="pt-BR" dirty="0" err="1" smtClean="0"/>
              <a:t>code</a:t>
            </a:r>
            <a:r>
              <a:rPr lang="pt-BR" dirty="0" smtClean="0"/>
              <a:t> </a:t>
            </a:r>
            <a:r>
              <a:rPr lang="pt-BR" dirty="0" err="1" smtClean="0"/>
              <a:t>and</a:t>
            </a:r>
            <a:r>
              <a:rPr lang="pt-BR" dirty="0" smtClean="0"/>
              <a:t> </a:t>
            </a:r>
            <a:r>
              <a:rPr lang="pt-BR" dirty="0" err="1" smtClean="0"/>
              <a:t>fix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Pouca</a:t>
            </a:r>
            <a:r>
              <a:rPr lang="en-US" dirty="0" smtClean="0"/>
              <a:t> (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nenhuma</a:t>
            </a:r>
            <a:r>
              <a:rPr lang="en-US" dirty="0" smtClean="0"/>
              <a:t>) </a:t>
            </a:r>
            <a:r>
              <a:rPr lang="en-US" dirty="0" err="1" smtClean="0"/>
              <a:t>especificação</a:t>
            </a:r>
            <a:endParaRPr lang="en-US" dirty="0" smtClean="0"/>
          </a:p>
          <a:p>
            <a:r>
              <a:rPr lang="en-US" dirty="0" err="1" smtClean="0"/>
              <a:t>Pouco</a:t>
            </a:r>
            <a:r>
              <a:rPr lang="en-US" dirty="0" smtClean="0"/>
              <a:t> (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nenhum</a:t>
            </a:r>
            <a:r>
              <a:rPr lang="en-US" dirty="0" smtClean="0"/>
              <a:t>) </a:t>
            </a:r>
            <a:r>
              <a:rPr lang="en-US" dirty="0" err="1" smtClean="0"/>
              <a:t>teste</a:t>
            </a:r>
            <a:endParaRPr lang="en-US" dirty="0" smtClean="0"/>
          </a:p>
          <a:p>
            <a:r>
              <a:rPr lang="en-US" dirty="0" err="1" smtClean="0"/>
              <a:t>Desenvolvimento</a:t>
            </a:r>
            <a:r>
              <a:rPr lang="en-US" dirty="0" smtClean="0"/>
              <a:t> </a:t>
            </a:r>
            <a:r>
              <a:rPr lang="en-US" dirty="0" err="1" smtClean="0"/>
              <a:t>já</a:t>
            </a:r>
            <a:r>
              <a:rPr lang="en-US" dirty="0" smtClean="0"/>
              <a:t> </a:t>
            </a:r>
            <a:r>
              <a:rPr lang="en-US" dirty="0" err="1" smtClean="0"/>
              <a:t>inicia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implementação</a:t>
            </a:r>
            <a:endParaRPr lang="en-US" dirty="0" smtClean="0"/>
          </a:p>
          <a:p>
            <a:pPr lvl="1"/>
            <a:r>
              <a:rPr lang="en-US" dirty="0" smtClean="0"/>
              <a:t>A </a:t>
            </a:r>
            <a:r>
              <a:rPr lang="en-US" dirty="0" err="1" smtClean="0"/>
              <a:t>especificação</a:t>
            </a:r>
            <a:r>
              <a:rPr lang="en-US" dirty="0" smtClean="0"/>
              <a:t> é </a:t>
            </a:r>
            <a:r>
              <a:rPr lang="en-US" dirty="0" err="1" smtClean="0"/>
              <a:t>apenas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ideia</a:t>
            </a:r>
            <a:r>
              <a:rPr lang="en-US" dirty="0" smtClean="0"/>
              <a:t> </a:t>
            </a:r>
            <a:r>
              <a:rPr lang="en-US" dirty="0" err="1" smtClean="0"/>
              <a:t>geral</a:t>
            </a:r>
            <a:endParaRPr lang="en-US" dirty="0" smtClean="0"/>
          </a:p>
          <a:p>
            <a:r>
              <a:rPr lang="en-US" dirty="0" err="1" smtClean="0"/>
              <a:t>Desenvolvimento</a:t>
            </a:r>
            <a:r>
              <a:rPr lang="en-US" dirty="0" smtClean="0"/>
              <a:t> é </a:t>
            </a:r>
            <a:r>
              <a:rPr lang="en-US" dirty="0" err="1" smtClean="0"/>
              <a:t>alterado</a:t>
            </a:r>
            <a:r>
              <a:rPr lang="en-US" dirty="0" smtClean="0"/>
              <a:t>/</a:t>
            </a:r>
            <a:r>
              <a:rPr lang="en-US" dirty="0" err="1" smtClean="0"/>
              <a:t>corrigido</a:t>
            </a:r>
            <a:r>
              <a:rPr lang="en-US" dirty="0" smtClean="0"/>
              <a:t> </a:t>
            </a:r>
            <a:r>
              <a:rPr lang="en-US" dirty="0" err="1" smtClean="0"/>
              <a:t>continuamente</a:t>
            </a:r>
            <a:endParaRPr lang="en-US" dirty="0" smtClean="0"/>
          </a:p>
          <a:p>
            <a:pPr lvl="1"/>
            <a:r>
              <a:rPr lang="en-US" dirty="0" err="1" smtClean="0"/>
              <a:t>Resultados</a:t>
            </a:r>
            <a:r>
              <a:rPr lang="en-US" dirty="0" smtClean="0"/>
              <a:t> </a:t>
            </a:r>
            <a:r>
              <a:rPr lang="en-US" dirty="0" err="1" smtClean="0"/>
              <a:t>rápidos</a:t>
            </a:r>
            <a:endParaRPr lang="en-US" dirty="0" smtClean="0"/>
          </a:p>
          <a:p>
            <a:pPr lvl="1"/>
            <a:r>
              <a:rPr lang="en-US" dirty="0" err="1" smtClean="0"/>
              <a:t>Fácil</a:t>
            </a:r>
            <a:r>
              <a:rPr lang="en-US" dirty="0" smtClean="0"/>
              <a:t> de </a:t>
            </a:r>
            <a:r>
              <a:rPr lang="en-US" dirty="0" err="1" smtClean="0"/>
              <a:t>entender</a:t>
            </a:r>
            <a:r>
              <a:rPr lang="en-US" dirty="0" smtClean="0"/>
              <a:t>/</a:t>
            </a:r>
            <a:r>
              <a:rPr lang="en-US" dirty="0" err="1" smtClean="0"/>
              <a:t>aprender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Anti </a:t>
            </a:r>
            <a:r>
              <a:rPr lang="pt-BR" dirty="0" err="1" smtClean="0"/>
              <a:t>pattern</a:t>
            </a:r>
            <a:r>
              <a:rPr lang="pt-BR" dirty="0" smtClean="0"/>
              <a:t>: </a:t>
            </a:r>
            <a:r>
              <a:rPr lang="pt-BR" dirty="0" err="1" smtClean="0"/>
              <a:t>code</a:t>
            </a:r>
            <a:r>
              <a:rPr lang="pt-BR" dirty="0" smtClean="0"/>
              <a:t> </a:t>
            </a:r>
            <a:r>
              <a:rPr lang="pt-BR" dirty="0" err="1" smtClean="0"/>
              <a:t>and</a:t>
            </a:r>
            <a:r>
              <a:rPr lang="pt-BR" dirty="0" smtClean="0"/>
              <a:t> </a:t>
            </a:r>
            <a:r>
              <a:rPr lang="pt-BR" dirty="0" err="1" smtClean="0"/>
              <a:t>fix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Útil</a:t>
            </a:r>
            <a:r>
              <a:rPr lang="en-US" dirty="0" smtClean="0"/>
              <a:t> </a:t>
            </a:r>
            <a:r>
              <a:rPr lang="en-US" dirty="0" err="1" smtClean="0"/>
              <a:t>apenas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projetos</a:t>
            </a:r>
            <a:r>
              <a:rPr lang="en-US" dirty="0" smtClean="0"/>
              <a:t> </a:t>
            </a:r>
            <a:r>
              <a:rPr lang="en-US" dirty="0" err="1" smtClean="0"/>
              <a:t>pequenos</a:t>
            </a:r>
            <a:r>
              <a:rPr lang="en-US" dirty="0" smtClean="0"/>
              <a:t>/</a:t>
            </a:r>
            <a:r>
              <a:rPr lang="en-US" dirty="0" err="1" smtClean="0"/>
              <a:t>triviais</a:t>
            </a:r>
            <a:endParaRPr lang="en-US" dirty="0" smtClean="0"/>
          </a:p>
          <a:p>
            <a:r>
              <a:rPr lang="en-US" dirty="0" smtClean="0"/>
              <a:t>Alto </a:t>
            </a:r>
            <a:r>
              <a:rPr lang="en-US" dirty="0" err="1" smtClean="0"/>
              <a:t>risco</a:t>
            </a:r>
            <a:endParaRPr lang="en-US" dirty="0" smtClean="0"/>
          </a:p>
          <a:p>
            <a:r>
              <a:rPr lang="en-US" dirty="0" err="1" smtClean="0"/>
              <a:t>Difícil</a:t>
            </a:r>
            <a:r>
              <a:rPr lang="en-US" dirty="0" smtClean="0"/>
              <a:t> </a:t>
            </a:r>
            <a:r>
              <a:rPr lang="en-US" dirty="0" err="1" smtClean="0"/>
              <a:t>controle</a:t>
            </a:r>
            <a:endParaRPr lang="en-US" dirty="0" smtClean="0"/>
          </a:p>
          <a:p>
            <a:r>
              <a:rPr lang="en-US" dirty="0" err="1" smtClean="0"/>
              <a:t>Difícil</a:t>
            </a:r>
            <a:r>
              <a:rPr lang="en-US" dirty="0" smtClean="0"/>
              <a:t> </a:t>
            </a:r>
            <a:r>
              <a:rPr lang="en-US" dirty="0" err="1" smtClean="0"/>
              <a:t>avaliação</a:t>
            </a:r>
            <a:r>
              <a:rPr lang="en-US" dirty="0" smtClean="0"/>
              <a:t> de </a:t>
            </a:r>
            <a:r>
              <a:rPr lang="en-US" dirty="0" err="1" smtClean="0"/>
              <a:t>qualidade</a:t>
            </a:r>
            <a:endParaRPr lang="en-US" dirty="0" smtClean="0"/>
          </a:p>
          <a:p>
            <a:r>
              <a:rPr lang="en-US" dirty="0" err="1" smtClean="0"/>
              <a:t>Muitos</a:t>
            </a:r>
            <a:r>
              <a:rPr lang="en-US" dirty="0" smtClean="0"/>
              <a:t> </a:t>
            </a:r>
            <a:r>
              <a:rPr lang="en-US" dirty="0" err="1" smtClean="0"/>
              <a:t>problemas</a:t>
            </a:r>
            <a:r>
              <a:rPr lang="en-US" dirty="0" smtClean="0"/>
              <a:t> </a:t>
            </a:r>
            <a:r>
              <a:rPr lang="en-US" dirty="0" err="1" smtClean="0"/>
              <a:t>encontrados</a:t>
            </a:r>
            <a:r>
              <a:rPr lang="en-US" dirty="0" smtClean="0"/>
              <a:t> no final, e de </a:t>
            </a:r>
            <a:r>
              <a:rPr lang="en-US" dirty="0" err="1" smtClean="0"/>
              <a:t>difícil</a:t>
            </a:r>
            <a:r>
              <a:rPr lang="en-US" dirty="0" smtClean="0"/>
              <a:t> </a:t>
            </a:r>
            <a:r>
              <a:rPr lang="en-US" dirty="0" err="1" smtClean="0"/>
              <a:t>correção</a:t>
            </a:r>
            <a:endParaRPr lang="en-US" dirty="0" smtClean="0"/>
          </a:p>
          <a:p>
            <a:r>
              <a:rPr lang="en-US" dirty="0" err="1" smtClean="0"/>
              <a:t>Manutenção</a:t>
            </a:r>
            <a:r>
              <a:rPr lang="en-US" dirty="0" smtClean="0"/>
              <a:t> </a:t>
            </a:r>
            <a:r>
              <a:rPr lang="en-US" dirty="0" err="1" smtClean="0"/>
              <a:t>cara</a:t>
            </a:r>
            <a:r>
              <a:rPr lang="en-US" dirty="0" smtClean="0"/>
              <a:t> e </a:t>
            </a:r>
            <a:r>
              <a:rPr lang="en-US" dirty="0" err="1" smtClean="0"/>
              <a:t>difícil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Code and Fix / Agile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À </a:t>
            </a:r>
            <a:r>
              <a:rPr lang="en-US" dirty="0" err="1" smtClean="0"/>
              <a:t>primeira</a:t>
            </a:r>
            <a:r>
              <a:rPr lang="en-US" dirty="0" smtClean="0"/>
              <a:t> vista, </a:t>
            </a:r>
            <a:r>
              <a:rPr lang="en-US" dirty="0" err="1" smtClean="0"/>
              <a:t>parece</a:t>
            </a:r>
            <a:r>
              <a:rPr lang="en-US" dirty="0" smtClean="0"/>
              <a:t> </a:t>
            </a:r>
            <a:r>
              <a:rPr lang="en-US" dirty="0" err="1" smtClean="0"/>
              <a:t>haver</a:t>
            </a:r>
            <a:r>
              <a:rPr lang="en-US" dirty="0" smtClean="0"/>
              <a:t> </a:t>
            </a:r>
            <a:r>
              <a:rPr lang="en-US" dirty="0" err="1" smtClean="0"/>
              <a:t>pouca</a:t>
            </a:r>
            <a:r>
              <a:rPr lang="en-US" dirty="0" smtClean="0"/>
              <a:t> </a:t>
            </a:r>
            <a:r>
              <a:rPr lang="en-US" dirty="0" err="1" smtClean="0"/>
              <a:t>diferença</a:t>
            </a:r>
            <a:endParaRPr lang="en-US" dirty="0" smtClean="0"/>
          </a:p>
          <a:p>
            <a:r>
              <a:rPr lang="en-US" dirty="0" err="1" smtClean="0"/>
              <a:t>Quem</a:t>
            </a:r>
            <a:r>
              <a:rPr lang="en-US" dirty="0" smtClean="0"/>
              <a:t> </a:t>
            </a:r>
            <a:r>
              <a:rPr lang="en-US" dirty="0" err="1" smtClean="0"/>
              <a:t>usa</a:t>
            </a:r>
            <a:r>
              <a:rPr lang="en-US" dirty="0" smtClean="0"/>
              <a:t> code and fix </a:t>
            </a:r>
            <a:r>
              <a:rPr lang="en-US" dirty="0" err="1" smtClean="0"/>
              <a:t>diz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está</a:t>
            </a:r>
            <a:r>
              <a:rPr lang="en-US" dirty="0" smtClean="0"/>
              <a:t> </a:t>
            </a:r>
            <a:r>
              <a:rPr lang="en-US" dirty="0" err="1" smtClean="0"/>
              <a:t>usando</a:t>
            </a:r>
            <a:r>
              <a:rPr lang="en-US" dirty="0" smtClean="0"/>
              <a:t> </a:t>
            </a:r>
            <a:r>
              <a:rPr lang="en-US" dirty="0" err="1" smtClean="0"/>
              <a:t>métodos</a:t>
            </a:r>
            <a:r>
              <a:rPr lang="en-US" dirty="0" smtClean="0"/>
              <a:t> </a:t>
            </a:r>
            <a:r>
              <a:rPr lang="en-US" dirty="0" err="1" smtClean="0"/>
              <a:t>ágeis</a:t>
            </a:r>
            <a:r>
              <a:rPr lang="en-US" dirty="0" smtClean="0"/>
              <a:t>!</a:t>
            </a:r>
          </a:p>
          <a:p>
            <a:r>
              <a:rPr lang="en-US" dirty="0" err="1" smtClean="0"/>
              <a:t>Métodos</a:t>
            </a:r>
            <a:r>
              <a:rPr lang="en-US" dirty="0" smtClean="0"/>
              <a:t> </a:t>
            </a:r>
            <a:r>
              <a:rPr lang="en-US" dirty="0" err="1" smtClean="0"/>
              <a:t>ágeis</a:t>
            </a:r>
            <a:r>
              <a:rPr lang="en-US" dirty="0" smtClean="0"/>
              <a:t> </a:t>
            </a:r>
            <a:r>
              <a:rPr lang="en-US" dirty="0" err="1" smtClean="0"/>
              <a:t>mantém</a:t>
            </a:r>
            <a:r>
              <a:rPr lang="en-US" dirty="0" smtClean="0"/>
              <a:t> </a:t>
            </a:r>
            <a:r>
              <a:rPr lang="en-US" dirty="0" err="1" smtClean="0"/>
              <a:t>disciplina</a:t>
            </a:r>
            <a:r>
              <a:rPr lang="en-US" dirty="0" smtClean="0"/>
              <a:t>!</a:t>
            </a:r>
          </a:p>
          <a:p>
            <a:pPr lvl="1"/>
            <a:r>
              <a:rPr lang="en-US" dirty="0" smtClean="0"/>
              <a:t>Testes </a:t>
            </a:r>
            <a:r>
              <a:rPr lang="en-US" dirty="0" err="1" smtClean="0"/>
              <a:t>constantes</a:t>
            </a:r>
            <a:endParaRPr lang="en-US" dirty="0" smtClean="0"/>
          </a:p>
          <a:p>
            <a:pPr lvl="1"/>
            <a:r>
              <a:rPr lang="en-US" dirty="0" err="1" smtClean="0"/>
              <a:t>Cooperação</a:t>
            </a:r>
            <a:r>
              <a:rPr lang="en-US" dirty="0" smtClean="0"/>
              <a:t> </a:t>
            </a:r>
            <a:r>
              <a:rPr lang="en-US" dirty="0" err="1" smtClean="0"/>
              <a:t>alta</a:t>
            </a:r>
            <a:r>
              <a:rPr lang="en-US" dirty="0" smtClean="0"/>
              <a:t> entre pares</a:t>
            </a:r>
          </a:p>
          <a:p>
            <a:pPr lvl="1"/>
            <a:r>
              <a:rPr lang="en-US" dirty="0" smtClean="0"/>
              <a:t>Feedback </a:t>
            </a:r>
            <a:r>
              <a:rPr lang="en-US" dirty="0" err="1" smtClean="0"/>
              <a:t>constante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IRUP (IBM Rational Unified Process)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Processo</a:t>
            </a:r>
            <a:r>
              <a:rPr lang="en-US" dirty="0" smtClean="0"/>
              <a:t> </a:t>
            </a:r>
            <a:r>
              <a:rPr lang="en-US" dirty="0" err="1" smtClean="0"/>
              <a:t>iterativo</a:t>
            </a:r>
            <a:r>
              <a:rPr lang="en-US" dirty="0" smtClean="0"/>
              <a:t> e incremental</a:t>
            </a:r>
          </a:p>
          <a:p>
            <a:r>
              <a:rPr lang="en-US" dirty="0" smtClean="0"/>
              <a:t>4 </a:t>
            </a:r>
            <a:r>
              <a:rPr lang="en-US" dirty="0" err="1" smtClean="0"/>
              <a:t>fases</a:t>
            </a:r>
            <a:r>
              <a:rPr lang="en-US" dirty="0" smtClean="0"/>
              <a:t> </a:t>
            </a:r>
            <a:r>
              <a:rPr lang="en-US" dirty="0" err="1" smtClean="0"/>
              <a:t>distintas</a:t>
            </a:r>
            <a:r>
              <a:rPr lang="en-US" dirty="0" smtClean="0"/>
              <a:t>, </a:t>
            </a:r>
            <a:r>
              <a:rPr lang="en-US" dirty="0" err="1" smtClean="0"/>
              <a:t>relacionadas</a:t>
            </a:r>
            <a:r>
              <a:rPr lang="en-US" dirty="0" smtClean="0"/>
              <a:t> </a:t>
            </a:r>
            <a:r>
              <a:rPr lang="en-US" dirty="0" err="1" smtClean="0"/>
              <a:t>aos</a:t>
            </a:r>
            <a:r>
              <a:rPr lang="en-US" dirty="0" smtClean="0"/>
              <a:t> </a:t>
            </a:r>
            <a:r>
              <a:rPr lang="en-US" dirty="0" err="1" smtClean="0"/>
              <a:t>negócios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Concepção</a:t>
            </a:r>
            <a:r>
              <a:rPr lang="en-US" dirty="0" smtClean="0"/>
              <a:t>, </a:t>
            </a:r>
            <a:r>
              <a:rPr lang="en-US" dirty="0" err="1" smtClean="0"/>
              <a:t>Elaboração</a:t>
            </a:r>
            <a:r>
              <a:rPr lang="en-US" dirty="0" smtClean="0"/>
              <a:t>, </a:t>
            </a:r>
            <a:r>
              <a:rPr lang="en-US" dirty="0" err="1" smtClean="0"/>
              <a:t>Construção</a:t>
            </a:r>
            <a:r>
              <a:rPr lang="en-US" dirty="0" smtClean="0"/>
              <a:t>, </a:t>
            </a:r>
            <a:r>
              <a:rPr lang="en-US" dirty="0" err="1" smtClean="0"/>
              <a:t>Transição</a:t>
            </a:r>
            <a:endParaRPr lang="en-US" dirty="0" smtClean="0"/>
          </a:p>
          <a:p>
            <a:r>
              <a:rPr lang="en-US" dirty="0" smtClean="0"/>
              <a:t>6 </a:t>
            </a:r>
            <a:r>
              <a:rPr lang="en-US" dirty="0" err="1" smtClean="0"/>
              <a:t>disciplinas</a:t>
            </a:r>
            <a:r>
              <a:rPr lang="en-US" dirty="0" smtClean="0"/>
              <a:t> de </a:t>
            </a:r>
            <a:r>
              <a:rPr lang="en-US" dirty="0" err="1" smtClean="0"/>
              <a:t>Engenharia</a:t>
            </a:r>
            <a:endParaRPr lang="en-US" dirty="0" smtClean="0"/>
          </a:p>
          <a:p>
            <a:pPr lvl="1"/>
            <a:r>
              <a:rPr lang="pt-BR" dirty="0" smtClean="0"/>
              <a:t>Modelagem de Negócios, Requisitos, Análise e Projeto, Implementação, Teste, Implantação</a:t>
            </a:r>
            <a:endParaRPr lang="en-US" dirty="0" smtClean="0"/>
          </a:p>
          <a:p>
            <a:r>
              <a:rPr lang="en-US" dirty="0" smtClean="0"/>
              <a:t>3 </a:t>
            </a:r>
            <a:r>
              <a:rPr lang="en-US" dirty="0" err="1" smtClean="0"/>
              <a:t>disciplinas</a:t>
            </a:r>
            <a:r>
              <a:rPr lang="en-US" dirty="0" smtClean="0"/>
              <a:t> de </a:t>
            </a:r>
            <a:r>
              <a:rPr lang="en-US" dirty="0" err="1" smtClean="0"/>
              <a:t>Suporte</a:t>
            </a:r>
            <a:endParaRPr lang="en-US" dirty="0" smtClean="0"/>
          </a:p>
          <a:p>
            <a:pPr lvl="1"/>
            <a:r>
              <a:rPr lang="pt-BR" dirty="0" smtClean="0"/>
              <a:t>Ambiente, Configuração e Gerência de Mudança, Gerência de Projeto</a:t>
            </a:r>
            <a:endParaRPr lang="en-US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IRUP</a:t>
            </a:r>
            <a:endParaRPr lang="pt-BR" dirty="0"/>
          </a:p>
        </p:txBody>
      </p:sp>
      <p:pic>
        <p:nvPicPr>
          <p:cNvPr id="1026" name="Picture 2" descr="Fases do RUP - portugu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18244"/>
            <a:ext cx="9144000" cy="583914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IRUP - </a:t>
            </a:r>
            <a:r>
              <a:rPr lang="en-US" dirty="0" err="1" smtClean="0"/>
              <a:t>Concepção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Entidades</a:t>
            </a:r>
            <a:r>
              <a:rPr lang="en-US" dirty="0" smtClean="0"/>
              <a:t> </a:t>
            </a:r>
            <a:r>
              <a:rPr lang="en-US" dirty="0" err="1" smtClean="0"/>
              <a:t>externas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identificadas</a:t>
            </a:r>
            <a:endParaRPr lang="en-US" dirty="0" smtClean="0"/>
          </a:p>
          <a:p>
            <a:pPr lvl="1"/>
            <a:r>
              <a:rPr lang="en-US" dirty="0" err="1" smtClean="0"/>
              <a:t>Pessoas</a:t>
            </a:r>
            <a:r>
              <a:rPr lang="en-US" dirty="0" smtClean="0"/>
              <a:t>, </a:t>
            </a:r>
            <a:r>
              <a:rPr lang="en-US" dirty="0" err="1" smtClean="0"/>
              <a:t>sistemas</a:t>
            </a:r>
            <a:r>
              <a:rPr lang="en-US" dirty="0" smtClean="0"/>
              <a:t>, </a:t>
            </a:r>
            <a:r>
              <a:rPr lang="en-US" dirty="0" err="1" smtClean="0"/>
              <a:t>softwares</a:t>
            </a:r>
            <a:r>
              <a:rPr lang="en-US" dirty="0" smtClean="0"/>
              <a:t>, …</a:t>
            </a:r>
          </a:p>
          <a:p>
            <a:r>
              <a:rPr lang="en-US" dirty="0" err="1" smtClean="0"/>
              <a:t>Iterações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definidas</a:t>
            </a:r>
            <a:endParaRPr lang="en-US" dirty="0" smtClean="0"/>
          </a:p>
          <a:p>
            <a:r>
              <a:rPr lang="en-US" dirty="0" err="1" smtClean="0"/>
              <a:t>Avaliação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contribuição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IRUP - </a:t>
            </a:r>
            <a:r>
              <a:rPr lang="en-US" dirty="0" err="1" smtClean="0"/>
              <a:t>Elaboração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Compreensão</a:t>
            </a:r>
            <a:r>
              <a:rPr lang="en-US" dirty="0" smtClean="0"/>
              <a:t> do </a:t>
            </a:r>
            <a:r>
              <a:rPr lang="en-US" dirty="0" err="1" smtClean="0"/>
              <a:t>problema</a:t>
            </a:r>
            <a:endParaRPr lang="en-US" dirty="0" smtClean="0"/>
          </a:p>
          <a:p>
            <a:r>
              <a:rPr lang="en-US" dirty="0" err="1" smtClean="0"/>
              <a:t>Estabelecimento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arquitetura</a:t>
            </a:r>
            <a:endParaRPr lang="en-US" dirty="0" smtClean="0"/>
          </a:p>
          <a:p>
            <a:r>
              <a:rPr lang="en-US" dirty="0" err="1" smtClean="0"/>
              <a:t>Desenvolvimento</a:t>
            </a:r>
            <a:r>
              <a:rPr lang="en-US" dirty="0" smtClean="0"/>
              <a:t> do </a:t>
            </a:r>
            <a:r>
              <a:rPr lang="en-US" dirty="0" err="1" smtClean="0"/>
              <a:t>plano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endParaRPr lang="en-US" dirty="0" smtClean="0"/>
          </a:p>
          <a:p>
            <a:r>
              <a:rPr lang="en-US" dirty="0" err="1" smtClean="0"/>
              <a:t>Identificação</a:t>
            </a:r>
            <a:r>
              <a:rPr lang="en-US" dirty="0" smtClean="0"/>
              <a:t> dos </a:t>
            </a:r>
            <a:r>
              <a:rPr lang="en-US" dirty="0" err="1" smtClean="0"/>
              <a:t>maiores</a:t>
            </a:r>
            <a:r>
              <a:rPr lang="en-US" dirty="0" smtClean="0"/>
              <a:t> </a:t>
            </a:r>
            <a:r>
              <a:rPr lang="en-US" dirty="0" err="1" smtClean="0"/>
              <a:t>riscos</a:t>
            </a:r>
            <a:endParaRPr lang="en-US" dirty="0" smtClean="0"/>
          </a:p>
          <a:p>
            <a:r>
              <a:rPr lang="en-US" dirty="0" err="1" smtClean="0"/>
              <a:t>Estabelecimento</a:t>
            </a:r>
            <a:r>
              <a:rPr lang="en-US" dirty="0" smtClean="0"/>
              <a:t> do </a:t>
            </a:r>
            <a:r>
              <a:rPr lang="en-US" dirty="0" err="1" smtClean="0"/>
              <a:t>conjunto</a:t>
            </a:r>
            <a:r>
              <a:rPr lang="en-US" dirty="0" smtClean="0"/>
              <a:t> de </a:t>
            </a:r>
            <a:r>
              <a:rPr lang="en-US" dirty="0" err="1" smtClean="0"/>
              <a:t>requisitos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IRUP - </a:t>
            </a:r>
            <a:r>
              <a:rPr lang="en-US" dirty="0" err="1" smtClean="0"/>
              <a:t>Construção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Projeto</a:t>
            </a:r>
            <a:r>
              <a:rPr lang="en-US" dirty="0" smtClean="0"/>
              <a:t>, </a:t>
            </a:r>
            <a:r>
              <a:rPr lang="en-US" dirty="0" err="1" smtClean="0"/>
              <a:t>implementação</a:t>
            </a:r>
            <a:r>
              <a:rPr lang="en-US" dirty="0" smtClean="0"/>
              <a:t> e testes do software</a:t>
            </a:r>
          </a:p>
          <a:p>
            <a:r>
              <a:rPr lang="en-US" dirty="0" err="1" smtClean="0"/>
              <a:t>Ao</a:t>
            </a:r>
            <a:r>
              <a:rPr lang="en-US" dirty="0" smtClean="0"/>
              <a:t> final:</a:t>
            </a:r>
          </a:p>
          <a:p>
            <a:pPr lvl="1"/>
            <a:r>
              <a:rPr lang="en-US" dirty="0" smtClean="0"/>
              <a:t>Software </a:t>
            </a:r>
            <a:r>
              <a:rPr lang="en-US" dirty="0" err="1" smtClean="0"/>
              <a:t>funcionando</a:t>
            </a:r>
            <a:endParaRPr lang="en-US" dirty="0" smtClean="0"/>
          </a:p>
          <a:p>
            <a:pPr lvl="1"/>
            <a:r>
              <a:rPr lang="en-US" dirty="0" smtClean="0"/>
              <a:t>Toda a </a:t>
            </a:r>
            <a:r>
              <a:rPr lang="en-US" dirty="0" err="1" smtClean="0"/>
              <a:t>documentação</a:t>
            </a:r>
            <a:r>
              <a:rPr lang="en-US" dirty="0" smtClean="0"/>
              <a:t> </a:t>
            </a:r>
            <a:r>
              <a:rPr lang="en-US" dirty="0" err="1" smtClean="0"/>
              <a:t>pronta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IRUP - </a:t>
            </a:r>
            <a:r>
              <a:rPr lang="en-US" dirty="0" err="1" smtClean="0"/>
              <a:t>Transição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Implantação</a:t>
            </a:r>
            <a:r>
              <a:rPr lang="en-US" dirty="0" smtClean="0"/>
              <a:t> do software </a:t>
            </a:r>
          </a:p>
          <a:p>
            <a:pPr lvl="1"/>
            <a:r>
              <a:rPr lang="en-US" dirty="0" err="1" smtClean="0"/>
              <a:t>Instalação</a:t>
            </a:r>
            <a:r>
              <a:rPr lang="en-US" dirty="0" smtClean="0"/>
              <a:t> no </a:t>
            </a:r>
            <a:r>
              <a:rPr lang="en-US" dirty="0" err="1" smtClean="0"/>
              <a:t>ambiente</a:t>
            </a:r>
            <a:endParaRPr lang="en-US" dirty="0" smtClean="0"/>
          </a:p>
          <a:p>
            <a:pPr lvl="1"/>
            <a:r>
              <a:rPr lang="en-US" dirty="0" err="1" smtClean="0"/>
              <a:t>Configurações</a:t>
            </a:r>
            <a:r>
              <a:rPr lang="en-US" dirty="0" smtClean="0"/>
              <a:t> do software e </a:t>
            </a:r>
            <a:r>
              <a:rPr lang="en-US" dirty="0" err="1" smtClean="0"/>
              <a:t>ambiente</a:t>
            </a:r>
            <a:endParaRPr lang="en-US" dirty="0" smtClean="0"/>
          </a:p>
          <a:p>
            <a:pPr lvl="1"/>
            <a:r>
              <a:rPr lang="en-US" dirty="0" err="1" smtClean="0"/>
              <a:t>População</a:t>
            </a:r>
            <a:r>
              <a:rPr lang="en-US" dirty="0" smtClean="0"/>
              <a:t> das bases de dados</a:t>
            </a:r>
          </a:p>
          <a:p>
            <a:pPr lvl="1"/>
            <a:r>
              <a:rPr lang="en-US" dirty="0" err="1" smtClean="0"/>
              <a:t>Treinamentos</a:t>
            </a:r>
            <a:endParaRPr lang="en-US" dirty="0" smtClean="0"/>
          </a:p>
          <a:p>
            <a:pPr lvl="1"/>
            <a:r>
              <a:rPr lang="en-US" dirty="0" err="1" smtClean="0"/>
              <a:t>Políticas</a:t>
            </a:r>
            <a:r>
              <a:rPr lang="en-US" dirty="0" smtClean="0"/>
              <a:t> de backup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Boas </a:t>
            </a:r>
            <a:r>
              <a:rPr lang="en-US" dirty="0" err="1" smtClean="0"/>
              <a:t>práticas</a:t>
            </a:r>
            <a:r>
              <a:rPr lang="en-US" dirty="0" smtClean="0"/>
              <a:t> </a:t>
            </a:r>
            <a:r>
              <a:rPr lang="en-US" dirty="0" err="1" smtClean="0"/>
              <a:t>recomendadas</a:t>
            </a:r>
            <a:r>
              <a:rPr lang="en-US" dirty="0" smtClean="0"/>
              <a:t> </a:t>
            </a:r>
            <a:r>
              <a:rPr lang="en-US" dirty="0" err="1" smtClean="0"/>
              <a:t>pelo</a:t>
            </a:r>
            <a:r>
              <a:rPr lang="en-US" dirty="0" smtClean="0"/>
              <a:t> IRUP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Desenvolver</a:t>
            </a:r>
            <a:r>
              <a:rPr lang="en-US" dirty="0" smtClean="0"/>
              <a:t> software </a:t>
            </a:r>
            <a:r>
              <a:rPr lang="en-US" dirty="0" err="1" smtClean="0"/>
              <a:t>iterativamente</a:t>
            </a:r>
            <a:endParaRPr lang="en-US" dirty="0" smtClean="0"/>
          </a:p>
          <a:p>
            <a:r>
              <a:rPr lang="en-US" dirty="0" err="1" smtClean="0"/>
              <a:t>Gerenciar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requisitos</a:t>
            </a:r>
            <a:endParaRPr lang="en-US" dirty="0" smtClean="0"/>
          </a:p>
          <a:p>
            <a:r>
              <a:rPr lang="en-US" dirty="0" err="1" smtClean="0"/>
              <a:t>Usar</a:t>
            </a:r>
            <a:r>
              <a:rPr lang="en-US" dirty="0" smtClean="0"/>
              <a:t> </a:t>
            </a:r>
            <a:r>
              <a:rPr lang="en-US" dirty="0" err="1" smtClean="0"/>
              <a:t>arquiteturas</a:t>
            </a:r>
            <a:r>
              <a:rPr lang="en-US" dirty="0" smtClean="0"/>
              <a:t> </a:t>
            </a:r>
            <a:r>
              <a:rPr lang="en-US" dirty="0" err="1" smtClean="0"/>
              <a:t>baseadas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componentes</a:t>
            </a:r>
            <a:endParaRPr lang="en-US" dirty="0" smtClean="0"/>
          </a:p>
          <a:p>
            <a:r>
              <a:rPr lang="en-US" dirty="0" err="1" smtClean="0"/>
              <a:t>Modelar</a:t>
            </a:r>
            <a:r>
              <a:rPr lang="en-US" dirty="0" smtClean="0"/>
              <a:t> o software </a:t>
            </a:r>
            <a:r>
              <a:rPr lang="en-US" dirty="0" err="1" smtClean="0"/>
              <a:t>visualmente</a:t>
            </a:r>
            <a:endParaRPr lang="en-US" dirty="0" smtClean="0"/>
          </a:p>
          <a:p>
            <a:r>
              <a:rPr lang="en-US" dirty="0" err="1" smtClean="0"/>
              <a:t>Verificar</a:t>
            </a:r>
            <a:r>
              <a:rPr lang="en-US" dirty="0" smtClean="0"/>
              <a:t> a </a:t>
            </a:r>
            <a:r>
              <a:rPr lang="en-US" dirty="0" err="1" smtClean="0"/>
              <a:t>qualidade</a:t>
            </a:r>
            <a:r>
              <a:rPr lang="en-US" dirty="0" smtClean="0"/>
              <a:t> do software</a:t>
            </a:r>
          </a:p>
          <a:p>
            <a:r>
              <a:rPr lang="en-US" dirty="0" err="1" smtClean="0"/>
              <a:t>Controlar</a:t>
            </a:r>
            <a:r>
              <a:rPr lang="en-US" dirty="0" smtClean="0"/>
              <a:t> as </a:t>
            </a:r>
            <a:r>
              <a:rPr lang="en-US" dirty="0" err="1" smtClean="0"/>
              <a:t>mudanças</a:t>
            </a:r>
            <a:r>
              <a:rPr lang="en-US" dirty="0" smtClean="0"/>
              <a:t> do software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Livro</a:t>
            </a:r>
            <a:r>
              <a:rPr lang="en-US" dirty="0" smtClean="0"/>
              <a:t> RUP</a:t>
            </a:r>
            <a:endParaRPr lang="pt-BR" dirty="0"/>
          </a:p>
        </p:txBody>
      </p:sp>
      <p:pic>
        <p:nvPicPr>
          <p:cNvPr id="36866" name="Picture 2" descr="http://ecx.images-amazon.com/images/I/41vz1obfJXL._SY300_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1340768"/>
            <a:ext cx="3816424" cy="49138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IRUP é ágil?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IRUP é ágil?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Iterativo e incremental, mas não é ágil</a:t>
            </a:r>
          </a:p>
          <a:p>
            <a:r>
              <a:rPr lang="pt-BR" dirty="0" smtClean="0"/>
              <a:t>Há guias detalhados de o que e quando fazer</a:t>
            </a:r>
          </a:p>
          <a:p>
            <a:r>
              <a:rPr lang="en-US" i="1" dirty="0" smtClean="0"/>
              <a:t>“ … the belief that software development “should be organized around the skills of highly trained individuals” with little “guidance in policy and procedure” is “badly mistaken””</a:t>
            </a:r>
            <a:endParaRPr lang="pt-BR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Metodologias</a:t>
            </a:r>
            <a:r>
              <a:rPr lang="en-US" dirty="0" smtClean="0"/>
              <a:t> </a:t>
            </a:r>
            <a:r>
              <a:rPr lang="en-US" dirty="0" err="1" smtClean="0"/>
              <a:t>Ágeis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We are uncovering better ways of developing software by doing it and helping others do it. </a:t>
            </a:r>
          </a:p>
          <a:p>
            <a:pPr lvl="1"/>
            <a:r>
              <a:rPr lang="en-US" dirty="0" smtClean="0"/>
              <a:t> Individuals and interactions over processes and tools</a:t>
            </a:r>
          </a:p>
          <a:p>
            <a:pPr lvl="1"/>
            <a:r>
              <a:rPr lang="en-US" dirty="0" smtClean="0"/>
              <a:t> Working software over comprehensive documentation</a:t>
            </a:r>
          </a:p>
          <a:p>
            <a:pPr lvl="1"/>
            <a:r>
              <a:rPr lang="en-US" dirty="0" smtClean="0"/>
              <a:t> Customer collaboration over contract negotiation</a:t>
            </a:r>
          </a:p>
          <a:p>
            <a:pPr lvl="1"/>
            <a:r>
              <a:rPr lang="en-US" dirty="0" smtClean="0"/>
              <a:t> Responding to change over following a plan</a:t>
            </a:r>
          </a:p>
          <a:p>
            <a:r>
              <a:rPr lang="en-US" dirty="0" smtClean="0"/>
              <a:t>That is, while there is value in the items on the right, we value the items on the left more.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Metodologias ágeis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 smtClean="0"/>
              <a:t>“... agile </a:t>
            </a:r>
            <a:r>
              <a:rPr lang="en-US" i="1" dirty="0" smtClean="0"/>
              <a:t>approaches usually put a lot of emphasis on self-</a:t>
            </a:r>
            <a:r>
              <a:rPr lang="en-US" i="1" dirty="0" err="1" smtClean="0"/>
              <a:t>organisation</a:t>
            </a:r>
            <a:r>
              <a:rPr lang="en-US" i="1" dirty="0" smtClean="0"/>
              <a:t> of teams, which tends to make them fairly popular with developers but less so with managers</a:t>
            </a:r>
            <a:r>
              <a:rPr lang="pt-BR" i="1" dirty="0" smtClean="0"/>
              <a:t>”</a:t>
            </a:r>
            <a:endParaRPr lang="pt-BR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Metodologias</a:t>
            </a:r>
            <a:r>
              <a:rPr lang="en-US" dirty="0" smtClean="0"/>
              <a:t> </a:t>
            </a:r>
            <a:r>
              <a:rPr lang="en-US" dirty="0" err="1" smtClean="0"/>
              <a:t>ágeis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Processos</a:t>
            </a:r>
            <a:r>
              <a:rPr lang="en-US" dirty="0" smtClean="0"/>
              <a:t> </a:t>
            </a:r>
            <a:r>
              <a:rPr lang="en-US" dirty="0" err="1" smtClean="0"/>
              <a:t>capazes</a:t>
            </a:r>
            <a:r>
              <a:rPr lang="en-US" dirty="0" smtClean="0"/>
              <a:t> de </a:t>
            </a:r>
            <a:r>
              <a:rPr lang="en-US" dirty="0" err="1" smtClean="0"/>
              <a:t>lidar</a:t>
            </a:r>
            <a:r>
              <a:rPr lang="en-US" dirty="0" smtClean="0"/>
              <a:t> com as </a:t>
            </a:r>
            <a:r>
              <a:rPr lang="en-US" dirty="0" err="1" smtClean="0"/>
              <a:t>mudanças</a:t>
            </a:r>
            <a:r>
              <a:rPr lang="en-US" dirty="0" smtClean="0"/>
              <a:t> </a:t>
            </a:r>
            <a:r>
              <a:rPr lang="en-US" dirty="0" err="1" smtClean="0"/>
              <a:t>nos</a:t>
            </a:r>
            <a:r>
              <a:rPr lang="en-US" dirty="0" smtClean="0"/>
              <a:t> </a:t>
            </a:r>
            <a:r>
              <a:rPr lang="en-US" dirty="0" err="1" smtClean="0"/>
              <a:t>requisitos</a:t>
            </a:r>
            <a:endParaRPr lang="en-US" dirty="0" smtClean="0"/>
          </a:p>
          <a:p>
            <a:r>
              <a:rPr lang="en-US" dirty="0" err="1" smtClean="0"/>
              <a:t>Produção</a:t>
            </a:r>
            <a:r>
              <a:rPr lang="en-US" dirty="0" smtClean="0"/>
              <a:t> </a:t>
            </a:r>
            <a:r>
              <a:rPr lang="en-US" dirty="0" err="1" smtClean="0"/>
              <a:t>rápida</a:t>
            </a:r>
            <a:r>
              <a:rPr lang="en-US" dirty="0" smtClean="0"/>
              <a:t> de </a:t>
            </a:r>
            <a:r>
              <a:rPr lang="en-US" dirty="0" err="1" smtClean="0"/>
              <a:t>softwares</a:t>
            </a:r>
            <a:r>
              <a:rPr lang="en-US" dirty="0" smtClean="0"/>
              <a:t> </a:t>
            </a:r>
            <a:r>
              <a:rPr lang="en-US" dirty="0" err="1" smtClean="0"/>
              <a:t>úteis</a:t>
            </a:r>
            <a:endParaRPr lang="en-US" dirty="0" smtClean="0"/>
          </a:p>
          <a:p>
            <a:pPr lvl="1"/>
            <a:r>
              <a:rPr lang="en-US" dirty="0" err="1" smtClean="0"/>
              <a:t>Partes</a:t>
            </a:r>
            <a:r>
              <a:rPr lang="en-US" dirty="0" smtClean="0"/>
              <a:t> </a:t>
            </a:r>
            <a:r>
              <a:rPr lang="en-US" dirty="0" err="1" smtClean="0"/>
              <a:t>executáveis</a:t>
            </a:r>
            <a:r>
              <a:rPr lang="en-US" dirty="0" smtClean="0"/>
              <a:t> </a:t>
            </a:r>
            <a:r>
              <a:rPr lang="en-US" dirty="0" err="1" smtClean="0"/>
              <a:t>entregues</a:t>
            </a:r>
            <a:r>
              <a:rPr lang="en-US" dirty="0" smtClean="0"/>
              <a:t> </a:t>
            </a:r>
            <a:r>
              <a:rPr lang="en-US" dirty="0" err="1" smtClean="0"/>
              <a:t>constantemente</a:t>
            </a:r>
            <a:endParaRPr lang="en-US" dirty="0" smtClean="0"/>
          </a:p>
          <a:p>
            <a:r>
              <a:rPr lang="en-US" dirty="0" err="1" smtClean="0"/>
              <a:t>Processos</a:t>
            </a:r>
            <a:r>
              <a:rPr lang="en-US" dirty="0" smtClean="0"/>
              <a:t> </a:t>
            </a:r>
            <a:r>
              <a:rPr lang="en-US" dirty="0" err="1" smtClean="0"/>
              <a:t>iterativos</a:t>
            </a:r>
            <a:r>
              <a:rPr lang="en-US" dirty="0" smtClean="0"/>
              <a:t> e </a:t>
            </a:r>
            <a:r>
              <a:rPr lang="en-US" dirty="0" err="1" smtClean="0"/>
              <a:t>incrementais</a:t>
            </a:r>
            <a:r>
              <a:rPr lang="en-US" dirty="0" smtClean="0"/>
              <a:t> 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Scrum (~1995)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Desenvolvimento em ciclos iterativos (sprints) de até trinta dias. </a:t>
            </a:r>
          </a:p>
          <a:p>
            <a:r>
              <a:rPr lang="pt-BR" dirty="0" smtClean="0"/>
              <a:t>Equipes pequenas, de até dez pessoas, são formadas por analistas, programadores, e gerentes. </a:t>
            </a:r>
          </a:p>
          <a:p>
            <a:r>
              <a:rPr lang="pt-BR" dirty="0" smtClean="0"/>
              <a:t>Equipes trabalham nas funcionalidades (os requisitos) definidas no início de cada sprint. 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Scrum - Reuniões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Reuniões de acompanhamento diárias. </a:t>
            </a:r>
          </a:p>
          <a:p>
            <a:r>
              <a:rPr lang="pt-BR" dirty="0" smtClean="0"/>
              <a:t>Preferencialmente de curta duração (aproximadamente 15 minutos, em pé), são discutidos diversos assuntos, como o que foi feito desde a última reunião e o que precisa ser feito até a próxima.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Scrum - Papéis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 smtClean="0"/>
              <a:t>Scrum master: </a:t>
            </a:r>
            <a:r>
              <a:rPr lang="en-US" dirty="0" smtClean="0"/>
              <a:t>ensure that the Scrum methodology is understood and properly implemented by the development team and the product owner</a:t>
            </a:r>
          </a:p>
          <a:p>
            <a:r>
              <a:rPr lang="pt-BR" b="1" dirty="0" smtClean="0"/>
              <a:t>P</a:t>
            </a:r>
            <a:r>
              <a:rPr lang="en-US" b="1" dirty="0" err="1" smtClean="0"/>
              <a:t>roduct</a:t>
            </a:r>
            <a:r>
              <a:rPr lang="en-US" b="1" dirty="0" smtClean="0"/>
              <a:t> owner</a:t>
            </a:r>
            <a:r>
              <a:rPr lang="en-US" dirty="0" smtClean="0"/>
              <a:t>: manage and help </a:t>
            </a:r>
            <a:r>
              <a:rPr lang="en-US" dirty="0" err="1" smtClean="0"/>
              <a:t>prioritise</a:t>
            </a:r>
            <a:r>
              <a:rPr lang="en-US" dirty="0" smtClean="0"/>
              <a:t> the requirements to be implemented as documented in the product </a:t>
            </a:r>
            <a:r>
              <a:rPr lang="pt-BR" dirty="0" smtClean="0"/>
              <a:t>backlog.</a:t>
            </a:r>
          </a:p>
          <a:p>
            <a:r>
              <a:rPr lang="en-US" b="1" dirty="0" smtClean="0"/>
              <a:t>Development team:</a:t>
            </a:r>
            <a:r>
              <a:rPr lang="en-US" dirty="0" smtClean="0"/>
              <a:t> develop the product, including all relevant tasks such as designing, coding, testing and </a:t>
            </a:r>
            <a:r>
              <a:rPr lang="en-US" sz="3500" b="1" u="sng" dirty="0" smtClean="0"/>
              <a:t>documentation</a:t>
            </a:r>
            <a:endParaRPr lang="pt-BR" sz="35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Scrum - Ciclo de Vida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Pré-planejamento (pre-game phase)</a:t>
            </a:r>
          </a:p>
          <a:p>
            <a:r>
              <a:rPr lang="pt-BR" dirty="0" smtClean="0"/>
              <a:t>Desenvolvimento (game phase)</a:t>
            </a:r>
          </a:p>
          <a:p>
            <a:r>
              <a:rPr lang="pt-BR" dirty="0" smtClean="0"/>
              <a:t>Pós-planejamento (post-game phase)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Scrum - Ciclo de Vida</a:t>
            </a:r>
            <a:br>
              <a:rPr lang="pt-BR" dirty="0" smtClean="0"/>
            </a:br>
            <a:r>
              <a:rPr lang="pt-BR" dirty="0" smtClean="0"/>
              <a:t>Pré-planejamento (pre-game phase)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Requisitos são descritos em um documento chamado backlog e depois: </a:t>
            </a:r>
          </a:p>
          <a:p>
            <a:pPr lvl="1"/>
            <a:r>
              <a:rPr lang="pt-BR" dirty="0" smtClean="0"/>
              <a:t>ordenados por prioridade </a:t>
            </a:r>
          </a:p>
          <a:p>
            <a:pPr lvl="1"/>
            <a:r>
              <a:rPr lang="pt-BR" dirty="0" smtClean="0"/>
              <a:t>fazem-se estimativas de esforço para o desenvolvimento. </a:t>
            </a:r>
          </a:p>
          <a:p>
            <a:r>
              <a:rPr lang="pt-BR" dirty="0" smtClean="0"/>
              <a:t>O planejamento inclui a definição da equipe de desenvolvimento, as ferramentas, a identificação de riscos do projeto e necessidades de treinamento. </a:t>
            </a:r>
          </a:p>
          <a:p>
            <a:r>
              <a:rPr lang="pt-BR" dirty="0" smtClean="0"/>
              <a:t>Esta fase é concluída com a proposta de uma </a:t>
            </a:r>
            <a:r>
              <a:rPr lang="pt-BR" b="1" dirty="0" smtClean="0"/>
              <a:t>arquitetura de desenvolvimento</a:t>
            </a:r>
            <a:r>
              <a:rPr lang="pt-BR" dirty="0" smtClean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Scrum - Ciclo de Vida</a:t>
            </a:r>
            <a:br>
              <a:rPr lang="pt-BR" dirty="0" smtClean="0"/>
            </a:br>
            <a:r>
              <a:rPr lang="pt-BR" dirty="0" smtClean="0"/>
              <a:t>Pré-planejamento (pre-game phase)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Esta fase é concluída com a proposta de uma arquitetura de desenvolvimento. </a:t>
            </a:r>
          </a:p>
          <a:p>
            <a:pPr lvl="1"/>
            <a:r>
              <a:rPr lang="pt-BR" dirty="0" smtClean="0"/>
              <a:t>São feitos modelos!</a:t>
            </a:r>
          </a:p>
          <a:p>
            <a:pPr lvl="1"/>
            <a:r>
              <a:rPr lang="pt-BR" dirty="0" smtClean="0"/>
              <a:t>Mas ... Arquitetura não são apenas modelos</a:t>
            </a:r>
          </a:p>
          <a:p>
            <a:pPr lvl="1"/>
            <a:r>
              <a:rPr lang="pt-BR" dirty="0" smtClean="0"/>
              <a:t>Arquitetura não é design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Scrum - Ciclo de Vida</a:t>
            </a:r>
            <a:br>
              <a:rPr lang="pt-BR" dirty="0" smtClean="0"/>
            </a:br>
            <a:r>
              <a:rPr lang="pt-BR" dirty="0" smtClean="0"/>
              <a:t>Desenvolvimento (game phase)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Riscos identificados são observados e controlados durante o desenvolvimento. </a:t>
            </a:r>
          </a:p>
          <a:p>
            <a:r>
              <a:rPr lang="pt-BR" dirty="0" smtClean="0"/>
              <a:t>Software é desenvolvido em ciclos (sprints), em que novas funcionalidades são adicionadas. </a:t>
            </a:r>
          </a:p>
          <a:p>
            <a:r>
              <a:rPr lang="pt-BR" dirty="0" smtClean="0"/>
              <a:t>Cada um desses ciclos é desenvolvido de forma tradicional, ou seja, primeiramente se faz a análise e, em seguida, o projeto, implementação e testes. </a:t>
            </a:r>
          </a:p>
          <a:p>
            <a:r>
              <a:rPr lang="pt-BR" dirty="0" smtClean="0"/>
              <a:t>Os ciclos são planejados para durar entre uma semana e um mês.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Scrum - Ciclo de Vida</a:t>
            </a:r>
            <a:br>
              <a:rPr lang="pt-BR" dirty="0" smtClean="0"/>
            </a:br>
            <a:r>
              <a:rPr lang="pt-BR" dirty="0" smtClean="0"/>
              <a:t> Pós-planejamento (post-game phase)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Integração do software</a:t>
            </a:r>
          </a:p>
          <a:p>
            <a:r>
              <a:rPr lang="pt-BR" dirty="0" smtClean="0"/>
              <a:t>Testes finais </a:t>
            </a:r>
          </a:p>
          <a:p>
            <a:r>
              <a:rPr lang="pt-BR" dirty="0" smtClean="0"/>
              <a:t>Documentação do usuário. </a:t>
            </a:r>
          </a:p>
          <a:p>
            <a:r>
              <a:rPr lang="pt-BR" dirty="0" smtClean="0"/>
              <a:t>A equipe reúne-se para analisar o progresso do projeto e demonstrar o software atual para os clientes.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Extreme Programming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A Extreme Programming (XP) é uma metodologia ágil para equipes pequenas e médias que desenvolvem software baseado em requisitos vagos e que se modificam rapidamente.</a:t>
            </a:r>
          </a:p>
          <a:p>
            <a:r>
              <a:rPr lang="pt-BR" dirty="0" smtClean="0"/>
              <a:t>Diferenciais</a:t>
            </a:r>
          </a:p>
          <a:p>
            <a:pPr lvl="1"/>
            <a:r>
              <a:rPr lang="pt-BR" i="1" dirty="0" smtClean="0"/>
              <a:t>Feedback constante</a:t>
            </a:r>
          </a:p>
          <a:p>
            <a:pPr lvl="1"/>
            <a:r>
              <a:rPr lang="pt-BR" dirty="0" smtClean="0"/>
              <a:t>Abordagem incremental</a:t>
            </a:r>
          </a:p>
          <a:p>
            <a:pPr lvl="1"/>
            <a:r>
              <a:rPr lang="pt-BR" dirty="0" smtClean="0"/>
              <a:t>A comunicação entre as pessoas é encorajada</a:t>
            </a:r>
          </a:p>
          <a:p>
            <a:pPr lvl="1"/>
            <a:r>
              <a:rPr lang="pt-BR" dirty="0" smtClean="0"/>
              <a:t>12 práticas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Algumas</a:t>
            </a:r>
            <a:r>
              <a:rPr lang="en-US" dirty="0" smtClean="0"/>
              <a:t> </a:t>
            </a:r>
            <a:r>
              <a:rPr lang="en-US" dirty="0" err="1" smtClean="0"/>
              <a:t>práticas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XP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Entregas </a:t>
            </a:r>
            <a:r>
              <a:rPr lang="pt-BR" dirty="0" err="1" smtClean="0"/>
              <a:t>freqüentes</a:t>
            </a:r>
            <a:r>
              <a:rPr lang="pt-BR" dirty="0" smtClean="0"/>
              <a:t> (30 dias)</a:t>
            </a:r>
          </a:p>
          <a:p>
            <a:r>
              <a:rPr lang="pt-BR" dirty="0" smtClean="0"/>
              <a:t>Projeto simples</a:t>
            </a:r>
          </a:p>
          <a:p>
            <a:r>
              <a:rPr lang="pt-BR" dirty="0" smtClean="0"/>
              <a:t>Programação em pares</a:t>
            </a:r>
          </a:p>
          <a:p>
            <a:r>
              <a:rPr lang="pt-BR" dirty="0" smtClean="0"/>
              <a:t>Propriedade coletiva</a:t>
            </a:r>
          </a:p>
          <a:p>
            <a:r>
              <a:rPr lang="pt-BR" dirty="0" smtClean="0"/>
              <a:t>Integração contínua</a:t>
            </a:r>
          </a:p>
          <a:p>
            <a:r>
              <a:rPr lang="pt-BR" dirty="0" smtClean="0"/>
              <a:t>Código padronizado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Programação em pares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Um desenvolve, e outro observa possibilidades de melhorias/refatoração</a:t>
            </a:r>
          </a:p>
          <a:p>
            <a:r>
              <a:rPr lang="pt-BR" dirty="0" smtClean="0"/>
              <a:t>Há trocas constantes</a:t>
            </a:r>
          </a:p>
          <a:p>
            <a:r>
              <a:rPr lang="pt-BR" dirty="0" smtClean="0"/>
              <a:t>Raramente usado na prática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Desafios</a:t>
            </a:r>
            <a:r>
              <a:rPr lang="en-US" dirty="0" smtClean="0"/>
              <a:t> das </a:t>
            </a:r>
            <a:r>
              <a:rPr lang="en-US" dirty="0" err="1" smtClean="0"/>
              <a:t>metodologias</a:t>
            </a:r>
            <a:r>
              <a:rPr lang="en-US" dirty="0" smtClean="0"/>
              <a:t> </a:t>
            </a:r>
            <a:r>
              <a:rPr lang="en-US" dirty="0" err="1" smtClean="0"/>
              <a:t>ágeis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Grandes</a:t>
            </a:r>
            <a:r>
              <a:rPr lang="en-US" dirty="0" smtClean="0"/>
              <a:t> </a:t>
            </a:r>
            <a:r>
              <a:rPr lang="en-US" dirty="0" err="1" smtClean="0"/>
              <a:t>organizações</a:t>
            </a:r>
            <a:r>
              <a:rPr lang="en-US" dirty="0" smtClean="0"/>
              <a:t> </a:t>
            </a:r>
            <a:r>
              <a:rPr lang="en-US" dirty="0" err="1" smtClean="0"/>
              <a:t>têm</a:t>
            </a:r>
            <a:r>
              <a:rPr lang="en-US" dirty="0" smtClean="0"/>
              <a:t> </a:t>
            </a:r>
            <a:r>
              <a:rPr lang="en-US" dirty="0" err="1" smtClean="0"/>
              <a:t>procedimentos</a:t>
            </a:r>
            <a:r>
              <a:rPr lang="en-US" dirty="0" smtClean="0"/>
              <a:t> </a:t>
            </a:r>
            <a:r>
              <a:rPr lang="en-US" dirty="0" err="1" smtClean="0"/>
              <a:t>bem</a:t>
            </a:r>
            <a:r>
              <a:rPr lang="en-US" dirty="0" smtClean="0"/>
              <a:t> </a:t>
            </a:r>
            <a:r>
              <a:rPr lang="en-US" dirty="0" err="1" smtClean="0"/>
              <a:t>estabelecidos</a:t>
            </a:r>
            <a:r>
              <a:rPr lang="en-US" dirty="0" smtClean="0"/>
              <a:t> </a:t>
            </a:r>
            <a:r>
              <a:rPr lang="en-US" dirty="0" err="1" smtClean="0"/>
              <a:t>há</a:t>
            </a:r>
            <a:r>
              <a:rPr lang="en-US" dirty="0" smtClean="0"/>
              <a:t> </a:t>
            </a:r>
            <a:r>
              <a:rPr lang="en-US" dirty="0" err="1" smtClean="0"/>
              <a:t>anos</a:t>
            </a:r>
            <a:endParaRPr lang="en-US" dirty="0" smtClean="0"/>
          </a:p>
          <a:p>
            <a:r>
              <a:rPr lang="en-US" dirty="0" err="1" smtClean="0"/>
              <a:t>Metodologias</a:t>
            </a:r>
            <a:r>
              <a:rPr lang="en-US" dirty="0" smtClean="0"/>
              <a:t> </a:t>
            </a:r>
            <a:r>
              <a:rPr lang="en-US" dirty="0" err="1" smtClean="0"/>
              <a:t>ágeis</a:t>
            </a:r>
            <a:r>
              <a:rPr lang="en-US" dirty="0" smtClean="0"/>
              <a:t> </a:t>
            </a:r>
            <a:r>
              <a:rPr lang="en-US" dirty="0" err="1" smtClean="0"/>
              <a:t>funcionam</a:t>
            </a:r>
            <a:r>
              <a:rPr lang="en-US" dirty="0" smtClean="0"/>
              <a:t> </a:t>
            </a:r>
            <a:r>
              <a:rPr lang="en-US" dirty="0" err="1" smtClean="0"/>
              <a:t>melhor</a:t>
            </a:r>
            <a:r>
              <a:rPr lang="en-US" dirty="0" smtClean="0"/>
              <a:t> com </a:t>
            </a:r>
            <a:r>
              <a:rPr lang="en-US" dirty="0" err="1" smtClean="0"/>
              <a:t>bons</a:t>
            </a:r>
            <a:r>
              <a:rPr lang="en-US" dirty="0" smtClean="0"/>
              <a:t> </a:t>
            </a:r>
            <a:r>
              <a:rPr lang="en-US" dirty="0" err="1" smtClean="0"/>
              <a:t>desenvolvedores</a:t>
            </a:r>
            <a:endParaRPr lang="en-US" dirty="0" smtClean="0"/>
          </a:p>
          <a:p>
            <a:r>
              <a:rPr lang="en-US" dirty="0" smtClean="0"/>
              <a:t>Gera </a:t>
            </a:r>
            <a:r>
              <a:rPr lang="en-US" dirty="0" err="1" smtClean="0"/>
              <a:t>muito</a:t>
            </a:r>
            <a:r>
              <a:rPr lang="en-US" dirty="0" smtClean="0"/>
              <a:t> stress!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Desafios</a:t>
            </a:r>
            <a:r>
              <a:rPr lang="en-US" dirty="0" smtClean="0"/>
              <a:t> das </a:t>
            </a:r>
            <a:r>
              <a:rPr lang="en-US" dirty="0" err="1" smtClean="0"/>
              <a:t>metodologias</a:t>
            </a:r>
            <a:r>
              <a:rPr lang="en-US" dirty="0" smtClean="0"/>
              <a:t> </a:t>
            </a:r>
            <a:r>
              <a:rPr lang="en-US" dirty="0" err="1" smtClean="0"/>
              <a:t>ágeis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Cliente</a:t>
            </a:r>
            <a:r>
              <a:rPr lang="en-US" dirty="0" smtClean="0"/>
              <a:t> </a:t>
            </a:r>
            <a:r>
              <a:rPr lang="en-US" dirty="0" err="1" smtClean="0"/>
              <a:t>presente</a:t>
            </a:r>
            <a:endParaRPr lang="en-US" dirty="0" smtClean="0"/>
          </a:p>
          <a:p>
            <a:pPr lvl="1"/>
            <a:r>
              <a:rPr lang="en-US" dirty="0" err="1" smtClean="0"/>
              <a:t>Muito</a:t>
            </a:r>
            <a:r>
              <a:rPr lang="en-US" dirty="0" smtClean="0"/>
              <a:t> </a:t>
            </a:r>
            <a:r>
              <a:rPr lang="en-US" dirty="0" err="1" smtClean="0"/>
              <a:t>presente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err="1" smtClean="0">
                <a:sym typeface="Wingdings" pitchFamily="2" charset="2"/>
              </a:rPr>
              <a:t>muita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interferência</a:t>
            </a:r>
            <a:r>
              <a:rPr lang="en-US" dirty="0" smtClean="0">
                <a:sym typeface="Wingdings" pitchFamily="2" charset="2"/>
              </a:rPr>
              <a:t>, </a:t>
            </a:r>
            <a:r>
              <a:rPr lang="en-US" dirty="0" err="1" smtClean="0">
                <a:sym typeface="Wingdings" pitchFamily="2" charset="2"/>
              </a:rPr>
              <a:t>muita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alteração</a:t>
            </a:r>
            <a:r>
              <a:rPr lang="en-US" dirty="0" smtClean="0">
                <a:sym typeface="Wingdings" pitchFamily="2" charset="2"/>
              </a:rPr>
              <a:t> de </a:t>
            </a:r>
            <a:r>
              <a:rPr lang="en-US" dirty="0" err="1" smtClean="0">
                <a:sym typeface="Wingdings" pitchFamily="2" charset="2"/>
              </a:rPr>
              <a:t>requisitos</a:t>
            </a: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err="1" smtClean="0">
                <a:sym typeface="Wingdings" pitchFamily="2" charset="2"/>
              </a:rPr>
              <a:t>Pouco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presente</a:t>
            </a:r>
            <a:r>
              <a:rPr lang="en-US" dirty="0" smtClean="0">
                <a:sym typeface="Wingdings" pitchFamily="2" charset="2"/>
              </a:rPr>
              <a:t>  </a:t>
            </a:r>
            <a:r>
              <a:rPr lang="en-US" dirty="0" err="1" smtClean="0">
                <a:sym typeface="Wingdings" pitchFamily="2" charset="2"/>
              </a:rPr>
              <a:t>falta</a:t>
            </a:r>
            <a:r>
              <a:rPr lang="en-US" dirty="0" smtClean="0">
                <a:sym typeface="Wingdings" pitchFamily="2" charset="2"/>
              </a:rPr>
              <a:t> de feedback</a:t>
            </a:r>
            <a:endParaRPr lang="pt-BR" dirty="0" smtClean="0"/>
          </a:p>
          <a:p>
            <a:r>
              <a:rPr lang="en-US" dirty="0" err="1" smtClean="0"/>
              <a:t>Múltiplos</a:t>
            </a:r>
            <a:r>
              <a:rPr lang="en-US" dirty="0" smtClean="0"/>
              <a:t> </a:t>
            </a:r>
            <a:r>
              <a:rPr lang="en-US" dirty="0" err="1" smtClean="0"/>
              <a:t>clientes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Scaling Agile Methods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Scrum recomenda de 3 a 9 desenvolvedores</a:t>
            </a:r>
          </a:p>
          <a:p>
            <a:r>
              <a:rPr lang="pt-BR" dirty="0" smtClean="0"/>
              <a:t>XP recomenda até 12 desenvolvedores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Scrum of Scrums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J. Sutherland. Agile can scale: Inventing and reinventing SCRUM in five companies. Cutter IT journal, 14(12):5–11, December 2001.</a:t>
            </a:r>
          </a:p>
          <a:p>
            <a:r>
              <a:rPr lang="pt-BR" dirty="0" smtClean="0"/>
              <a:t>Outra reunião semanal para organizar/coordenar as equipes de SCRUM</a:t>
            </a:r>
          </a:p>
          <a:p>
            <a:r>
              <a:rPr lang="pt-BR" dirty="0" smtClean="0"/>
              <a:t>Abordagem mais usada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Disciplined Agile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Scott Ambler and Mark Lines. M. Lines and S. W. Ambler. Introduction to Disciplined Agile Delivery. </a:t>
            </a:r>
            <a:r>
              <a:rPr lang="en-US" dirty="0" err="1" smtClean="0"/>
              <a:t>CreateSpace</a:t>
            </a:r>
            <a:r>
              <a:rPr lang="en-US" dirty="0" smtClean="0"/>
              <a:t> Independent </a:t>
            </a:r>
            <a:r>
              <a:rPr lang="pt-BR" dirty="0" smtClean="0"/>
              <a:t>Publishing Platform, 2015.</a:t>
            </a:r>
            <a:endParaRPr lang="en-US" dirty="0" smtClean="0"/>
          </a:p>
          <a:p>
            <a:r>
              <a:rPr lang="en-US" dirty="0" err="1" smtClean="0"/>
              <a:t>Conceito</a:t>
            </a:r>
            <a:r>
              <a:rPr lang="en-US" dirty="0" smtClean="0"/>
              <a:t> de Agile Delivery Life Cycle</a:t>
            </a:r>
          </a:p>
          <a:p>
            <a:pPr lvl="1"/>
            <a:r>
              <a:rPr lang="en-US" dirty="0" smtClean="0"/>
              <a:t>inception phase, </a:t>
            </a:r>
          </a:p>
          <a:p>
            <a:pPr lvl="1"/>
            <a:r>
              <a:rPr lang="en-US" dirty="0" smtClean="0"/>
              <a:t>Construction phase </a:t>
            </a:r>
          </a:p>
          <a:p>
            <a:pPr lvl="1"/>
            <a:r>
              <a:rPr lang="en-US" dirty="0" smtClean="0"/>
              <a:t>transition phase. </a:t>
            </a:r>
          </a:p>
          <a:p>
            <a:r>
              <a:rPr lang="en-US" dirty="0" smtClean="0"/>
              <a:t>The construction phase may consist of a sequence of iterations such as Scrum sprints.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Discussão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Procure informações sobre as metodologias ágeis em projetos: </a:t>
            </a:r>
          </a:p>
          <a:p>
            <a:pPr lvl="1"/>
            <a:r>
              <a:rPr lang="pt-BR" dirty="0" smtClean="0"/>
              <a:t>A) Cliente-Servidor </a:t>
            </a:r>
          </a:p>
          <a:p>
            <a:pPr lvl="1"/>
            <a:r>
              <a:rPr lang="pt-BR" dirty="0" smtClean="0"/>
              <a:t>B) Web</a:t>
            </a:r>
          </a:p>
          <a:p>
            <a:pPr lvl="1"/>
            <a:r>
              <a:rPr lang="pt-BR" dirty="0" smtClean="0"/>
              <a:t>C) Mobile</a:t>
            </a:r>
          </a:p>
          <a:p>
            <a:pPr lvl="1"/>
            <a:endParaRPr lang="pt-BR" dirty="0" smtClean="0"/>
          </a:p>
          <a:p>
            <a:pPr lvl="1"/>
            <a:r>
              <a:rPr lang="pt-BR" dirty="0" smtClean="0"/>
              <a:t>Compile resultados, como atendimento a custos e prazos, e adequação a quantidade de requisitos implementados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Discussão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PT" dirty="0" smtClean="0"/>
              <a:t>Suponha que você trabalhe para uma organização que frequentemente contrata serviços de desenvolvimento de vários fornecedores que usam abordagens de desenvolvimento muito diferentes. </a:t>
            </a:r>
          </a:p>
          <a:p>
            <a:r>
              <a:rPr lang="pt-PT" dirty="0" smtClean="0"/>
              <a:t>A organização deseja garantir que os fornecedores sejam capazes de entregar o que foi acordado, e, portanto, planeja revisar os fornecedores e seus processos de desenvolvimento antes que um contrato é assinado. </a:t>
            </a:r>
          </a:p>
          <a:p>
            <a:r>
              <a:rPr lang="pt-PT" dirty="0" smtClean="0"/>
              <a:t>Você recebeu a tarefa de </a:t>
            </a:r>
            <a:r>
              <a:rPr lang="pt-PT" b="1" dirty="0" smtClean="0"/>
              <a:t>identificar critérios adequados </a:t>
            </a:r>
            <a:r>
              <a:rPr lang="pt-PT" dirty="0" smtClean="0"/>
              <a:t>para julgar a qualidade de processos utilizados, aceitando que os fornecedores utilizem abordagens muito diferentes, algumas deles orientados por planos e outros ágeis ou híbridos.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1865</Words>
  <Application>Microsoft Office PowerPoint</Application>
  <PresentationFormat>On-screen Show (4:3)</PresentationFormat>
  <Paragraphs>281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Office Theme</vt:lpstr>
      <vt:lpstr>Processos de Software</vt:lpstr>
      <vt:lpstr>SDLC Software Development Life Cycle</vt:lpstr>
      <vt:lpstr>Processos de Desenvolvimento de Software</vt:lpstr>
      <vt:lpstr>Desenvolvimento Iterativo e Incremental</vt:lpstr>
      <vt:lpstr>Desenvolvimento Iterativo e Incremental</vt:lpstr>
      <vt:lpstr>Six Phases of a (Big) Project</vt:lpstr>
      <vt:lpstr> Basic Software Development Life Cycle Models - Waterfall </vt:lpstr>
      <vt:lpstr>Modelo Linear (Cascata, Waterfall)</vt:lpstr>
      <vt:lpstr>Modelo Linear</vt:lpstr>
      <vt:lpstr>Modelo Linear - críticas</vt:lpstr>
      <vt:lpstr>Modelo Linear - críticas</vt:lpstr>
      <vt:lpstr>Processo em Cascata (Royce)</vt:lpstr>
      <vt:lpstr>Processo em Cascata (Royce) - 1970</vt:lpstr>
      <vt:lpstr>Processo em Cascata (Royce) - 1970</vt:lpstr>
      <vt:lpstr>Waterfall model with overlapping phases</vt:lpstr>
      <vt:lpstr>V-model </vt:lpstr>
      <vt:lpstr>V-model </vt:lpstr>
      <vt:lpstr>Prototyping</vt:lpstr>
      <vt:lpstr>Modelo em Espiral</vt:lpstr>
      <vt:lpstr>Modelo em Espiral (Boehm)</vt:lpstr>
      <vt:lpstr>Modelo em Espiral</vt:lpstr>
      <vt:lpstr>Anti pattern: code and fix</vt:lpstr>
      <vt:lpstr>Anti pattern: code and fix</vt:lpstr>
      <vt:lpstr>Code and Fix / Agile</vt:lpstr>
      <vt:lpstr>IRUP (IBM Rational Unified Process)</vt:lpstr>
      <vt:lpstr>IRUP</vt:lpstr>
      <vt:lpstr>IRUP - Concepção</vt:lpstr>
      <vt:lpstr>IRUP - Elaboração</vt:lpstr>
      <vt:lpstr>IRUP - Construção</vt:lpstr>
      <vt:lpstr>IRUP - Transição</vt:lpstr>
      <vt:lpstr>Boas práticas recomendadas pelo IRUP</vt:lpstr>
      <vt:lpstr>Livro RUP</vt:lpstr>
      <vt:lpstr>O IRUP é ágil?</vt:lpstr>
      <vt:lpstr>O IRUP é ágil?</vt:lpstr>
      <vt:lpstr>Metodologias Ágeis</vt:lpstr>
      <vt:lpstr>Metodologias ágeis</vt:lpstr>
      <vt:lpstr>Metodologias ágeis</vt:lpstr>
      <vt:lpstr>Scrum (~1995)</vt:lpstr>
      <vt:lpstr>Scrum - Reuniões</vt:lpstr>
      <vt:lpstr>Scrum - Papéis</vt:lpstr>
      <vt:lpstr>Scrum - Ciclo de Vida</vt:lpstr>
      <vt:lpstr> Scrum - Ciclo de Vida Pré-planejamento (pre-game phase) </vt:lpstr>
      <vt:lpstr>Scrum - Ciclo de Vida Pré-planejamento (pre-game phase) </vt:lpstr>
      <vt:lpstr> Scrum - Ciclo de Vida Desenvolvimento (game phase) </vt:lpstr>
      <vt:lpstr> Scrum - Ciclo de Vida  Pós-planejamento (post-game phase) </vt:lpstr>
      <vt:lpstr>Extreme Programming</vt:lpstr>
      <vt:lpstr>Algumas práticas da XP</vt:lpstr>
      <vt:lpstr>Programação em pares</vt:lpstr>
      <vt:lpstr>Desafios das metodologias ágeis</vt:lpstr>
      <vt:lpstr>Desafios das metodologias ágeis</vt:lpstr>
      <vt:lpstr>Scaling Agile Methods</vt:lpstr>
      <vt:lpstr>Scrum of Scrums</vt:lpstr>
      <vt:lpstr>Disciplined Agile</vt:lpstr>
      <vt:lpstr>Discussão</vt:lpstr>
      <vt:lpstr>Discussão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Processos de Software</dc:title>
  <dc:creator>Michel</dc:creator>
  <cp:lastModifiedBy>Michel</cp:lastModifiedBy>
  <cp:revision>37</cp:revision>
  <dcterms:created xsi:type="dcterms:W3CDTF">2006-08-16T00:00:00Z</dcterms:created>
  <dcterms:modified xsi:type="dcterms:W3CDTF">2025-05-08T17:08:42Z</dcterms:modified>
</cp:coreProperties>
</file>
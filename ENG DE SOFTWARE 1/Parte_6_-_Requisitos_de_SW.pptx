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56" r:id="rId2"/>
    <p:sldId id="258" r:id="rId3"/>
    <p:sldId id="259" r:id="rId4"/>
    <p:sldId id="260" r:id="rId5"/>
    <p:sldId id="293" r:id="rId6"/>
    <p:sldId id="294" r:id="rId7"/>
    <p:sldId id="262" r:id="rId8"/>
    <p:sldId id="304" r:id="rId9"/>
    <p:sldId id="264" r:id="rId10"/>
    <p:sldId id="265" r:id="rId11"/>
    <p:sldId id="266" r:id="rId12"/>
    <p:sldId id="303" r:id="rId13"/>
    <p:sldId id="267" r:id="rId14"/>
    <p:sldId id="295" r:id="rId15"/>
    <p:sldId id="302" r:id="rId16"/>
    <p:sldId id="298" r:id="rId17"/>
    <p:sldId id="268" r:id="rId18"/>
    <p:sldId id="269" r:id="rId19"/>
    <p:sldId id="296" r:id="rId20"/>
    <p:sldId id="270" r:id="rId21"/>
    <p:sldId id="271" r:id="rId22"/>
    <p:sldId id="272" r:id="rId23"/>
    <p:sldId id="274" r:id="rId24"/>
    <p:sldId id="275" r:id="rId25"/>
    <p:sldId id="276" r:id="rId26"/>
    <p:sldId id="305" r:id="rId27"/>
    <p:sldId id="277" r:id="rId28"/>
    <p:sldId id="278" r:id="rId29"/>
    <p:sldId id="279" r:id="rId30"/>
    <p:sldId id="280" r:id="rId31"/>
    <p:sldId id="281" r:id="rId32"/>
    <p:sldId id="282" r:id="rId33"/>
    <p:sldId id="283" r:id="rId34"/>
    <p:sldId id="300" r:id="rId35"/>
    <p:sldId id="284" r:id="rId36"/>
    <p:sldId id="291" r:id="rId37"/>
    <p:sldId id="292" r:id="rId38"/>
    <p:sldId id="299" r:id="rId39"/>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3" d="100"/>
          <a:sy n="83" d="100"/>
        </p:scale>
        <p:origin x="-1426" y="-77"/>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7B43D20-A670-4442-83A9-0DAE500F86EE}" type="datetimeFigureOut">
              <a:rPr lang="pt-BR" smtClean="0"/>
              <a:pPr/>
              <a:t>02/06/2025</a:t>
            </a:fld>
            <a:endParaRPr lang="pt-BR"/>
          </a:p>
        </p:txBody>
      </p:sp>
      <p:sp>
        <p:nvSpPr>
          <p:cNvPr id="4" name="Espaço Reservado para Imagem de Slide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76E5A95-0E1A-4A87-8154-A1A2A7A4984A}" type="slidenum">
              <a:rPr lang="pt-BR" smtClean="0"/>
              <a:pPr/>
              <a:t>‹#›</a:t>
            </a:fld>
            <a:endParaRPr lang="pt-B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173B0229-3AB6-44D6-B9F4-B271012B7C45}" type="slidenum">
              <a:rPr lang="pt-BR" smtClean="0"/>
              <a:pPr/>
              <a:t>2</a:t>
            </a:fld>
            <a:endParaRPr lang="pt-BR"/>
          </a:p>
        </p:txBody>
      </p:sp>
    </p:spTree>
    <p:extLst>
      <p:ext uri="{BB962C8B-B14F-4D97-AF65-F5344CB8AC3E}">
        <p14:creationId xmlns="" xmlns:p14="http://schemas.microsoft.com/office/powerpoint/2010/main" val="6539876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pt-BR" smtClean="0"/>
              <a:t>Clique para editar o estilo do título mestre</a:t>
            </a:r>
            <a:endParaRPr lang="pt-BR"/>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smtClean="0"/>
              <a:t>Clique para editar o estilo do subtítulo mestre</a:t>
            </a:r>
            <a:endParaRPr lang="pt-BR"/>
          </a:p>
        </p:txBody>
      </p:sp>
      <p:sp>
        <p:nvSpPr>
          <p:cNvPr id="4" name="Espaço Reservado para Data 3"/>
          <p:cNvSpPr>
            <a:spLocks noGrp="1"/>
          </p:cNvSpPr>
          <p:nvPr>
            <p:ph type="dt" sz="half" idx="10"/>
          </p:nvPr>
        </p:nvSpPr>
        <p:spPr/>
        <p:txBody>
          <a:bodyPr/>
          <a:lstStyle/>
          <a:p>
            <a:fld id="{2E700DB3-DBF0-4086-B675-117E7A9610B8}" type="datetimeFigureOut">
              <a:rPr lang="pt-BR" smtClean="0"/>
              <a:pPr/>
              <a:t>02/06/2025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119D8CF-8DEC-4D9F-84EE-ADF04DFF3391}" type="slidenum">
              <a:rPr lang="pt-BR" smtClean="0"/>
              <a:pPr/>
              <a:t>‹#›</a:t>
            </a:fld>
            <a:endParaRPr lang="pt-B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estilo do título mestre</a:t>
            </a:r>
            <a:endParaRPr lang="pt-BR"/>
          </a:p>
        </p:txBody>
      </p:sp>
      <p:sp>
        <p:nvSpPr>
          <p:cNvPr id="3" name="Espaço Reservado para Conteúdo 2"/>
          <p:cNvSpPr>
            <a:spLocks noGrp="1"/>
          </p:cNvSpPr>
          <p:nvPr>
            <p:ph idx="1"/>
          </p:nvPr>
        </p:nvSpPr>
        <p:spPr/>
        <p:txBody>
          <a:body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2E700DB3-DBF0-4086-B675-117E7A9610B8}" type="datetimeFigureOut">
              <a:rPr lang="pt-BR" smtClean="0"/>
              <a:pPr/>
              <a:t>02/06/2025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119D8CF-8DEC-4D9F-84EE-ADF04DFF3391}" type="slidenum">
              <a:rPr lang="pt-BR" smtClean="0"/>
              <a:pPr/>
              <a:t>‹#›</a:t>
            </a:fld>
            <a:endParaRPr lang="pt-B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pt-BR" smtClean="0"/>
              <a:t>Clique para editar o estilo do título mestre</a:t>
            </a:r>
            <a:endParaRPr lang="pt-BR"/>
          </a:p>
        </p:txBody>
      </p:sp>
      <p:sp>
        <p:nvSpPr>
          <p:cNvPr id="3" name="Espaço Reservado para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smtClean="0"/>
              <a:t>Clique para editar os estilos do texto mestre</a:t>
            </a:r>
          </a:p>
        </p:txBody>
      </p:sp>
      <p:sp>
        <p:nvSpPr>
          <p:cNvPr id="4" name="Espaço Reservado para Data 3"/>
          <p:cNvSpPr>
            <a:spLocks noGrp="1"/>
          </p:cNvSpPr>
          <p:nvPr>
            <p:ph type="dt" sz="half" idx="10"/>
          </p:nvPr>
        </p:nvSpPr>
        <p:spPr/>
        <p:txBody>
          <a:bodyPr/>
          <a:lstStyle/>
          <a:p>
            <a:fld id="{2E700DB3-DBF0-4086-B675-117E7A9610B8}" type="datetimeFigureOut">
              <a:rPr lang="pt-BR" smtClean="0"/>
              <a:pPr/>
              <a:t>02/06/2025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119D8CF-8DEC-4D9F-84EE-ADF04DFF3391}" type="slidenum">
              <a:rPr lang="pt-BR" smtClean="0"/>
              <a:pPr/>
              <a:t>‹#›</a:t>
            </a:fld>
            <a:endParaRPr lang="pt-B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estilo do título mestre</a:t>
            </a:r>
            <a:endParaRPr lang="pt-BR"/>
          </a:p>
        </p:txBody>
      </p:sp>
      <p:sp>
        <p:nvSpPr>
          <p:cNvPr id="3" name="Espaço Reservado para Conteú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Conteú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Data 4"/>
          <p:cNvSpPr>
            <a:spLocks noGrp="1"/>
          </p:cNvSpPr>
          <p:nvPr>
            <p:ph type="dt" sz="half" idx="10"/>
          </p:nvPr>
        </p:nvSpPr>
        <p:spPr/>
        <p:txBody>
          <a:bodyPr/>
          <a:lstStyle/>
          <a:p>
            <a:fld id="{2E700DB3-DBF0-4086-B675-117E7A9610B8}" type="datetimeFigureOut">
              <a:rPr lang="pt-BR" smtClean="0"/>
              <a:pPr/>
              <a:t>02/06/2025</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2119D8CF-8DEC-4D9F-84EE-ADF04DFF3391}" type="slidenum">
              <a:rPr lang="pt-BR" smtClean="0"/>
              <a:pPr/>
              <a:t>‹#›</a:t>
            </a:fld>
            <a:endParaRPr lang="pt-B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smtClean="0"/>
              <a:t>Clique para editar o estilo do título mestre</a:t>
            </a:r>
            <a:endParaRPr lang="pt-BR"/>
          </a:p>
        </p:txBody>
      </p:sp>
      <p:sp>
        <p:nvSpPr>
          <p:cNvPr id="3" name="Espaço Reservado para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os estilos do texto mestre</a:t>
            </a:r>
          </a:p>
        </p:txBody>
      </p:sp>
      <p:sp>
        <p:nvSpPr>
          <p:cNvPr id="4" name="Espaço Reservado para Conteú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os estilos do texto mestre</a:t>
            </a:r>
          </a:p>
        </p:txBody>
      </p:sp>
      <p:sp>
        <p:nvSpPr>
          <p:cNvPr id="6" name="Espaço Reservado para Conteú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7" name="Espaço Reservado para Data 6"/>
          <p:cNvSpPr>
            <a:spLocks noGrp="1"/>
          </p:cNvSpPr>
          <p:nvPr>
            <p:ph type="dt" sz="half" idx="10"/>
          </p:nvPr>
        </p:nvSpPr>
        <p:spPr/>
        <p:txBody>
          <a:bodyPr/>
          <a:lstStyle/>
          <a:p>
            <a:fld id="{2E700DB3-DBF0-4086-B675-117E7A9610B8}" type="datetimeFigureOut">
              <a:rPr lang="pt-BR" smtClean="0"/>
              <a:pPr/>
              <a:t>02/06/2025</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2119D8CF-8DEC-4D9F-84EE-ADF04DFF3391}" type="slidenum">
              <a:rPr lang="pt-BR" smtClean="0"/>
              <a:pPr/>
              <a:t>‹#›</a:t>
            </a:fld>
            <a:endParaRPr lang="pt-B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estilo do título mestre</a:t>
            </a:r>
            <a:endParaRPr lang="pt-BR"/>
          </a:p>
        </p:txBody>
      </p:sp>
      <p:sp>
        <p:nvSpPr>
          <p:cNvPr id="3" name="Espaço Reservado para Data 2"/>
          <p:cNvSpPr>
            <a:spLocks noGrp="1"/>
          </p:cNvSpPr>
          <p:nvPr>
            <p:ph type="dt" sz="half" idx="10"/>
          </p:nvPr>
        </p:nvSpPr>
        <p:spPr/>
        <p:txBody>
          <a:bodyPr/>
          <a:lstStyle/>
          <a:p>
            <a:fld id="{2E700DB3-DBF0-4086-B675-117E7A9610B8}" type="datetimeFigureOut">
              <a:rPr lang="pt-BR" smtClean="0"/>
              <a:pPr/>
              <a:t>02/06/2025</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2119D8CF-8DEC-4D9F-84EE-ADF04DFF3391}" type="slidenum">
              <a:rPr lang="pt-BR" smtClean="0"/>
              <a:pPr/>
              <a:t>‹#›</a:t>
            </a:fld>
            <a:endParaRPr lang="pt-B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2E700DB3-DBF0-4086-B675-117E7A9610B8}" type="datetimeFigureOut">
              <a:rPr lang="pt-BR" smtClean="0"/>
              <a:pPr/>
              <a:t>02/06/2025</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2119D8CF-8DEC-4D9F-84EE-ADF04DFF3391}" type="slidenum">
              <a:rPr lang="pt-BR" smtClean="0"/>
              <a:pPr/>
              <a:t>‹#›</a:t>
            </a:fld>
            <a:endParaRPr lang="pt-B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pt-BR" smtClean="0"/>
              <a:t>Clique para editar o estilo do título mestre</a:t>
            </a:r>
            <a:endParaRPr lang="pt-BR"/>
          </a:p>
        </p:txBody>
      </p:sp>
      <p:sp>
        <p:nvSpPr>
          <p:cNvPr id="3" name="Espaço Reservado para Conteú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Clique para editar os estilos do texto mestre</a:t>
            </a:r>
          </a:p>
        </p:txBody>
      </p:sp>
      <p:sp>
        <p:nvSpPr>
          <p:cNvPr id="5" name="Espaço Reservado para Data 4"/>
          <p:cNvSpPr>
            <a:spLocks noGrp="1"/>
          </p:cNvSpPr>
          <p:nvPr>
            <p:ph type="dt" sz="half" idx="10"/>
          </p:nvPr>
        </p:nvSpPr>
        <p:spPr/>
        <p:txBody>
          <a:bodyPr/>
          <a:lstStyle/>
          <a:p>
            <a:fld id="{2E700DB3-DBF0-4086-B675-117E7A9610B8}" type="datetimeFigureOut">
              <a:rPr lang="pt-BR" smtClean="0"/>
              <a:pPr/>
              <a:t>02/06/2025</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2119D8CF-8DEC-4D9F-84EE-ADF04DFF3391}" type="slidenum">
              <a:rPr lang="pt-BR" smtClean="0"/>
              <a:pPr/>
              <a:t>‹#›</a:t>
            </a:fld>
            <a:endParaRPr lang="pt-B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pt-BR" smtClean="0"/>
              <a:t>Clique para editar o estilo do título mestre</a:t>
            </a:r>
            <a:endParaRPr lang="pt-BR"/>
          </a:p>
        </p:txBody>
      </p:sp>
      <p:sp>
        <p:nvSpPr>
          <p:cNvPr id="3" name="Espaço Reservado para Imagem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Clique para editar os estilos do texto mestre</a:t>
            </a:r>
          </a:p>
        </p:txBody>
      </p:sp>
      <p:sp>
        <p:nvSpPr>
          <p:cNvPr id="5" name="Espaço Reservado para Data 4"/>
          <p:cNvSpPr>
            <a:spLocks noGrp="1"/>
          </p:cNvSpPr>
          <p:nvPr>
            <p:ph type="dt" sz="half" idx="10"/>
          </p:nvPr>
        </p:nvSpPr>
        <p:spPr/>
        <p:txBody>
          <a:bodyPr/>
          <a:lstStyle/>
          <a:p>
            <a:fld id="{2E700DB3-DBF0-4086-B675-117E7A9610B8}" type="datetimeFigureOut">
              <a:rPr lang="pt-BR" smtClean="0"/>
              <a:pPr/>
              <a:t>02/06/2025</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2119D8CF-8DEC-4D9F-84EE-ADF04DFF3391}" type="slidenum">
              <a:rPr lang="pt-BR" smtClean="0"/>
              <a:pPr/>
              <a:t>‹#›</a:t>
            </a:fld>
            <a:endParaRPr lang="pt-B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estilo do título mestre</a:t>
            </a:r>
            <a:endParaRPr lang="pt-BR"/>
          </a:p>
        </p:txBody>
      </p:sp>
      <p:sp>
        <p:nvSpPr>
          <p:cNvPr id="3" name="Espaço Reservado para Texto Vertical 2"/>
          <p:cNvSpPr>
            <a:spLocks noGrp="1"/>
          </p:cNvSpPr>
          <p:nvPr>
            <p:ph type="body" orient="vert" idx="1"/>
          </p:nvPr>
        </p:nvSpPr>
        <p:spPr/>
        <p:txBody>
          <a:bodyPr vert="eaVert"/>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2E700DB3-DBF0-4086-B675-117E7A9610B8}" type="datetimeFigureOut">
              <a:rPr lang="pt-BR" smtClean="0"/>
              <a:pPr/>
              <a:t>02/06/2025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119D8CF-8DEC-4D9F-84EE-ADF04DFF3391}" type="slidenum">
              <a:rPr lang="pt-BR" smtClean="0"/>
              <a:pPr/>
              <a:t>‹#›</a:t>
            </a:fld>
            <a:endParaRPr lang="pt-B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pt-BR" smtClean="0"/>
              <a:t>Clique para editar o estilo do título mestre</a:t>
            </a:r>
            <a:endParaRPr lang="pt-BR"/>
          </a:p>
        </p:txBody>
      </p:sp>
      <p:sp>
        <p:nvSpPr>
          <p:cNvPr id="3" name="Espaço Reservado para Texto Vertical 2"/>
          <p:cNvSpPr>
            <a:spLocks noGrp="1"/>
          </p:cNvSpPr>
          <p:nvPr>
            <p:ph type="body" orient="vert" idx="1"/>
          </p:nvPr>
        </p:nvSpPr>
        <p:spPr>
          <a:xfrm>
            <a:off x="457200" y="274638"/>
            <a:ext cx="6019800" cy="5851525"/>
          </a:xfrm>
        </p:spPr>
        <p:txBody>
          <a:bodyPr vert="eaVert"/>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2E700DB3-DBF0-4086-B675-117E7A9610B8}" type="datetimeFigureOut">
              <a:rPr lang="pt-BR" smtClean="0"/>
              <a:pPr/>
              <a:t>02/06/2025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119D8CF-8DEC-4D9F-84EE-ADF04DFF3391}" type="slidenum">
              <a:rPr lang="pt-BR" smtClean="0"/>
              <a:pPr/>
              <a:t>‹#›</a:t>
            </a:fld>
            <a:endParaRPr lang="pt-B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pt-BR" smtClean="0"/>
              <a:t>Clique para editar o estilo do título mestre</a:t>
            </a:r>
            <a:endParaRPr lang="pt-BR"/>
          </a:p>
        </p:txBody>
      </p:sp>
      <p:sp>
        <p:nvSpPr>
          <p:cNvPr id="3" name="Espaço Reservado para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700DB3-DBF0-4086-B675-117E7A9610B8}" type="datetimeFigureOut">
              <a:rPr lang="pt-BR" smtClean="0"/>
              <a:pPr/>
              <a:t>02/06/2025</a:t>
            </a:fld>
            <a:endParaRPr lang="pt-BR"/>
          </a:p>
        </p:txBody>
      </p:sp>
      <p:sp>
        <p:nvSpPr>
          <p:cNvPr id="5" name="Espaço Reservado para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19D8CF-8DEC-4D9F-84EE-ADF04DFF3391}" type="slidenum">
              <a:rPr lang="pt-BR" smtClean="0"/>
              <a:pPr/>
              <a:t>‹#›</a:t>
            </a:fld>
            <a:endParaRPr lang="pt-B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pt-BR" dirty="0" smtClean="0"/>
              <a:t>Requisitos de Software</a:t>
            </a:r>
            <a:endParaRPr lang="pt-BR" dirty="0"/>
          </a:p>
        </p:txBody>
      </p:sp>
      <p:sp>
        <p:nvSpPr>
          <p:cNvPr id="3" name="Subtítulo 2"/>
          <p:cNvSpPr>
            <a:spLocks noGrp="1"/>
          </p:cNvSpPr>
          <p:nvPr>
            <p:ph type="subTitle" idx="1"/>
          </p:nvPr>
        </p:nvSpPr>
        <p:spPr/>
        <p:txBody>
          <a:bodyPr/>
          <a:lstStyle/>
          <a:p>
            <a:endParaRPr lang="pt-B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r"/>
            <a:r>
              <a:rPr lang="pt-BR" dirty="0"/>
              <a:t>Motivação</a:t>
            </a:r>
          </a:p>
        </p:txBody>
      </p:sp>
      <p:pic>
        <p:nvPicPr>
          <p:cNvPr id="2050" name="Picture 2" descr="C:\Users\Fabiola\Documents\Mestrado\WorkShop\requisito2.jpg"/>
          <p:cNvPicPr>
            <a:picLocks noGrp="1" noChangeAspect="1" noChangeArrowheads="1"/>
          </p:cNvPicPr>
          <p:nvPr>
            <p:ph idx="1"/>
          </p:nvPr>
        </p:nvPicPr>
        <p:blipFill>
          <a:blip r:embed="rId3" cstate="print">
            <a:extLst>
              <a:ext uri="{28A0092B-C50C-407E-A947-70E740481C1C}">
                <a14:useLocalDpi xmlns="" xmlns:a14="http://schemas.microsoft.com/office/drawing/2010/main" val="0"/>
              </a:ext>
            </a:extLst>
          </a:blip>
          <a:srcRect/>
          <a:stretch>
            <a:fillRect/>
          </a:stretch>
        </p:blipFill>
        <p:spPr bwMode="auto">
          <a:xfrm>
            <a:off x="4067944" y="2616084"/>
            <a:ext cx="5076056" cy="4061880"/>
          </a:xfrm>
          <a:prstGeom prst="rect">
            <a:avLst/>
          </a:prstGeom>
          <a:noFill/>
          <a:extLst>
            <a:ext uri="{909E8E84-426E-40DD-AFC4-6F175D3DCCD1}">
              <a14:hiddenFill xmlns="" xmlns:a14="http://schemas.microsoft.com/office/drawing/2010/main">
                <a:solidFill>
                  <a:srgbClr val="FFFFFF"/>
                </a:solidFill>
              </a14:hiddenFill>
            </a:ext>
          </a:extLst>
        </p:spPr>
      </p:pic>
      <p:pic>
        <p:nvPicPr>
          <p:cNvPr id="2052" name="Picture 4" descr="C:\Users\Fabiola\Documents\Mestrado\WorkShop\requisito1.jpg"/>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0" y="116632"/>
            <a:ext cx="4720826" cy="4342061"/>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70441223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smtClean="0"/>
              <a:t>Engenharia de requisitos de software</a:t>
            </a:r>
            <a:endParaRPr lang="pt-BR" dirty="0"/>
          </a:p>
        </p:txBody>
      </p:sp>
      <p:sp>
        <p:nvSpPr>
          <p:cNvPr id="3" name="Espaço Reservado para Conteúdo 2"/>
          <p:cNvSpPr>
            <a:spLocks noGrp="1"/>
          </p:cNvSpPr>
          <p:nvPr>
            <p:ph idx="1"/>
          </p:nvPr>
        </p:nvSpPr>
        <p:spPr>
          <a:xfrm>
            <a:off x="179512" y="1600200"/>
            <a:ext cx="8784976" cy="4853136"/>
          </a:xfrm>
        </p:spPr>
        <p:txBody>
          <a:bodyPr>
            <a:normAutofit/>
          </a:bodyPr>
          <a:lstStyle/>
          <a:p>
            <a:r>
              <a:rPr lang="pt-BR" dirty="0" smtClean="0"/>
              <a:t>Requisitos são as funções e restrições que estabelecem exatamente o que o software deve fazer.</a:t>
            </a:r>
          </a:p>
          <a:p>
            <a:r>
              <a:rPr lang="pt-BR" dirty="0" smtClean="0"/>
              <a:t>O processo de descobrir, analisar, documentar, rastrear e verificar essas funções e restrições é chamado de Engenharia de Requisitos</a:t>
            </a:r>
          </a:p>
          <a:p>
            <a:r>
              <a:rPr lang="pt-BR" dirty="0" smtClean="0"/>
              <a:t>Engenharia de Requisitos é uma parte fundamental do desenvolvimento de um software</a:t>
            </a:r>
          </a:p>
          <a:p>
            <a:endParaRPr lang="pt-BR"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smtClean="0"/>
              <a:t>Importância da Engenharia de Requisitos</a:t>
            </a:r>
            <a:endParaRPr lang="pt-BR" dirty="0"/>
          </a:p>
        </p:txBody>
      </p:sp>
      <p:sp>
        <p:nvSpPr>
          <p:cNvPr id="3" name="Espaço Reservado para Conteúdo 2"/>
          <p:cNvSpPr>
            <a:spLocks noGrp="1"/>
          </p:cNvSpPr>
          <p:nvPr>
            <p:ph idx="1"/>
          </p:nvPr>
        </p:nvSpPr>
        <p:spPr/>
        <p:txBody>
          <a:bodyPr>
            <a:normAutofit/>
          </a:bodyPr>
          <a:lstStyle/>
          <a:p>
            <a:r>
              <a:rPr lang="en-US" dirty="0" smtClean="0"/>
              <a:t>Errors in requirements can be up to 100 times more expensive to fix than errors introduced during implementation (Boehm, 1973). </a:t>
            </a:r>
          </a:p>
          <a:p>
            <a:r>
              <a:rPr lang="en-US" dirty="0" smtClean="0"/>
              <a:t>Knowing what to build, which includes requirements elicitation, is the most difficult phase in the design of software (Brooks 1987). </a:t>
            </a:r>
          </a:p>
          <a:p>
            <a:endParaRPr lang="pt-BR"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smtClean="0"/>
              <a:t>Importância da Engenharia de Requisitos</a:t>
            </a:r>
            <a:endParaRPr lang="pt-BR" dirty="0"/>
          </a:p>
        </p:txBody>
      </p:sp>
      <p:sp>
        <p:nvSpPr>
          <p:cNvPr id="3" name="Espaço Reservado para Conteúdo 2"/>
          <p:cNvSpPr>
            <a:spLocks noGrp="1"/>
          </p:cNvSpPr>
          <p:nvPr>
            <p:ph idx="1"/>
          </p:nvPr>
        </p:nvSpPr>
        <p:spPr/>
        <p:txBody>
          <a:bodyPr>
            <a:normAutofit fontScale="92500" lnSpcReduction="10000"/>
          </a:bodyPr>
          <a:lstStyle/>
          <a:p>
            <a:r>
              <a:rPr lang="en-US" dirty="0" smtClean="0"/>
              <a:t>60% of errors in critical systems were the results of requirements errors (Lutz, 1993). </a:t>
            </a:r>
          </a:p>
          <a:p>
            <a:r>
              <a:rPr lang="en-US" dirty="0" smtClean="0"/>
              <a:t>The main factors for problems with software projects (cost overruns, delays, user dissatisfaction) are related to requirements issues, such as lack of user input, incomplete requirements specifications, uncontrolled requirements changing, and unclear objectives (The Standish Group, 2003) (van </a:t>
            </a:r>
            <a:r>
              <a:rPr lang="en-US" dirty="0" err="1" smtClean="0"/>
              <a:t>Genuchten</a:t>
            </a:r>
            <a:r>
              <a:rPr lang="en-US" dirty="0" smtClean="0"/>
              <a:t>, 1991; Hofmann and </a:t>
            </a:r>
            <a:r>
              <a:rPr lang="en-US" dirty="0" err="1" smtClean="0"/>
              <a:t>Lehner</a:t>
            </a:r>
            <a:r>
              <a:rPr lang="en-US" dirty="0" smtClean="0"/>
              <a:t>, 2001). </a:t>
            </a:r>
          </a:p>
          <a:p>
            <a:endParaRPr lang="pt-BR"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smtClean="0"/>
              <a:t>Importância da Engenharia de Requisitos</a:t>
            </a:r>
            <a:endParaRPr lang="pt-BR" dirty="0"/>
          </a:p>
        </p:txBody>
      </p:sp>
      <p:sp>
        <p:nvSpPr>
          <p:cNvPr id="3" name="Espaço Reservado para Conteúdo 2"/>
          <p:cNvSpPr>
            <a:spLocks noGrp="1"/>
          </p:cNvSpPr>
          <p:nvPr>
            <p:ph idx="1"/>
          </p:nvPr>
        </p:nvSpPr>
        <p:spPr/>
        <p:txBody>
          <a:bodyPr>
            <a:normAutofit/>
          </a:bodyPr>
          <a:lstStyle/>
          <a:p>
            <a:r>
              <a:rPr lang="en-US" dirty="0" smtClean="0"/>
              <a:t>Out of a total of 268 development problems cited, 48% (128) were requirements problems. (Hall et al., 2002)</a:t>
            </a:r>
          </a:p>
          <a:p>
            <a:r>
              <a:rPr lang="en-US" dirty="0" smtClean="0"/>
              <a:t>Dealing with ever-changing requirements is considered the real problem of Software Engineering (Berry, 2004). </a:t>
            </a:r>
          </a:p>
          <a:p>
            <a:endParaRPr lang="pt-BR"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Ex. Requisitos do usuário</a:t>
            </a:r>
            <a:endParaRPr lang="pt-BR" dirty="0"/>
          </a:p>
        </p:txBody>
      </p:sp>
      <p:sp>
        <p:nvSpPr>
          <p:cNvPr id="3" name="Espaço Reservado para Conteúdo 2"/>
          <p:cNvSpPr>
            <a:spLocks noGrp="1"/>
          </p:cNvSpPr>
          <p:nvPr>
            <p:ph idx="1"/>
          </p:nvPr>
        </p:nvSpPr>
        <p:spPr>
          <a:xfrm>
            <a:off x="179512" y="1600200"/>
            <a:ext cx="8784976" cy="4997152"/>
          </a:xfrm>
        </p:spPr>
        <p:txBody>
          <a:bodyPr>
            <a:normAutofit lnSpcReduction="10000"/>
          </a:bodyPr>
          <a:lstStyle/>
          <a:p>
            <a:r>
              <a:rPr lang="pt-BR" dirty="0" smtClean="0"/>
              <a:t>O software deve oferecer um meio de representar e acessar arquivos externos.</a:t>
            </a:r>
          </a:p>
          <a:p>
            <a:r>
              <a:rPr lang="pt-BR" dirty="0" smtClean="0"/>
              <a:t>O software deve possibilitar ao usuário a consulta de livros por autor e palavra-chave.</a:t>
            </a:r>
          </a:p>
          <a:p>
            <a:r>
              <a:rPr lang="pt-BR" dirty="0" smtClean="0"/>
              <a:t>O software deve possibilitar a impressão de relatórios de vendas diárias.</a:t>
            </a:r>
          </a:p>
          <a:p>
            <a:r>
              <a:rPr lang="en-US" dirty="0" err="1" smtClean="0"/>
              <a:t>Quando</a:t>
            </a:r>
            <a:r>
              <a:rPr lang="en-US" dirty="0" smtClean="0"/>
              <a:t> o </a:t>
            </a:r>
            <a:r>
              <a:rPr lang="en-US" dirty="0" err="1" smtClean="0"/>
              <a:t>usuário</a:t>
            </a:r>
            <a:r>
              <a:rPr lang="en-US" dirty="0" smtClean="0"/>
              <a:t> </a:t>
            </a:r>
            <a:r>
              <a:rPr lang="en-US" dirty="0" err="1" smtClean="0"/>
              <a:t>inserir</a:t>
            </a:r>
            <a:r>
              <a:rPr lang="en-US" dirty="0" smtClean="0"/>
              <a:t> o CPF, </a:t>
            </a:r>
            <a:r>
              <a:rPr lang="en-US" dirty="0" err="1" smtClean="0"/>
              <a:t>este</a:t>
            </a:r>
            <a:r>
              <a:rPr lang="en-US" dirty="0" smtClean="0"/>
              <a:t> </a:t>
            </a:r>
            <a:r>
              <a:rPr lang="en-US" dirty="0" err="1" smtClean="0"/>
              <a:t>deve</a:t>
            </a:r>
            <a:r>
              <a:rPr lang="en-US" dirty="0" smtClean="0"/>
              <a:t> ser </a:t>
            </a:r>
            <a:r>
              <a:rPr lang="en-US" dirty="0" err="1" smtClean="0"/>
              <a:t>automaticamente</a:t>
            </a:r>
            <a:r>
              <a:rPr lang="en-US" dirty="0" smtClean="0"/>
              <a:t> </a:t>
            </a:r>
            <a:r>
              <a:rPr lang="en-US" dirty="0" err="1" smtClean="0"/>
              <a:t>validado</a:t>
            </a:r>
            <a:r>
              <a:rPr lang="en-US" dirty="0" smtClean="0"/>
              <a:t> </a:t>
            </a:r>
            <a:r>
              <a:rPr lang="en-US" dirty="0" err="1" smtClean="0"/>
              <a:t>pelo</a:t>
            </a:r>
            <a:r>
              <a:rPr lang="en-US" dirty="0" smtClean="0"/>
              <a:t> software.</a:t>
            </a:r>
          </a:p>
          <a:p>
            <a:r>
              <a:rPr lang="pt-BR" dirty="0" smtClean="0"/>
              <a:t>O campo data deve estar no formato DD/MM/AAAA</a:t>
            </a:r>
          </a:p>
          <a:p>
            <a:endParaRPr lang="pt-BR" dirty="0" smtClean="0"/>
          </a:p>
          <a:p>
            <a:endParaRPr lang="pt-BR"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smtClean="0"/>
              <a:t>Ex. Requisitos do usuário – Há problemas nesses requisitos? </a:t>
            </a:r>
            <a:endParaRPr lang="pt-BR" dirty="0"/>
          </a:p>
        </p:txBody>
      </p:sp>
      <p:sp>
        <p:nvSpPr>
          <p:cNvPr id="3" name="Espaço Reservado para Conteúdo 2"/>
          <p:cNvSpPr>
            <a:spLocks noGrp="1"/>
          </p:cNvSpPr>
          <p:nvPr>
            <p:ph idx="1"/>
          </p:nvPr>
        </p:nvSpPr>
        <p:spPr>
          <a:xfrm>
            <a:off x="179512" y="1600200"/>
            <a:ext cx="8784976" cy="4997152"/>
          </a:xfrm>
        </p:spPr>
        <p:txBody>
          <a:bodyPr>
            <a:normAutofit lnSpcReduction="10000"/>
          </a:bodyPr>
          <a:lstStyle/>
          <a:p>
            <a:r>
              <a:rPr lang="pt-BR" dirty="0" smtClean="0"/>
              <a:t>O software deve oferecer um meio de representar e acessar arquivos externos.</a:t>
            </a:r>
          </a:p>
          <a:p>
            <a:r>
              <a:rPr lang="pt-BR" dirty="0" smtClean="0"/>
              <a:t>O software deve possibilitar ao usuário a consulta de livros por autor e palavra-chave.</a:t>
            </a:r>
          </a:p>
          <a:p>
            <a:r>
              <a:rPr lang="pt-BR" dirty="0" smtClean="0"/>
              <a:t>O software deve possibilitar a impressão de relatórios de vendas diárias.</a:t>
            </a:r>
          </a:p>
          <a:p>
            <a:r>
              <a:rPr lang="en-US" dirty="0" err="1" smtClean="0"/>
              <a:t>Quando</a:t>
            </a:r>
            <a:r>
              <a:rPr lang="en-US" dirty="0" smtClean="0"/>
              <a:t> o </a:t>
            </a:r>
            <a:r>
              <a:rPr lang="en-US" dirty="0" err="1" smtClean="0"/>
              <a:t>usuário</a:t>
            </a:r>
            <a:r>
              <a:rPr lang="en-US" dirty="0" smtClean="0"/>
              <a:t> </a:t>
            </a:r>
            <a:r>
              <a:rPr lang="en-US" dirty="0" err="1" smtClean="0"/>
              <a:t>inserir</a:t>
            </a:r>
            <a:r>
              <a:rPr lang="en-US" dirty="0" smtClean="0"/>
              <a:t> o CPF, </a:t>
            </a:r>
            <a:r>
              <a:rPr lang="en-US" dirty="0" err="1" smtClean="0"/>
              <a:t>este</a:t>
            </a:r>
            <a:r>
              <a:rPr lang="en-US" dirty="0" smtClean="0"/>
              <a:t> </a:t>
            </a:r>
            <a:r>
              <a:rPr lang="en-US" dirty="0" err="1" smtClean="0"/>
              <a:t>deve</a:t>
            </a:r>
            <a:r>
              <a:rPr lang="en-US" dirty="0" smtClean="0"/>
              <a:t> ser </a:t>
            </a:r>
            <a:r>
              <a:rPr lang="en-US" dirty="0" err="1" smtClean="0"/>
              <a:t>automaticamente</a:t>
            </a:r>
            <a:r>
              <a:rPr lang="en-US" dirty="0" smtClean="0"/>
              <a:t> </a:t>
            </a:r>
            <a:r>
              <a:rPr lang="en-US" dirty="0" err="1" smtClean="0"/>
              <a:t>validado</a:t>
            </a:r>
            <a:r>
              <a:rPr lang="en-US" dirty="0" smtClean="0"/>
              <a:t> </a:t>
            </a:r>
            <a:r>
              <a:rPr lang="en-US" dirty="0" err="1" smtClean="0"/>
              <a:t>pelo</a:t>
            </a:r>
            <a:r>
              <a:rPr lang="en-US" dirty="0" smtClean="0"/>
              <a:t> software.</a:t>
            </a:r>
          </a:p>
          <a:p>
            <a:r>
              <a:rPr lang="pt-BR" dirty="0" smtClean="0"/>
              <a:t>O campo data deve estar no formato DD/MM/AAAA</a:t>
            </a:r>
          </a:p>
          <a:p>
            <a:endParaRPr lang="pt-BR" dirty="0" smtClean="0"/>
          </a:p>
          <a:p>
            <a:endParaRPr lang="pt-BR"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Classificação de requisitos</a:t>
            </a:r>
            <a:endParaRPr lang="pt-BR" dirty="0"/>
          </a:p>
        </p:txBody>
      </p:sp>
      <p:sp>
        <p:nvSpPr>
          <p:cNvPr id="3" name="Espaço Reservado para Conteúdo 2"/>
          <p:cNvSpPr>
            <a:spLocks noGrp="1"/>
          </p:cNvSpPr>
          <p:nvPr>
            <p:ph idx="1"/>
          </p:nvPr>
        </p:nvSpPr>
        <p:spPr/>
        <p:txBody>
          <a:bodyPr>
            <a:normAutofit fontScale="92500"/>
          </a:bodyPr>
          <a:lstStyle/>
          <a:p>
            <a:r>
              <a:rPr lang="pt-BR" dirty="0" smtClean="0"/>
              <a:t>Funcionais: declarações sobre</a:t>
            </a:r>
          </a:p>
          <a:p>
            <a:pPr lvl="1"/>
            <a:r>
              <a:rPr lang="pt-BR" dirty="0" smtClean="0"/>
              <a:t>O que o software deve fazer (e o que não deve fazer)</a:t>
            </a:r>
          </a:p>
          <a:p>
            <a:pPr lvl="1"/>
            <a:r>
              <a:rPr lang="pt-BR" dirty="0" smtClean="0"/>
              <a:t>Como o software deve reagir a entradas específicas.</a:t>
            </a:r>
          </a:p>
          <a:p>
            <a:r>
              <a:rPr lang="pt-BR" dirty="0" smtClean="0"/>
              <a:t>Não funcionais: restrições sobre as funções oferecidas pelo software</a:t>
            </a:r>
          </a:p>
          <a:p>
            <a:r>
              <a:rPr lang="pt-BR" dirty="0" smtClean="0"/>
              <a:t>Domínio: </a:t>
            </a:r>
          </a:p>
          <a:p>
            <a:pPr lvl="1"/>
            <a:r>
              <a:rPr lang="pt-BR" dirty="0" smtClean="0"/>
              <a:t>Refletem características de um domínio. </a:t>
            </a:r>
          </a:p>
          <a:p>
            <a:pPr lvl="1"/>
            <a:r>
              <a:rPr lang="pt-BR" dirty="0" smtClean="0"/>
              <a:t>Podem ser funcionais ou não-funcionais.</a:t>
            </a:r>
          </a:p>
          <a:p>
            <a:endParaRPr lang="pt-BR"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Ex. Requisitos funcionais</a:t>
            </a:r>
            <a:endParaRPr lang="pt-BR" dirty="0"/>
          </a:p>
        </p:txBody>
      </p:sp>
      <p:sp>
        <p:nvSpPr>
          <p:cNvPr id="3" name="Espaço Reservado para Conteúdo 2"/>
          <p:cNvSpPr>
            <a:spLocks noGrp="1"/>
          </p:cNvSpPr>
          <p:nvPr>
            <p:ph idx="1"/>
          </p:nvPr>
        </p:nvSpPr>
        <p:spPr/>
        <p:txBody>
          <a:bodyPr/>
          <a:lstStyle/>
          <a:p>
            <a:r>
              <a:rPr lang="pt-BR" dirty="0" smtClean="0"/>
              <a:t>O usuário deverá ser capaz de pesquisar todos os boletos não pagos nos últimos 30 dias.</a:t>
            </a:r>
          </a:p>
          <a:p>
            <a:r>
              <a:rPr lang="pt-BR" dirty="0" smtClean="0"/>
              <a:t>O software fornecerá telas apropriadas para o usuário ler documentos do repositório de documentos</a:t>
            </a:r>
          </a:p>
          <a:p>
            <a:r>
              <a:rPr lang="pt-BR" dirty="0" smtClean="0"/>
              <a:t>Cada pedido será alocado a um único identificador</a:t>
            </a:r>
          </a:p>
          <a:p>
            <a:endParaRPr lang="pt-BR"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Sobre os requisitos funcionais</a:t>
            </a:r>
            <a:endParaRPr lang="pt-BR" dirty="0"/>
          </a:p>
        </p:txBody>
      </p:sp>
      <p:sp>
        <p:nvSpPr>
          <p:cNvPr id="3" name="Espaço Reservado para Conteúdo 2"/>
          <p:cNvSpPr>
            <a:spLocks noGrp="1"/>
          </p:cNvSpPr>
          <p:nvPr>
            <p:ph idx="1"/>
          </p:nvPr>
        </p:nvSpPr>
        <p:spPr/>
        <p:txBody>
          <a:bodyPr>
            <a:normAutofit/>
          </a:bodyPr>
          <a:lstStyle/>
          <a:p>
            <a:r>
              <a:rPr lang="pt-BR" dirty="0" smtClean="0"/>
              <a:t>Podem (e devem) ser escritos em diferentes níveis de abstração.</a:t>
            </a:r>
          </a:p>
          <a:p>
            <a:r>
              <a:rPr lang="pt-BR" dirty="0" smtClean="0"/>
              <a:t>Deve-se evitar ambiguidades. </a:t>
            </a:r>
          </a:p>
          <a:p>
            <a:pPr lvl="1"/>
            <a:r>
              <a:rPr lang="pt-BR" dirty="0" smtClean="0"/>
              <a:t>Ex. O que são “telas apropriadas” ? </a:t>
            </a:r>
          </a:p>
          <a:p>
            <a:endParaRPr lang="pt-BR"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Sobre os requisitos funcionais</a:t>
            </a:r>
            <a:endParaRPr lang="pt-BR" dirty="0"/>
          </a:p>
        </p:txBody>
      </p:sp>
      <p:sp>
        <p:nvSpPr>
          <p:cNvPr id="3" name="Espaço Reservado para Conteúdo 2"/>
          <p:cNvSpPr>
            <a:spLocks noGrp="1"/>
          </p:cNvSpPr>
          <p:nvPr>
            <p:ph idx="1"/>
          </p:nvPr>
        </p:nvSpPr>
        <p:spPr/>
        <p:txBody>
          <a:bodyPr>
            <a:normAutofit/>
          </a:bodyPr>
          <a:lstStyle/>
          <a:p>
            <a:r>
              <a:rPr lang="pt-BR" dirty="0" smtClean="0"/>
              <a:t>A especificação deve ser: </a:t>
            </a:r>
          </a:p>
          <a:p>
            <a:pPr lvl="1"/>
            <a:r>
              <a:rPr lang="pt-BR" dirty="0" smtClean="0"/>
              <a:t>Completa: todas as funções requeridas devem estar definidas</a:t>
            </a:r>
          </a:p>
          <a:p>
            <a:pPr lvl="1"/>
            <a:r>
              <a:rPr lang="pt-BR" dirty="0" smtClean="0"/>
              <a:t>Consistente: requisitos não podem ter definições contraditórias</a:t>
            </a:r>
          </a:p>
          <a:p>
            <a:endParaRPr lang="pt-BR"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Sobre requisitos não-funcionais</a:t>
            </a:r>
            <a:endParaRPr lang="pt-BR" dirty="0"/>
          </a:p>
        </p:txBody>
      </p:sp>
      <p:sp>
        <p:nvSpPr>
          <p:cNvPr id="3" name="Espaço Reservado para Conteúdo 2"/>
          <p:cNvSpPr>
            <a:spLocks noGrp="1"/>
          </p:cNvSpPr>
          <p:nvPr>
            <p:ph idx="1"/>
          </p:nvPr>
        </p:nvSpPr>
        <p:spPr>
          <a:xfrm>
            <a:off x="251520" y="1600200"/>
            <a:ext cx="8640960" cy="4525963"/>
          </a:xfrm>
        </p:spPr>
        <p:txBody>
          <a:bodyPr>
            <a:normAutofit/>
          </a:bodyPr>
          <a:lstStyle/>
          <a:p>
            <a:r>
              <a:rPr lang="pt-BR" sz="2800" dirty="0" smtClean="0"/>
              <a:t>Não dizem respeito diretamente às funções do software</a:t>
            </a:r>
          </a:p>
          <a:p>
            <a:r>
              <a:rPr lang="pt-BR" sz="2800" dirty="0" smtClean="0"/>
              <a:t>Estão relacionados a propriedades emergentes</a:t>
            </a:r>
          </a:p>
          <a:p>
            <a:r>
              <a:rPr lang="pt-BR" sz="2800" dirty="0" smtClean="0"/>
              <a:t>Relativos a um conjunto do sistema, e não a partes dele</a:t>
            </a:r>
          </a:p>
          <a:p>
            <a:pPr lvl="1"/>
            <a:r>
              <a:rPr lang="pt-BR" sz="2400" dirty="0" smtClean="0"/>
              <a:t>Ex. confiabilidade, desempenho, segurança</a:t>
            </a:r>
          </a:p>
          <a:p>
            <a:r>
              <a:rPr lang="pt-BR" sz="2800" dirty="0" smtClean="0"/>
              <a:t>Devem ser quantificados na especificação de requisitos</a:t>
            </a:r>
          </a:p>
          <a:p>
            <a:pPr lvl="1"/>
            <a:r>
              <a:rPr lang="en-US" sz="2400" dirty="0" err="1" smtClean="0"/>
              <a:t>Somente</a:t>
            </a:r>
            <a:r>
              <a:rPr lang="en-US" sz="2400" dirty="0" smtClean="0"/>
              <a:t> </a:t>
            </a:r>
            <a:r>
              <a:rPr lang="en-US" sz="2400" dirty="0" err="1" smtClean="0"/>
              <a:t>assim</a:t>
            </a:r>
            <a:r>
              <a:rPr lang="en-US" sz="2400" dirty="0" smtClean="0"/>
              <a:t> </a:t>
            </a:r>
            <a:r>
              <a:rPr lang="en-US" sz="2400" dirty="0" err="1" smtClean="0"/>
              <a:t>podem</a:t>
            </a:r>
            <a:r>
              <a:rPr lang="en-US" sz="2400" dirty="0" smtClean="0"/>
              <a:t> ser </a:t>
            </a:r>
            <a:r>
              <a:rPr lang="en-US" sz="2400" dirty="0" err="1" smtClean="0"/>
              <a:t>testados</a:t>
            </a:r>
            <a:endParaRPr lang="pt-BR" sz="2400" dirty="0" smtClean="0"/>
          </a:p>
          <a:p>
            <a:endParaRPr lang="pt-BR"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n-US" dirty="0" err="1" smtClean="0"/>
              <a:t>Problemas</a:t>
            </a:r>
            <a:r>
              <a:rPr lang="en-US" dirty="0" smtClean="0"/>
              <a:t> </a:t>
            </a:r>
            <a:r>
              <a:rPr lang="en-US" dirty="0" err="1" smtClean="0"/>
              <a:t>na</a:t>
            </a:r>
            <a:r>
              <a:rPr lang="en-US" dirty="0" smtClean="0"/>
              <a:t> </a:t>
            </a:r>
            <a:r>
              <a:rPr lang="en-US" dirty="0" err="1" smtClean="0"/>
              <a:t>escrita</a:t>
            </a:r>
            <a:r>
              <a:rPr lang="en-US" dirty="0" smtClean="0"/>
              <a:t> de </a:t>
            </a:r>
            <a:r>
              <a:rPr lang="en-US" dirty="0" err="1" smtClean="0"/>
              <a:t>requisitos</a:t>
            </a:r>
            <a:endParaRPr lang="pt-BR" dirty="0"/>
          </a:p>
        </p:txBody>
      </p:sp>
      <p:sp>
        <p:nvSpPr>
          <p:cNvPr id="3" name="Espaço Reservado para Conteúdo 2"/>
          <p:cNvSpPr>
            <a:spLocks noGrp="1"/>
          </p:cNvSpPr>
          <p:nvPr>
            <p:ph idx="1"/>
          </p:nvPr>
        </p:nvSpPr>
        <p:spPr>
          <a:xfrm>
            <a:off x="457200" y="1600200"/>
            <a:ext cx="8435280" cy="4525963"/>
          </a:xfrm>
        </p:spPr>
        <p:txBody>
          <a:bodyPr>
            <a:normAutofit/>
          </a:bodyPr>
          <a:lstStyle/>
          <a:p>
            <a:pPr>
              <a:buNone/>
            </a:pPr>
            <a:r>
              <a:rPr lang="en-US" sz="2400" dirty="0" smtClean="0"/>
              <a:t>1a) O software </a:t>
            </a:r>
            <a:r>
              <a:rPr lang="en-US" sz="2400" dirty="0" err="1" smtClean="0"/>
              <a:t>deve</a:t>
            </a:r>
            <a:r>
              <a:rPr lang="en-US" sz="2400" dirty="0" smtClean="0"/>
              <a:t> </a:t>
            </a:r>
            <a:r>
              <a:rPr lang="en-US" sz="2400" dirty="0" err="1" smtClean="0"/>
              <a:t>gerar</a:t>
            </a:r>
            <a:r>
              <a:rPr lang="en-US" sz="2400" dirty="0" smtClean="0"/>
              <a:t> o </a:t>
            </a:r>
            <a:r>
              <a:rPr lang="en-US" sz="2400" dirty="0" err="1" smtClean="0"/>
              <a:t>boleto</a:t>
            </a:r>
            <a:r>
              <a:rPr lang="en-US" sz="2400" dirty="0" smtClean="0"/>
              <a:t> a ser </a:t>
            </a:r>
            <a:r>
              <a:rPr lang="en-US" sz="2400" dirty="0" err="1" smtClean="0"/>
              <a:t>pago</a:t>
            </a:r>
            <a:r>
              <a:rPr lang="en-US" sz="2400" dirty="0" smtClean="0"/>
              <a:t> de forma </a:t>
            </a:r>
            <a:r>
              <a:rPr lang="en-US" sz="2400" dirty="0" err="1" smtClean="0"/>
              <a:t>rápida</a:t>
            </a:r>
            <a:r>
              <a:rPr lang="en-US" sz="2400" dirty="0" smtClean="0"/>
              <a:t>.</a:t>
            </a:r>
          </a:p>
          <a:p>
            <a:pPr>
              <a:buNone/>
            </a:pPr>
            <a:r>
              <a:rPr lang="en-US" sz="2400" dirty="0" smtClean="0"/>
              <a:t>1b) O software </a:t>
            </a:r>
            <a:r>
              <a:rPr lang="en-US" sz="2400" dirty="0" err="1" smtClean="0"/>
              <a:t>deve</a:t>
            </a:r>
            <a:r>
              <a:rPr lang="en-US" sz="2400" dirty="0" smtClean="0"/>
              <a:t> </a:t>
            </a:r>
            <a:r>
              <a:rPr lang="en-US" sz="2400" dirty="0" err="1" smtClean="0"/>
              <a:t>gerar</a:t>
            </a:r>
            <a:r>
              <a:rPr lang="en-US" sz="2400" dirty="0" smtClean="0"/>
              <a:t> o </a:t>
            </a:r>
            <a:r>
              <a:rPr lang="en-US" sz="2400" dirty="0" err="1" smtClean="0"/>
              <a:t>boleto</a:t>
            </a:r>
            <a:r>
              <a:rPr lang="en-US" sz="2400" dirty="0" smtClean="0"/>
              <a:t> a ser </a:t>
            </a:r>
            <a:r>
              <a:rPr lang="en-US" sz="2400" dirty="0" err="1" smtClean="0"/>
              <a:t>pago</a:t>
            </a:r>
            <a:r>
              <a:rPr lang="en-US" sz="2400" dirty="0" smtClean="0"/>
              <a:t> o </a:t>
            </a:r>
            <a:r>
              <a:rPr lang="en-US" sz="2400" dirty="0" err="1" smtClean="0"/>
              <a:t>mais</a:t>
            </a:r>
            <a:r>
              <a:rPr lang="en-US" sz="2400" dirty="0" smtClean="0"/>
              <a:t> </a:t>
            </a:r>
            <a:r>
              <a:rPr lang="en-US" sz="2400" dirty="0" err="1" smtClean="0"/>
              <a:t>rápido</a:t>
            </a:r>
            <a:r>
              <a:rPr lang="en-US" sz="2400" dirty="0" smtClean="0"/>
              <a:t> </a:t>
            </a:r>
            <a:r>
              <a:rPr lang="en-US" sz="2400" dirty="0" err="1" smtClean="0"/>
              <a:t>possível</a:t>
            </a:r>
            <a:r>
              <a:rPr lang="en-US" sz="2400" dirty="0" smtClean="0"/>
              <a:t>.</a:t>
            </a:r>
          </a:p>
          <a:p>
            <a:pPr>
              <a:buNone/>
            </a:pPr>
            <a:r>
              <a:rPr lang="en-US" sz="2400" dirty="0" smtClean="0"/>
              <a:t>1c) O software </a:t>
            </a:r>
            <a:r>
              <a:rPr lang="en-US" sz="2400" dirty="0" err="1" smtClean="0"/>
              <a:t>deve</a:t>
            </a:r>
            <a:r>
              <a:rPr lang="en-US" sz="2400" dirty="0" smtClean="0"/>
              <a:t> </a:t>
            </a:r>
            <a:r>
              <a:rPr lang="en-US" sz="2400" dirty="0" err="1" smtClean="0"/>
              <a:t>gerar</a:t>
            </a:r>
            <a:r>
              <a:rPr lang="en-US" sz="2400" dirty="0" smtClean="0"/>
              <a:t> o </a:t>
            </a:r>
            <a:r>
              <a:rPr lang="en-US" sz="2400" dirty="0" err="1" smtClean="0"/>
              <a:t>boleto</a:t>
            </a:r>
            <a:r>
              <a:rPr lang="en-US" sz="2400" dirty="0" smtClean="0"/>
              <a:t> a ser </a:t>
            </a:r>
            <a:r>
              <a:rPr lang="en-US" sz="2400" dirty="0" err="1" smtClean="0"/>
              <a:t>pago</a:t>
            </a:r>
            <a:r>
              <a:rPr lang="en-US" sz="2400" dirty="0" smtClean="0"/>
              <a:t> </a:t>
            </a:r>
            <a:r>
              <a:rPr lang="en-US" sz="2400" dirty="0" err="1" smtClean="0"/>
              <a:t>instantaneamente</a:t>
            </a:r>
            <a:r>
              <a:rPr lang="en-US" sz="2400" dirty="0" smtClean="0"/>
              <a:t>.</a:t>
            </a:r>
          </a:p>
          <a:p>
            <a:endParaRPr lang="en-US" dirty="0" smtClean="0"/>
          </a:p>
          <a:p>
            <a:endParaRPr lang="en-US" dirty="0" smtClean="0"/>
          </a:p>
          <a:p>
            <a:endParaRPr lang="en-US" dirty="0"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n-US" dirty="0" err="1" smtClean="0"/>
              <a:t>Problemas</a:t>
            </a:r>
            <a:r>
              <a:rPr lang="en-US" dirty="0" smtClean="0"/>
              <a:t> </a:t>
            </a:r>
            <a:r>
              <a:rPr lang="en-US" dirty="0" err="1" smtClean="0"/>
              <a:t>na</a:t>
            </a:r>
            <a:r>
              <a:rPr lang="en-US" dirty="0" smtClean="0"/>
              <a:t> </a:t>
            </a:r>
            <a:r>
              <a:rPr lang="en-US" dirty="0" err="1" smtClean="0"/>
              <a:t>escrita</a:t>
            </a:r>
            <a:r>
              <a:rPr lang="en-US" dirty="0" smtClean="0"/>
              <a:t> de </a:t>
            </a:r>
            <a:r>
              <a:rPr lang="en-US" dirty="0" err="1" smtClean="0"/>
              <a:t>requisitos</a:t>
            </a:r>
            <a:endParaRPr lang="pt-BR" dirty="0"/>
          </a:p>
        </p:txBody>
      </p:sp>
      <p:sp>
        <p:nvSpPr>
          <p:cNvPr id="3" name="Espaço Reservado para Conteúdo 2"/>
          <p:cNvSpPr>
            <a:spLocks noGrp="1"/>
          </p:cNvSpPr>
          <p:nvPr>
            <p:ph idx="1"/>
          </p:nvPr>
        </p:nvSpPr>
        <p:spPr>
          <a:xfrm>
            <a:off x="457200" y="1600200"/>
            <a:ext cx="8435280" cy="4525963"/>
          </a:xfrm>
        </p:spPr>
        <p:txBody>
          <a:bodyPr>
            <a:normAutofit/>
          </a:bodyPr>
          <a:lstStyle/>
          <a:p>
            <a:pPr>
              <a:buNone/>
            </a:pPr>
            <a:r>
              <a:rPr lang="en-US" sz="2400" dirty="0" smtClean="0"/>
              <a:t>1d) O software </a:t>
            </a:r>
            <a:r>
              <a:rPr lang="en-US" sz="2400" dirty="0" err="1" smtClean="0"/>
              <a:t>deve</a:t>
            </a:r>
            <a:r>
              <a:rPr lang="en-US" sz="2400" dirty="0" smtClean="0"/>
              <a:t> </a:t>
            </a:r>
            <a:r>
              <a:rPr lang="en-US" sz="2400" dirty="0" err="1" smtClean="0"/>
              <a:t>gerar</a:t>
            </a:r>
            <a:r>
              <a:rPr lang="en-US" sz="2400" dirty="0" smtClean="0"/>
              <a:t> o </a:t>
            </a:r>
            <a:r>
              <a:rPr lang="en-US" sz="2400" dirty="0" err="1" smtClean="0"/>
              <a:t>boleto</a:t>
            </a:r>
            <a:r>
              <a:rPr lang="en-US" sz="2400" dirty="0" smtClean="0"/>
              <a:t> </a:t>
            </a:r>
            <a:r>
              <a:rPr lang="en-US" sz="2400" dirty="0" err="1" smtClean="0"/>
              <a:t>em</a:t>
            </a:r>
            <a:r>
              <a:rPr lang="en-US" sz="2400" dirty="0" smtClean="0"/>
              <a:t> no </a:t>
            </a:r>
            <a:r>
              <a:rPr lang="en-US" sz="2400" dirty="0" err="1" smtClean="0"/>
              <a:t>máximo</a:t>
            </a:r>
            <a:r>
              <a:rPr lang="en-US" sz="2400" dirty="0" smtClean="0"/>
              <a:t> 5 </a:t>
            </a:r>
            <a:r>
              <a:rPr lang="en-US" sz="2400" dirty="0" err="1" smtClean="0"/>
              <a:t>segundos</a:t>
            </a:r>
            <a:r>
              <a:rPr lang="en-US" sz="2400" dirty="0" smtClean="0"/>
              <a:t>.</a:t>
            </a:r>
          </a:p>
          <a:p>
            <a:pPr>
              <a:buNone/>
            </a:pPr>
            <a:r>
              <a:rPr lang="en-US" sz="2400" b="1" dirty="0" smtClean="0"/>
              <a:t>1e) O software </a:t>
            </a:r>
            <a:r>
              <a:rPr lang="en-US" sz="2400" b="1" dirty="0" err="1" smtClean="0"/>
              <a:t>deve</a:t>
            </a:r>
            <a:r>
              <a:rPr lang="en-US" sz="2400" b="1" dirty="0" smtClean="0"/>
              <a:t> </a:t>
            </a:r>
            <a:r>
              <a:rPr lang="en-US" sz="2400" b="1" dirty="0" err="1" smtClean="0"/>
              <a:t>gerar</a:t>
            </a:r>
            <a:r>
              <a:rPr lang="en-US" sz="2400" b="1" dirty="0" smtClean="0"/>
              <a:t> o </a:t>
            </a:r>
            <a:r>
              <a:rPr lang="en-US" sz="2400" b="1" dirty="0" err="1" smtClean="0"/>
              <a:t>boleto</a:t>
            </a:r>
            <a:r>
              <a:rPr lang="en-US" sz="2400" b="1" dirty="0" smtClean="0"/>
              <a:t> </a:t>
            </a:r>
            <a:r>
              <a:rPr lang="en-US" sz="2400" b="1" dirty="0" err="1" smtClean="0"/>
              <a:t>em</a:t>
            </a:r>
            <a:r>
              <a:rPr lang="en-US" sz="2400" b="1" dirty="0" smtClean="0"/>
              <a:t> no </a:t>
            </a:r>
            <a:r>
              <a:rPr lang="en-US" sz="2400" b="1" dirty="0" err="1" smtClean="0"/>
              <a:t>máximo</a:t>
            </a:r>
            <a:r>
              <a:rPr lang="en-US" sz="2400" b="1" dirty="0" smtClean="0"/>
              <a:t> 5 </a:t>
            </a:r>
            <a:r>
              <a:rPr lang="en-US" sz="2400" b="1" dirty="0" err="1" smtClean="0"/>
              <a:t>segundos</a:t>
            </a:r>
            <a:r>
              <a:rPr lang="en-US" sz="2400" b="1" dirty="0" smtClean="0"/>
              <a:t> </a:t>
            </a:r>
            <a:r>
              <a:rPr lang="en-US" sz="2400" b="1" dirty="0" err="1" smtClean="0"/>
              <a:t>em</a:t>
            </a:r>
            <a:r>
              <a:rPr lang="en-US" sz="2400" b="1" dirty="0" smtClean="0"/>
              <a:t> </a:t>
            </a:r>
            <a:r>
              <a:rPr lang="en-US" sz="2400" b="1" dirty="0" err="1" smtClean="0"/>
              <a:t>pelo</a:t>
            </a:r>
            <a:r>
              <a:rPr lang="en-US" sz="2400" b="1" dirty="0" smtClean="0"/>
              <a:t> </a:t>
            </a:r>
            <a:r>
              <a:rPr lang="en-US" sz="2400" b="1" dirty="0" err="1" smtClean="0"/>
              <a:t>menos</a:t>
            </a:r>
            <a:r>
              <a:rPr lang="en-US" sz="2400" b="1" dirty="0" smtClean="0"/>
              <a:t> 90% dos </a:t>
            </a:r>
            <a:r>
              <a:rPr lang="en-US" sz="2400" b="1" dirty="0" err="1" smtClean="0"/>
              <a:t>pedidos</a:t>
            </a:r>
            <a:r>
              <a:rPr lang="en-US" sz="2400" b="1" dirty="0" smtClean="0"/>
              <a:t>.</a:t>
            </a:r>
          </a:p>
          <a:p>
            <a:pPr>
              <a:buNone/>
            </a:pPr>
            <a:r>
              <a:rPr lang="en-US" sz="2400" b="1" dirty="0" smtClean="0"/>
              <a:t>1f) O software </a:t>
            </a:r>
            <a:r>
              <a:rPr lang="en-US" sz="2400" b="1" dirty="0" err="1" smtClean="0"/>
              <a:t>deve</a:t>
            </a:r>
            <a:r>
              <a:rPr lang="en-US" sz="2400" b="1" dirty="0" smtClean="0"/>
              <a:t> </a:t>
            </a:r>
            <a:r>
              <a:rPr lang="en-US" sz="2400" b="1" dirty="0" err="1" smtClean="0"/>
              <a:t>gerar</a:t>
            </a:r>
            <a:r>
              <a:rPr lang="en-US" sz="2400" b="1" dirty="0" smtClean="0"/>
              <a:t> o </a:t>
            </a:r>
            <a:r>
              <a:rPr lang="en-US" sz="2400" b="1" dirty="0" err="1" smtClean="0"/>
              <a:t>boleto</a:t>
            </a:r>
            <a:r>
              <a:rPr lang="en-US" sz="2400" b="1" dirty="0" smtClean="0"/>
              <a:t> </a:t>
            </a:r>
            <a:r>
              <a:rPr lang="en-US" sz="2400" b="1" dirty="0" err="1" smtClean="0"/>
              <a:t>em</a:t>
            </a:r>
            <a:r>
              <a:rPr lang="en-US" sz="2400" b="1" dirty="0" smtClean="0"/>
              <a:t> no </a:t>
            </a:r>
            <a:r>
              <a:rPr lang="en-US" sz="2400" b="1" dirty="0" err="1" smtClean="0"/>
              <a:t>máximo</a:t>
            </a:r>
            <a:r>
              <a:rPr lang="en-US" sz="2400" b="1" dirty="0" smtClean="0"/>
              <a:t> 5 </a:t>
            </a:r>
            <a:r>
              <a:rPr lang="en-US" sz="2400" b="1" dirty="0" err="1" smtClean="0"/>
              <a:t>segundos</a:t>
            </a:r>
            <a:r>
              <a:rPr lang="en-US" sz="2400" b="1" dirty="0" smtClean="0"/>
              <a:t> </a:t>
            </a:r>
            <a:r>
              <a:rPr lang="en-US" sz="2400" b="1" dirty="0" err="1" smtClean="0"/>
              <a:t>em</a:t>
            </a:r>
            <a:r>
              <a:rPr lang="en-US" sz="2400" b="1" dirty="0" smtClean="0"/>
              <a:t> </a:t>
            </a:r>
            <a:r>
              <a:rPr lang="en-US" sz="2400" b="1" dirty="0" err="1" smtClean="0"/>
              <a:t>pelo</a:t>
            </a:r>
            <a:r>
              <a:rPr lang="en-US" sz="2400" b="1" dirty="0" smtClean="0"/>
              <a:t> </a:t>
            </a:r>
            <a:r>
              <a:rPr lang="en-US" sz="2400" b="1" dirty="0" err="1" smtClean="0"/>
              <a:t>menos</a:t>
            </a:r>
            <a:r>
              <a:rPr lang="en-US" sz="2400" b="1" dirty="0" smtClean="0"/>
              <a:t> 90% dos </a:t>
            </a:r>
            <a:r>
              <a:rPr lang="en-US" sz="2400" b="1" dirty="0" err="1" smtClean="0"/>
              <a:t>pedidos</a:t>
            </a:r>
            <a:r>
              <a:rPr lang="en-US" sz="2400" b="1" dirty="0" smtClean="0"/>
              <a:t>, e </a:t>
            </a:r>
            <a:r>
              <a:rPr lang="en-US" sz="2400" b="1" dirty="0" err="1" smtClean="0"/>
              <a:t>em</a:t>
            </a:r>
            <a:r>
              <a:rPr lang="en-US" sz="2400" b="1" dirty="0" smtClean="0"/>
              <a:t> no </a:t>
            </a:r>
            <a:r>
              <a:rPr lang="en-US" sz="2400" b="1" dirty="0" err="1" smtClean="0"/>
              <a:t>máximo</a:t>
            </a:r>
            <a:r>
              <a:rPr lang="en-US" sz="2400" b="1" dirty="0" smtClean="0"/>
              <a:t> 10 </a:t>
            </a:r>
            <a:r>
              <a:rPr lang="en-US" sz="2400" b="1" dirty="0" err="1" smtClean="0"/>
              <a:t>segundos</a:t>
            </a:r>
            <a:r>
              <a:rPr lang="en-US" sz="2400" b="1" dirty="0" smtClean="0"/>
              <a:t> </a:t>
            </a:r>
            <a:r>
              <a:rPr lang="en-US" sz="2400" b="1" dirty="0" err="1" smtClean="0"/>
              <a:t>em</a:t>
            </a:r>
            <a:r>
              <a:rPr lang="en-US" sz="2400" b="1" dirty="0" smtClean="0"/>
              <a:t> 100% dos </a:t>
            </a:r>
            <a:r>
              <a:rPr lang="en-US" sz="2400" b="1" dirty="0" err="1" smtClean="0"/>
              <a:t>pedidos</a:t>
            </a:r>
            <a:r>
              <a:rPr lang="en-US" sz="2400" b="1" dirty="0" smtClean="0"/>
              <a:t>.</a:t>
            </a:r>
          </a:p>
          <a:p>
            <a:endParaRPr lang="en-US" dirty="0" smtClean="0"/>
          </a:p>
          <a:p>
            <a:endParaRPr lang="en-US" dirty="0" smtClean="0"/>
          </a:p>
          <a:p>
            <a:endParaRPr lang="en-US" dirty="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n-US" dirty="0" err="1" smtClean="0"/>
              <a:t>Requisitos</a:t>
            </a:r>
            <a:r>
              <a:rPr lang="en-US" dirty="0" smtClean="0"/>
              <a:t> </a:t>
            </a:r>
            <a:r>
              <a:rPr lang="en-US" dirty="0" err="1" smtClean="0"/>
              <a:t>não-funcionais</a:t>
            </a:r>
            <a:r>
              <a:rPr lang="en-US" dirty="0" smtClean="0"/>
              <a:t> - </a:t>
            </a:r>
            <a:r>
              <a:rPr lang="en-US" dirty="0" err="1" smtClean="0"/>
              <a:t>Exercício</a:t>
            </a:r>
            <a:endParaRPr lang="pt-BR" dirty="0"/>
          </a:p>
        </p:txBody>
      </p:sp>
      <p:sp>
        <p:nvSpPr>
          <p:cNvPr id="3" name="Espaço Reservado para Conteúdo 2"/>
          <p:cNvSpPr>
            <a:spLocks noGrp="1"/>
          </p:cNvSpPr>
          <p:nvPr>
            <p:ph idx="1"/>
          </p:nvPr>
        </p:nvSpPr>
        <p:spPr/>
        <p:txBody>
          <a:bodyPr/>
          <a:lstStyle/>
          <a:p>
            <a:r>
              <a:rPr lang="en-US" dirty="0" err="1" smtClean="0"/>
              <a:t>Reescreva</a:t>
            </a:r>
            <a:r>
              <a:rPr lang="en-US" dirty="0" smtClean="0"/>
              <a:t> </a:t>
            </a:r>
            <a:r>
              <a:rPr lang="en-US" dirty="0" err="1" smtClean="0"/>
              <a:t>corretamente</a:t>
            </a:r>
            <a:r>
              <a:rPr lang="en-US" dirty="0" smtClean="0"/>
              <a:t> o </a:t>
            </a:r>
            <a:r>
              <a:rPr lang="en-US" dirty="0" err="1" smtClean="0"/>
              <a:t>seguinte</a:t>
            </a:r>
            <a:r>
              <a:rPr lang="en-US" dirty="0" smtClean="0"/>
              <a:t> </a:t>
            </a:r>
            <a:r>
              <a:rPr lang="en-US" dirty="0" err="1" smtClean="0"/>
              <a:t>requisito</a:t>
            </a:r>
            <a:r>
              <a:rPr lang="en-US" dirty="0" smtClean="0"/>
              <a:t>:</a:t>
            </a:r>
          </a:p>
          <a:p>
            <a:endParaRPr lang="en-US" dirty="0" smtClean="0"/>
          </a:p>
          <a:p>
            <a:r>
              <a:rPr lang="en-US" i="1" dirty="0" smtClean="0"/>
              <a:t>O </a:t>
            </a:r>
            <a:r>
              <a:rPr lang="en-US" i="1" dirty="0" err="1" smtClean="0"/>
              <a:t>sistema</a:t>
            </a:r>
            <a:r>
              <a:rPr lang="en-US" i="1" dirty="0" smtClean="0"/>
              <a:t> </a:t>
            </a:r>
            <a:r>
              <a:rPr lang="en-US" i="1" dirty="0" err="1" smtClean="0"/>
              <a:t>deve</a:t>
            </a:r>
            <a:r>
              <a:rPr lang="en-US" i="1" dirty="0" smtClean="0"/>
              <a:t> ser de </a:t>
            </a:r>
            <a:r>
              <a:rPr lang="en-US" i="1" dirty="0" err="1" smtClean="0"/>
              <a:t>fácil</a:t>
            </a:r>
            <a:r>
              <a:rPr lang="en-US" i="1" dirty="0" smtClean="0"/>
              <a:t> </a:t>
            </a:r>
            <a:r>
              <a:rPr lang="en-US" i="1" dirty="0" err="1" smtClean="0"/>
              <a:t>uso</a:t>
            </a:r>
            <a:r>
              <a:rPr lang="en-US" i="1" dirty="0" smtClean="0"/>
              <a:t> </a:t>
            </a:r>
            <a:r>
              <a:rPr lang="en-US" i="1" dirty="0" err="1" smtClean="0"/>
              <a:t>pelos</a:t>
            </a:r>
            <a:r>
              <a:rPr lang="en-US" i="1" dirty="0" smtClean="0"/>
              <a:t> </a:t>
            </a:r>
            <a:r>
              <a:rPr lang="en-US" i="1" dirty="0" err="1" smtClean="0"/>
              <a:t>médicos</a:t>
            </a:r>
            <a:r>
              <a:rPr lang="en-US" i="1" dirty="0" smtClean="0"/>
              <a:t> e </a:t>
            </a:r>
            <a:r>
              <a:rPr lang="en-US" i="1" dirty="0" err="1" smtClean="0"/>
              <a:t>deve</a:t>
            </a:r>
            <a:r>
              <a:rPr lang="en-US" i="1" dirty="0" smtClean="0"/>
              <a:t> ser </a:t>
            </a:r>
            <a:r>
              <a:rPr lang="en-US" i="1" dirty="0" err="1" smtClean="0"/>
              <a:t>organizado</a:t>
            </a:r>
            <a:r>
              <a:rPr lang="en-US" i="1" dirty="0" smtClean="0"/>
              <a:t> de forma </a:t>
            </a:r>
            <a:r>
              <a:rPr lang="en-US" i="1" dirty="0" err="1" smtClean="0"/>
              <a:t>que</a:t>
            </a:r>
            <a:r>
              <a:rPr lang="en-US" i="1" dirty="0" smtClean="0"/>
              <a:t> </a:t>
            </a:r>
            <a:r>
              <a:rPr lang="en-US" i="1" dirty="0" err="1" smtClean="0"/>
              <a:t>os</a:t>
            </a:r>
            <a:r>
              <a:rPr lang="en-US" i="1" dirty="0" smtClean="0"/>
              <a:t> </a:t>
            </a:r>
            <a:r>
              <a:rPr lang="en-US" i="1" dirty="0" err="1" smtClean="0"/>
              <a:t>erros</a:t>
            </a:r>
            <a:r>
              <a:rPr lang="en-US" i="1" dirty="0" smtClean="0"/>
              <a:t> </a:t>
            </a:r>
            <a:r>
              <a:rPr lang="en-US" i="1" dirty="0" err="1" smtClean="0"/>
              <a:t>sejam</a:t>
            </a:r>
            <a:r>
              <a:rPr lang="en-US" i="1" dirty="0" smtClean="0"/>
              <a:t> </a:t>
            </a:r>
            <a:r>
              <a:rPr lang="en-US" i="1" dirty="0" err="1" smtClean="0"/>
              <a:t>minimizados</a:t>
            </a:r>
            <a:r>
              <a:rPr lang="en-US" i="1" dirty="0" smtClean="0"/>
              <a:t>.</a:t>
            </a:r>
          </a:p>
          <a:p>
            <a:endParaRPr lang="pt-BR"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a:t>
            </a:r>
            <a:r>
              <a:rPr lang="pt-BR" dirty="0" err="1" smtClean="0"/>
              <a:t>ilities</a:t>
            </a:r>
            <a:endParaRPr lang="pt-BR" dirty="0"/>
          </a:p>
        </p:txBody>
      </p:sp>
      <p:sp>
        <p:nvSpPr>
          <p:cNvPr id="3" name="Espaço Reservado para Conteúdo 2"/>
          <p:cNvSpPr>
            <a:spLocks noGrp="1"/>
          </p:cNvSpPr>
          <p:nvPr>
            <p:ph idx="1"/>
          </p:nvPr>
        </p:nvSpPr>
        <p:spPr/>
        <p:txBody>
          <a:bodyPr>
            <a:normAutofit fontScale="77500" lnSpcReduction="20000"/>
          </a:bodyPr>
          <a:lstStyle/>
          <a:p>
            <a:r>
              <a:rPr lang="pt-BR" dirty="0" err="1" smtClean="0"/>
              <a:t>Accessibility</a:t>
            </a:r>
            <a:r>
              <a:rPr lang="pt-BR" dirty="0" smtClean="0"/>
              <a:t>, </a:t>
            </a:r>
            <a:r>
              <a:rPr lang="pt-BR" dirty="0" err="1" smtClean="0"/>
              <a:t>Administrability</a:t>
            </a:r>
            <a:r>
              <a:rPr lang="pt-BR" dirty="0" smtClean="0"/>
              <a:t>, </a:t>
            </a:r>
            <a:r>
              <a:rPr lang="pt-BR" dirty="0" err="1" smtClean="0"/>
              <a:t>Understandability</a:t>
            </a:r>
            <a:r>
              <a:rPr lang="pt-BR" dirty="0" smtClean="0"/>
              <a:t>, </a:t>
            </a:r>
            <a:r>
              <a:rPr lang="pt-BR" dirty="0" err="1" smtClean="0"/>
              <a:t>Generality</a:t>
            </a:r>
            <a:r>
              <a:rPr lang="pt-BR" dirty="0" smtClean="0"/>
              <a:t>, </a:t>
            </a:r>
            <a:r>
              <a:rPr lang="pt-BR" dirty="0" err="1" smtClean="0"/>
              <a:t>Operability</a:t>
            </a:r>
            <a:r>
              <a:rPr lang="pt-BR" dirty="0" smtClean="0"/>
              <a:t>, </a:t>
            </a:r>
            <a:r>
              <a:rPr lang="pt-BR" dirty="0" err="1" smtClean="0"/>
              <a:t>Simplicity</a:t>
            </a:r>
            <a:r>
              <a:rPr lang="pt-BR" dirty="0" smtClean="0"/>
              <a:t>, </a:t>
            </a:r>
            <a:r>
              <a:rPr lang="pt-BR" dirty="0" err="1" smtClean="0"/>
              <a:t>Mobility</a:t>
            </a:r>
            <a:r>
              <a:rPr lang="pt-BR" dirty="0" smtClean="0"/>
              <a:t>, </a:t>
            </a:r>
            <a:r>
              <a:rPr lang="pt-BR" dirty="0" err="1" smtClean="0"/>
              <a:t>Nomadicity</a:t>
            </a:r>
            <a:r>
              <a:rPr lang="pt-BR" dirty="0" smtClean="0"/>
              <a:t>, </a:t>
            </a:r>
            <a:r>
              <a:rPr lang="pt-BR" dirty="0" err="1" smtClean="0"/>
              <a:t>Portability</a:t>
            </a:r>
            <a:r>
              <a:rPr lang="pt-BR" dirty="0" smtClean="0"/>
              <a:t>, </a:t>
            </a:r>
            <a:r>
              <a:rPr lang="pt-BR" dirty="0" err="1" smtClean="0"/>
              <a:t>Accuracy</a:t>
            </a:r>
            <a:r>
              <a:rPr lang="pt-BR" dirty="0" smtClean="0"/>
              <a:t>, </a:t>
            </a:r>
            <a:r>
              <a:rPr lang="pt-BR" dirty="0" err="1" smtClean="0"/>
              <a:t>Efficiency</a:t>
            </a:r>
            <a:r>
              <a:rPr lang="pt-BR" dirty="0" smtClean="0"/>
              <a:t>, </a:t>
            </a:r>
            <a:r>
              <a:rPr lang="pt-BR" dirty="0" err="1" smtClean="0"/>
              <a:t>Footprint</a:t>
            </a:r>
            <a:r>
              <a:rPr lang="pt-BR" dirty="0" smtClean="0"/>
              <a:t>, </a:t>
            </a:r>
            <a:r>
              <a:rPr lang="pt-BR" dirty="0" err="1" smtClean="0"/>
              <a:t>Responsiveness</a:t>
            </a:r>
            <a:r>
              <a:rPr lang="pt-BR" dirty="0" smtClean="0"/>
              <a:t>, </a:t>
            </a:r>
            <a:r>
              <a:rPr lang="pt-BR" dirty="0" err="1" smtClean="0"/>
              <a:t>Scalability</a:t>
            </a:r>
            <a:r>
              <a:rPr lang="pt-BR" dirty="0" smtClean="0"/>
              <a:t>, </a:t>
            </a:r>
            <a:r>
              <a:rPr lang="pt-BR" dirty="0" err="1" smtClean="0"/>
              <a:t>Schedulability</a:t>
            </a:r>
            <a:r>
              <a:rPr lang="pt-BR" dirty="0" smtClean="0"/>
              <a:t>, </a:t>
            </a:r>
            <a:r>
              <a:rPr lang="pt-BR" dirty="0" err="1" smtClean="0"/>
              <a:t>Timeliness</a:t>
            </a:r>
            <a:r>
              <a:rPr lang="pt-BR" dirty="0" smtClean="0"/>
              <a:t>, CPU </a:t>
            </a:r>
            <a:r>
              <a:rPr lang="pt-BR" dirty="0" err="1" smtClean="0"/>
              <a:t>utilization</a:t>
            </a:r>
            <a:r>
              <a:rPr lang="pt-BR" dirty="0" smtClean="0"/>
              <a:t>, </a:t>
            </a:r>
            <a:r>
              <a:rPr lang="pt-BR" dirty="0" err="1" smtClean="0"/>
              <a:t>Latency</a:t>
            </a:r>
            <a:r>
              <a:rPr lang="pt-BR" dirty="0" smtClean="0"/>
              <a:t>, </a:t>
            </a:r>
            <a:r>
              <a:rPr lang="pt-BR" dirty="0" err="1" smtClean="0"/>
              <a:t>Throughput</a:t>
            </a:r>
            <a:r>
              <a:rPr lang="pt-BR" dirty="0" smtClean="0"/>
              <a:t>, </a:t>
            </a:r>
            <a:r>
              <a:rPr lang="pt-BR" dirty="0" err="1" smtClean="0"/>
              <a:t>Concurrency</a:t>
            </a:r>
            <a:r>
              <a:rPr lang="pt-BR" dirty="0" smtClean="0"/>
              <a:t>, </a:t>
            </a:r>
            <a:r>
              <a:rPr lang="pt-BR" dirty="0" err="1" smtClean="0"/>
              <a:t>Flexibility</a:t>
            </a:r>
            <a:r>
              <a:rPr lang="pt-BR" dirty="0" smtClean="0"/>
              <a:t>, </a:t>
            </a:r>
            <a:r>
              <a:rPr lang="pt-BR" dirty="0" err="1" smtClean="0"/>
              <a:t>Changeability</a:t>
            </a:r>
            <a:r>
              <a:rPr lang="pt-BR" dirty="0" smtClean="0"/>
              <a:t>, </a:t>
            </a:r>
            <a:r>
              <a:rPr lang="pt-BR" dirty="0" err="1" smtClean="0"/>
              <a:t>Evolvability</a:t>
            </a:r>
            <a:r>
              <a:rPr lang="pt-BR" dirty="0" smtClean="0"/>
              <a:t>, </a:t>
            </a:r>
            <a:r>
              <a:rPr lang="pt-BR" dirty="0" err="1" smtClean="0"/>
              <a:t>Extensibility</a:t>
            </a:r>
            <a:r>
              <a:rPr lang="pt-BR" dirty="0" smtClean="0"/>
              <a:t>, </a:t>
            </a:r>
            <a:r>
              <a:rPr lang="pt-BR" dirty="0" err="1" smtClean="0"/>
              <a:t>Modifiability</a:t>
            </a:r>
            <a:r>
              <a:rPr lang="pt-BR" dirty="0" smtClean="0"/>
              <a:t>, </a:t>
            </a:r>
            <a:r>
              <a:rPr lang="pt-BR" dirty="0" err="1" smtClean="0"/>
              <a:t>Tailorability</a:t>
            </a:r>
            <a:r>
              <a:rPr lang="pt-BR" dirty="0" smtClean="0"/>
              <a:t>, </a:t>
            </a:r>
            <a:r>
              <a:rPr lang="pt-BR" dirty="0" err="1" smtClean="0"/>
              <a:t>Upgradeability</a:t>
            </a:r>
            <a:r>
              <a:rPr lang="pt-BR" dirty="0" smtClean="0"/>
              <a:t>, </a:t>
            </a:r>
            <a:r>
              <a:rPr lang="pt-BR" dirty="0" err="1" smtClean="0"/>
              <a:t>Expandability</a:t>
            </a:r>
            <a:r>
              <a:rPr lang="pt-BR" dirty="0" smtClean="0"/>
              <a:t>, </a:t>
            </a:r>
            <a:r>
              <a:rPr lang="pt-BR" dirty="0" err="1" smtClean="0"/>
              <a:t>Consistency</a:t>
            </a:r>
            <a:r>
              <a:rPr lang="pt-BR" dirty="0" smtClean="0"/>
              <a:t>, </a:t>
            </a:r>
            <a:r>
              <a:rPr lang="pt-BR" dirty="0" err="1" smtClean="0"/>
              <a:t>Adaptability</a:t>
            </a:r>
            <a:r>
              <a:rPr lang="pt-BR" dirty="0" smtClean="0"/>
              <a:t>, </a:t>
            </a:r>
            <a:r>
              <a:rPr lang="pt-BR" dirty="0" err="1" smtClean="0"/>
              <a:t>Composability</a:t>
            </a:r>
            <a:r>
              <a:rPr lang="pt-BR" dirty="0" smtClean="0"/>
              <a:t>, </a:t>
            </a:r>
            <a:r>
              <a:rPr lang="pt-BR" dirty="0" err="1" smtClean="0"/>
              <a:t>Interoperability</a:t>
            </a:r>
            <a:r>
              <a:rPr lang="pt-BR" dirty="0" smtClean="0"/>
              <a:t>, </a:t>
            </a:r>
            <a:r>
              <a:rPr lang="pt-BR" dirty="0" err="1" smtClean="0"/>
              <a:t>Openness</a:t>
            </a:r>
            <a:r>
              <a:rPr lang="pt-BR" dirty="0" smtClean="0"/>
              <a:t>, </a:t>
            </a:r>
            <a:r>
              <a:rPr lang="pt-BR" dirty="0" err="1" smtClean="0"/>
              <a:t>Integrability</a:t>
            </a:r>
            <a:r>
              <a:rPr lang="pt-BR" dirty="0" smtClean="0"/>
              <a:t>, </a:t>
            </a:r>
            <a:r>
              <a:rPr lang="pt-BR" dirty="0" err="1" smtClean="0"/>
              <a:t>Accountability</a:t>
            </a:r>
            <a:r>
              <a:rPr lang="pt-BR" dirty="0" smtClean="0"/>
              <a:t>, </a:t>
            </a:r>
            <a:r>
              <a:rPr lang="pt-BR" dirty="0" err="1" smtClean="0"/>
              <a:t>Completeness</a:t>
            </a:r>
            <a:r>
              <a:rPr lang="pt-BR" dirty="0" smtClean="0"/>
              <a:t>, </a:t>
            </a:r>
            <a:r>
              <a:rPr lang="pt-BR" dirty="0" err="1" smtClean="0"/>
              <a:t>Conciseness</a:t>
            </a:r>
            <a:r>
              <a:rPr lang="pt-BR" dirty="0" smtClean="0"/>
              <a:t>, </a:t>
            </a:r>
            <a:r>
              <a:rPr lang="pt-BR" dirty="0" err="1" smtClean="0"/>
              <a:t>Correctness</a:t>
            </a:r>
            <a:r>
              <a:rPr lang="pt-BR" dirty="0" smtClean="0"/>
              <a:t>, </a:t>
            </a:r>
            <a:r>
              <a:rPr lang="pt-BR" dirty="0" err="1" smtClean="0"/>
              <a:t>Testability</a:t>
            </a:r>
            <a:r>
              <a:rPr lang="pt-BR" dirty="0" smtClean="0"/>
              <a:t>, </a:t>
            </a:r>
            <a:r>
              <a:rPr lang="pt-BR" dirty="0" err="1" smtClean="0"/>
              <a:t>Traceability</a:t>
            </a:r>
            <a:r>
              <a:rPr lang="pt-BR" dirty="0" smtClean="0"/>
              <a:t>, </a:t>
            </a:r>
            <a:r>
              <a:rPr lang="pt-BR" dirty="0" err="1" smtClean="0"/>
              <a:t>Coherence</a:t>
            </a:r>
            <a:r>
              <a:rPr lang="pt-BR" dirty="0" smtClean="0"/>
              <a:t>, </a:t>
            </a:r>
            <a:r>
              <a:rPr lang="pt-BR" dirty="0" err="1" smtClean="0"/>
              <a:t>Analyzability</a:t>
            </a:r>
            <a:r>
              <a:rPr lang="pt-BR" dirty="0" smtClean="0"/>
              <a:t>, </a:t>
            </a:r>
            <a:r>
              <a:rPr lang="pt-BR" dirty="0" err="1" smtClean="0"/>
              <a:t>Modularity</a:t>
            </a:r>
            <a:r>
              <a:rPr lang="pt-BR" dirty="0" smtClean="0"/>
              <a:t>, </a:t>
            </a:r>
            <a:r>
              <a:rPr lang="pt-BR" dirty="0" err="1" smtClean="0"/>
              <a:t>Reusability</a:t>
            </a:r>
            <a:r>
              <a:rPr lang="pt-BR" dirty="0" smtClean="0"/>
              <a:t>, </a:t>
            </a:r>
            <a:r>
              <a:rPr lang="pt-BR" dirty="0" err="1" smtClean="0"/>
              <a:t>Configurability</a:t>
            </a:r>
            <a:r>
              <a:rPr lang="pt-BR" dirty="0" smtClean="0"/>
              <a:t>, </a:t>
            </a:r>
            <a:r>
              <a:rPr lang="pt-BR" dirty="0" err="1" smtClean="0"/>
              <a:t>Distributeability</a:t>
            </a:r>
            <a:r>
              <a:rPr lang="pt-BR" dirty="0" smtClean="0"/>
              <a:t>, </a:t>
            </a:r>
            <a:r>
              <a:rPr lang="pt-BR" dirty="0" err="1" smtClean="0"/>
              <a:t>Availability</a:t>
            </a:r>
            <a:r>
              <a:rPr lang="pt-BR" dirty="0" smtClean="0"/>
              <a:t>, </a:t>
            </a:r>
            <a:r>
              <a:rPr lang="pt-BR" dirty="0" err="1" smtClean="0"/>
              <a:t>Confidentiality</a:t>
            </a:r>
            <a:r>
              <a:rPr lang="pt-BR" dirty="0" smtClean="0"/>
              <a:t>, </a:t>
            </a:r>
            <a:r>
              <a:rPr lang="pt-BR" dirty="0" err="1" smtClean="0"/>
              <a:t>Integrity</a:t>
            </a:r>
            <a:r>
              <a:rPr lang="pt-BR" dirty="0" smtClean="0"/>
              <a:t>, </a:t>
            </a:r>
            <a:r>
              <a:rPr lang="pt-BR" dirty="0" err="1" smtClean="0"/>
              <a:t>Maintainability</a:t>
            </a:r>
            <a:r>
              <a:rPr lang="pt-BR" dirty="0" smtClean="0"/>
              <a:t>, </a:t>
            </a:r>
            <a:r>
              <a:rPr lang="pt-BR" dirty="0" err="1" smtClean="0"/>
              <a:t>Reliability</a:t>
            </a:r>
            <a:r>
              <a:rPr lang="pt-BR" dirty="0" smtClean="0"/>
              <a:t>, </a:t>
            </a:r>
            <a:r>
              <a:rPr lang="pt-BR" dirty="0" err="1" smtClean="0"/>
              <a:t>Safety</a:t>
            </a:r>
            <a:r>
              <a:rPr lang="pt-BR" dirty="0" smtClean="0"/>
              <a:t>, </a:t>
            </a:r>
            <a:r>
              <a:rPr lang="pt-BR" dirty="0" err="1" smtClean="0"/>
              <a:t>Security</a:t>
            </a:r>
            <a:r>
              <a:rPr lang="pt-BR" dirty="0" smtClean="0"/>
              <a:t>, </a:t>
            </a:r>
            <a:r>
              <a:rPr lang="pt-BR" dirty="0" err="1" smtClean="0"/>
              <a:t>Affordability</a:t>
            </a:r>
            <a:r>
              <a:rPr lang="pt-BR" dirty="0" smtClean="0"/>
              <a:t>, </a:t>
            </a:r>
            <a:r>
              <a:rPr lang="pt-BR" dirty="0" err="1" smtClean="0"/>
              <a:t>Serviceablility</a:t>
            </a:r>
            <a:r>
              <a:rPr lang="pt-BR" dirty="0" smtClean="0"/>
              <a:t>, …</a:t>
            </a:r>
            <a:endParaRPr lang="en-US" dirty="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Requisitos do domínio</a:t>
            </a:r>
            <a:endParaRPr lang="pt-BR" dirty="0"/>
          </a:p>
        </p:txBody>
      </p:sp>
      <p:sp>
        <p:nvSpPr>
          <p:cNvPr id="3" name="Espaço Reservado para Conteúdo 2"/>
          <p:cNvSpPr>
            <a:spLocks noGrp="1"/>
          </p:cNvSpPr>
          <p:nvPr>
            <p:ph idx="1"/>
          </p:nvPr>
        </p:nvSpPr>
        <p:spPr/>
        <p:txBody>
          <a:bodyPr>
            <a:normAutofit/>
          </a:bodyPr>
          <a:lstStyle/>
          <a:p>
            <a:r>
              <a:rPr lang="pt-BR" dirty="0" smtClean="0"/>
              <a:t>São derivados do domínio, não de necessidades específicas dos </a:t>
            </a:r>
            <a:r>
              <a:rPr lang="pt-BR" dirty="0" err="1" smtClean="0"/>
              <a:t>stakeholders</a:t>
            </a:r>
            <a:endParaRPr lang="pt-BR" dirty="0" smtClean="0"/>
          </a:p>
          <a:p>
            <a:r>
              <a:rPr lang="pt-BR" dirty="0" smtClean="0"/>
              <a:t>Podem ser:</a:t>
            </a:r>
          </a:p>
          <a:p>
            <a:pPr lvl="1"/>
            <a:r>
              <a:rPr lang="pt-BR" dirty="0" smtClean="0"/>
              <a:t>Novos requisitos funcionais</a:t>
            </a:r>
          </a:p>
          <a:p>
            <a:pPr lvl="1"/>
            <a:r>
              <a:rPr lang="pt-BR" dirty="0" smtClean="0"/>
              <a:t>Estabelecer como cálculos específicos são feitos</a:t>
            </a:r>
          </a:p>
          <a:p>
            <a:pPr lvl="1"/>
            <a:r>
              <a:rPr lang="pt-BR" dirty="0" smtClean="0"/>
              <a:t>Restrições dos requisitos funcionais</a:t>
            </a:r>
          </a:p>
          <a:p>
            <a:endParaRPr lang="pt-BR"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Requisitos do domínio</a:t>
            </a:r>
            <a:endParaRPr lang="pt-BR" dirty="0"/>
          </a:p>
        </p:txBody>
      </p:sp>
      <p:sp>
        <p:nvSpPr>
          <p:cNvPr id="3" name="Espaço Reservado para Conteúdo 2"/>
          <p:cNvSpPr>
            <a:spLocks noGrp="1"/>
          </p:cNvSpPr>
          <p:nvPr>
            <p:ph idx="1"/>
          </p:nvPr>
        </p:nvSpPr>
        <p:spPr/>
        <p:txBody>
          <a:bodyPr>
            <a:normAutofit/>
          </a:bodyPr>
          <a:lstStyle/>
          <a:p>
            <a:r>
              <a:rPr lang="pt-BR" dirty="0" smtClean="0"/>
              <a:t>Encontrados em:</a:t>
            </a:r>
          </a:p>
          <a:p>
            <a:pPr lvl="1"/>
            <a:r>
              <a:rPr lang="en-US" dirty="0" smtClean="0"/>
              <a:t>Leis </a:t>
            </a:r>
          </a:p>
          <a:p>
            <a:pPr lvl="1"/>
            <a:r>
              <a:rPr lang="en-US" dirty="0" err="1" smtClean="0"/>
              <a:t>Padrões</a:t>
            </a:r>
            <a:endParaRPr lang="en-US" dirty="0" smtClean="0"/>
          </a:p>
          <a:p>
            <a:pPr lvl="1"/>
            <a:r>
              <a:rPr lang="en-US" dirty="0" err="1" smtClean="0"/>
              <a:t>Regulamentações</a:t>
            </a:r>
            <a:endParaRPr lang="en-US" dirty="0" smtClean="0"/>
          </a:p>
          <a:p>
            <a:r>
              <a:rPr lang="pt-BR" dirty="0" smtClean="0"/>
              <a:t>Ex.</a:t>
            </a:r>
          </a:p>
          <a:p>
            <a:pPr lvl="1"/>
            <a:r>
              <a:rPr lang="pt-BR" dirty="0" smtClean="0"/>
              <a:t>Fórmulas científicas</a:t>
            </a:r>
          </a:p>
          <a:p>
            <a:pPr lvl="1"/>
            <a:r>
              <a:rPr lang="pt-BR" dirty="0" smtClean="0"/>
              <a:t>Formulários padronizados</a:t>
            </a:r>
          </a:p>
          <a:p>
            <a:pPr lvl="1"/>
            <a:r>
              <a:rPr lang="en-US" dirty="0" err="1" smtClean="0"/>
              <a:t>Formato</a:t>
            </a:r>
            <a:r>
              <a:rPr lang="en-US" dirty="0" smtClean="0"/>
              <a:t> de </a:t>
            </a:r>
            <a:r>
              <a:rPr lang="en-US" dirty="0" err="1" smtClean="0"/>
              <a:t>termos</a:t>
            </a:r>
            <a:r>
              <a:rPr lang="en-US" dirty="0" smtClean="0"/>
              <a:t> </a:t>
            </a:r>
            <a:r>
              <a:rPr lang="en-US" dirty="0" err="1" smtClean="0"/>
              <a:t>técnicos</a:t>
            </a:r>
            <a:endParaRPr lang="pt-BR" dirty="0" smtClean="0"/>
          </a:p>
          <a:p>
            <a:endParaRPr lang="en-US" dirty="0" smtClean="0"/>
          </a:p>
          <a:p>
            <a:endParaRPr lang="pt-BR"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Documento de requisitos</a:t>
            </a:r>
            <a:endParaRPr lang="pt-BR" dirty="0"/>
          </a:p>
        </p:txBody>
      </p:sp>
      <p:sp>
        <p:nvSpPr>
          <p:cNvPr id="3" name="Espaço Reservado para Conteúdo 2"/>
          <p:cNvSpPr>
            <a:spLocks noGrp="1"/>
          </p:cNvSpPr>
          <p:nvPr>
            <p:ph idx="1"/>
          </p:nvPr>
        </p:nvSpPr>
        <p:spPr/>
        <p:txBody>
          <a:bodyPr>
            <a:normAutofit fontScale="85000" lnSpcReduction="20000"/>
          </a:bodyPr>
          <a:lstStyle/>
          <a:p>
            <a:r>
              <a:rPr lang="pt-BR" dirty="0" smtClean="0"/>
              <a:t>SRS (Software </a:t>
            </a:r>
            <a:r>
              <a:rPr lang="pt-BR" dirty="0" err="1" smtClean="0"/>
              <a:t>Requirements</a:t>
            </a:r>
            <a:r>
              <a:rPr lang="pt-BR" dirty="0" smtClean="0"/>
              <a:t> </a:t>
            </a:r>
            <a:r>
              <a:rPr lang="pt-BR" dirty="0" err="1" smtClean="0"/>
              <a:t>Specification</a:t>
            </a:r>
            <a:r>
              <a:rPr lang="pt-BR" dirty="0" smtClean="0"/>
              <a:t>)</a:t>
            </a:r>
          </a:p>
          <a:p>
            <a:r>
              <a:rPr lang="pt-BR" dirty="0" smtClean="0"/>
              <a:t>Diferentes </a:t>
            </a:r>
            <a:r>
              <a:rPr lang="pt-BR" dirty="0" err="1" smtClean="0"/>
              <a:t>stakeholders</a:t>
            </a:r>
            <a:r>
              <a:rPr lang="pt-BR" dirty="0" smtClean="0"/>
              <a:t> o usam:</a:t>
            </a:r>
          </a:p>
          <a:p>
            <a:r>
              <a:rPr lang="pt-BR" dirty="0" smtClean="0"/>
              <a:t>Clientes</a:t>
            </a:r>
          </a:p>
          <a:p>
            <a:pPr lvl="1"/>
            <a:r>
              <a:rPr lang="pt-BR" dirty="0" smtClean="0"/>
              <a:t>Verificam se os requisitos atendem suas necessidades</a:t>
            </a:r>
          </a:p>
          <a:p>
            <a:pPr lvl="1"/>
            <a:r>
              <a:rPr lang="pt-BR" dirty="0" smtClean="0"/>
              <a:t>Especificam mudanças nos requisitos</a:t>
            </a:r>
          </a:p>
          <a:p>
            <a:r>
              <a:rPr lang="pt-BR" dirty="0" smtClean="0"/>
              <a:t>Gerentes</a:t>
            </a:r>
          </a:p>
          <a:p>
            <a:pPr lvl="1"/>
            <a:r>
              <a:rPr lang="pt-BR" dirty="0" smtClean="0"/>
              <a:t>Planejam o pedido de proposta do sistema</a:t>
            </a:r>
          </a:p>
          <a:p>
            <a:pPr lvl="1"/>
            <a:r>
              <a:rPr lang="pt-BR" dirty="0" smtClean="0"/>
              <a:t>Planejam o processo de desenvolvimento do sistema</a:t>
            </a:r>
          </a:p>
          <a:p>
            <a:r>
              <a:rPr lang="pt-BR" dirty="0" smtClean="0"/>
              <a:t>Desenvolvedores</a:t>
            </a:r>
          </a:p>
          <a:p>
            <a:pPr lvl="1"/>
            <a:r>
              <a:rPr lang="pt-BR" dirty="0" smtClean="0"/>
              <a:t>Compreender que sistema será desenvolvido</a:t>
            </a:r>
          </a:p>
          <a:p>
            <a:pPr lvl="1"/>
            <a:r>
              <a:rPr lang="pt-BR" dirty="0" smtClean="0"/>
              <a:t>Desenvolver testes do sistema (validação) </a:t>
            </a:r>
          </a:p>
          <a:p>
            <a:endParaRPr lang="pt-BR"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Padrão IEEE 830/1998</a:t>
            </a:r>
            <a:endParaRPr lang="pt-BR" dirty="0"/>
          </a:p>
        </p:txBody>
      </p:sp>
      <p:sp>
        <p:nvSpPr>
          <p:cNvPr id="3" name="Espaço Reservado para Conteúdo 2"/>
          <p:cNvSpPr>
            <a:spLocks noGrp="1"/>
          </p:cNvSpPr>
          <p:nvPr>
            <p:ph idx="1"/>
          </p:nvPr>
        </p:nvSpPr>
        <p:spPr/>
        <p:txBody>
          <a:bodyPr>
            <a:normAutofit fontScale="85000" lnSpcReduction="20000"/>
          </a:bodyPr>
          <a:lstStyle/>
          <a:p>
            <a:r>
              <a:rPr lang="pt-BR" dirty="0" smtClean="0"/>
              <a:t>1 – Introdução</a:t>
            </a:r>
            <a:endParaRPr lang="pt-BR" sz="4000" dirty="0" smtClean="0"/>
          </a:p>
          <a:p>
            <a:pPr lvl="1"/>
            <a:r>
              <a:rPr lang="pt-BR" dirty="0" smtClean="0"/>
              <a:t>1.1 propósito do documento</a:t>
            </a:r>
            <a:endParaRPr lang="pt-BR" sz="3600" dirty="0" smtClean="0"/>
          </a:p>
          <a:p>
            <a:pPr lvl="1"/>
            <a:r>
              <a:rPr lang="pt-BR" dirty="0" smtClean="0"/>
              <a:t>1.2 escopo do produto</a:t>
            </a:r>
            <a:endParaRPr lang="pt-BR" sz="3600" dirty="0" smtClean="0"/>
          </a:p>
          <a:p>
            <a:pPr lvl="1"/>
            <a:r>
              <a:rPr lang="pt-BR" dirty="0" smtClean="0"/>
              <a:t>1.3 definições, abreviações</a:t>
            </a:r>
            <a:endParaRPr lang="pt-BR" sz="3600" dirty="0" smtClean="0"/>
          </a:p>
          <a:p>
            <a:pPr lvl="1"/>
            <a:r>
              <a:rPr lang="pt-BR" dirty="0" smtClean="0"/>
              <a:t>1.4 referências</a:t>
            </a:r>
            <a:endParaRPr lang="pt-BR" sz="3600" dirty="0" smtClean="0"/>
          </a:p>
          <a:p>
            <a:pPr lvl="1"/>
            <a:r>
              <a:rPr lang="pt-BR" dirty="0" smtClean="0"/>
              <a:t>1.5 visão geral do restante do documento</a:t>
            </a:r>
            <a:endParaRPr lang="pt-BR" sz="3600" dirty="0" smtClean="0"/>
          </a:p>
          <a:p>
            <a:r>
              <a:rPr lang="pt-BR" dirty="0" smtClean="0"/>
              <a:t>2 – Descrição geral</a:t>
            </a:r>
            <a:endParaRPr lang="pt-BR" sz="4400" dirty="0" smtClean="0"/>
          </a:p>
          <a:p>
            <a:pPr lvl="1"/>
            <a:r>
              <a:rPr lang="pt-BR" dirty="0" smtClean="0"/>
              <a:t>2.1 perspectiva do produto</a:t>
            </a:r>
            <a:endParaRPr lang="pt-BR" sz="3600" dirty="0" smtClean="0"/>
          </a:p>
          <a:p>
            <a:pPr lvl="1"/>
            <a:r>
              <a:rPr lang="pt-BR" dirty="0" smtClean="0"/>
              <a:t>2.2 funções do produto</a:t>
            </a:r>
            <a:endParaRPr lang="pt-BR" sz="3600" dirty="0" smtClean="0"/>
          </a:p>
          <a:p>
            <a:pPr lvl="1"/>
            <a:r>
              <a:rPr lang="pt-BR" dirty="0" smtClean="0"/>
              <a:t>2.3 características do usuário</a:t>
            </a:r>
            <a:endParaRPr lang="pt-BR" sz="3600" dirty="0" smtClean="0"/>
          </a:p>
          <a:p>
            <a:pPr lvl="1"/>
            <a:r>
              <a:rPr lang="pt-BR" dirty="0" smtClean="0"/>
              <a:t>2.4 restrições gerais</a:t>
            </a:r>
            <a:endParaRPr lang="pt-BR" sz="3600" dirty="0" smtClean="0"/>
          </a:p>
          <a:p>
            <a:pPr lvl="1"/>
            <a:r>
              <a:rPr lang="pt-BR" dirty="0" smtClean="0"/>
              <a:t>2.5 suposições e dependências</a:t>
            </a:r>
            <a:endParaRPr lang="pt-BR" sz="3600" dirty="0" smtClean="0"/>
          </a:p>
          <a:p>
            <a:endParaRPr lang="pt-BR"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Padrão IEEE 830/1998</a:t>
            </a:r>
            <a:endParaRPr lang="pt-BR" dirty="0"/>
          </a:p>
        </p:txBody>
      </p:sp>
      <p:sp>
        <p:nvSpPr>
          <p:cNvPr id="3" name="Espaço Reservado para Conteúdo 2"/>
          <p:cNvSpPr>
            <a:spLocks noGrp="1"/>
          </p:cNvSpPr>
          <p:nvPr>
            <p:ph idx="1"/>
          </p:nvPr>
        </p:nvSpPr>
        <p:spPr/>
        <p:txBody>
          <a:bodyPr>
            <a:normAutofit lnSpcReduction="10000"/>
          </a:bodyPr>
          <a:lstStyle/>
          <a:p>
            <a:r>
              <a:rPr lang="pt-BR" dirty="0" smtClean="0"/>
              <a:t>3 – Requisitos específicos (não há padrão neste tópico)</a:t>
            </a:r>
            <a:endParaRPr lang="pt-BR" sz="4400" dirty="0" smtClean="0"/>
          </a:p>
          <a:p>
            <a:pPr lvl="1"/>
            <a:r>
              <a:rPr lang="pt-BR" dirty="0" smtClean="0"/>
              <a:t>Requisitos funcionais</a:t>
            </a:r>
            <a:endParaRPr lang="pt-BR" sz="3600" dirty="0" smtClean="0"/>
          </a:p>
          <a:p>
            <a:pPr lvl="1"/>
            <a:r>
              <a:rPr lang="pt-BR" dirty="0" smtClean="0"/>
              <a:t>Requisitos não-funcionais</a:t>
            </a:r>
            <a:endParaRPr lang="pt-BR" sz="3600" dirty="0" smtClean="0"/>
          </a:p>
          <a:p>
            <a:pPr lvl="1"/>
            <a:r>
              <a:rPr lang="pt-BR" dirty="0" smtClean="0"/>
              <a:t>Requisitos de interface</a:t>
            </a:r>
            <a:endParaRPr lang="pt-BR" sz="3600" dirty="0" smtClean="0"/>
          </a:p>
          <a:p>
            <a:pPr lvl="1"/>
            <a:r>
              <a:rPr lang="pt-BR" dirty="0" smtClean="0"/>
              <a:t>Requisitos do domínio</a:t>
            </a:r>
            <a:endParaRPr lang="pt-BR" sz="3600" dirty="0" smtClean="0"/>
          </a:p>
          <a:p>
            <a:pPr lvl="1"/>
            <a:r>
              <a:rPr lang="pt-BR" dirty="0" smtClean="0"/>
              <a:t>Restrições em geral, propriedades, características</a:t>
            </a:r>
            <a:endParaRPr lang="pt-BR" sz="3600" dirty="0" smtClean="0"/>
          </a:p>
          <a:p>
            <a:r>
              <a:rPr lang="pt-BR" dirty="0" smtClean="0"/>
              <a:t>4 – Apêndice</a:t>
            </a:r>
            <a:endParaRPr lang="pt-BR" sz="4000" dirty="0" smtClean="0"/>
          </a:p>
          <a:p>
            <a:r>
              <a:rPr lang="pt-BR" dirty="0" smtClean="0"/>
              <a:t>5 - Índice</a:t>
            </a:r>
            <a:endParaRPr lang="pt-BR" sz="4000" dirty="0" smtClean="0"/>
          </a:p>
          <a:p>
            <a:endParaRPr lang="pt-BR"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Por que requisitos mudam?</a:t>
            </a:r>
            <a:endParaRPr lang="pt-BR" dirty="0"/>
          </a:p>
        </p:txBody>
      </p:sp>
      <p:sp>
        <p:nvSpPr>
          <p:cNvPr id="3" name="Espaço Reservado para Conteúdo 2"/>
          <p:cNvSpPr>
            <a:spLocks noGrp="1"/>
          </p:cNvSpPr>
          <p:nvPr>
            <p:ph idx="1"/>
          </p:nvPr>
        </p:nvSpPr>
        <p:spPr/>
        <p:txBody>
          <a:bodyPr/>
          <a:lstStyle/>
          <a:p>
            <a:r>
              <a:rPr lang="pt-BR" dirty="0" err="1" smtClean="0"/>
              <a:t>Stakeholders</a:t>
            </a:r>
            <a:r>
              <a:rPr lang="pt-BR" dirty="0" smtClean="0"/>
              <a:t> desenvolvem melhor compreensão do que querem/precisam</a:t>
            </a:r>
          </a:p>
          <a:p>
            <a:r>
              <a:rPr lang="pt-BR" dirty="0" smtClean="0"/>
              <a:t>As organizações mudam</a:t>
            </a:r>
          </a:p>
          <a:p>
            <a:r>
              <a:rPr lang="pt-BR" dirty="0" smtClean="0"/>
              <a:t>Alterações de HW, SW, ambiente</a:t>
            </a:r>
          </a:p>
          <a:p>
            <a:r>
              <a:rPr lang="pt-BR" dirty="0" smtClean="0"/>
              <a:t>Mudanças nas leis e regras governamentais</a:t>
            </a:r>
          </a:p>
          <a:p>
            <a:r>
              <a:rPr lang="en-US" dirty="0" err="1" smtClean="0"/>
              <a:t>Surgem</a:t>
            </a:r>
            <a:r>
              <a:rPr lang="en-US" dirty="0" smtClean="0"/>
              <a:t> novas </a:t>
            </a:r>
            <a:r>
              <a:rPr lang="en-US" dirty="0" err="1" smtClean="0"/>
              <a:t>necessidades</a:t>
            </a:r>
            <a:r>
              <a:rPr lang="en-US" dirty="0" smtClean="0"/>
              <a:t> </a:t>
            </a:r>
            <a:r>
              <a:rPr lang="en-US" dirty="0" err="1" smtClean="0"/>
              <a:t>para</a:t>
            </a:r>
            <a:r>
              <a:rPr lang="en-US" dirty="0" smtClean="0"/>
              <a:t> o software</a:t>
            </a:r>
            <a:endParaRPr lang="pt-BR" dirty="0" smtClean="0"/>
          </a:p>
          <a:p>
            <a:endParaRPr lang="pt-BR"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smtClean="0"/>
              <a:t>Stakeholders</a:t>
            </a:r>
            <a:endParaRPr lang="pt-BR" dirty="0"/>
          </a:p>
        </p:txBody>
      </p:sp>
      <p:sp>
        <p:nvSpPr>
          <p:cNvPr id="3" name="Espaço Reservado para Conteúdo 2"/>
          <p:cNvSpPr>
            <a:spLocks noGrp="1"/>
          </p:cNvSpPr>
          <p:nvPr>
            <p:ph idx="1"/>
          </p:nvPr>
        </p:nvSpPr>
        <p:spPr/>
        <p:txBody>
          <a:bodyPr/>
          <a:lstStyle/>
          <a:p>
            <a:r>
              <a:rPr lang="pt-BR" dirty="0" smtClean="0"/>
              <a:t>Usuários</a:t>
            </a:r>
          </a:p>
          <a:p>
            <a:r>
              <a:rPr lang="pt-BR" dirty="0" smtClean="0"/>
              <a:t>Clientes</a:t>
            </a:r>
          </a:p>
          <a:p>
            <a:r>
              <a:rPr lang="pt-BR" dirty="0" smtClean="0"/>
              <a:t>Gerentes</a:t>
            </a:r>
          </a:p>
          <a:p>
            <a:r>
              <a:rPr lang="pt-BR" dirty="0" smtClean="0"/>
              <a:t>Desenvolvedores</a:t>
            </a:r>
          </a:p>
          <a:p>
            <a:r>
              <a:rPr lang="pt-BR" dirty="0" smtClean="0"/>
              <a:t>Líderes de projeto</a:t>
            </a:r>
          </a:p>
          <a:p>
            <a:r>
              <a:rPr lang="pt-BR" dirty="0" err="1" smtClean="0"/>
              <a:t>Stakeholders</a:t>
            </a:r>
            <a:r>
              <a:rPr lang="pt-BR" dirty="0" smtClean="0"/>
              <a:t> que trabalham juntos para definir os requisitos do sistema</a:t>
            </a:r>
          </a:p>
          <a:p>
            <a:endParaRPr lang="pt-BR"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Dificuldade de </a:t>
            </a:r>
            <a:r>
              <a:rPr lang="pt-BR" dirty="0" err="1" smtClean="0"/>
              <a:t>elicitar</a:t>
            </a:r>
            <a:r>
              <a:rPr lang="pt-BR" dirty="0" smtClean="0"/>
              <a:t> requisitos</a:t>
            </a:r>
            <a:endParaRPr lang="pt-BR" dirty="0"/>
          </a:p>
        </p:txBody>
      </p:sp>
      <p:sp>
        <p:nvSpPr>
          <p:cNvPr id="3" name="Espaço Reservado para Conteúdo 2"/>
          <p:cNvSpPr>
            <a:spLocks noGrp="1"/>
          </p:cNvSpPr>
          <p:nvPr>
            <p:ph idx="1"/>
          </p:nvPr>
        </p:nvSpPr>
        <p:spPr/>
        <p:txBody>
          <a:bodyPr>
            <a:normAutofit/>
          </a:bodyPr>
          <a:lstStyle/>
          <a:p>
            <a:r>
              <a:rPr lang="pt-BR" dirty="0" smtClean="0"/>
              <a:t>Stakeholders não sabem o que querem</a:t>
            </a:r>
          </a:p>
          <a:p>
            <a:r>
              <a:rPr lang="pt-BR" dirty="0" err="1" smtClean="0"/>
              <a:t>Stakeholders</a:t>
            </a:r>
            <a:r>
              <a:rPr lang="pt-BR" dirty="0" smtClean="0"/>
              <a:t> apresentam visões muito gerais</a:t>
            </a:r>
          </a:p>
          <a:p>
            <a:r>
              <a:rPr lang="pt-BR" dirty="0" smtClean="0"/>
              <a:t>Pedidos irrealistas</a:t>
            </a:r>
          </a:p>
          <a:p>
            <a:endParaRPr lang="pt-BR"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Dificuldade de </a:t>
            </a:r>
            <a:r>
              <a:rPr lang="pt-BR" dirty="0" err="1" smtClean="0"/>
              <a:t>elicitar</a:t>
            </a:r>
            <a:r>
              <a:rPr lang="pt-BR" dirty="0" smtClean="0"/>
              <a:t> requisitos</a:t>
            </a:r>
            <a:endParaRPr lang="pt-BR" dirty="0"/>
          </a:p>
        </p:txBody>
      </p:sp>
      <p:sp>
        <p:nvSpPr>
          <p:cNvPr id="3" name="Espaço Reservado para Conteúdo 2"/>
          <p:cNvSpPr>
            <a:spLocks noGrp="1"/>
          </p:cNvSpPr>
          <p:nvPr>
            <p:ph idx="1"/>
          </p:nvPr>
        </p:nvSpPr>
        <p:spPr/>
        <p:txBody>
          <a:bodyPr>
            <a:normAutofit/>
          </a:bodyPr>
          <a:lstStyle/>
          <a:p>
            <a:r>
              <a:rPr lang="pt-BR" dirty="0" smtClean="0"/>
              <a:t>Não conhecimento do domínio</a:t>
            </a:r>
          </a:p>
          <a:p>
            <a:r>
              <a:rPr lang="pt-BR" dirty="0" smtClean="0"/>
              <a:t>Diferentes formas de expressar as mesmas idéias</a:t>
            </a:r>
          </a:p>
          <a:p>
            <a:r>
              <a:rPr lang="pt-BR" dirty="0" smtClean="0"/>
              <a:t>Fatores políticos e de negócios podem influenciar</a:t>
            </a:r>
          </a:p>
          <a:p>
            <a:r>
              <a:rPr lang="pt-BR" dirty="0" smtClean="0"/>
              <a:t>Alterações pedidas nos requisitos</a:t>
            </a:r>
          </a:p>
          <a:p>
            <a:endParaRPr lang="pt-BR"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Dificuldade de </a:t>
            </a:r>
            <a:r>
              <a:rPr lang="pt-BR" dirty="0" err="1" smtClean="0"/>
              <a:t>elicitar</a:t>
            </a:r>
            <a:r>
              <a:rPr lang="pt-BR" dirty="0" smtClean="0"/>
              <a:t> requisitos</a:t>
            </a:r>
            <a:endParaRPr lang="pt-BR" dirty="0"/>
          </a:p>
        </p:txBody>
      </p:sp>
      <p:sp>
        <p:nvSpPr>
          <p:cNvPr id="3" name="Espaço Reservado para Conteúdo 2"/>
          <p:cNvSpPr>
            <a:spLocks noGrp="1"/>
          </p:cNvSpPr>
          <p:nvPr>
            <p:ph idx="1"/>
          </p:nvPr>
        </p:nvSpPr>
        <p:spPr>
          <a:xfrm>
            <a:off x="179512" y="1600200"/>
            <a:ext cx="8640960" cy="4925144"/>
          </a:xfrm>
        </p:spPr>
        <p:txBody>
          <a:bodyPr/>
          <a:lstStyle/>
          <a:p>
            <a:r>
              <a:rPr lang="pt-BR" dirty="0" smtClean="0"/>
              <a:t>“O cliente nunca sabe o que quer”</a:t>
            </a:r>
          </a:p>
          <a:p>
            <a:r>
              <a:rPr lang="pt-BR" dirty="0" smtClean="0"/>
              <a:t>“Não pedi porque é óbvio”</a:t>
            </a:r>
          </a:p>
          <a:p>
            <a:r>
              <a:rPr lang="pt-BR" dirty="0" smtClean="0"/>
              <a:t>“Basta incluir dois campos a mais no formulário”</a:t>
            </a:r>
          </a:p>
          <a:p>
            <a:r>
              <a:rPr lang="pt-BR" dirty="0" smtClean="0"/>
              <a:t>“Funcionava mais rápido na fase de testes”</a:t>
            </a:r>
          </a:p>
          <a:p>
            <a:endParaRPr lang="pt-BR"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Técnicas de </a:t>
            </a:r>
            <a:r>
              <a:rPr lang="pt-BR" dirty="0" err="1" smtClean="0"/>
              <a:t>elicitação</a:t>
            </a:r>
            <a:r>
              <a:rPr lang="pt-BR" dirty="0" smtClean="0"/>
              <a:t> de requisitos</a:t>
            </a:r>
            <a:endParaRPr lang="pt-BR" dirty="0"/>
          </a:p>
        </p:txBody>
      </p:sp>
      <p:sp>
        <p:nvSpPr>
          <p:cNvPr id="3" name="Espaço Reservado para Conteúdo 2"/>
          <p:cNvSpPr>
            <a:spLocks noGrp="1"/>
          </p:cNvSpPr>
          <p:nvPr>
            <p:ph idx="1"/>
          </p:nvPr>
        </p:nvSpPr>
        <p:spPr/>
        <p:txBody>
          <a:bodyPr/>
          <a:lstStyle/>
          <a:p>
            <a:r>
              <a:rPr lang="pt-BR" dirty="0" err="1" smtClean="0"/>
              <a:t>Brainstorming</a:t>
            </a:r>
            <a:endParaRPr lang="pt-BR" dirty="0" smtClean="0"/>
          </a:p>
          <a:p>
            <a:r>
              <a:rPr lang="pt-BR" dirty="0" smtClean="0"/>
              <a:t>Entrevistas</a:t>
            </a:r>
          </a:p>
          <a:p>
            <a:r>
              <a:rPr lang="pt-BR" dirty="0" smtClean="0"/>
              <a:t>Etnografia</a:t>
            </a:r>
          </a:p>
          <a:p>
            <a:r>
              <a:rPr lang="en-US" dirty="0" err="1" smtClean="0"/>
              <a:t>Estudo</a:t>
            </a:r>
            <a:r>
              <a:rPr lang="en-US" dirty="0" smtClean="0"/>
              <a:t> de </a:t>
            </a:r>
            <a:r>
              <a:rPr lang="en-US" dirty="0" err="1" smtClean="0"/>
              <a:t>sistemas</a:t>
            </a:r>
            <a:r>
              <a:rPr lang="en-US" dirty="0" smtClean="0"/>
              <a:t> </a:t>
            </a:r>
            <a:r>
              <a:rPr lang="en-US" dirty="0" err="1" smtClean="0"/>
              <a:t>legados</a:t>
            </a:r>
            <a:endParaRPr lang="pt-BR" dirty="0" smtClean="0"/>
          </a:p>
          <a:p>
            <a:endParaRPr lang="pt-BR"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Entrevistas</a:t>
            </a:r>
            <a:endParaRPr lang="pt-BR" dirty="0"/>
          </a:p>
        </p:txBody>
      </p:sp>
      <p:sp>
        <p:nvSpPr>
          <p:cNvPr id="3" name="Espaço Reservado para Conteúdo 2"/>
          <p:cNvSpPr>
            <a:spLocks noGrp="1"/>
          </p:cNvSpPr>
          <p:nvPr>
            <p:ph idx="1"/>
          </p:nvPr>
        </p:nvSpPr>
        <p:spPr/>
        <p:txBody>
          <a:bodyPr/>
          <a:lstStyle/>
          <a:p>
            <a:r>
              <a:rPr lang="pt-BR" dirty="0" smtClean="0"/>
              <a:t>Os desenvolvedores preparam perguntas a serem respondidas sobre o futuro sistema</a:t>
            </a:r>
          </a:p>
          <a:p>
            <a:r>
              <a:rPr lang="pt-BR" dirty="0" smtClean="0"/>
              <a:t>Os </a:t>
            </a:r>
            <a:r>
              <a:rPr lang="pt-BR" dirty="0" err="1" smtClean="0"/>
              <a:t>stakeholders</a:t>
            </a:r>
            <a:r>
              <a:rPr lang="pt-BR" dirty="0" smtClean="0"/>
              <a:t> apresentam informações sobre as funções a serem implementadas</a:t>
            </a:r>
          </a:p>
          <a:p>
            <a:r>
              <a:rPr lang="pt-BR" dirty="0" smtClean="0"/>
              <a:t>Perguntas podem ser abertas, fechadas, e de continuidade</a:t>
            </a:r>
          </a:p>
          <a:p>
            <a:r>
              <a:rPr lang="pt-BR" dirty="0" smtClean="0"/>
              <a:t>O questionamento deve seguir uma </a:t>
            </a:r>
            <a:r>
              <a:rPr lang="pt-BR" dirty="0" err="1" smtClean="0"/>
              <a:t>sequência</a:t>
            </a:r>
            <a:r>
              <a:rPr lang="pt-BR" dirty="0" smtClean="0"/>
              <a:t> lógica</a:t>
            </a:r>
          </a:p>
          <a:p>
            <a:endParaRPr lang="pt-BR"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Perguntas abertas</a:t>
            </a:r>
            <a:endParaRPr lang="pt-BR" dirty="0"/>
          </a:p>
        </p:txBody>
      </p:sp>
      <p:sp>
        <p:nvSpPr>
          <p:cNvPr id="3" name="Espaço Reservado para Conteúdo 2"/>
          <p:cNvSpPr>
            <a:spLocks noGrp="1"/>
          </p:cNvSpPr>
          <p:nvPr>
            <p:ph idx="1"/>
          </p:nvPr>
        </p:nvSpPr>
        <p:spPr/>
        <p:txBody>
          <a:bodyPr/>
          <a:lstStyle/>
          <a:p>
            <a:r>
              <a:rPr lang="pt-BR" dirty="0" smtClean="0"/>
              <a:t>Solicita-se ao entrevistado como funciona uma tarefa, ou como o sistema deve reagir, o que ele deve fazer, </a:t>
            </a:r>
            <a:r>
              <a:rPr lang="pt-BR" dirty="0" err="1" smtClean="0"/>
              <a:t>etc</a:t>
            </a:r>
            <a:endParaRPr lang="pt-BR" dirty="0" smtClean="0"/>
          </a:p>
          <a:p>
            <a:pPr lvl="1"/>
            <a:r>
              <a:rPr lang="pt-BR" dirty="0" smtClean="0"/>
              <a:t>“Como será o relatório de vendas?”</a:t>
            </a:r>
          </a:p>
          <a:p>
            <a:pPr lvl="1"/>
            <a:r>
              <a:rPr lang="pt-BR" dirty="0" smtClean="0"/>
              <a:t>“Quais informações são necessárias para cadastrar um cliente?”</a:t>
            </a:r>
          </a:p>
          <a:p>
            <a:pPr lvl="1"/>
            <a:r>
              <a:rPr lang="pt-BR" dirty="0" smtClean="0"/>
              <a:t>“Como será gerenciado o pedido de férias de funcionários?”</a:t>
            </a:r>
          </a:p>
          <a:p>
            <a:endParaRPr lang="pt-BR"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Perguntas fechadas</a:t>
            </a:r>
            <a:endParaRPr lang="pt-BR" dirty="0"/>
          </a:p>
        </p:txBody>
      </p:sp>
      <p:sp>
        <p:nvSpPr>
          <p:cNvPr id="3" name="Espaço Reservado para Conteúdo 2"/>
          <p:cNvSpPr>
            <a:spLocks noGrp="1"/>
          </p:cNvSpPr>
          <p:nvPr>
            <p:ph idx="1"/>
          </p:nvPr>
        </p:nvSpPr>
        <p:spPr/>
        <p:txBody>
          <a:bodyPr>
            <a:normAutofit/>
          </a:bodyPr>
          <a:lstStyle/>
          <a:p>
            <a:r>
              <a:rPr lang="pt-BR" dirty="0" smtClean="0"/>
              <a:t>Perguntas mais objetivas</a:t>
            </a:r>
          </a:p>
          <a:p>
            <a:pPr lvl="1"/>
            <a:r>
              <a:rPr lang="pt-BR" dirty="0" smtClean="0"/>
              <a:t>“quantos relatórios serão gerados por semana?”</a:t>
            </a:r>
          </a:p>
          <a:p>
            <a:pPr lvl="1"/>
            <a:r>
              <a:rPr lang="pt-BR" dirty="0" smtClean="0"/>
              <a:t>“quantas pessoas deverão ter acesso ao sistema?”</a:t>
            </a:r>
          </a:p>
          <a:p>
            <a:pPr lvl="1"/>
            <a:r>
              <a:rPr lang="pt-BR" dirty="0" smtClean="0"/>
              <a:t>“quantos acessos são esperados à base de dados?”</a:t>
            </a:r>
          </a:p>
          <a:p>
            <a:pPr lvl="1"/>
            <a:r>
              <a:rPr lang="pt-BR" dirty="0" smtClean="0"/>
              <a:t>“quais pessoas podem usar o módulo gerencial?”</a:t>
            </a:r>
          </a:p>
          <a:p>
            <a:endParaRPr lang="pt-BR"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Condução da entrevista</a:t>
            </a:r>
            <a:endParaRPr lang="pt-BR" dirty="0"/>
          </a:p>
        </p:txBody>
      </p:sp>
      <p:sp>
        <p:nvSpPr>
          <p:cNvPr id="3" name="Espaço Reservado para Conteúdo 2"/>
          <p:cNvSpPr>
            <a:spLocks noGrp="1"/>
          </p:cNvSpPr>
          <p:nvPr>
            <p:ph idx="1"/>
          </p:nvPr>
        </p:nvSpPr>
        <p:spPr/>
        <p:txBody>
          <a:bodyPr/>
          <a:lstStyle/>
          <a:p>
            <a:r>
              <a:rPr lang="pt-BR" dirty="0" smtClean="0"/>
              <a:t>Iniciar por uma pergunta aberta</a:t>
            </a:r>
          </a:p>
          <a:p>
            <a:pPr lvl="1"/>
            <a:r>
              <a:rPr lang="pt-BR" dirty="0" smtClean="0"/>
              <a:t>Como funciona determinado procedimento</a:t>
            </a:r>
          </a:p>
          <a:p>
            <a:pPr lvl="1"/>
            <a:r>
              <a:rPr lang="pt-BR" dirty="0" smtClean="0"/>
              <a:t>Peça para explicar algo do processo atual</a:t>
            </a:r>
          </a:p>
          <a:p>
            <a:r>
              <a:rPr lang="pt-BR" dirty="0" smtClean="0"/>
              <a:t>Fazer perguntas de seguimento para dar foco a entrevista</a:t>
            </a:r>
          </a:p>
          <a:p>
            <a:r>
              <a:rPr lang="pt-BR" dirty="0" smtClean="0"/>
              <a:t>Fazer resumos/sumários constantemente</a:t>
            </a:r>
          </a:p>
          <a:p>
            <a:endParaRPr lang="pt-BR"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Condução da entrevista</a:t>
            </a:r>
            <a:endParaRPr lang="pt-BR" dirty="0"/>
          </a:p>
        </p:txBody>
      </p:sp>
      <p:sp>
        <p:nvSpPr>
          <p:cNvPr id="3" name="Espaço Reservado para Conteúdo 2"/>
          <p:cNvSpPr>
            <a:spLocks noGrp="1"/>
          </p:cNvSpPr>
          <p:nvPr>
            <p:ph idx="1"/>
          </p:nvPr>
        </p:nvSpPr>
        <p:spPr/>
        <p:txBody>
          <a:bodyPr/>
          <a:lstStyle/>
          <a:p>
            <a:r>
              <a:rPr lang="pt-BR" dirty="0" smtClean="0"/>
              <a:t>Usar perguntas previamente preparadas</a:t>
            </a:r>
          </a:p>
          <a:p>
            <a:r>
              <a:rPr lang="pt-BR" dirty="0" smtClean="0"/>
              <a:t>Fazer perguntas, não interrogatórios</a:t>
            </a:r>
          </a:p>
          <a:p>
            <a:r>
              <a:rPr lang="pt-BR" dirty="0" smtClean="0"/>
              <a:t>Tomar notas/gravar a entrevista</a:t>
            </a:r>
          </a:p>
          <a:p>
            <a:r>
              <a:rPr lang="pt-BR" dirty="0" smtClean="0"/>
              <a:t>Transcrever as anotações logo ao terminar</a:t>
            </a:r>
          </a:p>
          <a:p>
            <a:endParaRPr lang="pt-BR"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err="1" smtClean="0"/>
              <a:t>Estudo</a:t>
            </a:r>
            <a:r>
              <a:rPr lang="en-US" dirty="0" smtClean="0"/>
              <a:t> de </a:t>
            </a:r>
            <a:r>
              <a:rPr lang="en-US" dirty="0" err="1" smtClean="0"/>
              <a:t>sistemas</a:t>
            </a:r>
            <a:r>
              <a:rPr lang="en-US" dirty="0" smtClean="0"/>
              <a:t> </a:t>
            </a:r>
            <a:r>
              <a:rPr lang="en-US" dirty="0" err="1" smtClean="0"/>
              <a:t>legados</a:t>
            </a:r>
            <a:endParaRPr lang="pt-BR" dirty="0"/>
          </a:p>
        </p:txBody>
      </p:sp>
      <p:sp>
        <p:nvSpPr>
          <p:cNvPr id="3" name="Espaço Reservado para Conteúdo 2"/>
          <p:cNvSpPr>
            <a:spLocks noGrp="1"/>
          </p:cNvSpPr>
          <p:nvPr>
            <p:ph idx="1"/>
          </p:nvPr>
        </p:nvSpPr>
        <p:spPr/>
        <p:txBody>
          <a:bodyPr/>
          <a:lstStyle/>
          <a:p>
            <a:endParaRPr lang="en-US" dirty="0" smtClean="0"/>
          </a:p>
          <a:p>
            <a:r>
              <a:rPr lang="en-US" dirty="0" err="1" smtClean="0"/>
              <a:t>Novos</a:t>
            </a:r>
            <a:r>
              <a:rPr lang="en-US" dirty="0" smtClean="0"/>
              <a:t> </a:t>
            </a:r>
            <a:r>
              <a:rPr lang="en-US" dirty="0" err="1" smtClean="0"/>
              <a:t>sistemas</a:t>
            </a:r>
            <a:r>
              <a:rPr lang="en-US" dirty="0" smtClean="0"/>
              <a:t> </a:t>
            </a:r>
            <a:r>
              <a:rPr lang="en-US" dirty="0" err="1" smtClean="0"/>
              <a:t>podem</a:t>
            </a:r>
            <a:r>
              <a:rPr lang="en-US" dirty="0" smtClean="0"/>
              <a:t> ser </a:t>
            </a:r>
            <a:r>
              <a:rPr lang="en-US" dirty="0" err="1" smtClean="0"/>
              <a:t>desenvolvidos</a:t>
            </a:r>
            <a:r>
              <a:rPr lang="en-US" dirty="0" smtClean="0"/>
              <a:t> </a:t>
            </a:r>
            <a:r>
              <a:rPr lang="en-US" dirty="0" err="1" smtClean="0"/>
              <a:t>para</a:t>
            </a:r>
            <a:r>
              <a:rPr lang="en-US" dirty="0" smtClean="0"/>
              <a:t> </a:t>
            </a:r>
            <a:r>
              <a:rPr lang="en-US" dirty="0" err="1" smtClean="0"/>
              <a:t>substituir</a:t>
            </a:r>
            <a:r>
              <a:rPr lang="en-US" dirty="0" smtClean="0"/>
              <a:t> </a:t>
            </a:r>
            <a:r>
              <a:rPr lang="en-US" dirty="0" err="1" smtClean="0"/>
              <a:t>sistemas</a:t>
            </a:r>
            <a:r>
              <a:rPr lang="en-US" dirty="0" smtClean="0"/>
              <a:t> </a:t>
            </a:r>
            <a:r>
              <a:rPr lang="en-US" dirty="0" err="1" smtClean="0"/>
              <a:t>antigos</a:t>
            </a:r>
            <a:r>
              <a:rPr lang="en-US" dirty="0" smtClean="0"/>
              <a:t> (</a:t>
            </a:r>
            <a:r>
              <a:rPr lang="en-US" dirty="0" err="1" smtClean="0"/>
              <a:t>legados</a:t>
            </a:r>
            <a:r>
              <a:rPr lang="en-US" dirty="0" smtClean="0"/>
              <a:t>)</a:t>
            </a:r>
          </a:p>
          <a:p>
            <a:r>
              <a:rPr lang="en-US" dirty="0" err="1" smtClean="0"/>
              <a:t>Requisitos</a:t>
            </a:r>
            <a:r>
              <a:rPr lang="en-US" dirty="0" smtClean="0"/>
              <a:t> de um novo </a:t>
            </a:r>
            <a:r>
              <a:rPr lang="en-US" dirty="0" err="1" smtClean="0"/>
              <a:t>sistema</a:t>
            </a:r>
            <a:r>
              <a:rPr lang="en-US" dirty="0" smtClean="0"/>
              <a:t> </a:t>
            </a:r>
            <a:r>
              <a:rPr lang="en-US" dirty="0" err="1" smtClean="0"/>
              <a:t>podem</a:t>
            </a:r>
            <a:r>
              <a:rPr lang="en-US" dirty="0" smtClean="0"/>
              <a:t> ser </a:t>
            </a:r>
            <a:r>
              <a:rPr lang="en-US" dirty="0" err="1" smtClean="0"/>
              <a:t>descobertos</a:t>
            </a:r>
            <a:r>
              <a:rPr lang="en-US" dirty="0" smtClean="0"/>
              <a:t> </a:t>
            </a:r>
            <a:r>
              <a:rPr lang="en-US" dirty="0" err="1" smtClean="0"/>
              <a:t>ao</a:t>
            </a:r>
            <a:r>
              <a:rPr lang="en-US" dirty="0" smtClean="0"/>
              <a:t> </a:t>
            </a:r>
            <a:r>
              <a:rPr lang="en-US" dirty="0" err="1" smtClean="0"/>
              <a:t>analisar</a:t>
            </a:r>
            <a:r>
              <a:rPr lang="en-US" dirty="0" smtClean="0"/>
              <a:t> </a:t>
            </a:r>
            <a:r>
              <a:rPr lang="en-US" dirty="0" err="1" smtClean="0"/>
              <a:t>sistemas</a:t>
            </a:r>
            <a:r>
              <a:rPr lang="en-US" dirty="0" smtClean="0"/>
              <a:t> </a:t>
            </a:r>
            <a:r>
              <a:rPr lang="en-US" dirty="0" err="1" smtClean="0"/>
              <a:t>legados</a:t>
            </a:r>
            <a:endParaRPr lang="pt-BR"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Documentação de requisitos</a:t>
            </a:r>
            <a:endParaRPr lang="pt-BR" dirty="0"/>
          </a:p>
        </p:txBody>
      </p:sp>
      <p:sp>
        <p:nvSpPr>
          <p:cNvPr id="3" name="Espaço Reservado para Conteúdo 2"/>
          <p:cNvSpPr>
            <a:spLocks noGrp="1"/>
          </p:cNvSpPr>
          <p:nvPr>
            <p:ph idx="1"/>
          </p:nvPr>
        </p:nvSpPr>
        <p:spPr/>
        <p:txBody>
          <a:bodyPr>
            <a:normAutofit fontScale="92500"/>
          </a:bodyPr>
          <a:lstStyle/>
          <a:p>
            <a:r>
              <a:rPr lang="pt-BR" dirty="0" smtClean="0"/>
              <a:t>Vários diferentes diagramas, notações, técnicas</a:t>
            </a:r>
          </a:p>
          <a:p>
            <a:r>
              <a:rPr lang="pt-BR" dirty="0" smtClean="0"/>
              <a:t>Vamos usar linguagem natural:</a:t>
            </a:r>
          </a:p>
          <a:p>
            <a:pPr lvl="1"/>
            <a:r>
              <a:rPr lang="pt-BR" dirty="0" smtClean="0"/>
              <a:t>“O sistema deve ...”</a:t>
            </a:r>
          </a:p>
          <a:p>
            <a:pPr lvl="1"/>
            <a:r>
              <a:rPr lang="pt-BR" dirty="0" smtClean="0"/>
              <a:t>“Se o sistema receber a entrada X, ele deve responder com a saída Y”</a:t>
            </a:r>
          </a:p>
          <a:p>
            <a:pPr lvl="1"/>
            <a:r>
              <a:rPr lang="pt-BR" dirty="0" smtClean="0"/>
              <a:t>“O usuário deve entrar com X”</a:t>
            </a:r>
          </a:p>
          <a:p>
            <a:pPr lvl="1"/>
            <a:r>
              <a:rPr lang="pt-BR" dirty="0" smtClean="0"/>
              <a:t>“O sistema deve ser capaz de X”</a:t>
            </a:r>
          </a:p>
          <a:p>
            <a:pPr lvl="1"/>
            <a:r>
              <a:rPr lang="en-US" dirty="0" smtClean="0"/>
              <a:t>“</a:t>
            </a:r>
            <a:r>
              <a:rPr lang="en-US" dirty="0" err="1" smtClean="0"/>
              <a:t>Quando</a:t>
            </a:r>
            <a:r>
              <a:rPr lang="en-US" dirty="0" smtClean="0"/>
              <a:t> o </a:t>
            </a:r>
            <a:r>
              <a:rPr lang="en-US" dirty="0" err="1" smtClean="0"/>
              <a:t>usuário</a:t>
            </a:r>
            <a:r>
              <a:rPr lang="en-US" dirty="0" smtClean="0"/>
              <a:t> </a:t>
            </a:r>
            <a:r>
              <a:rPr lang="en-US" dirty="0" err="1" smtClean="0"/>
              <a:t>entrar</a:t>
            </a:r>
            <a:r>
              <a:rPr lang="en-US" dirty="0" smtClean="0"/>
              <a:t> com X, o software </a:t>
            </a:r>
            <a:r>
              <a:rPr lang="en-US" dirty="0" err="1" smtClean="0"/>
              <a:t>deve</a:t>
            </a:r>
            <a:r>
              <a:rPr lang="en-US" dirty="0" smtClean="0"/>
              <a:t> responder Y”</a:t>
            </a:r>
            <a:endParaRPr lang="pt-BR" dirty="0" smtClean="0"/>
          </a:p>
          <a:p>
            <a:endParaRPr lang="pt-BR"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Exercício</a:t>
            </a:r>
            <a:endParaRPr lang="pt-BR" dirty="0"/>
          </a:p>
        </p:txBody>
      </p:sp>
      <p:sp>
        <p:nvSpPr>
          <p:cNvPr id="3" name="Espaço Reservado para Conteúdo 2"/>
          <p:cNvSpPr>
            <a:spLocks noGrp="1"/>
          </p:cNvSpPr>
          <p:nvPr>
            <p:ph idx="1"/>
          </p:nvPr>
        </p:nvSpPr>
        <p:spPr/>
        <p:txBody>
          <a:bodyPr/>
          <a:lstStyle/>
          <a:p>
            <a:r>
              <a:rPr lang="pt-BR" dirty="0" smtClean="0"/>
              <a:t>Descubra </a:t>
            </a:r>
            <a:r>
              <a:rPr lang="pt-BR" dirty="0" err="1" smtClean="0"/>
              <a:t>ambiguidades</a:t>
            </a:r>
            <a:r>
              <a:rPr lang="pt-BR" dirty="0" smtClean="0"/>
              <a:t> ou omissões no seguinte trecho de uma especificação de requisitos</a:t>
            </a:r>
          </a:p>
          <a:p>
            <a:r>
              <a:rPr lang="pt-BR" dirty="0" smtClean="0"/>
              <a:t>Reescreva usando as técnicas explicadas anteriormente</a:t>
            </a:r>
          </a:p>
          <a:p>
            <a:r>
              <a:rPr lang="pt-BR" dirty="0" smtClean="0"/>
              <a:t>Em dupla/trio</a:t>
            </a:r>
          </a:p>
          <a:p>
            <a:endParaRPr lang="pt-BR"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179512" y="188640"/>
            <a:ext cx="8784976" cy="6336704"/>
          </a:xfrm>
        </p:spPr>
        <p:txBody>
          <a:bodyPr>
            <a:normAutofit fontScale="92500" lnSpcReduction="10000"/>
          </a:bodyPr>
          <a:lstStyle/>
          <a:p>
            <a:r>
              <a:rPr lang="pt-BR" dirty="0" smtClean="0"/>
              <a:t>Um sistema automático de emissão de passagens vende passagens de trem. Os usuários escolhem seu destino e apresentam um cartão de crédito e um número de identificação pessoal. A passagem é emitida e o custo dessa passagem é incluído em sua conta do cartão de crédito. Quando o usuário pressiona o botão para iniciar, uma tela de menu com os possíveis destinos é ativada, juntamente com uma mensagem para que o usuário selecione um destino. Uma vez selecionado um destino, pede-se que os usuários insiram seu cartão de crédito. A validade do cartão é checada e o usuário, então, deve fornecer um número de identificação pessoal. Quando a transação de crédito é validada, a passagem é emitida.</a:t>
            </a:r>
          </a:p>
          <a:p>
            <a:endParaRPr lang="pt-BR"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err="1" smtClean="0"/>
              <a:t>Exercício</a:t>
            </a:r>
            <a:endParaRPr lang="pt-BR" dirty="0"/>
          </a:p>
        </p:txBody>
      </p:sp>
      <p:sp>
        <p:nvSpPr>
          <p:cNvPr id="3" name="Espaço Reservado para Conteúdo 2"/>
          <p:cNvSpPr>
            <a:spLocks noGrp="1"/>
          </p:cNvSpPr>
          <p:nvPr>
            <p:ph idx="1"/>
          </p:nvPr>
        </p:nvSpPr>
        <p:spPr/>
        <p:txBody>
          <a:bodyPr/>
          <a:lstStyle/>
          <a:p>
            <a:r>
              <a:rPr lang="en-US" dirty="0" err="1" smtClean="0"/>
              <a:t>Proponha</a:t>
            </a:r>
            <a:r>
              <a:rPr lang="en-US" dirty="0" smtClean="0"/>
              <a:t> </a:t>
            </a:r>
            <a:r>
              <a:rPr lang="en-US" dirty="0" err="1" smtClean="0"/>
              <a:t>métricas</a:t>
            </a:r>
            <a:r>
              <a:rPr lang="en-US" dirty="0" smtClean="0"/>
              <a:t> </a:t>
            </a:r>
            <a:r>
              <a:rPr lang="en-US" dirty="0" err="1" smtClean="0"/>
              <a:t>para</a:t>
            </a:r>
            <a:r>
              <a:rPr lang="en-US" dirty="0" smtClean="0"/>
              <a:t> </a:t>
            </a:r>
            <a:r>
              <a:rPr lang="en-US" dirty="0" err="1" smtClean="0"/>
              <a:t>especificar</a:t>
            </a:r>
            <a:r>
              <a:rPr lang="en-US" dirty="0" smtClean="0"/>
              <a:t> </a:t>
            </a:r>
            <a:r>
              <a:rPr lang="en-US" dirty="0" err="1" smtClean="0"/>
              <a:t>os</a:t>
            </a:r>
            <a:r>
              <a:rPr lang="en-US" dirty="0" smtClean="0"/>
              <a:t> </a:t>
            </a:r>
            <a:r>
              <a:rPr lang="en-US" dirty="0" err="1" smtClean="0"/>
              <a:t>seguintes</a:t>
            </a:r>
            <a:r>
              <a:rPr lang="en-US" dirty="0" smtClean="0"/>
              <a:t> </a:t>
            </a:r>
            <a:r>
              <a:rPr lang="en-US" dirty="0" err="1" smtClean="0"/>
              <a:t>requisitos</a:t>
            </a:r>
            <a:r>
              <a:rPr lang="en-US" dirty="0" smtClean="0"/>
              <a:t> </a:t>
            </a:r>
            <a:r>
              <a:rPr lang="en-US" dirty="0" err="1" smtClean="0"/>
              <a:t>não-funcionais</a:t>
            </a:r>
            <a:r>
              <a:rPr lang="en-US" dirty="0" smtClean="0"/>
              <a:t>:</a:t>
            </a:r>
          </a:p>
          <a:p>
            <a:pPr lvl="1"/>
            <a:r>
              <a:rPr lang="en-US" b="1" dirty="0" err="1" smtClean="0"/>
              <a:t>Facilidade</a:t>
            </a:r>
            <a:r>
              <a:rPr lang="en-US" b="1" dirty="0" smtClean="0"/>
              <a:t> de </a:t>
            </a:r>
            <a:r>
              <a:rPr lang="en-US" b="1" dirty="0" err="1" smtClean="0"/>
              <a:t>uso</a:t>
            </a:r>
            <a:endParaRPr lang="en-US" b="1" dirty="0" smtClean="0"/>
          </a:p>
          <a:p>
            <a:pPr lvl="1"/>
            <a:r>
              <a:rPr lang="en-US" b="1" dirty="0" err="1" smtClean="0"/>
              <a:t>Desempenho</a:t>
            </a:r>
            <a:endParaRPr lang="en-US" b="1" dirty="0" smtClean="0"/>
          </a:p>
          <a:p>
            <a:pPr lvl="1"/>
            <a:r>
              <a:rPr lang="en-US" b="1" dirty="0" err="1" smtClean="0"/>
              <a:t>Confiabilidade</a:t>
            </a:r>
            <a:endParaRPr lang="en-US" b="1" dirty="0" smtClean="0"/>
          </a:p>
          <a:p>
            <a:pPr lvl="1"/>
            <a:r>
              <a:rPr lang="en-US" b="1" dirty="0" err="1" smtClean="0"/>
              <a:t>Robustez</a:t>
            </a:r>
            <a:endParaRPr lang="en-US" b="1" dirty="0" smtClean="0"/>
          </a:p>
          <a:p>
            <a:endParaRPr lang="pt-BR"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481</TotalTime>
  <Words>1638</Words>
  <Application>Microsoft Office PowerPoint</Application>
  <PresentationFormat>On-screen Show (4:3)</PresentationFormat>
  <Paragraphs>202</Paragraphs>
  <Slides>38</Slides>
  <Notes>1</Notes>
  <HiddenSlides>0</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Tema do Office</vt:lpstr>
      <vt:lpstr>Requisitos de Software</vt:lpstr>
      <vt:lpstr>Motivação</vt:lpstr>
      <vt:lpstr>Engenharia de requisitos de software</vt:lpstr>
      <vt:lpstr>Importância da Engenharia de Requisitos</vt:lpstr>
      <vt:lpstr>Importância da Engenharia de Requisitos</vt:lpstr>
      <vt:lpstr>Importância da Engenharia de Requisitos</vt:lpstr>
      <vt:lpstr>Ex. Requisitos do usuário</vt:lpstr>
      <vt:lpstr>Ex. Requisitos do usuário – Há problemas nesses requisitos? </vt:lpstr>
      <vt:lpstr>Classificação de requisitos</vt:lpstr>
      <vt:lpstr>Ex. Requisitos funcionais</vt:lpstr>
      <vt:lpstr>Sobre os requisitos funcionais</vt:lpstr>
      <vt:lpstr>Sobre os requisitos funcionais</vt:lpstr>
      <vt:lpstr>Sobre requisitos não-funcionais</vt:lpstr>
      <vt:lpstr>Problemas na escrita de requisitos</vt:lpstr>
      <vt:lpstr>Problemas na escrita de requisitos</vt:lpstr>
      <vt:lpstr>Requisitos não-funcionais - Exercício</vt:lpstr>
      <vt:lpstr>*ilities</vt:lpstr>
      <vt:lpstr>Requisitos do domínio</vt:lpstr>
      <vt:lpstr>Requisitos do domínio</vt:lpstr>
      <vt:lpstr>Documento de requisitos</vt:lpstr>
      <vt:lpstr>Padrão IEEE 830/1998</vt:lpstr>
      <vt:lpstr>Padrão IEEE 830/1998</vt:lpstr>
      <vt:lpstr>Por que requisitos mudam?</vt:lpstr>
      <vt:lpstr>Stakeholders</vt:lpstr>
      <vt:lpstr>Dificuldade de elicitar requisitos</vt:lpstr>
      <vt:lpstr>Dificuldade de elicitar requisitos</vt:lpstr>
      <vt:lpstr>Dificuldade de elicitar requisitos</vt:lpstr>
      <vt:lpstr>Técnicas de elicitação de requisitos</vt:lpstr>
      <vt:lpstr>Entrevistas</vt:lpstr>
      <vt:lpstr>Perguntas abertas</vt:lpstr>
      <vt:lpstr>Perguntas fechadas</vt:lpstr>
      <vt:lpstr>Condução da entrevista</vt:lpstr>
      <vt:lpstr>Condução da entrevista</vt:lpstr>
      <vt:lpstr>Estudo de sistemas legados</vt:lpstr>
      <vt:lpstr>Documentação de requisitos</vt:lpstr>
      <vt:lpstr>Exercício</vt:lpstr>
      <vt:lpstr>Slide 37</vt:lpstr>
      <vt:lpstr>Exercício</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Requisitos de Software</dc:title>
  <dc:creator>Michel</dc:creator>
  <cp:lastModifiedBy>Michel</cp:lastModifiedBy>
  <cp:revision>58</cp:revision>
  <dcterms:created xsi:type="dcterms:W3CDTF">2012-11-26T19:18:33Z</dcterms:created>
  <dcterms:modified xsi:type="dcterms:W3CDTF">2025-06-02T11:47:04Z</dcterms:modified>
</cp:coreProperties>
</file>
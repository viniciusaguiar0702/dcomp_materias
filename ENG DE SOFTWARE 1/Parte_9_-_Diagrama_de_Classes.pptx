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353" r:id="rId7"/>
    <p:sldId id="360" r:id="rId8"/>
    <p:sldId id="359" r:id="rId9"/>
    <p:sldId id="263" r:id="rId10"/>
    <p:sldId id="265" r:id="rId11"/>
    <p:sldId id="266" r:id="rId12"/>
    <p:sldId id="267" r:id="rId13"/>
    <p:sldId id="346" r:id="rId14"/>
    <p:sldId id="349" r:id="rId15"/>
    <p:sldId id="268" r:id="rId16"/>
    <p:sldId id="352" r:id="rId17"/>
    <p:sldId id="270" r:id="rId18"/>
    <p:sldId id="271" r:id="rId19"/>
    <p:sldId id="272" r:id="rId20"/>
    <p:sldId id="273" r:id="rId21"/>
    <p:sldId id="274" r:id="rId22"/>
    <p:sldId id="275" r:id="rId23"/>
    <p:sldId id="276" r:id="rId24"/>
    <p:sldId id="278" r:id="rId25"/>
    <p:sldId id="279" r:id="rId26"/>
    <p:sldId id="281" r:id="rId27"/>
    <p:sldId id="354" r:id="rId28"/>
    <p:sldId id="282" r:id="rId29"/>
    <p:sldId id="284" r:id="rId30"/>
    <p:sldId id="350" r:id="rId31"/>
    <p:sldId id="287" r:id="rId32"/>
    <p:sldId id="288" r:id="rId33"/>
    <p:sldId id="371" r:id="rId34"/>
    <p:sldId id="289" r:id="rId35"/>
    <p:sldId id="290" r:id="rId36"/>
    <p:sldId id="291" r:id="rId37"/>
    <p:sldId id="292" r:id="rId38"/>
    <p:sldId id="293" r:id="rId39"/>
    <p:sldId id="294" r:id="rId40"/>
    <p:sldId id="321" r:id="rId41"/>
    <p:sldId id="355" r:id="rId42"/>
    <p:sldId id="363" r:id="rId43"/>
    <p:sldId id="364" r:id="rId44"/>
    <p:sldId id="365" r:id="rId45"/>
    <p:sldId id="366" r:id="rId46"/>
    <p:sldId id="367" r:id="rId47"/>
    <p:sldId id="368" r:id="rId48"/>
    <p:sldId id="369" r:id="rId49"/>
    <p:sldId id="356" r:id="rId50"/>
    <p:sldId id="357" r:id="rId51"/>
    <p:sldId id="339" r:id="rId52"/>
    <p:sldId id="340" r:id="rId53"/>
    <p:sldId id="341" r:id="rId54"/>
    <p:sldId id="343" r:id="rId55"/>
    <p:sldId id="342" r:id="rId56"/>
    <p:sldId id="344" r:id="rId57"/>
    <p:sldId id="345" r:id="rId58"/>
    <p:sldId id="362" r:id="rId59"/>
    <p:sldId id="370" r:id="rId60"/>
    <p:sldId id="372" r:id="rId61"/>
    <p:sldId id="373" r:id="rId62"/>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3" d="100"/>
          <a:sy n="83" d="100"/>
        </p:scale>
        <p:origin x="-1426" y="-77"/>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pt-BR" smtClean="0"/>
              <a:t>Clique para editar o estilo do título mestre</a:t>
            </a:r>
            <a:endParaRPr lang="pt-BR"/>
          </a:p>
        </p:txBody>
      </p:sp>
      <p:sp>
        <p:nvSpPr>
          <p:cNvPr id="3" name="Subtítu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smtClean="0"/>
              <a:t>Clique para editar o estilo do subtítulo mestre</a:t>
            </a:r>
            <a:endParaRPr lang="pt-BR"/>
          </a:p>
        </p:txBody>
      </p:sp>
      <p:sp>
        <p:nvSpPr>
          <p:cNvPr id="4" name="Espaço Reservado para Data 3"/>
          <p:cNvSpPr>
            <a:spLocks noGrp="1"/>
          </p:cNvSpPr>
          <p:nvPr>
            <p:ph type="dt" sz="half" idx="10"/>
          </p:nvPr>
        </p:nvSpPr>
        <p:spPr/>
        <p:txBody>
          <a:bodyPr/>
          <a:lstStyle/>
          <a:p>
            <a:fld id="{2E700DB3-DBF0-4086-B675-117E7A9610B8}" type="datetimeFigureOut">
              <a:rPr lang="pt-BR" smtClean="0"/>
              <a:pPr/>
              <a:t>08/05/2025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119D8CF-8DEC-4D9F-84EE-ADF04DFF3391}" type="slidenum">
              <a:rPr lang="pt-BR" smtClean="0"/>
              <a:pPr/>
              <a:t>‹#›</a:t>
            </a:fld>
            <a:endParaRPr lang="pt-B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estilo do título mestre</a:t>
            </a:r>
            <a:endParaRPr lang="pt-BR"/>
          </a:p>
        </p:txBody>
      </p:sp>
      <p:sp>
        <p:nvSpPr>
          <p:cNvPr id="3" name="Espaço Reservado para Conteúdo 2"/>
          <p:cNvSpPr>
            <a:spLocks noGrp="1"/>
          </p:cNvSpPr>
          <p:nvPr>
            <p:ph idx="1"/>
          </p:nvPr>
        </p:nvSpPr>
        <p:spPr/>
        <p:txBody>
          <a:body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2E700DB3-DBF0-4086-B675-117E7A9610B8}" type="datetimeFigureOut">
              <a:rPr lang="pt-BR" smtClean="0"/>
              <a:pPr/>
              <a:t>08/05/2025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119D8CF-8DEC-4D9F-84EE-ADF04DFF3391}" type="slidenum">
              <a:rPr lang="pt-BR" smtClean="0"/>
              <a:pPr/>
              <a:t>‹#›</a:t>
            </a:fld>
            <a:endParaRPr lang="pt-B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pt-BR" smtClean="0"/>
              <a:t>Clique para editar o estilo do título mestre</a:t>
            </a:r>
            <a:endParaRPr lang="pt-BR"/>
          </a:p>
        </p:txBody>
      </p:sp>
      <p:sp>
        <p:nvSpPr>
          <p:cNvPr id="3" name="Espaço Reservado para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smtClean="0"/>
              <a:t>Clique para editar os estilos do texto mestre</a:t>
            </a:r>
          </a:p>
        </p:txBody>
      </p:sp>
      <p:sp>
        <p:nvSpPr>
          <p:cNvPr id="4" name="Espaço Reservado para Data 3"/>
          <p:cNvSpPr>
            <a:spLocks noGrp="1"/>
          </p:cNvSpPr>
          <p:nvPr>
            <p:ph type="dt" sz="half" idx="10"/>
          </p:nvPr>
        </p:nvSpPr>
        <p:spPr/>
        <p:txBody>
          <a:bodyPr/>
          <a:lstStyle/>
          <a:p>
            <a:fld id="{2E700DB3-DBF0-4086-B675-117E7A9610B8}" type="datetimeFigureOut">
              <a:rPr lang="pt-BR" smtClean="0"/>
              <a:pPr/>
              <a:t>08/05/2025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119D8CF-8DEC-4D9F-84EE-ADF04DFF3391}" type="slidenum">
              <a:rPr lang="pt-BR" smtClean="0"/>
              <a:pPr/>
              <a:t>‹#›</a:t>
            </a:fld>
            <a:endParaRPr lang="pt-B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estilo do título mestre</a:t>
            </a:r>
            <a:endParaRPr lang="pt-BR"/>
          </a:p>
        </p:txBody>
      </p:sp>
      <p:sp>
        <p:nvSpPr>
          <p:cNvPr id="3" name="Espaço Reservado para Conteúd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Conteúd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Data 4"/>
          <p:cNvSpPr>
            <a:spLocks noGrp="1"/>
          </p:cNvSpPr>
          <p:nvPr>
            <p:ph type="dt" sz="half" idx="10"/>
          </p:nvPr>
        </p:nvSpPr>
        <p:spPr/>
        <p:txBody>
          <a:bodyPr/>
          <a:lstStyle/>
          <a:p>
            <a:fld id="{2E700DB3-DBF0-4086-B675-117E7A9610B8}" type="datetimeFigureOut">
              <a:rPr lang="pt-BR" smtClean="0"/>
              <a:pPr/>
              <a:t>08/05/2025</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2119D8CF-8DEC-4D9F-84EE-ADF04DFF3391}" type="slidenum">
              <a:rPr lang="pt-BR" smtClean="0"/>
              <a:pPr/>
              <a:t>‹#›</a:t>
            </a:fld>
            <a:endParaRPr lang="pt-B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smtClean="0"/>
              <a:t>Clique para editar o estilo do título mestre</a:t>
            </a:r>
            <a:endParaRPr lang="pt-BR"/>
          </a:p>
        </p:txBody>
      </p:sp>
      <p:sp>
        <p:nvSpPr>
          <p:cNvPr id="3" name="Espaço Reservado para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os estilos do texto mestre</a:t>
            </a:r>
          </a:p>
        </p:txBody>
      </p:sp>
      <p:sp>
        <p:nvSpPr>
          <p:cNvPr id="4" name="Espaço Reservado para Conteú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os estilos do texto mestre</a:t>
            </a:r>
          </a:p>
        </p:txBody>
      </p:sp>
      <p:sp>
        <p:nvSpPr>
          <p:cNvPr id="6" name="Espaço Reservado para Conteú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7" name="Espaço Reservado para Data 6"/>
          <p:cNvSpPr>
            <a:spLocks noGrp="1"/>
          </p:cNvSpPr>
          <p:nvPr>
            <p:ph type="dt" sz="half" idx="10"/>
          </p:nvPr>
        </p:nvSpPr>
        <p:spPr/>
        <p:txBody>
          <a:bodyPr/>
          <a:lstStyle/>
          <a:p>
            <a:fld id="{2E700DB3-DBF0-4086-B675-117E7A9610B8}" type="datetimeFigureOut">
              <a:rPr lang="pt-BR" smtClean="0"/>
              <a:pPr/>
              <a:t>08/05/2025</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2119D8CF-8DEC-4D9F-84EE-ADF04DFF3391}" type="slidenum">
              <a:rPr lang="pt-BR" smtClean="0"/>
              <a:pPr/>
              <a:t>‹#›</a:t>
            </a:fld>
            <a:endParaRPr lang="pt-B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estilo do título mestre</a:t>
            </a:r>
            <a:endParaRPr lang="pt-BR"/>
          </a:p>
        </p:txBody>
      </p:sp>
      <p:sp>
        <p:nvSpPr>
          <p:cNvPr id="3" name="Espaço Reservado para Data 2"/>
          <p:cNvSpPr>
            <a:spLocks noGrp="1"/>
          </p:cNvSpPr>
          <p:nvPr>
            <p:ph type="dt" sz="half" idx="10"/>
          </p:nvPr>
        </p:nvSpPr>
        <p:spPr/>
        <p:txBody>
          <a:bodyPr/>
          <a:lstStyle/>
          <a:p>
            <a:fld id="{2E700DB3-DBF0-4086-B675-117E7A9610B8}" type="datetimeFigureOut">
              <a:rPr lang="pt-BR" smtClean="0"/>
              <a:pPr/>
              <a:t>08/05/2025</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2119D8CF-8DEC-4D9F-84EE-ADF04DFF3391}" type="slidenum">
              <a:rPr lang="pt-BR" smtClean="0"/>
              <a:pPr/>
              <a:t>‹#›</a:t>
            </a:fld>
            <a:endParaRPr lang="pt-B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2E700DB3-DBF0-4086-B675-117E7A9610B8}" type="datetimeFigureOut">
              <a:rPr lang="pt-BR" smtClean="0"/>
              <a:pPr/>
              <a:t>08/05/2025</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2119D8CF-8DEC-4D9F-84EE-ADF04DFF3391}" type="slidenum">
              <a:rPr lang="pt-BR" smtClean="0"/>
              <a:pPr/>
              <a:t>‹#›</a:t>
            </a:fld>
            <a:endParaRPr lang="pt-B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pt-BR" smtClean="0"/>
              <a:t>Clique para editar o estilo do título mestre</a:t>
            </a:r>
            <a:endParaRPr lang="pt-BR"/>
          </a:p>
        </p:txBody>
      </p:sp>
      <p:sp>
        <p:nvSpPr>
          <p:cNvPr id="3" name="Espaço Reservado para Conteú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Clique para editar os estilos do texto mestre</a:t>
            </a:r>
          </a:p>
        </p:txBody>
      </p:sp>
      <p:sp>
        <p:nvSpPr>
          <p:cNvPr id="5" name="Espaço Reservado para Data 4"/>
          <p:cNvSpPr>
            <a:spLocks noGrp="1"/>
          </p:cNvSpPr>
          <p:nvPr>
            <p:ph type="dt" sz="half" idx="10"/>
          </p:nvPr>
        </p:nvSpPr>
        <p:spPr/>
        <p:txBody>
          <a:bodyPr/>
          <a:lstStyle/>
          <a:p>
            <a:fld id="{2E700DB3-DBF0-4086-B675-117E7A9610B8}" type="datetimeFigureOut">
              <a:rPr lang="pt-BR" smtClean="0"/>
              <a:pPr/>
              <a:t>08/05/2025</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2119D8CF-8DEC-4D9F-84EE-ADF04DFF3391}" type="slidenum">
              <a:rPr lang="pt-BR" smtClean="0"/>
              <a:pPr/>
              <a:t>‹#›</a:t>
            </a:fld>
            <a:endParaRPr lang="pt-B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pt-BR" smtClean="0"/>
              <a:t>Clique para editar o estilo do título mestre</a:t>
            </a:r>
            <a:endParaRPr lang="pt-BR"/>
          </a:p>
        </p:txBody>
      </p:sp>
      <p:sp>
        <p:nvSpPr>
          <p:cNvPr id="3" name="Espaço Reservado para Imagem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Clique para editar os estilos do texto mestre</a:t>
            </a:r>
          </a:p>
        </p:txBody>
      </p:sp>
      <p:sp>
        <p:nvSpPr>
          <p:cNvPr id="5" name="Espaço Reservado para Data 4"/>
          <p:cNvSpPr>
            <a:spLocks noGrp="1"/>
          </p:cNvSpPr>
          <p:nvPr>
            <p:ph type="dt" sz="half" idx="10"/>
          </p:nvPr>
        </p:nvSpPr>
        <p:spPr/>
        <p:txBody>
          <a:bodyPr/>
          <a:lstStyle/>
          <a:p>
            <a:fld id="{2E700DB3-DBF0-4086-B675-117E7A9610B8}" type="datetimeFigureOut">
              <a:rPr lang="pt-BR" smtClean="0"/>
              <a:pPr/>
              <a:t>08/05/2025</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2119D8CF-8DEC-4D9F-84EE-ADF04DFF3391}" type="slidenum">
              <a:rPr lang="pt-BR" smtClean="0"/>
              <a:pPr/>
              <a:t>‹#›</a:t>
            </a:fld>
            <a:endParaRPr lang="pt-B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estilo do título mestre</a:t>
            </a:r>
            <a:endParaRPr lang="pt-BR"/>
          </a:p>
        </p:txBody>
      </p:sp>
      <p:sp>
        <p:nvSpPr>
          <p:cNvPr id="3" name="Espaço Reservado para Texto Vertical 2"/>
          <p:cNvSpPr>
            <a:spLocks noGrp="1"/>
          </p:cNvSpPr>
          <p:nvPr>
            <p:ph type="body" orient="vert" idx="1"/>
          </p:nvPr>
        </p:nvSpPr>
        <p:spPr/>
        <p:txBody>
          <a:bodyPr vert="eaVert"/>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2E700DB3-DBF0-4086-B675-117E7A9610B8}" type="datetimeFigureOut">
              <a:rPr lang="pt-BR" smtClean="0"/>
              <a:pPr/>
              <a:t>08/05/2025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119D8CF-8DEC-4D9F-84EE-ADF04DFF3391}" type="slidenum">
              <a:rPr lang="pt-BR" smtClean="0"/>
              <a:pPr/>
              <a:t>‹#›</a:t>
            </a:fld>
            <a:endParaRPr lang="pt-B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pt-BR" smtClean="0"/>
              <a:t>Clique para editar o estilo do título mestre</a:t>
            </a:r>
            <a:endParaRPr lang="pt-BR"/>
          </a:p>
        </p:txBody>
      </p:sp>
      <p:sp>
        <p:nvSpPr>
          <p:cNvPr id="3" name="Espaço Reservado para Texto Vertical 2"/>
          <p:cNvSpPr>
            <a:spLocks noGrp="1"/>
          </p:cNvSpPr>
          <p:nvPr>
            <p:ph type="body" orient="vert" idx="1"/>
          </p:nvPr>
        </p:nvSpPr>
        <p:spPr>
          <a:xfrm>
            <a:off x="457200" y="274638"/>
            <a:ext cx="6019800" cy="5851525"/>
          </a:xfrm>
        </p:spPr>
        <p:txBody>
          <a:bodyPr vert="eaVert"/>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2E700DB3-DBF0-4086-B675-117E7A9610B8}" type="datetimeFigureOut">
              <a:rPr lang="pt-BR" smtClean="0"/>
              <a:pPr/>
              <a:t>08/05/2025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119D8CF-8DEC-4D9F-84EE-ADF04DFF3391}" type="slidenum">
              <a:rPr lang="pt-BR" smtClean="0"/>
              <a:pPr/>
              <a:t>‹#›</a:t>
            </a:fld>
            <a:endParaRPr lang="pt-B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pt-BR" smtClean="0"/>
              <a:t>Clique para editar o estilo do título mestre</a:t>
            </a:r>
            <a:endParaRPr lang="pt-BR"/>
          </a:p>
        </p:txBody>
      </p:sp>
      <p:sp>
        <p:nvSpPr>
          <p:cNvPr id="3" name="Espaço Reservado para Tex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700DB3-DBF0-4086-B675-117E7A9610B8}" type="datetimeFigureOut">
              <a:rPr lang="pt-BR" smtClean="0"/>
              <a:pPr/>
              <a:t>08/05/2025</a:t>
            </a:fld>
            <a:endParaRPr lang="pt-BR"/>
          </a:p>
        </p:txBody>
      </p:sp>
      <p:sp>
        <p:nvSpPr>
          <p:cNvPr id="5" name="Espaço Reservado para Rodapé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19D8CF-8DEC-4D9F-84EE-ADF04DFF3391}" type="slidenum">
              <a:rPr lang="pt-BR" smtClean="0"/>
              <a:pPr/>
              <a:t>‹#›</a:t>
            </a:fld>
            <a:endParaRPr lang="pt-B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citeseer.ist.psu.edu/513482.html"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5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pt-BR" dirty="0" smtClean="0"/>
              <a:t>Diagrama de Classes</a:t>
            </a:r>
            <a:endParaRPr lang="pt-BR" dirty="0"/>
          </a:p>
        </p:txBody>
      </p:sp>
      <p:sp>
        <p:nvSpPr>
          <p:cNvPr id="3" name="Subtítulo 2"/>
          <p:cNvSpPr>
            <a:spLocks noGrp="1"/>
          </p:cNvSpPr>
          <p:nvPr>
            <p:ph type="subTitle" idx="1"/>
          </p:nvPr>
        </p:nvSpPr>
        <p:spPr/>
        <p:txBody>
          <a:bodyPr/>
          <a:lstStyle/>
          <a:p>
            <a:endParaRPr lang="pt-B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Objetivos</a:t>
            </a:r>
            <a:endParaRPr lang="pt-BR" dirty="0"/>
          </a:p>
        </p:txBody>
      </p:sp>
      <p:sp>
        <p:nvSpPr>
          <p:cNvPr id="3" name="Espaço Reservado para Conteúdo 2"/>
          <p:cNvSpPr>
            <a:spLocks noGrp="1"/>
          </p:cNvSpPr>
          <p:nvPr>
            <p:ph idx="1"/>
          </p:nvPr>
        </p:nvSpPr>
        <p:spPr/>
        <p:txBody>
          <a:bodyPr/>
          <a:lstStyle/>
          <a:p>
            <a:r>
              <a:rPr lang="pt-BR" dirty="0" smtClean="0"/>
              <a:t>Prover respostas para as seguintes perguntas:</a:t>
            </a:r>
          </a:p>
          <a:p>
            <a:pPr lvl="1"/>
            <a:r>
              <a:rPr lang="pt-BR" dirty="0" smtClean="0"/>
              <a:t>Quais objetos constituem o sistema em questão?</a:t>
            </a:r>
          </a:p>
          <a:p>
            <a:pPr lvl="1"/>
            <a:r>
              <a:rPr lang="pt-BR" dirty="0" smtClean="0"/>
              <a:t>Como as classes do sistema estão relacionadas entre si?</a:t>
            </a:r>
          </a:p>
          <a:p>
            <a:pPr lvl="1"/>
            <a:r>
              <a:rPr lang="pt-BR" dirty="0" smtClean="0"/>
              <a:t>Quais são as responsabilidades de cada classe?</a:t>
            </a:r>
          </a:p>
          <a:p>
            <a:endParaRPr lang="pt-BR"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smtClean="0"/>
              <a:t>Modelo de Classes de Análise </a:t>
            </a:r>
            <a:br>
              <a:rPr lang="pt-BR" dirty="0" smtClean="0"/>
            </a:br>
            <a:r>
              <a:rPr lang="pt-BR" dirty="0" smtClean="0"/>
              <a:t>(Análise do Domínio)</a:t>
            </a:r>
            <a:endParaRPr lang="pt-BR" dirty="0"/>
          </a:p>
        </p:txBody>
      </p:sp>
      <p:sp>
        <p:nvSpPr>
          <p:cNvPr id="3" name="Espaço Reservado para Conteúdo 2"/>
          <p:cNvSpPr>
            <a:spLocks noGrp="1"/>
          </p:cNvSpPr>
          <p:nvPr>
            <p:ph idx="1"/>
          </p:nvPr>
        </p:nvSpPr>
        <p:spPr/>
        <p:txBody>
          <a:bodyPr>
            <a:normAutofit/>
          </a:bodyPr>
          <a:lstStyle/>
          <a:p>
            <a:r>
              <a:rPr lang="pt-BR" dirty="0" smtClean="0"/>
              <a:t>Representa termos do domínio do negócio.</a:t>
            </a:r>
          </a:p>
          <a:p>
            <a:r>
              <a:rPr lang="pt-BR" dirty="0" smtClean="0"/>
              <a:t>Idéias, coisas, e conceitos no mundo real.</a:t>
            </a:r>
          </a:p>
          <a:p>
            <a:r>
              <a:rPr lang="pt-BR" dirty="0" smtClean="0"/>
              <a:t>Descreve o </a:t>
            </a:r>
            <a:r>
              <a:rPr lang="pt-BR" u="sng" dirty="0" smtClean="0"/>
              <a:t>problema</a:t>
            </a:r>
            <a:r>
              <a:rPr lang="pt-BR" dirty="0" smtClean="0"/>
              <a:t> representado pelo sistema a ser desenvolvido, sem considerar características da </a:t>
            </a:r>
            <a:r>
              <a:rPr lang="pt-BR" u="sng" dirty="0" smtClean="0"/>
              <a:t>solução</a:t>
            </a:r>
            <a:r>
              <a:rPr lang="pt-BR" dirty="0" smtClean="0"/>
              <a:t> a ser utilizada.</a:t>
            </a:r>
          </a:p>
          <a:p>
            <a:pPr>
              <a:buNone/>
            </a:pPr>
            <a:endParaRPr lang="pt-BR"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Classes</a:t>
            </a:r>
            <a:endParaRPr lang="pt-BR" dirty="0"/>
          </a:p>
        </p:txBody>
      </p:sp>
      <p:sp>
        <p:nvSpPr>
          <p:cNvPr id="3" name="Espaço Reservado para Conteúdo 2"/>
          <p:cNvSpPr>
            <a:spLocks noGrp="1"/>
          </p:cNvSpPr>
          <p:nvPr>
            <p:ph idx="1"/>
          </p:nvPr>
        </p:nvSpPr>
        <p:spPr>
          <a:xfrm>
            <a:off x="179512" y="1196752"/>
            <a:ext cx="8784976" cy="4525963"/>
          </a:xfrm>
        </p:spPr>
        <p:txBody>
          <a:bodyPr>
            <a:normAutofit/>
          </a:bodyPr>
          <a:lstStyle/>
          <a:p>
            <a:r>
              <a:rPr lang="pt-BR" sz="3000" dirty="0" smtClean="0"/>
              <a:t>Descreve objetos por meio de </a:t>
            </a:r>
            <a:r>
              <a:rPr lang="pt-BR" sz="3000" b="1" i="1" dirty="0" smtClean="0"/>
              <a:t>atributos e operações.</a:t>
            </a:r>
          </a:p>
          <a:p>
            <a:pPr lvl="1"/>
            <a:r>
              <a:rPr lang="pt-BR" sz="3000" dirty="0" smtClean="0"/>
              <a:t>Atributos: informações que um objeto armazena.</a:t>
            </a:r>
          </a:p>
          <a:p>
            <a:pPr lvl="1"/>
            <a:r>
              <a:rPr lang="pt-BR" sz="3000" dirty="0" smtClean="0"/>
              <a:t>Operações: ações que um objeto sabe realizar.</a:t>
            </a:r>
          </a:p>
          <a:p>
            <a:endParaRPr lang="pt-BR" dirty="0"/>
          </a:p>
        </p:txBody>
      </p:sp>
      <p:pic>
        <p:nvPicPr>
          <p:cNvPr id="2050" name="Picture 2"/>
          <p:cNvPicPr>
            <a:picLocks noChangeAspect="1" noChangeArrowheads="1"/>
          </p:cNvPicPr>
          <p:nvPr/>
        </p:nvPicPr>
        <p:blipFill>
          <a:blip r:embed="rId2" cstate="print"/>
          <a:srcRect/>
          <a:stretch>
            <a:fillRect/>
          </a:stretch>
        </p:blipFill>
        <p:spPr bwMode="auto">
          <a:xfrm>
            <a:off x="243275" y="4664298"/>
            <a:ext cx="8577197" cy="106895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Exemplo</a:t>
            </a:r>
            <a:endParaRPr lang="pt-BR" dirty="0"/>
          </a:p>
        </p:txBody>
      </p:sp>
      <p:pic>
        <p:nvPicPr>
          <p:cNvPr id="3074" name="Picture 2"/>
          <p:cNvPicPr>
            <a:picLocks noChangeAspect="1" noChangeArrowheads="1"/>
          </p:cNvPicPr>
          <p:nvPr/>
        </p:nvPicPr>
        <p:blipFill>
          <a:blip r:embed="rId2" cstate="print"/>
          <a:srcRect/>
          <a:stretch>
            <a:fillRect/>
          </a:stretch>
        </p:blipFill>
        <p:spPr bwMode="auto">
          <a:xfrm>
            <a:off x="83752" y="2311460"/>
            <a:ext cx="8880736" cy="255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smtClean="0"/>
              <a:t>Atributos</a:t>
            </a:r>
            <a:endParaRPr lang="pt-BR" dirty="0"/>
          </a:p>
        </p:txBody>
      </p:sp>
      <p:sp>
        <p:nvSpPr>
          <p:cNvPr id="3" name="Content Placeholder 2"/>
          <p:cNvSpPr>
            <a:spLocks noGrp="1"/>
          </p:cNvSpPr>
          <p:nvPr>
            <p:ph idx="1"/>
          </p:nvPr>
        </p:nvSpPr>
        <p:spPr/>
        <p:txBody>
          <a:bodyPr/>
          <a:lstStyle/>
          <a:p>
            <a:r>
              <a:rPr lang="pt-BR" dirty="0" smtClean="0"/>
              <a:t>Elementos alfanuméricos e primitivos</a:t>
            </a:r>
          </a:p>
          <a:p>
            <a:r>
              <a:rPr lang="pt-BR" dirty="0" smtClean="0"/>
              <a:t>Possuem um tipo, como string, int, float, ...</a:t>
            </a:r>
          </a:p>
          <a:p>
            <a:r>
              <a:rPr lang="pt-BR" dirty="0" smtClean="0"/>
              <a:t>Exs.: nome, telefone, datas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pt-BR" dirty="0" smtClean="0"/>
              <a:t>Nota sobre modelagem de software</a:t>
            </a:r>
            <a:endParaRPr lang="pt-BR" dirty="0"/>
          </a:p>
        </p:txBody>
      </p:sp>
      <p:sp>
        <p:nvSpPr>
          <p:cNvPr id="3" name="Content Placeholder 2"/>
          <p:cNvSpPr>
            <a:spLocks noGrp="1"/>
          </p:cNvSpPr>
          <p:nvPr>
            <p:ph idx="1"/>
          </p:nvPr>
        </p:nvSpPr>
        <p:spPr/>
        <p:txBody>
          <a:bodyPr/>
          <a:lstStyle/>
          <a:p>
            <a:r>
              <a:rPr lang="pt-BR" dirty="0" smtClean="0"/>
              <a:t>Frequentemente não há a solução errada.</a:t>
            </a:r>
          </a:p>
          <a:p>
            <a:r>
              <a:rPr lang="pt-BR" dirty="0" smtClean="0"/>
              <a:t>Depende também do domínio da aplicação.</a:t>
            </a:r>
          </a:p>
          <a:p>
            <a:r>
              <a:rPr lang="pt-BR" dirty="0" smtClean="0"/>
              <a:t>Há modelos</a:t>
            </a:r>
          </a:p>
          <a:p>
            <a:pPr lvl="1"/>
            <a:r>
              <a:rPr lang="pt-BR" dirty="0" smtClean="0"/>
              <a:t>Mais adequados</a:t>
            </a:r>
          </a:p>
          <a:p>
            <a:pPr lvl="1"/>
            <a:r>
              <a:rPr lang="pt-BR" dirty="0" smtClean="0"/>
              <a:t>Menos adequados</a:t>
            </a:r>
          </a:p>
          <a:p>
            <a:pPr lvl="1"/>
            <a:endParaRPr lang="pt-BR" dirty="0" smtClean="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smtClean="0"/>
              <a:t>Questão</a:t>
            </a:r>
            <a:endParaRPr lang="pt-BR" dirty="0"/>
          </a:p>
        </p:txBody>
      </p:sp>
      <p:sp>
        <p:nvSpPr>
          <p:cNvPr id="3" name="Content Placeholder 2"/>
          <p:cNvSpPr>
            <a:spLocks noGrp="1"/>
          </p:cNvSpPr>
          <p:nvPr>
            <p:ph idx="1"/>
          </p:nvPr>
        </p:nvSpPr>
        <p:spPr/>
        <p:txBody>
          <a:bodyPr/>
          <a:lstStyle/>
          <a:p>
            <a:r>
              <a:rPr lang="pt-BR" dirty="0" smtClean="0"/>
              <a:t>Endereço deve ser modelado como: </a:t>
            </a:r>
          </a:p>
          <a:p>
            <a:pPr lvl="1"/>
            <a:r>
              <a:rPr lang="pt-BR" dirty="0" smtClean="0"/>
              <a:t>Atributo? </a:t>
            </a:r>
          </a:p>
          <a:p>
            <a:pPr lvl="1"/>
            <a:r>
              <a:rPr lang="pt-BR" dirty="0" smtClean="0"/>
              <a:t>Classe? </a:t>
            </a:r>
          </a:p>
          <a:p>
            <a:pPr lvl="1"/>
            <a:endParaRPr lang="pt-BR" dirty="0" smtClean="0"/>
          </a:p>
          <a:p>
            <a:r>
              <a:rPr lang="pt-BR" dirty="0" smtClean="0"/>
              <a:t>CPF é atributo ou classe? </a:t>
            </a:r>
          </a:p>
          <a:p>
            <a:pPr lvl="1"/>
            <a:endParaRPr lang="pt-BR" dirty="0" smtClean="0"/>
          </a:p>
          <a:p>
            <a:pPr lvl="1"/>
            <a:endParaRPr lang="pt-B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Notação para associações</a:t>
            </a:r>
            <a:endParaRPr lang="pt-BR" dirty="0"/>
          </a:p>
        </p:txBody>
      </p:sp>
      <p:sp>
        <p:nvSpPr>
          <p:cNvPr id="3" name="Espaço Reservado para Conteúdo 2"/>
          <p:cNvSpPr>
            <a:spLocks noGrp="1"/>
          </p:cNvSpPr>
          <p:nvPr>
            <p:ph idx="1"/>
          </p:nvPr>
        </p:nvSpPr>
        <p:spPr/>
        <p:txBody>
          <a:bodyPr>
            <a:normAutofit/>
          </a:bodyPr>
          <a:lstStyle/>
          <a:p>
            <a:r>
              <a:rPr lang="pt-BR" sz="2400" dirty="0" smtClean="0"/>
              <a:t>Relacionamentos que são formados entre objetos durante a </a:t>
            </a:r>
            <a:r>
              <a:rPr lang="pt-BR" sz="2400" u="sng" dirty="0" smtClean="0"/>
              <a:t>execução do sistema.</a:t>
            </a:r>
            <a:endParaRPr lang="pt-BR" sz="2400" dirty="0"/>
          </a:p>
        </p:txBody>
      </p:sp>
      <p:pic>
        <p:nvPicPr>
          <p:cNvPr id="4098" name="Picture 2"/>
          <p:cNvPicPr>
            <a:picLocks noChangeAspect="1" noChangeArrowheads="1"/>
          </p:cNvPicPr>
          <p:nvPr/>
        </p:nvPicPr>
        <p:blipFill>
          <a:blip r:embed="rId2" cstate="print"/>
          <a:srcRect/>
          <a:stretch>
            <a:fillRect/>
          </a:stretch>
        </p:blipFill>
        <p:spPr bwMode="auto">
          <a:xfrm>
            <a:off x="804198" y="2636912"/>
            <a:ext cx="7055884" cy="388843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cstate="print"/>
          <a:srcRect/>
          <a:stretch>
            <a:fillRect/>
          </a:stretch>
        </p:blipFill>
        <p:spPr bwMode="auto">
          <a:xfrm>
            <a:off x="455613" y="669925"/>
            <a:ext cx="8231187" cy="55165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Participação</a:t>
            </a:r>
            <a:endParaRPr lang="pt-BR" dirty="0"/>
          </a:p>
        </p:txBody>
      </p:sp>
      <p:sp>
        <p:nvSpPr>
          <p:cNvPr id="3" name="Espaço Reservado para Conteúdo 2"/>
          <p:cNvSpPr>
            <a:spLocks noGrp="1"/>
          </p:cNvSpPr>
          <p:nvPr>
            <p:ph idx="1"/>
          </p:nvPr>
        </p:nvSpPr>
        <p:spPr/>
        <p:txBody>
          <a:bodyPr>
            <a:normAutofit/>
          </a:bodyPr>
          <a:lstStyle/>
          <a:p>
            <a:r>
              <a:rPr lang="pt-BR" dirty="0" smtClean="0"/>
              <a:t>Uma característica de uma associação que indica a necessidade (ou não) da existência desta associação entre objetos. </a:t>
            </a:r>
          </a:p>
          <a:p>
            <a:r>
              <a:rPr lang="pt-BR" dirty="0" smtClean="0"/>
              <a:t>Participação pode ser </a:t>
            </a:r>
            <a:r>
              <a:rPr lang="pt-BR" i="1" dirty="0" smtClean="0"/>
              <a:t>obrigatória ou opcional.</a:t>
            </a:r>
          </a:p>
          <a:p>
            <a:pPr lvl="1"/>
            <a:r>
              <a:rPr lang="pt-BR" dirty="0" smtClean="0"/>
              <a:t>Se o valor mínimo da multiplicidade de uma associação é igual a 1, a participação é </a:t>
            </a:r>
            <a:r>
              <a:rPr lang="pt-BR" u="sng" dirty="0" smtClean="0"/>
              <a:t>obrigatória</a:t>
            </a:r>
          </a:p>
          <a:p>
            <a:pPr lvl="1"/>
            <a:r>
              <a:rPr lang="pt-BR" dirty="0" smtClean="0"/>
              <a:t>Caso contrário, a participação é </a:t>
            </a:r>
            <a:r>
              <a:rPr lang="pt-BR" u="sng" dirty="0" smtClean="0"/>
              <a:t>opcional. </a:t>
            </a:r>
          </a:p>
          <a:p>
            <a:endParaRPr lang="pt-BR"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Acessórios para associações</a:t>
            </a:r>
            <a:endParaRPr lang="pt-BR" dirty="0"/>
          </a:p>
        </p:txBody>
      </p:sp>
      <p:sp>
        <p:nvSpPr>
          <p:cNvPr id="3" name="Espaço Reservado para Conteúdo 2"/>
          <p:cNvSpPr>
            <a:spLocks noGrp="1"/>
          </p:cNvSpPr>
          <p:nvPr>
            <p:ph idx="1"/>
          </p:nvPr>
        </p:nvSpPr>
        <p:spPr/>
        <p:txBody>
          <a:bodyPr/>
          <a:lstStyle/>
          <a:p>
            <a:r>
              <a:rPr lang="pt-BR" sz="2400" dirty="0" smtClean="0"/>
              <a:t>A UML define três recursos de notação para associações:</a:t>
            </a:r>
          </a:p>
          <a:p>
            <a:pPr lvl="1"/>
            <a:r>
              <a:rPr lang="pt-BR" sz="2000" b="1" i="1" dirty="0" smtClean="0"/>
              <a:t>Nome da associação: significado semântico a mesma.</a:t>
            </a:r>
          </a:p>
          <a:p>
            <a:pPr lvl="1"/>
            <a:r>
              <a:rPr lang="pt-BR" sz="2000" b="1" i="1" dirty="0" smtClean="0"/>
              <a:t>Direção de leitura: indica como a associação deve ser lida</a:t>
            </a:r>
          </a:p>
          <a:p>
            <a:pPr lvl="1"/>
            <a:r>
              <a:rPr lang="pt-BR" sz="2000" b="1" i="1" dirty="0" smtClean="0"/>
              <a:t>Papel: representa um papel específico em uma associação.</a:t>
            </a:r>
          </a:p>
          <a:p>
            <a:endParaRPr lang="pt-BR" dirty="0"/>
          </a:p>
        </p:txBody>
      </p:sp>
      <p:pic>
        <p:nvPicPr>
          <p:cNvPr id="7170" name="Picture 2"/>
          <p:cNvPicPr>
            <a:picLocks noChangeAspect="1" noChangeArrowheads="1"/>
          </p:cNvPicPr>
          <p:nvPr/>
        </p:nvPicPr>
        <p:blipFill>
          <a:blip r:embed="rId2" cstate="print"/>
          <a:srcRect/>
          <a:stretch>
            <a:fillRect/>
          </a:stretch>
        </p:blipFill>
        <p:spPr bwMode="auto">
          <a:xfrm>
            <a:off x="179512" y="3717032"/>
            <a:ext cx="8837476" cy="288032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smtClean="0"/>
              <a:t>Um </a:t>
            </a:r>
            <a:r>
              <a:rPr lang="en-US" dirty="0" err="1" smtClean="0"/>
              <a:t>problema</a:t>
            </a:r>
            <a:r>
              <a:rPr lang="en-US" dirty="0" smtClean="0"/>
              <a:t> …</a:t>
            </a:r>
            <a:endParaRPr lang="pt-BR" dirty="0"/>
          </a:p>
        </p:txBody>
      </p:sp>
      <p:sp>
        <p:nvSpPr>
          <p:cNvPr id="5" name="Espaço Reservado para Conteúdo 2"/>
          <p:cNvSpPr>
            <a:spLocks noGrp="1"/>
          </p:cNvSpPr>
          <p:nvPr>
            <p:ph idx="1"/>
          </p:nvPr>
        </p:nvSpPr>
        <p:spPr>
          <a:xfrm>
            <a:off x="323528" y="1700808"/>
            <a:ext cx="8229600" cy="4525963"/>
          </a:xfrm>
        </p:spPr>
        <p:txBody>
          <a:bodyPr>
            <a:normAutofit/>
          </a:bodyPr>
          <a:lstStyle/>
          <a:p>
            <a:r>
              <a:rPr lang="en-US" dirty="0" err="1" smtClean="0"/>
              <a:t>Em</a:t>
            </a:r>
            <a:r>
              <a:rPr lang="en-US" dirty="0" smtClean="0"/>
              <a:t> um </a:t>
            </a:r>
            <a:r>
              <a:rPr lang="en-US" dirty="0" err="1" smtClean="0"/>
              <a:t>relacionamento</a:t>
            </a:r>
            <a:r>
              <a:rPr lang="en-US" dirty="0" smtClean="0"/>
              <a:t> entre </a:t>
            </a:r>
            <a:r>
              <a:rPr lang="en-US" dirty="0" err="1" smtClean="0"/>
              <a:t>pessoa</a:t>
            </a:r>
            <a:r>
              <a:rPr lang="en-US" dirty="0" smtClean="0"/>
              <a:t> e </a:t>
            </a:r>
            <a:r>
              <a:rPr lang="en-US" dirty="0" err="1" smtClean="0"/>
              <a:t>empresa</a:t>
            </a:r>
            <a:r>
              <a:rPr lang="en-US" dirty="0" smtClean="0"/>
              <a:t>, </a:t>
            </a:r>
            <a:r>
              <a:rPr lang="en-US" dirty="0" err="1" smtClean="0"/>
              <a:t>denominado</a:t>
            </a:r>
            <a:r>
              <a:rPr lang="en-US" dirty="0" smtClean="0"/>
              <a:t> </a:t>
            </a:r>
            <a:r>
              <a:rPr lang="en-US" dirty="0" err="1" smtClean="0"/>
              <a:t>emprego</a:t>
            </a:r>
            <a:r>
              <a:rPr lang="en-US" dirty="0" smtClean="0"/>
              <a:t>, </a:t>
            </a:r>
            <a:r>
              <a:rPr lang="en-US" dirty="0" err="1" smtClean="0"/>
              <a:t>onde</a:t>
            </a:r>
            <a:r>
              <a:rPr lang="en-US" dirty="0" smtClean="0"/>
              <a:t> </a:t>
            </a:r>
            <a:r>
              <a:rPr lang="en-US" dirty="0" err="1" smtClean="0"/>
              <a:t>ficam</a:t>
            </a:r>
            <a:r>
              <a:rPr lang="en-US" dirty="0" smtClean="0"/>
              <a:t> </a:t>
            </a:r>
            <a:r>
              <a:rPr lang="en-US" dirty="0" err="1" smtClean="0"/>
              <a:t>os</a:t>
            </a:r>
            <a:r>
              <a:rPr lang="en-US" dirty="0" smtClean="0"/>
              <a:t> </a:t>
            </a:r>
            <a:r>
              <a:rPr lang="en-US" dirty="0" err="1" smtClean="0"/>
              <a:t>seguintes</a:t>
            </a:r>
            <a:r>
              <a:rPr lang="en-US" dirty="0" smtClean="0"/>
              <a:t> </a:t>
            </a:r>
            <a:r>
              <a:rPr lang="en-US" dirty="0" err="1" smtClean="0"/>
              <a:t>atributos</a:t>
            </a:r>
            <a:r>
              <a:rPr lang="en-US" dirty="0" smtClean="0"/>
              <a:t>: </a:t>
            </a:r>
          </a:p>
          <a:p>
            <a:pPr lvl="1"/>
            <a:r>
              <a:rPr lang="en-US" dirty="0" err="1" smtClean="0"/>
              <a:t>dataContratação</a:t>
            </a:r>
            <a:r>
              <a:rPr lang="en-US" dirty="0" smtClean="0"/>
              <a:t>? </a:t>
            </a:r>
          </a:p>
          <a:p>
            <a:pPr lvl="1"/>
            <a:r>
              <a:rPr lang="en-US" dirty="0" err="1" smtClean="0"/>
              <a:t>Salário</a:t>
            </a:r>
            <a:r>
              <a:rPr lang="en-US" dirty="0" smtClean="0"/>
              <a:t>? </a:t>
            </a:r>
            <a:endParaRPr lang="pt-BR"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smtClean="0"/>
              <a:t>Ex. </a:t>
            </a:r>
            <a:r>
              <a:rPr lang="en-US" dirty="0" err="1" smtClean="0"/>
              <a:t>Classe</a:t>
            </a:r>
            <a:r>
              <a:rPr lang="en-US" dirty="0" smtClean="0"/>
              <a:t> </a:t>
            </a:r>
            <a:r>
              <a:rPr lang="en-US" dirty="0" err="1" smtClean="0"/>
              <a:t>associativa</a:t>
            </a:r>
            <a:endParaRPr lang="pt-BR" dirty="0"/>
          </a:p>
        </p:txBody>
      </p:sp>
      <p:pic>
        <p:nvPicPr>
          <p:cNvPr id="4" name="Picture 2"/>
          <p:cNvPicPr>
            <a:picLocks noChangeAspect="1" noChangeArrowheads="1"/>
          </p:cNvPicPr>
          <p:nvPr/>
        </p:nvPicPr>
        <p:blipFill>
          <a:blip r:embed="rId2" cstate="print"/>
          <a:srcRect/>
          <a:stretch>
            <a:fillRect/>
          </a:stretch>
        </p:blipFill>
        <p:spPr bwMode="auto">
          <a:xfrm>
            <a:off x="628693" y="1628800"/>
            <a:ext cx="7827493" cy="3168352"/>
          </a:xfrm>
          <a:prstGeom prst="rect">
            <a:avLst/>
          </a:prstGeom>
          <a:noFill/>
          <a:ln w="9525">
            <a:noFill/>
            <a:miter lim="800000"/>
            <a:headEnd/>
            <a:tailEnd/>
          </a:ln>
        </p:spPr>
      </p:pic>
      <p:sp>
        <p:nvSpPr>
          <p:cNvPr id="5" name="Espaço Reservado para Conteúdo 2"/>
          <p:cNvSpPr>
            <a:spLocks noGrp="1"/>
          </p:cNvSpPr>
          <p:nvPr>
            <p:ph idx="1"/>
          </p:nvPr>
        </p:nvSpPr>
        <p:spPr>
          <a:xfrm>
            <a:off x="323528" y="5085184"/>
            <a:ext cx="8229600" cy="1141587"/>
          </a:xfrm>
        </p:spPr>
        <p:txBody>
          <a:bodyPr>
            <a:normAutofit/>
          </a:bodyPr>
          <a:lstStyle/>
          <a:p>
            <a:r>
              <a:rPr lang="en-US" dirty="0" err="1" smtClean="0"/>
              <a:t>Por</a:t>
            </a:r>
            <a:r>
              <a:rPr lang="en-US" dirty="0" smtClean="0"/>
              <a:t> </a:t>
            </a:r>
            <a:r>
              <a:rPr lang="en-US" dirty="0" err="1" smtClean="0"/>
              <a:t>que</a:t>
            </a:r>
            <a:r>
              <a:rPr lang="en-US" dirty="0" smtClean="0"/>
              <a:t> </a:t>
            </a:r>
            <a:r>
              <a:rPr lang="en-US" dirty="0" err="1" smtClean="0"/>
              <a:t>salário</a:t>
            </a:r>
            <a:r>
              <a:rPr lang="en-US" dirty="0" smtClean="0"/>
              <a:t> e </a:t>
            </a:r>
            <a:r>
              <a:rPr lang="en-US" dirty="0" err="1" smtClean="0"/>
              <a:t>dataContratação</a:t>
            </a:r>
            <a:r>
              <a:rPr lang="en-US" dirty="0" smtClean="0"/>
              <a:t> </a:t>
            </a:r>
            <a:r>
              <a:rPr lang="en-US" dirty="0" err="1" smtClean="0"/>
              <a:t>estão</a:t>
            </a:r>
            <a:r>
              <a:rPr lang="en-US" dirty="0" smtClean="0"/>
              <a:t> </a:t>
            </a:r>
            <a:r>
              <a:rPr lang="en-US" dirty="0" err="1" smtClean="0"/>
              <a:t>como</a:t>
            </a:r>
            <a:r>
              <a:rPr lang="en-US" dirty="0" smtClean="0"/>
              <a:t> </a:t>
            </a:r>
            <a:r>
              <a:rPr lang="en-US" dirty="0" err="1" smtClean="0"/>
              <a:t>atributos</a:t>
            </a:r>
            <a:r>
              <a:rPr lang="en-US" dirty="0" smtClean="0"/>
              <a:t> de </a:t>
            </a:r>
            <a:r>
              <a:rPr lang="en-US" dirty="0" err="1" smtClean="0"/>
              <a:t>Emprego</a:t>
            </a:r>
            <a:r>
              <a:rPr lang="en-US" dirty="0" smtClean="0"/>
              <a:t>? </a:t>
            </a:r>
            <a:endParaRPr lang="pt-BR"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Classe associativa</a:t>
            </a:r>
            <a:endParaRPr lang="pt-BR" dirty="0"/>
          </a:p>
        </p:txBody>
      </p:sp>
      <p:sp>
        <p:nvSpPr>
          <p:cNvPr id="3" name="Espaço Reservado para Conteúdo 2"/>
          <p:cNvSpPr>
            <a:spLocks noGrp="1"/>
          </p:cNvSpPr>
          <p:nvPr>
            <p:ph idx="1"/>
          </p:nvPr>
        </p:nvSpPr>
        <p:spPr>
          <a:xfrm>
            <a:off x="457200" y="1196752"/>
            <a:ext cx="8229600" cy="4525963"/>
          </a:xfrm>
        </p:spPr>
        <p:txBody>
          <a:bodyPr/>
          <a:lstStyle/>
          <a:p>
            <a:endParaRPr lang="pt-BR" sz="2800" dirty="0" smtClean="0"/>
          </a:p>
          <a:p>
            <a:r>
              <a:rPr lang="pt-BR" sz="2800" dirty="0" smtClean="0"/>
              <a:t>Classe que está ligada a uma associação,  em vez  de estar ligada a outras classes.</a:t>
            </a:r>
          </a:p>
          <a:p>
            <a:r>
              <a:rPr lang="pt-BR" sz="2800" dirty="0" smtClean="0"/>
              <a:t>Usada quando: </a:t>
            </a:r>
          </a:p>
          <a:p>
            <a:pPr lvl="1"/>
            <a:r>
              <a:rPr lang="pt-BR" sz="2400" dirty="0" smtClean="0"/>
              <a:t>duas ou mais classes estão  associadas, </a:t>
            </a:r>
          </a:p>
          <a:p>
            <a:pPr lvl="1"/>
            <a:r>
              <a:rPr lang="pt-BR" sz="2400" dirty="0" smtClean="0"/>
              <a:t>é necessário manter informações sobre esta associação.</a:t>
            </a:r>
          </a:p>
          <a:p>
            <a:r>
              <a:rPr lang="pt-BR" dirty="0" smtClean="0"/>
              <a:t>Não necessariamente relacionamentos N:N</a:t>
            </a:r>
          </a:p>
          <a:p>
            <a:endParaRPr lang="pt-BR"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384"/>
            <a:ext cx="8229600" cy="1143000"/>
          </a:xfrm>
        </p:spPr>
        <p:txBody>
          <a:bodyPr/>
          <a:lstStyle/>
          <a:p>
            <a:r>
              <a:rPr lang="pt-BR" dirty="0" smtClean="0"/>
              <a:t>Classe Associativa</a:t>
            </a:r>
            <a:endParaRPr lang="pt-BR" dirty="0"/>
          </a:p>
        </p:txBody>
      </p:sp>
      <p:sp>
        <p:nvSpPr>
          <p:cNvPr id="3" name="Content Placeholder 2"/>
          <p:cNvSpPr>
            <a:spLocks noGrp="1"/>
          </p:cNvSpPr>
          <p:nvPr>
            <p:ph idx="1"/>
          </p:nvPr>
        </p:nvSpPr>
        <p:spPr>
          <a:xfrm>
            <a:off x="457200" y="980728"/>
            <a:ext cx="8229600" cy="5145435"/>
          </a:xfrm>
        </p:spPr>
        <p:txBody>
          <a:bodyPr/>
          <a:lstStyle/>
          <a:p>
            <a:r>
              <a:rPr lang="pt-BR" dirty="0" smtClean="0"/>
              <a:t>Classes Associativas podem ser substituídas por classes comuns.</a:t>
            </a:r>
            <a:endParaRPr lang="pt-BR" dirty="0"/>
          </a:p>
        </p:txBody>
      </p:sp>
      <p:pic>
        <p:nvPicPr>
          <p:cNvPr id="1026" name="Picture 2"/>
          <p:cNvPicPr>
            <a:picLocks noChangeAspect="1" noChangeArrowheads="1"/>
          </p:cNvPicPr>
          <p:nvPr/>
        </p:nvPicPr>
        <p:blipFill>
          <a:blip r:embed="rId2" cstate="print"/>
          <a:srcRect/>
          <a:stretch>
            <a:fillRect/>
          </a:stretch>
        </p:blipFill>
        <p:spPr bwMode="auto">
          <a:xfrm>
            <a:off x="1474170" y="2061788"/>
            <a:ext cx="5937608" cy="4607572"/>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Exemplo de associação ternária</a:t>
            </a:r>
            <a:endParaRPr lang="pt-BR" dirty="0"/>
          </a:p>
        </p:txBody>
      </p:sp>
      <p:sp>
        <p:nvSpPr>
          <p:cNvPr id="3" name="Espaço Reservado para Conteúdo 2"/>
          <p:cNvSpPr>
            <a:spLocks noGrp="1"/>
          </p:cNvSpPr>
          <p:nvPr>
            <p:ph idx="1"/>
          </p:nvPr>
        </p:nvSpPr>
        <p:spPr/>
        <p:txBody>
          <a:bodyPr/>
          <a:lstStyle/>
          <a:p>
            <a:r>
              <a:rPr lang="pt-BR" dirty="0" smtClean="0"/>
              <a:t>As linhas de uma associação n-ária se interceptam em um losango nomeado.</a:t>
            </a:r>
          </a:p>
          <a:p>
            <a:r>
              <a:rPr lang="pt-BR" dirty="0" smtClean="0"/>
              <a:t>Raros</a:t>
            </a:r>
          </a:p>
          <a:p>
            <a:endParaRPr lang="pt-BR" dirty="0" smtClean="0"/>
          </a:p>
          <a:p>
            <a:endParaRPr lang="pt-BR" dirty="0"/>
          </a:p>
        </p:txBody>
      </p:sp>
      <p:pic>
        <p:nvPicPr>
          <p:cNvPr id="9218" name="Picture 2"/>
          <p:cNvPicPr>
            <a:picLocks noChangeAspect="1" noChangeArrowheads="1"/>
          </p:cNvPicPr>
          <p:nvPr/>
        </p:nvPicPr>
        <p:blipFill>
          <a:blip r:embed="rId2" cstate="print"/>
          <a:srcRect/>
          <a:stretch>
            <a:fillRect/>
          </a:stretch>
        </p:blipFill>
        <p:spPr bwMode="auto">
          <a:xfrm>
            <a:off x="1187624" y="3429000"/>
            <a:ext cx="6653213" cy="31130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Associações reflexivas</a:t>
            </a:r>
            <a:endParaRPr lang="pt-BR" dirty="0"/>
          </a:p>
        </p:txBody>
      </p:sp>
      <p:sp>
        <p:nvSpPr>
          <p:cNvPr id="3" name="Espaço Reservado para Conteúdo 2"/>
          <p:cNvSpPr>
            <a:spLocks noGrp="1"/>
          </p:cNvSpPr>
          <p:nvPr>
            <p:ph idx="1"/>
          </p:nvPr>
        </p:nvSpPr>
        <p:spPr>
          <a:xfrm>
            <a:off x="323528" y="1600200"/>
            <a:ext cx="8568952" cy="4525963"/>
          </a:xfrm>
        </p:spPr>
        <p:txBody>
          <a:bodyPr/>
          <a:lstStyle/>
          <a:p>
            <a:r>
              <a:rPr lang="pt-BR" sz="2800" dirty="0" smtClean="0"/>
              <a:t>Ligações entre objetos que pertencem a mesma classe.</a:t>
            </a:r>
          </a:p>
          <a:p>
            <a:pPr lvl="1"/>
            <a:r>
              <a:rPr lang="pt-BR" dirty="0" smtClean="0"/>
              <a:t>Não indica que um objeto se associa a ele próprio.</a:t>
            </a:r>
          </a:p>
          <a:p>
            <a:pPr lvl="1"/>
            <a:endParaRPr lang="pt-BR" sz="2400" dirty="0" smtClean="0"/>
          </a:p>
          <a:p>
            <a:endParaRPr lang="pt-BR" dirty="0"/>
          </a:p>
        </p:txBody>
      </p:sp>
      <p:pic>
        <p:nvPicPr>
          <p:cNvPr id="10242" name="Picture 2"/>
          <p:cNvPicPr>
            <a:picLocks noChangeAspect="1" noChangeArrowheads="1"/>
          </p:cNvPicPr>
          <p:nvPr/>
        </p:nvPicPr>
        <p:blipFill>
          <a:blip r:embed="rId2" cstate="print"/>
          <a:srcRect/>
          <a:stretch>
            <a:fillRect/>
          </a:stretch>
        </p:blipFill>
        <p:spPr bwMode="auto">
          <a:xfrm>
            <a:off x="1290541" y="2991651"/>
            <a:ext cx="6233787" cy="317365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Agregações e Composições</a:t>
            </a:r>
            <a:endParaRPr lang="pt-BR" dirty="0"/>
          </a:p>
        </p:txBody>
      </p:sp>
      <p:sp>
        <p:nvSpPr>
          <p:cNvPr id="3" name="Espaço Reservado para Conteúdo 2"/>
          <p:cNvSpPr>
            <a:spLocks noGrp="1"/>
          </p:cNvSpPr>
          <p:nvPr>
            <p:ph idx="1"/>
          </p:nvPr>
        </p:nvSpPr>
        <p:spPr>
          <a:xfrm>
            <a:off x="251520" y="1600200"/>
            <a:ext cx="8712968" cy="4925144"/>
          </a:xfrm>
        </p:spPr>
        <p:txBody>
          <a:bodyPr>
            <a:normAutofit/>
          </a:bodyPr>
          <a:lstStyle/>
          <a:p>
            <a:r>
              <a:rPr lang="pt-BR" sz="3000" dirty="0" smtClean="0"/>
              <a:t>Assimétricas: </a:t>
            </a:r>
          </a:p>
          <a:p>
            <a:pPr lvl="1"/>
            <a:r>
              <a:rPr lang="pt-BR" sz="2600" dirty="0" smtClean="0"/>
              <a:t>se um objeto A é parte de um objeto B, o objeto B não pode ser parte do objeto A</a:t>
            </a:r>
          </a:p>
          <a:p>
            <a:r>
              <a:rPr lang="pt-BR" sz="3000" dirty="0" smtClean="0"/>
              <a:t>Um comportamento que se aplica a um todo automaticamente se aplica às suas partes.</a:t>
            </a:r>
          </a:p>
          <a:p>
            <a:endParaRPr lang="pt-BR"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Exemplo</a:t>
            </a:r>
            <a:endParaRPr lang="pt-BR" dirty="0"/>
          </a:p>
        </p:txBody>
      </p:sp>
      <p:pic>
        <p:nvPicPr>
          <p:cNvPr id="11266" name="Picture 2"/>
          <p:cNvPicPr>
            <a:picLocks noChangeAspect="1" noChangeArrowheads="1"/>
          </p:cNvPicPr>
          <p:nvPr/>
        </p:nvPicPr>
        <p:blipFill>
          <a:blip r:embed="rId2" cstate="print"/>
          <a:srcRect/>
          <a:stretch>
            <a:fillRect/>
          </a:stretch>
        </p:blipFill>
        <p:spPr bwMode="auto">
          <a:xfrm>
            <a:off x="1018305" y="1340768"/>
            <a:ext cx="6073975" cy="511256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smtClean="0"/>
              <a:t>Agregações e composições - diferenças</a:t>
            </a:r>
            <a:endParaRPr lang="pt-BR" dirty="0"/>
          </a:p>
        </p:txBody>
      </p:sp>
      <p:sp>
        <p:nvSpPr>
          <p:cNvPr id="3" name="Espaço Reservado para Conteúdo 2"/>
          <p:cNvSpPr>
            <a:spLocks noGrp="1"/>
          </p:cNvSpPr>
          <p:nvPr>
            <p:ph idx="1"/>
          </p:nvPr>
        </p:nvSpPr>
        <p:spPr/>
        <p:txBody>
          <a:bodyPr>
            <a:normAutofit/>
          </a:bodyPr>
          <a:lstStyle/>
          <a:p>
            <a:r>
              <a:rPr lang="pt-BR" dirty="0" smtClean="0"/>
              <a:t>Destruição de objetos</a:t>
            </a:r>
          </a:p>
          <a:p>
            <a:pPr lvl="1"/>
            <a:r>
              <a:rPr lang="pt-BR" dirty="0" smtClean="0"/>
              <a:t>Na agregação, a destruição de um objeto todo  não implica necessariamente na destruição do  objeto parte. </a:t>
            </a:r>
          </a:p>
          <a:p>
            <a:r>
              <a:rPr lang="pt-BR" dirty="0" smtClean="0"/>
              <a:t>Pertinência</a:t>
            </a:r>
          </a:p>
          <a:p>
            <a:pPr lvl="1"/>
            <a:r>
              <a:rPr lang="pt-BR" dirty="0" smtClean="0"/>
              <a:t>Na composição, os objetos parte pertencem a um único todo. </a:t>
            </a:r>
          </a:p>
          <a:p>
            <a:endParaRPr lang="pt-BR"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Agregação e Associação</a:t>
            </a:r>
            <a:endParaRPr lang="pt-BR" dirty="0"/>
          </a:p>
        </p:txBody>
      </p:sp>
      <p:sp>
        <p:nvSpPr>
          <p:cNvPr id="3" name="Espaço Reservado para Conteúdo 2"/>
          <p:cNvSpPr>
            <a:spLocks noGrp="1"/>
          </p:cNvSpPr>
          <p:nvPr>
            <p:ph idx="1"/>
          </p:nvPr>
        </p:nvSpPr>
        <p:spPr/>
        <p:txBody>
          <a:bodyPr/>
          <a:lstStyle/>
          <a:p>
            <a:endParaRPr lang="pt-BR" dirty="0" smtClean="0"/>
          </a:p>
          <a:p>
            <a:r>
              <a:rPr lang="pt-BR" dirty="0" smtClean="0"/>
              <a:t>Existe pouca diferença semântica entre agregação e associação.</a:t>
            </a:r>
          </a:p>
          <a:p>
            <a:r>
              <a:rPr lang="pt-BR" dirty="0" smtClean="0"/>
              <a:t>Na prática, agregação é usada raramente.</a:t>
            </a:r>
            <a:endParaRPr lang="pt-BR"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Restrições sobre associações</a:t>
            </a:r>
            <a:endParaRPr lang="pt-BR" dirty="0"/>
          </a:p>
        </p:txBody>
      </p:sp>
      <p:pic>
        <p:nvPicPr>
          <p:cNvPr id="12290" name="Picture 2"/>
          <p:cNvPicPr>
            <a:picLocks noChangeAspect="1" noChangeArrowheads="1"/>
          </p:cNvPicPr>
          <p:nvPr/>
        </p:nvPicPr>
        <p:blipFill>
          <a:blip r:embed="rId2" cstate="print"/>
          <a:srcRect/>
          <a:stretch>
            <a:fillRect/>
          </a:stretch>
        </p:blipFill>
        <p:spPr bwMode="auto">
          <a:xfrm>
            <a:off x="395536" y="1412776"/>
            <a:ext cx="4687887" cy="2105025"/>
          </a:xfrm>
          <a:prstGeom prst="rect">
            <a:avLst/>
          </a:prstGeom>
          <a:noFill/>
          <a:ln w="9525">
            <a:noFill/>
            <a:miter lim="800000"/>
            <a:headEnd/>
            <a:tailEnd/>
          </a:ln>
        </p:spPr>
      </p:pic>
      <p:pic>
        <p:nvPicPr>
          <p:cNvPr id="12291" name="Picture 3"/>
          <p:cNvPicPr>
            <a:picLocks noChangeAspect="1" noChangeArrowheads="1"/>
          </p:cNvPicPr>
          <p:nvPr/>
        </p:nvPicPr>
        <p:blipFill>
          <a:blip r:embed="rId3" cstate="print"/>
          <a:srcRect/>
          <a:stretch>
            <a:fillRect/>
          </a:stretch>
        </p:blipFill>
        <p:spPr bwMode="auto">
          <a:xfrm>
            <a:off x="3923928" y="3717032"/>
            <a:ext cx="4981575" cy="295433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4638"/>
            <a:ext cx="8229600" cy="850106"/>
          </a:xfrm>
        </p:spPr>
        <p:txBody>
          <a:bodyPr>
            <a:noAutofit/>
          </a:bodyPr>
          <a:lstStyle/>
          <a:p>
            <a:r>
              <a:rPr lang="pt-BR" sz="3600" dirty="0" smtClean="0"/>
              <a:t>Herança: Generalização e Especialização</a:t>
            </a:r>
            <a:endParaRPr lang="pt-BR" sz="3600" dirty="0"/>
          </a:p>
        </p:txBody>
      </p:sp>
      <p:sp>
        <p:nvSpPr>
          <p:cNvPr id="3" name="Espaço Reservado para Conteúdo 2"/>
          <p:cNvSpPr>
            <a:spLocks noGrp="1"/>
          </p:cNvSpPr>
          <p:nvPr>
            <p:ph idx="1"/>
          </p:nvPr>
        </p:nvSpPr>
        <p:spPr>
          <a:xfrm>
            <a:off x="457200" y="1340768"/>
            <a:ext cx="8229600" cy="4525963"/>
          </a:xfrm>
        </p:spPr>
        <p:txBody>
          <a:bodyPr/>
          <a:lstStyle/>
          <a:p>
            <a:r>
              <a:rPr lang="pt-BR" sz="2800" i="1" dirty="0" smtClean="0"/>
              <a:t>subclasse  X superclasse .</a:t>
            </a:r>
          </a:p>
          <a:p>
            <a:r>
              <a:rPr lang="pt-BR" sz="2800" i="1" dirty="0" smtClean="0"/>
              <a:t>classe base  X classe herdeira .</a:t>
            </a:r>
          </a:p>
          <a:p>
            <a:r>
              <a:rPr lang="pt-BR" sz="2800" dirty="0" smtClean="0"/>
              <a:t>classe de </a:t>
            </a:r>
            <a:r>
              <a:rPr lang="pt-BR" sz="2800" i="1" dirty="0" smtClean="0"/>
              <a:t>especialização  X classe de generalização .</a:t>
            </a:r>
            <a:endParaRPr lang="pt-BR" i="1" dirty="0" smtClean="0"/>
          </a:p>
          <a:p>
            <a:pPr>
              <a:buNone/>
            </a:pPr>
            <a:endParaRPr lang="pt-BR" dirty="0"/>
          </a:p>
        </p:txBody>
      </p:sp>
      <p:pic>
        <p:nvPicPr>
          <p:cNvPr id="13314" name="Picture 2"/>
          <p:cNvPicPr>
            <a:picLocks noChangeAspect="1" noChangeArrowheads="1"/>
          </p:cNvPicPr>
          <p:nvPr/>
        </p:nvPicPr>
        <p:blipFill>
          <a:blip r:embed="rId2" cstate="print"/>
          <a:srcRect/>
          <a:stretch>
            <a:fillRect/>
          </a:stretch>
        </p:blipFill>
        <p:spPr bwMode="auto">
          <a:xfrm>
            <a:off x="107505" y="3833692"/>
            <a:ext cx="8784976" cy="261964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Herança de associações</a:t>
            </a:r>
            <a:endParaRPr lang="pt-BR" dirty="0"/>
          </a:p>
        </p:txBody>
      </p:sp>
      <p:sp>
        <p:nvSpPr>
          <p:cNvPr id="3" name="Espaço Reservado para Conteúdo 2"/>
          <p:cNvSpPr>
            <a:spLocks noGrp="1"/>
          </p:cNvSpPr>
          <p:nvPr>
            <p:ph idx="1"/>
          </p:nvPr>
        </p:nvSpPr>
        <p:spPr>
          <a:xfrm>
            <a:off x="457200" y="1268760"/>
            <a:ext cx="8229600" cy="4525963"/>
          </a:xfrm>
        </p:spPr>
        <p:txBody>
          <a:bodyPr/>
          <a:lstStyle/>
          <a:p>
            <a:r>
              <a:rPr lang="pt-BR" sz="2800" dirty="0" smtClean="0"/>
              <a:t>Não somente atributos e operações, mas também associações são herdadas pelas subclasses.</a:t>
            </a:r>
          </a:p>
          <a:p>
            <a:endParaRPr lang="pt-BR" dirty="0"/>
          </a:p>
        </p:txBody>
      </p:sp>
      <p:pic>
        <p:nvPicPr>
          <p:cNvPr id="14338" name="Picture 2"/>
          <p:cNvPicPr>
            <a:picLocks noChangeAspect="1" noChangeArrowheads="1"/>
          </p:cNvPicPr>
          <p:nvPr/>
        </p:nvPicPr>
        <p:blipFill>
          <a:blip r:embed="rId2" cstate="print"/>
          <a:srcRect/>
          <a:stretch>
            <a:fillRect/>
          </a:stretch>
        </p:blipFill>
        <p:spPr bwMode="auto">
          <a:xfrm>
            <a:off x="180145" y="2852936"/>
            <a:ext cx="8424303" cy="329964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67544" y="116632"/>
            <a:ext cx="8229600" cy="706090"/>
          </a:xfrm>
        </p:spPr>
        <p:txBody>
          <a:bodyPr>
            <a:normAutofit fontScale="90000"/>
          </a:bodyPr>
          <a:lstStyle/>
          <a:p>
            <a:r>
              <a:rPr lang="pt-BR" dirty="0" smtClean="0"/>
              <a:t>Exemplo de herança</a:t>
            </a:r>
            <a:endParaRPr lang="pt-BR" dirty="0"/>
          </a:p>
        </p:txBody>
      </p:sp>
      <p:pic>
        <p:nvPicPr>
          <p:cNvPr id="15362" name="Picture 2"/>
          <p:cNvPicPr>
            <a:picLocks noChangeAspect="1" noChangeArrowheads="1"/>
          </p:cNvPicPr>
          <p:nvPr/>
        </p:nvPicPr>
        <p:blipFill>
          <a:blip r:embed="rId2" cstate="print"/>
          <a:srcRect/>
          <a:stretch>
            <a:fillRect/>
          </a:stretch>
        </p:blipFill>
        <p:spPr bwMode="auto">
          <a:xfrm>
            <a:off x="1587920" y="1052737"/>
            <a:ext cx="5954293" cy="568863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smtClean="0"/>
              <a:t>Cuidado com herança!</a:t>
            </a:r>
            <a:endParaRPr lang="pt-BR" dirty="0"/>
          </a:p>
        </p:txBody>
      </p:sp>
      <p:sp>
        <p:nvSpPr>
          <p:cNvPr id="3" name="Content Placeholder 2"/>
          <p:cNvSpPr>
            <a:spLocks noGrp="1"/>
          </p:cNvSpPr>
          <p:nvPr>
            <p:ph idx="1"/>
          </p:nvPr>
        </p:nvSpPr>
        <p:spPr/>
        <p:txBody>
          <a:bodyPr/>
          <a:lstStyle/>
          <a:p>
            <a:r>
              <a:rPr lang="pt-BR" dirty="0" smtClean="0"/>
              <a:t>Evitar usar herança quando </a:t>
            </a:r>
          </a:p>
          <a:p>
            <a:pPr lvl="1"/>
            <a:r>
              <a:rPr lang="pt-BR" dirty="0" smtClean="0"/>
              <a:t>a superclasse não tem atributos e métodos próprios</a:t>
            </a:r>
          </a:p>
          <a:p>
            <a:pPr lvl="1"/>
            <a:r>
              <a:rPr lang="pt-BR" dirty="0" smtClean="0"/>
              <a:t>As subclasses não tem propriedades que diferenciem umas das outras</a:t>
            </a:r>
            <a:endParaRPr lang="pt-B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Classes Abstratas</a:t>
            </a:r>
            <a:endParaRPr lang="pt-BR" dirty="0"/>
          </a:p>
        </p:txBody>
      </p:sp>
      <p:sp>
        <p:nvSpPr>
          <p:cNvPr id="3" name="Espaço Reservado para Conteúdo 2"/>
          <p:cNvSpPr>
            <a:spLocks noGrp="1"/>
          </p:cNvSpPr>
          <p:nvPr>
            <p:ph idx="1"/>
          </p:nvPr>
        </p:nvSpPr>
        <p:spPr/>
        <p:txBody>
          <a:bodyPr/>
          <a:lstStyle/>
          <a:p>
            <a:r>
              <a:rPr lang="pt-BR" dirty="0" smtClean="0"/>
              <a:t>Usualmente, uma classe existe para gerar instâncias da mesma</a:t>
            </a:r>
          </a:p>
          <a:p>
            <a:pPr lvl="1"/>
            <a:r>
              <a:rPr lang="pt-BR" b="1" i="1" dirty="0" smtClean="0"/>
              <a:t>classes concretas.</a:t>
            </a:r>
          </a:p>
          <a:p>
            <a:r>
              <a:rPr lang="pt-BR" dirty="0" smtClean="0"/>
              <a:t>No entanto, podem existir classes que não geram instâncias diretas.</a:t>
            </a:r>
          </a:p>
          <a:p>
            <a:pPr lvl="1"/>
            <a:r>
              <a:rPr lang="pt-BR" b="1" i="1" dirty="0" smtClean="0"/>
              <a:t>classes abstratas.</a:t>
            </a:r>
          </a:p>
          <a:p>
            <a:endParaRPr lang="pt-BR"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116632"/>
            <a:ext cx="8229600" cy="778098"/>
          </a:xfrm>
        </p:spPr>
        <p:txBody>
          <a:bodyPr/>
          <a:lstStyle/>
          <a:p>
            <a:r>
              <a:rPr lang="pt-BR" dirty="0" smtClean="0"/>
              <a:t>Notação para classes abstratas</a:t>
            </a:r>
            <a:endParaRPr lang="pt-BR" dirty="0"/>
          </a:p>
        </p:txBody>
      </p:sp>
      <p:sp>
        <p:nvSpPr>
          <p:cNvPr id="3" name="Espaço Reservado para Conteúdo 2"/>
          <p:cNvSpPr>
            <a:spLocks noGrp="1"/>
          </p:cNvSpPr>
          <p:nvPr>
            <p:ph idx="1"/>
          </p:nvPr>
        </p:nvSpPr>
        <p:spPr>
          <a:xfrm>
            <a:off x="457200" y="836712"/>
            <a:ext cx="8229600" cy="5289451"/>
          </a:xfrm>
        </p:spPr>
        <p:txBody>
          <a:bodyPr/>
          <a:lstStyle/>
          <a:p>
            <a:r>
              <a:rPr lang="pt-BR" sz="2800" dirty="0" smtClean="0"/>
              <a:t>Na UML, uma classe abstrata pode ser representada com o seu nome em </a:t>
            </a:r>
            <a:r>
              <a:rPr lang="pt-BR" sz="2800" i="1" dirty="0" smtClean="0"/>
              <a:t>itálico. </a:t>
            </a:r>
          </a:p>
        </p:txBody>
      </p:sp>
      <p:pic>
        <p:nvPicPr>
          <p:cNvPr id="16386" name="Picture 2"/>
          <p:cNvPicPr>
            <a:picLocks noChangeAspect="1" noChangeArrowheads="1"/>
          </p:cNvPicPr>
          <p:nvPr/>
        </p:nvPicPr>
        <p:blipFill>
          <a:blip r:embed="rId2" cstate="print"/>
          <a:srcRect/>
          <a:stretch>
            <a:fillRect/>
          </a:stretch>
        </p:blipFill>
        <p:spPr bwMode="auto">
          <a:xfrm>
            <a:off x="35496" y="2060848"/>
            <a:ext cx="8927119" cy="446449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err="1" smtClean="0"/>
              <a:t>Exercício</a:t>
            </a:r>
            <a:r>
              <a:rPr lang="en-US" dirty="0" smtClean="0"/>
              <a:t> - </a:t>
            </a:r>
            <a:r>
              <a:rPr lang="en-US" dirty="0" err="1" smtClean="0"/>
              <a:t>desafio</a:t>
            </a:r>
            <a:endParaRPr lang="pt-BR" dirty="0"/>
          </a:p>
        </p:txBody>
      </p:sp>
      <p:sp>
        <p:nvSpPr>
          <p:cNvPr id="3" name="Espaço Reservado para Conteúdo 2"/>
          <p:cNvSpPr>
            <a:spLocks noGrp="1"/>
          </p:cNvSpPr>
          <p:nvPr>
            <p:ph idx="1"/>
          </p:nvPr>
        </p:nvSpPr>
        <p:spPr/>
        <p:txBody>
          <a:bodyPr/>
          <a:lstStyle/>
          <a:p>
            <a:r>
              <a:rPr lang="en-US" dirty="0" smtClean="0"/>
              <a:t>Como </a:t>
            </a:r>
            <a:r>
              <a:rPr lang="en-US" dirty="0" err="1" smtClean="0"/>
              <a:t>modelar</a:t>
            </a:r>
            <a:r>
              <a:rPr lang="en-US" dirty="0" smtClean="0"/>
              <a:t> </a:t>
            </a:r>
            <a:r>
              <a:rPr lang="en-US" dirty="0" err="1" smtClean="0"/>
              <a:t>em</a:t>
            </a:r>
            <a:r>
              <a:rPr lang="en-US" dirty="0" smtClean="0"/>
              <a:t> um </a:t>
            </a:r>
            <a:r>
              <a:rPr lang="en-US" dirty="0" err="1" smtClean="0"/>
              <a:t>diagrama</a:t>
            </a:r>
            <a:r>
              <a:rPr lang="en-US" dirty="0" smtClean="0"/>
              <a:t> de classes:</a:t>
            </a:r>
          </a:p>
          <a:p>
            <a:pPr lvl="1"/>
            <a:r>
              <a:rPr lang="en-US" dirty="0" smtClean="0"/>
              <a:t>Um </a:t>
            </a:r>
            <a:r>
              <a:rPr lang="en-US" dirty="0" err="1" smtClean="0"/>
              <a:t>carro</a:t>
            </a:r>
            <a:r>
              <a:rPr lang="en-US" dirty="0" smtClean="0"/>
              <a:t> </a:t>
            </a:r>
            <a:r>
              <a:rPr lang="en-US" dirty="0" err="1" smtClean="0"/>
              <a:t>possui</a:t>
            </a:r>
            <a:r>
              <a:rPr lang="en-US" dirty="0" smtClean="0"/>
              <a:t> </a:t>
            </a:r>
            <a:r>
              <a:rPr lang="en-US" dirty="0" err="1" smtClean="0"/>
              <a:t>uma</a:t>
            </a:r>
            <a:r>
              <a:rPr lang="en-US" dirty="0" smtClean="0"/>
              <a:t> </a:t>
            </a:r>
            <a:r>
              <a:rPr lang="en-US" dirty="0" err="1" smtClean="0"/>
              <a:t>cor</a:t>
            </a:r>
            <a:r>
              <a:rPr lang="en-US" dirty="0" smtClean="0"/>
              <a:t> ?</a:t>
            </a:r>
            <a:endParaRPr lang="pt-B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smtClean="0"/>
              <a:t>Técnicas de Identificação de Objetos, Atributos e Métodos</a:t>
            </a:r>
            <a:endParaRPr lang="pt-BR" dirty="0"/>
          </a:p>
        </p:txBody>
      </p:sp>
      <p:sp>
        <p:nvSpPr>
          <p:cNvPr id="3" name="Espaço Reservado para Conteúdo 2"/>
          <p:cNvSpPr>
            <a:spLocks noGrp="1"/>
          </p:cNvSpPr>
          <p:nvPr>
            <p:ph idx="1"/>
          </p:nvPr>
        </p:nvSpPr>
        <p:spPr/>
        <p:txBody>
          <a:bodyPr/>
          <a:lstStyle/>
          <a:p>
            <a:r>
              <a:rPr lang="pt-BR" dirty="0" smtClean="0"/>
              <a:t>Técnicas usadas para identificar classes:</a:t>
            </a:r>
          </a:p>
          <a:p>
            <a:pPr lvl="1"/>
            <a:r>
              <a:rPr lang="pt-BR" dirty="0" smtClean="0"/>
              <a:t>Categorias de Conceitos</a:t>
            </a:r>
          </a:p>
          <a:p>
            <a:pPr lvl="1"/>
            <a:r>
              <a:rPr lang="pt-BR" dirty="0" smtClean="0"/>
              <a:t>Análise Textual de </a:t>
            </a:r>
            <a:r>
              <a:rPr lang="pt-BR" dirty="0" err="1" smtClean="0"/>
              <a:t>Abbott</a:t>
            </a:r>
            <a:r>
              <a:rPr lang="pt-BR" dirty="0" smtClean="0"/>
              <a:t> (</a:t>
            </a:r>
            <a:r>
              <a:rPr lang="pt-BR" i="1" dirty="0" smtClean="0"/>
              <a:t>Abbot Textual </a:t>
            </a:r>
            <a:r>
              <a:rPr lang="pt-BR" i="1" dirty="0" err="1" smtClean="0"/>
              <a:t>Analysis</a:t>
            </a:r>
            <a:r>
              <a:rPr lang="pt-BR" i="1" dirty="0" smtClean="0"/>
              <a:t>)</a:t>
            </a:r>
          </a:p>
          <a:p>
            <a:pPr lvl="1"/>
            <a:r>
              <a:rPr lang="pt-BR" dirty="0" smtClean="0"/>
              <a:t>Análise de Casos de Uso</a:t>
            </a:r>
          </a:p>
          <a:p>
            <a:r>
              <a:rPr lang="pt-BR" dirty="0" smtClean="0"/>
              <a:t>De uso não exclusivo</a:t>
            </a:r>
          </a:p>
          <a:p>
            <a:endParaRPr lang="pt-BR"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Categorias de Conceitos</a:t>
            </a:r>
            <a:endParaRPr lang="pt-BR" dirty="0"/>
          </a:p>
        </p:txBody>
      </p:sp>
      <p:sp>
        <p:nvSpPr>
          <p:cNvPr id="3" name="Espaço Reservado para Conteúdo 2"/>
          <p:cNvSpPr>
            <a:spLocks noGrp="1"/>
          </p:cNvSpPr>
          <p:nvPr>
            <p:ph idx="1"/>
          </p:nvPr>
        </p:nvSpPr>
        <p:spPr/>
        <p:txBody>
          <a:bodyPr>
            <a:normAutofit/>
          </a:bodyPr>
          <a:lstStyle/>
          <a:p>
            <a:r>
              <a:rPr lang="pt-BR" b="1" dirty="0" smtClean="0"/>
              <a:t>Conceitos concretos</a:t>
            </a:r>
            <a:r>
              <a:rPr lang="pt-BR" dirty="0" smtClean="0"/>
              <a:t>: edifícios, carros, salas de aula.</a:t>
            </a:r>
          </a:p>
          <a:p>
            <a:r>
              <a:rPr lang="pt-BR" b="1" dirty="0" smtClean="0"/>
              <a:t>Papéis</a:t>
            </a:r>
            <a:r>
              <a:rPr lang="pt-BR" dirty="0" smtClean="0"/>
              <a:t> desempenhados por seres humanos: professores, alunos, empregados, clientes. </a:t>
            </a:r>
          </a:p>
          <a:p>
            <a:r>
              <a:rPr lang="pt-BR" b="1" dirty="0" smtClean="0"/>
              <a:t>Eventos</a:t>
            </a:r>
            <a:r>
              <a:rPr lang="pt-BR" dirty="0" smtClean="0"/>
              <a:t>, ou seja, ocorrências em uma data e em uma hora particulares: reuniões, pedidos, aterrissagens, aulas. </a:t>
            </a:r>
          </a:p>
          <a:p>
            <a:endParaRPr lang="pt-BR"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Categorias de Conceitos</a:t>
            </a:r>
            <a:endParaRPr lang="pt-BR" dirty="0"/>
          </a:p>
        </p:txBody>
      </p:sp>
      <p:sp>
        <p:nvSpPr>
          <p:cNvPr id="3" name="Espaço Reservado para Conteúdo 2"/>
          <p:cNvSpPr>
            <a:spLocks noGrp="1"/>
          </p:cNvSpPr>
          <p:nvPr>
            <p:ph idx="1"/>
          </p:nvPr>
        </p:nvSpPr>
        <p:spPr/>
        <p:txBody>
          <a:bodyPr>
            <a:normAutofit/>
          </a:bodyPr>
          <a:lstStyle/>
          <a:p>
            <a:r>
              <a:rPr lang="pt-BR" b="1" dirty="0" smtClean="0"/>
              <a:t>Lugares</a:t>
            </a:r>
            <a:r>
              <a:rPr lang="pt-BR" dirty="0" smtClean="0"/>
              <a:t>: áreas reservadas para pessoas ou coisas: escritórios, filiais, locais de pouso, salas de aula.</a:t>
            </a:r>
          </a:p>
          <a:p>
            <a:r>
              <a:rPr lang="pt-BR" b="1" dirty="0" smtClean="0"/>
              <a:t>Organizações</a:t>
            </a:r>
            <a:r>
              <a:rPr lang="pt-BR" dirty="0" smtClean="0"/>
              <a:t>: coleções de pessoas ou de recursos: departamentos, projetos, campanhas, turmas.</a:t>
            </a:r>
          </a:p>
          <a:p>
            <a:r>
              <a:rPr lang="pt-BR" b="1" dirty="0" smtClean="0"/>
              <a:t>Conceitos abstratos</a:t>
            </a:r>
            <a:r>
              <a:rPr lang="pt-BR" dirty="0" smtClean="0"/>
              <a:t>: princípios ou idéias não tangíveis: reservas, vendas, inscrições, boleto.</a:t>
            </a:r>
          </a:p>
          <a:p>
            <a:endParaRPr lang="pt-BR"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Análise Textual de </a:t>
            </a:r>
            <a:r>
              <a:rPr lang="pt-BR" dirty="0" err="1" smtClean="0"/>
              <a:t>Abbott</a:t>
            </a:r>
            <a:endParaRPr lang="pt-BR" dirty="0"/>
          </a:p>
        </p:txBody>
      </p:sp>
      <p:sp>
        <p:nvSpPr>
          <p:cNvPr id="3" name="Espaço Reservado para Conteúdo 2"/>
          <p:cNvSpPr>
            <a:spLocks noGrp="1"/>
          </p:cNvSpPr>
          <p:nvPr>
            <p:ph idx="1"/>
          </p:nvPr>
        </p:nvSpPr>
        <p:spPr>
          <a:xfrm>
            <a:off x="179512" y="1600200"/>
            <a:ext cx="8712968" cy="4525963"/>
          </a:xfrm>
        </p:spPr>
        <p:txBody>
          <a:bodyPr>
            <a:normAutofit/>
          </a:bodyPr>
          <a:lstStyle/>
          <a:p>
            <a:r>
              <a:rPr lang="pt-BR" dirty="0" smtClean="0"/>
              <a:t>Identificar termos da narrativa de casos de uso e documento de requisitos que podem sugerir classes, atributos, operações.</a:t>
            </a:r>
          </a:p>
          <a:p>
            <a:r>
              <a:rPr lang="pt-BR" dirty="0" smtClean="0"/>
              <a:t>Nomes (substantivos e adjetivos) são destacados.</a:t>
            </a:r>
          </a:p>
          <a:p>
            <a:r>
              <a:rPr lang="pt-BR" dirty="0" smtClean="0"/>
              <a:t>Após isso, os sinônimos são removidos.</a:t>
            </a:r>
          </a:p>
          <a:p>
            <a:endParaRPr lang="pt-BR"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Análise Textual de </a:t>
            </a:r>
            <a:r>
              <a:rPr lang="pt-BR" dirty="0" err="1" smtClean="0"/>
              <a:t>Abbott</a:t>
            </a:r>
            <a:r>
              <a:rPr lang="pt-BR" dirty="0" smtClean="0"/>
              <a:t> (cont.)</a:t>
            </a:r>
            <a:endParaRPr lang="pt-BR" dirty="0"/>
          </a:p>
        </p:txBody>
      </p:sp>
      <p:sp>
        <p:nvSpPr>
          <p:cNvPr id="3" name="Espaço Reservado para Conteúdo 2"/>
          <p:cNvSpPr>
            <a:spLocks noGrp="1"/>
          </p:cNvSpPr>
          <p:nvPr>
            <p:ph idx="1"/>
          </p:nvPr>
        </p:nvSpPr>
        <p:spPr/>
        <p:txBody>
          <a:bodyPr/>
          <a:lstStyle/>
          <a:p>
            <a:r>
              <a:rPr lang="pt-BR" dirty="0" smtClean="0"/>
              <a:t>Cada termo remanescente se encaixa em  uma das situações a seguir:</a:t>
            </a:r>
          </a:p>
          <a:p>
            <a:pPr lvl="1"/>
            <a:r>
              <a:rPr lang="pt-BR" dirty="0" smtClean="0"/>
              <a:t>O termo se torna uma classe; </a:t>
            </a:r>
          </a:p>
          <a:p>
            <a:pPr lvl="1"/>
            <a:r>
              <a:rPr lang="pt-BR" dirty="0" smtClean="0"/>
              <a:t>O termo se torna um atributo; </a:t>
            </a:r>
          </a:p>
          <a:p>
            <a:pPr lvl="1"/>
            <a:r>
              <a:rPr lang="pt-BR" dirty="0" smtClean="0"/>
              <a:t>O termo não tem relevância alguma com o SW.</a:t>
            </a:r>
          </a:p>
          <a:p>
            <a:endParaRPr lang="pt-BR"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Análise Textual de </a:t>
            </a:r>
            <a:r>
              <a:rPr lang="pt-BR" dirty="0" err="1" smtClean="0"/>
              <a:t>Abbott</a:t>
            </a:r>
            <a:r>
              <a:rPr lang="pt-BR" dirty="0" smtClean="0"/>
              <a:t> (cont.)</a:t>
            </a:r>
            <a:endParaRPr lang="pt-BR" dirty="0"/>
          </a:p>
        </p:txBody>
      </p:sp>
      <p:sp>
        <p:nvSpPr>
          <p:cNvPr id="3" name="Espaço Reservado para Conteúdo 2"/>
          <p:cNvSpPr>
            <a:spLocks noGrp="1"/>
          </p:cNvSpPr>
          <p:nvPr>
            <p:ph idx="1"/>
          </p:nvPr>
        </p:nvSpPr>
        <p:spPr/>
        <p:txBody>
          <a:bodyPr>
            <a:normAutofit/>
          </a:bodyPr>
          <a:lstStyle/>
          <a:p>
            <a:r>
              <a:rPr lang="pt-BR" dirty="0" smtClean="0"/>
              <a:t>Identificação de </a:t>
            </a:r>
            <a:r>
              <a:rPr lang="pt-BR" u="sng" dirty="0" smtClean="0"/>
              <a:t>operações e associações: </a:t>
            </a:r>
          </a:p>
          <a:p>
            <a:pPr lvl="1"/>
            <a:r>
              <a:rPr lang="pt-BR" dirty="0" smtClean="0"/>
              <a:t>Verbos de ação (calcular, confirmar, cancelar,  comprar, fechar, estimar, depositar, sacar) são  </a:t>
            </a:r>
            <a:r>
              <a:rPr lang="pt-BR" b="1" dirty="0" smtClean="0"/>
              <a:t>operações</a:t>
            </a:r>
            <a:r>
              <a:rPr lang="pt-BR" dirty="0" smtClean="0"/>
              <a:t> em potencial.</a:t>
            </a:r>
          </a:p>
          <a:p>
            <a:pPr lvl="1"/>
            <a:r>
              <a:rPr lang="pt-BR" dirty="0" smtClean="0"/>
              <a:t>Verbos com sentido de “ter” são potenciais  </a:t>
            </a:r>
            <a:r>
              <a:rPr lang="pt-BR" b="1" dirty="0" smtClean="0"/>
              <a:t>agregações</a:t>
            </a:r>
            <a:r>
              <a:rPr lang="pt-BR" dirty="0" smtClean="0"/>
              <a:t> ou </a:t>
            </a:r>
            <a:r>
              <a:rPr lang="pt-BR" b="1" dirty="0" smtClean="0"/>
              <a:t>composições</a:t>
            </a:r>
            <a:r>
              <a:rPr lang="pt-BR" dirty="0" smtClean="0"/>
              <a:t>.</a:t>
            </a:r>
          </a:p>
          <a:p>
            <a:pPr lvl="1"/>
            <a:r>
              <a:rPr lang="pt-BR" dirty="0" smtClean="0"/>
              <a:t>Verbos com sentido de “ser” são </a:t>
            </a:r>
            <a:r>
              <a:rPr lang="pt-BR" b="1" dirty="0" smtClean="0"/>
              <a:t>generalizações</a:t>
            </a:r>
            <a:r>
              <a:rPr lang="pt-BR" dirty="0" smtClean="0"/>
              <a:t>  em potencial.</a:t>
            </a:r>
          </a:p>
          <a:p>
            <a:pPr lvl="1"/>
            <a:r>
              <a:rPr lang="pt-BR" dirty="0" smtClean="0"/>
              <a:t>Demais verbos são </a:t>
            </a:r>
            <a:r>
              <a:rPr lang="pt-BR" b="1" dirty="0" smtClean="0"/>
              <a:t>associações</a:t>
            </a:r>
            <a:r>
              <a:rPr lang="pt-BR" dirty="0" smtClean="0"/>
              <a:t> em potencial.</a:t>
            </a:r>
          </a:p>
          <a:p>
            <a:endParaRPr lang="pt-BR"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Análise Textual de </a:t>
            </a:r>
            <a:r>
              <a:rPr lang="pt-BR" dirty="0" err="1" smtClean="0"/>
              <a:t>Abbott</a:t>
            </a:r>
            <a:r>
              <a:rPr lang="pt-BR" dirty="0" smtClean="0"/>
              <a:t> (cont.)</a:t>
            </a:r>
            <a:endParaRPr lang="pt-BR" dirty="0"/>
          </a:p>
        </p:txBody>
      </p:sp>
      <p:sp>
        <p:nvSpPr>
          <p:cNvPr id="3" name="Espaço Reservado para Conteúdo 2"/>
          <p:cNvSpPr>
            <a:spLocks noGrp="1"/>
          </p:cNvSpPr>
          <p:nvPr>
            <p:ph idx="1"/>
          </p:nvPr>
        </p:nvSpPr>
        <p:spPr/>
        <p:txBody>
          <a:bodyPr>
            <a:normAutofit/>
          </a:bodyPr>
          <a:lstStyle/>
          <a:p>
            <a:r>
              <a:rPr lang="pt-BR" sz="2800" dirty="0" smtClean="0"/>
              <a:t>A técnica pode levar à identificação de diversas classes candidatas que não gerarão classes. </a:t>
            </a:r>
          </a:p>
          <a:p>
            <a:r>
              <a:rPr lang="pt-BR" sz="2800" dirty="0" smtClean="0"/>
              <a:t>A análise do texto de um documento pode não identificar uma classe importante. </a:t>
            </a:r>
          </a:p>
          <a:p>
            <a:r>
              <a:rPr lang="pt-BR" sz="2800" dirty="0" smtClean="0"/>
              <a:t>As variações lingüísticas e as formas de expressar uma mesma idéia são bastante numerosas.</a:t>
            </a:r>
          </a:p>
          <a:p>
            <a:pPr lvl="1"/>
            <a:r>
              <a:rPr lang="pt-BR" sz="2400" dirty="0" smtClean="0"/>
              <a:t>Evitem sinônimos nos documentos técnicos</a:t>
            </a:r>
          </a:p>
          <a:p>
            <a:endParaRPr lang="pt-BR"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Análise de Casos de Uso</a:t>
            </a:r>
            <a:endParaRPr lang="pt-BR" dirty="0"/>
          </a:p>
        </p:txBody>
      </p:sp>
      <p:sp>
        <p:nvSpPr>
          <p:cNvPr id="3" name="Espaço Reservado para Conteúdo 2"/>
          <p:cNvSpPr>
            <a:spLocks noGrp="1"/>
          </p:cNvSpPr>
          <p:nvPr>
            <p:ph idx="1"/>
          </p:nvPr>
        </p:nvSpPr>
        <p:spPr/>
        <p:txBody>
          <a:bodyPr>
            <a:normAutofit/>
          </a:bodyPr>
          <a:lstStyle/>
          <a:p>
            <a:r>
              <a:rPr lang="pt-BR" dirty="0" smtClean="0"/>
              <a:t>Técnica preconizada pelo RUP.</a:t>
            </a:r>
          </a:p>
          <a:p>
            <a:r>
              <a:rPr lang="pt-BR" dirty="0" smtClean="0"/>
              <a:t>Casos de uso como ponto de partida. </a:t>
            </a:r>
          </a:p>
          <a:p>
            <a:pPr lvl="1"/>
            <a:r>
              <a:rPr lang="pt-BR" dirty="0" smtClean="0"/>
              <a:t>A realização de um caso de uso é responsabilidade de um conjunto de objetos que devem colaborar para produzir o resultado daquele caso de uso.</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Análise de Casos de Uso</a:t>
            </a:r>
            <a:endParaRPr lang="pt-BR" dirty="0"/>
          </a:p>
        </p:txBody>
      </p:sp>
      <p:sp>
        <p:nvSpPr>
          <p:cNvPr id="3" name="Espaço Reservado para Conteúdo 2"/>
          <p:cNvSpPr>
            <a:spLocks noGrp="1"/>
          </p:cNvSpPr>
          <p:nvPr>
            <p:ph idx="1"/>
          </p:nvPr>
        </p:nvSpPr>
        <p:spPr/>
        <p:txBody>
          <a:bodyPr>
            <a:normAutofit/>
          </a:bodyPr>
          <a:lstStyle/>
          <a:p>
            <a:r>
              <a:rPr lang="pt-BR" dirty="0" smtClean="0"/>
              <a:t>Procedimento de aplicação:</a:t>
            </a:r>
          </a:p>
          <a:p>
            <a:pPr lvl="1"/>
            <a:r>
              <a:rPr lang="pt-BR" dirty="0" smtClean="0"/>
              <a:t>Estudar a descrição textual de cada caso de uso para identificar classes candidatas. </a:t>
            </a:r>
          </a:p>
          <a:p>
            <a:pPr lvl="1"/>
            <a:r>
              <a:rPr lang="pt-BR" dirty="0" smtClean="0"/>
              <a:t>Para cada caso de uso, os fluxos em texto são analisados. </a:t>
            </a:r>
          </a:p>
          <a:p>
            <a:endParaRPr lang="pt-BR"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Visibilidade</a:t>
            </a:r>
            <a:endParaRPr lang="pt-BR" dirty="0"/>
          </a:p>
        </p:txBody>
      </p:sp>
      <p:sp>
        <p:nvSpPr>
          <p:cNvPr id="3" name="Espaço Reservado para Conteúdo 2"/>
          <p:cNvSpPr>
            <a:spLocks noGrp="1"/>
          </p:cNvSpPr>
          <p:nvPr>
            <p:ph idx="1"/>
          </p:nvPr>
        </p:nvSpPr>
        <p:spPr>
          <a:xfrm>
            <a:off x="457200" y="1600200"/>
            <a:ext cx="8507288" cy="4525963"/>
          </a:xfrm>
        </p:spPr>
        <p:txBody>
          <a:bodyPr>
            <a:normAutofit fontScale="92500"/>
          </a:bodyPr>
          <a:lstStyle/>
          <a:p>
            <a:r>
              <a:rPr lang="pt-BR" dirty="0" smtClean="0"/>
              <a:t>Qualificadores de visibilidade aplicáveis a atributos também podem ser aplicados a operações.</a:t>
            </a:r>
          </a:p>
          <a:p>
            <a:pPr lvl="1"/>
            <a:r>
              <a:rPr lang="pt-BR" b="1" dirty="0" smtClean="0"/>
              <a:t>+ visibilidade pública</a:t>
            </a:r>
          </a:p>
          <a:p>
            <a:pPr lvl="1"/>
            <a:r>
              <a:rPr lang="pt-BR" b="1" dirty="0" smtClean="0"/>
              <a:t># visibilidade protegida</a:t>
            </a:r>
          </a:p>
          <a:p>
            <a:pPr lvl="1"/>
            <a:r>
              <a:rPr lang="pt-BR" b="1" dirty="0" smtClean="0"/>
              <a:t>- visibilidade privativa</a:t>
            </a:r>
          </a:p>
          <a:p>
            <a:r>
              <a:rPr lang="pt-BR" dirty="0" smtClean="0"/>
              <a:t>O real significado depende da linguagem de programação em questão.</a:t>
            </a:r>
          </a:p>
          <a:p>
            <a:r>
              <a:rPr lang="pt-BR" dirty="0" smtClean="0"/>
              <a:t>O conjunto das operações públicas de uma classe é chamado de </a:t>
            </a:r>
            <a:r>
              <a:rPr lang="pt-BR" b="1" dirty="0" smtClean="0"/>
              <a:t>interface</a:t>
            </a:r>
          </a:p>
          <a:p>
            <a:endParaRPr lang="pt-BR"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smtClean="0"/>
              <a:t>Práticas a serem evitadas</a:t>
            </a:r>
            <a:endParaRPr lang="pt-BR" dirty="0"/>
          </a:p>
        </p:txBody>
      </p:sp>
      <p:sp>
        <p:nvSpPr>
          <p:cNvPr id="3" name="Content Placeholder 2"/>
          <p:cNvSpPr>
            <a:spLocks noGrp="1"/>
          </p:cNvSpPr>
          <p:nvPr>
            <p:ph idx="1"/>
          </p:nvPr>
        </p:nvSpPr>
        <p:spPr/>
        <p:txBody>
          <a:bodyPr/>
          <a:lstStyle/>
          <a:p>
            <a:r>
              <a:rPr lang="pt-BR" dirty="0" smtClean="0"/>
              <a:t>Uso excessivo/inadequado de agregação e composição.</a:t>
            </a:r>
          </a:p>
          <a:p>
            <a:r>
              <a:rPr lang="pt-BR" dirty="0" smtClean="0"/>
              <a:t>Heranças inadequadas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POJO - Plain and Old Java Object</a:t>
            </a:r>
            <a:endParaRPr lang="pt-BR" dirty="0"/>
          </a:p>
        </p:txBody>
      </p:sp>
      <p:sp>
        <p:nvSpPr>
          <p:cNvPr id="3" name="Content Placeholder 2"/>
          <p:cNvSpPr>
            <a:spLocks noGrp="1"/>
          </p:cNvSpPr>
          <p:nvPr>
            <p:ph idx="1"/>
          </p:nvPr>
        </p:nvSpPr>
        <p:spPr/>
        <p:txBody>
          <a:bodyPr/>
          <a:lstStyle/>
          <a:p>
            <a:r>
              <a:rPr lang="pt-BR" dirty="0" smtClean="0"/>
              <a:t>Classes com</a:t>
            </a:r>
          </a:p>
          <a:p>
            <a:pPr lvl="1"/>
            <a:r>
              <a:rPr lang="pt-BR" dirty="0" smtClean="0"/>
              <a:t>Atributos</a:t>
            </a:r>
          </a:p>
          <a:p>
            <a:pPr lvl="1"/>
            <a:r>
              <a:rPr lang="pt-BR" dirty="0" smtClean="0"/>
              <a:t>Construtor </a:t>
            </a:r>
            <a:r>
              <a:rPr lang="pt-BR" i="1" dirty="0" smtClean="0"/>
              <a:t>default</a:t>
            </a:r>
            <a:r>
              <a:rPr lang="pt-BR" dirty="0" smtClean="0"/>
              <a:t> </a:t>
            </a:r>
          </a:p>
          <a:p>
            <a:pPr lvl="1"/>
            <a:r>
              <a:rPr lang="pt-BR" i="1" dirty="0" smtClean="0"/>
              <a:t>Getters</a:t>
            </a:r>
            <a:endParaRPr lang="pt-BR" dirty="0" smtClean="0"/>
          </a:p>
          <a:p>
            <a:pPr lvl="1"/>
            <a:r>
              <a:rPr lang="pt-BR" i="1" dirty="0" smtClean="0"/>
              <a:t>Setters</a:t>
            </a:r>
          </a:p>
          <a:p>
            <a:r>
              <a:rPr lang="pt-BR" dirty="0" smtClean="0"/>
              <a:t>Geralmente são as classes de entidade.</a:t>
            </a:r>
          </a:p>
          <a:p>
            <a:r>
              <a:rPr lang="pt-BR" dirty="0" smtClean="0"/>
              <a:t>https://martinfowler.com/bliki/POJO.html</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8229600" cy="706090"/>
          </a:xfrm>
        </p:spPr>
        <p:txBody>
          <a:bodyPr>
            <a:normAutofit fontScale="90000"/>
          </a:bodyPr>
          <a:lstStyle/>
          <a:p>
            <a:r>
              <a:rPr lang="pt-BR" dirty="0" smtClean="0"/>
              <a:t>POJO - Exemplo</a:t>
            </a:r>
            <a:endParaRPr lang="pt-BR" dirty="0"/>
          </a:p>
        </p:txBody>
      </p:sp>
      <p:sp>
        <p:nvSpPr>
          <p:cNvPr id="3" name="Content Placeholder 2"/>
          <p:cNvSpPr>
            <a:spLocks noGrp="1"/>
          </p:cNvSpPr>
          <p:nvPr>
            <p:ph idx="1"/>
          </p:nvPr>
        </p:nvSpPr>
        <p:spPr>
          <a:xfrm>
            <a:off x="457200" y="836712"/>
            <a:ext cx="8229600" cy="5904656"/>
          </a:xfrm>
        </p:spPr>
        <p:txBody>
          <a:bodyPr>
            <a:normAutofit fontScale="32500" lnSpcReduction="20000"/>
          </a:bodyPr>
          <a:lstStyle/>
          <a:p>
            <a:pPr fontAlgn="base">
              <a:buNone/>
            </a:pPr>
            <a:r>
              <a:rPr lang="pt-BR" sz="4900" dirty="0" smtClean="0">
                <a:latin typeface="Courier New" pitchFamily="49" charset="0"/>
                <a:cs typeface="Courier New" pitchFamily="49" charset="0"/>
              </a:rPr>
              <a:t>public class Employee</a:t>
            </a:r>
          </a:p>
          <a:p>
            <a:pPr fontAlgn="base">
              <a:buNone/>
            </a:pPr>
            <a:r>
              <a:rPr lang="pt-BR" sz="4900" dirty="0" smtClean="0">
                <a:latin typeface="Courier New" pitchFamily="49" charset="0"/>
                <a:cs typeface="Courier New" pitchFamily="49" charset="0"/>
              </a:rPr>
              <a:t>{</a:t>
            </a:r>
          </a:p>
          <a:p>
            <a:pPr fontAlgn="base">
              <a:buNone/>
            </a:pPr>
            <a:r>
              <a:rPr lang="pt-BR" sz="4900" dirty="0" smtClean="0">
                <a:latin typeface="Courier New" pitchFamily="49" charset="0"/>
                <a:cs typeface="Courier New" pitchFamily="49" charset="0"/>
              </a:rPr>
              <a:t>	private String name;</a:t>
            </a:r>
          </a:p>
          <a:p>
            <a:pPr fontAlgn="base">
              <a:buNone/>
            </a:pPr>
            <a:r>
              <a:rPr lang="pt-BR" sz="4900" dirty="0" smtClean="0">
                <a:latin typeface="Courier New" pitchFamily="49" charset="0"/>
                <a:cs typeface="Courier New" pitchFamily="49" charset="0"/>
              </a:rPr>
              <a:t>	private String id;</a:t>
            </a:r>
          </a:p>
          <a:p>
            <a:pPr fontAlgn="base">
              <a:buNone/>
            </a:pPr>
            <a:r>
              <a:rPr lang="pt-BR" sz="4900" dirty="0" smtClean="0">
                <a:latin typeface="Courier New" pitchFamily="49" charset="0"/>
                <a:cs typeface="Courier New" pitchFamily="49" charset="0"/>
              </a:rPr>
              <a:t>	private double salary;</a:t>
            </a:r>
          </a:p>
          <a:p>
            <a:pPr fontAlgn="base">
              <a:buNone/>
            </a:pPr>
            <a:r>
              <a:rPr lang="pt-BR" sz="4900" dirty="0" smtClean="0">
                <a:latin typeface="Courier New" pitchFamily="49" charset="0"/>
                <a:cs typeface="Courier New" pitchFamily="49" charset="0"/>
              </a:rPr>
              <a:t>	public </a:t>
            </a:r>
            <a:r>
              <a:rPr lang="pt-BR" sz="4900" b="1" dirty="0" smtClean="0">
                <a:latin typeface="Courier New" pitchFamily="49" charset="0"/>
                <a:cs typeface="Courier New" pitchFamily="49" charset="0"/>
              </a:rPr>
              <a:t>Employee</a:t>
            </a:r>
            <a:r>
              <a:rPr lang="pt-BR" sz="4900" dirty="0" smtClean="0">
                <a:latin typeface="Courier New" pitchFamily="49" charset="0"/>
                <a:cs typeface="Courier New" pitchFamily="49" charset="0"/>
              </a:rPr>
              <a:t>(String name, String id, double salary)</a:t>
            </a:r>
          </a:p>
          <a:p>
            <a:pPr fontAlgn="base">
              <a:buNone/>
            </a:pPr>
            <a:r>
              <a:rPr lang="pt-BR" sz="4900" dirty="0" smtClean="0">
                <a:latin typeface="Courier New" pitchFamily="49" charset="0"/>
                <a:cs typeface="Courier New" pitchFamily="49" charset="0"/>
              </a:rPr>
              <a:t>	{</a:t>
            </a:r>
          </a:p>
          <a:p>
            <a:pPr fontAlgn="base">
              <a:buNone/>
            </a:pPr>
            <a:r>
              <a:rPr lang="pt-BR" sz="4900" dirty="0" smtClean="0">
                <a:latin typeface="Courier New" pitchFamily="49" charset="0"/>
                <a:cs typeface="Courier New" pitchFamily="49" charset="0"/>
              </a:rPr>
              <a:t>		this.name = name;</a:t>
            </a:r>
          </a:p>
          <a:p>
            <a:pPr fontAlgn="base">
              <a:buNone/>
            </a:pPr>
            <a:r>
              <a:rPr lang="pt-BR" sz="4900" dirty="0" smtClean="0">
                <a:latin typeface="Courier New" pitchFamily="49" charset="0"/>
                <a:cs typeface="Courier New" pitchFamily="49" charset="0"/>
              </a:rPr>
              <a:t>		this.id = id;</a:t>
            </a:r>
          </a:p>
          <a:p>
            <a:pPr fontAlgn="base">
              <a:buNone/>
            </a:pPr>
            <a:r>
              <a:rPr lang="pt-BR" sz="4900" dirty="0" smtClean="0">
                <a:latin typeface="Courier New" pitchFamily="49" charset="0"/>
                <a:cs typeface="Courier New" pitchFamily="49" charset="0"/>
              </a:rPr>
              <a:t>		this.salary = salary;</a:t>
            </a:r>
          </a:p>
          <a:p>
            <a:pPr fontAlgn="base">
              <a:buNone/>
            </a:pPr>
            <a:r>
              <a:rPr lang="pt-BR" sz="4900" dirty="0" smtClean="0">
                <a:latin typeface="Courier New" pitchFamily="49" charset="0"/>
                <a:cs typeface="Courier New" pitchFamily="49" charset="0"/>
              </a:rPr>
              <a:t>	}</a:t>
            </a:r>
          </a:p>
          <a:p>
            <a:pPr fontAlgn="base">
              <a:buNone/>
            </a:pPr>
            <a:r>
              <a:rPr lang="pt-BR" sz="4900" dirty="0" smtClean="0">
                <a:latin typeface="Courier New" pitchFamily="49" charset="0"/>
                <a:cs typeface="Courier New" pitchFamily="49" charset="0"/>
              </a:rPr>
              <a:t>	public String </a:t>
            </a:r>
            <a:r>
              <a:rPr lang="pt-BR" sz="4900" b="1" dirty="0" smtClean="0">
                <a:latin typeface="Courier New" pitchFamily="49" charset="0"/>
                <a:cs typeface="Courier New" pitchFamily="49" charset="0"/>
              </a:rPr>
              <a:t>getName</a:t>
            </a:r>
            <a:r>
              <a:rPr lang="pt-BR" sz="4900" dirty="0" smtClean="0">
                <a:latin typeface="Courier New" pitchFamily="49" charset="0"/>
                <a:cs typeface="Courier New" pitchFamily="49" charset="0"/>
              </a:rPr>
              <a:t>()</a:t>
            </a:r>
          </a:p>
          <a:p>
            <a:pPr fontAlgn="base">
              <a:buNone/>
            </a:pPr>
            <a:r>
              <a:rPr lang="pt-BR" sz="4900" dirty="0" smtClean="0">
                <a:latin typeface="Courier New" pitchFamily="49" charset="0"/>
                <a:cs typeface="Courier New" pitchFamily="49" charset="0"/>
              </a:rPr>
              <a:t>	{</a:t>
            </a:r>
          </a:p>
          <a:p>
            <a:pPr fontAlgn="base">
              <a:buNone/>
            </a:pPr>
            <a:r>
              <a:rPr lang="pt-BR" sz="4900" dirty="0" smtClean="0">
                <a:latin typeface="Courier New" pitchFamily="49" charset="0"/>
                <a:cs typeface="Courier New" pitchFamily="49" charset="0"/>
              </a:rPr>
              <a:t>		return name;</a:t>
            </a:r>
          </a:p>
          <a:p>
            <a:pPr fontAlgn="base">
              <a:buNone/>
            </a:pPr>
            <a:r>
              <a:rPr lang="pt-BR" sz="4900" dirty="0" smtClean="0">
                <a:latin typeface="Courier New" pitchFamily="49" charset="0"/>
                <a:cs typeface="Courier New" pitchFamily="49" charset="0"/>
              </a:rPr>
              <a:t>	}</a:t>
            </a:r>
          </a:p>
          <a:p>
            <a:pPr fontAlgn="base">
              <a:buNone/>
            </a:pPr>
            <a:r>
              <a:rPr lang="pt-BR" sz="4900" dirty="0" smtClean="0">
                <a:latin typeface="Courier New" pitchFamily="49" charset="0"/>
                <a:cs typeface="Courier New" pitchFamily="49" charset="0"/>
              </a:rPr>
              <a:t>	public String </a:t>
            </a:r>
            <a:r>
              <a:rPr lang="pt-BR" sz="4900" b="1" dirty="0" smtClean="0">
                <a:latin typeface="Courier New" pitchFamily="49" charset="0"/>
                <a:cs typeface="Courier New" pitchFamily="49" charset="0"/>
              </a:rPr>
              <a:t>getId</a:t>
            </a:r>
            <a:r>
              <a:rPr lang="pt-BR" sz="4900" dirty="0" smtClean="0">
                <a:latin typeface="Courier New" pitchFamily="49" charset="0"/>
                <a:cs typeface="Courier New" pitchFamily="49" charset="0"/>
              </a:rPr>
              <a:t>()</a:t>
            </a:r>
          </a:p>
          <a:p>
            <a:pPr fontAlgn="base">
              <a:buNone/>
            </a:pPr>
            <a:r>
              <a:rPr lang="pt-BR" sz="4900" dirty="0" smtClean="0">
                <a:latin typeface="Courier New" pitchFamily="49" charset="0"/>
                <a:cs typeface="Courier New" pitchFamily="49" charset="0"/>
              </a:rPr>
              <a:t>	{</a:t>
            </a:r>
          </a:p>
          <a:p>
            <a:pPr fontAlgn="base">
              <a:buNone/>
            </a:pPr>
            <a:r>
              <a:rPr lang="pt-BR" sz="4900" dirty="0" smtClean="0">
                <a:latin typeface="Courier New" pitchFamily="49" charset="0"/>
                <a:cs typeface="Courier New" pitchFamily="49" charset="0"/>
              </a:rPr>
              <a:t>		return id;</a:t>
            </a:r>
          </a:p>
          <a:p>
            <a:pPr fontAlgn="base">
              <a:buNone/>
            </a:pPr>
            <a:r>
              <a:rPr lang="pt-BR" sz="4900" dirty="0" smtClean="0">
                <a:latin typeface="Courier New" pitchFamily="49" charset="0"/>
                <a:cs typeface="Courier New" pitchFamily="49" charset="0"/>
              </a:rPr>
              <a:t>	}</a:t>
            </a:r>
          </a:p>
          <a:p>
            <a:pPr fontAlgn="base">
              <a:buNone/>
            </a:pPr>
            <a:r>
              <a:rPr lang="pt-BR" sz="4900" dirty="0" smtClean="0">
                <a:latin typeface="Courier New" pitchFamily="49" charset="0"/>
                <a:cs typeface="Courier New" pitchFamily="49" charset="0"/>
              </a:rPr>
              <a:t>	public Double </a:t>
            </a:r>
            <a:r>
              <a:rPr lang="pt-BR" sz="4900" b="1" dirty="0" smtClean="0">
                <a:latin typeface="Courier New" pitchFamily="49" charset="0"/>
                <a:cs typeface="Courier New" pitchFamily="49" charset="0"/>
              </a:rPr>
              <a:t>getSalary</a:t>
            </a:r>
            <a:r>
              <a:rPr lang="pt-BR" sz="4900" dirty="0" smtClean="0">
                <a:latin typeface="Courier New" pitchFamily="49" charset="0"/>
                <a:cs typeface="Courier New" pitchFamily="49" charset="0"/>
              </a:rPr>
              <a:t>()</a:t>
            </a:r>
          </a:p>
          <a:p>
            <a:pPr fontAlgn="base">
              <a:buNone/>
            </a:pPr>
            <a:r>
              <a:rPr lang="pt-BR" sz="4900" dirty="0" smtClean="0">
                <a:latin typeface="Courier New" pitchFamily="49" charset="0"/>
                <a:cs typeface="Courier New" pitchFamily="49" charset="0"/>
              </a:rPr>
              <a:t>	{</a:t>
            </a:r>
          </a:p>
          <a:p>
            <a:pPr fontAlgn="base">
              <a:buNone/>
            </a:pPr>
            <a:r>
              <a:rPr lang="pt-BR" sz="4900" dirty="0" smtClean="0">
                <a:latin typeface="Courier New" pitchFamily="49" charset="0"/>
                <a:cs typeface="Courier New" pitchFamily="49" charset="0"/>
              </a:rPr>
              <a:t>		return salary;</a:t>
            </a:r>
          </a:p>
          <a:p>
            <a:pPr fontAlgn="base">
              <a:buNone/>
            </a:pPr>
            <a:r>
              <a:rPr lang="pt-BR" sz="4900" dirty="0" smtClean="0">
                <a:latin typeface="Courier New" pitchFamily="49" charset="0"/>
                <a:cs typeface="Courier New" pitchFamily="49" charset="0"/>
              </a:rPr>
              <a:t>	}</a:t>
            </a:r>
          </a:p>
          <a:p>
            <a:pPr fontAlgn="base">
              <a:buNone/>
            </a:pPr>
            <a:r>
              <a:rPr lang="pt-BR" sz="4900" dirty="0" smtClean="0">
                <a:latin typeface="Courier New" pitchFamily="49" charset="0"/>
                <a:cs typeface="Courier New" pitchFamily="49" charset="0"/>
              </a:rPr>
              <a:t>}</a:t>
            </a:r>
          </a:p>
          <a:p>
            <a:endParaRPr lang="pt-BR"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smtClean="0"/>
              <a:t>O Problema de Herança</a:t>
            </a:r>
            <a:endParaRPr lang="pt-BR" dirty="0"/>
          </a:p>
        </p:txBody>
      </p:sp>
      <p:sp>
        <p:nvSpPr>
          <p:cNvPr id="3" name="Content Placeholder 2"/>
          <p:cNvSpPr>
            <a:spLocks noGrp="1"/>
          </p:cNvSpPr>
          <p:nvPr>
            <p:ph idx="1"/>
          </p:nvPr>
        </p:nvSpPr>
        <p:spPr>
          <a:xfrm>
            <a:off x="457200" y="1600200"/>
            <a:ext cx="8435280" cy="4525963"/>
          </a:xfrm>
        </p:spPr>
        <p:txBody>
          <a:bodyPr/>
          <a:lstStyle/>
          <a:p>
            <a:r>
              <a:rPr lang="pt-BR" dirty="0" smtClean="0">
                <a:hlinkClick r:id="rId2"/>
              </a:rPr>
              <a:t>Encapsulation and Inheritance in Object-Oriented Programming Languages</a:t>
            </a:r>
            <a:r>
              <a:rPr lang="pt-BR" dirty="0" smtClean="0"/>
              <a:t>, artigo de 1986! “</a:t>
            </a:r>
            <a:r>
              <a:rPr lang="pt-BR" i="1" dirty="0" smtClean="0"/>
              <a:t>… na maioria das linguagens a introdução da herança compromete seriamente os benefícios do encapsulamento …</a:t>
            </a:r>
            <a:r>
              <a:rPr lang="pt-BR" dirty="0" smtClean="0"/>
              <a:t>”</a:t>
            </a:r>
          </a:p>
          <a:p>
            <a:r>
              <a:rPr lang="pt-BR" dirty="0" smtClean="0"/>
              <a:t>Vejam em: https://www.cs.tufts.edu/comp/150CBD/readings/snyder86encapsulation.pdf </a:t>
            </a:r>
            <a:endParaRPr lang="pt-BR"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smtClean="0"/>
              <a:t>O Problema de Herança</a:t>
            </a:r>
            <a:endParaRPr lang="pt-BR" dirty="0"/>
          </a:p>
        </p:txBody>
      </p:sp>
      <p:sp>
        <p:nvSpPr>
          <p:cNvPr id="3" name="Content Placeholder 2"/>
          <p:cNvSpPr>
            <a:spLocks noGrp="1"/>
          </p:cNvSpPr>
          <p:nvPr>
            <p:ph idx="1"/>
          </p:nvPr>
        </p:nvSpPr>
        <p:spPr/>
        <p:txBody>
          <a:bodyPr/>
          <a:lstStyle/>
          <a:p>
            <a:r>
              <a:rPr lang="pt-BR" b="1" dirty="0" smtClean="0"/>
              <a:t>Why extends is evil - </a:t>
            </a:r>
            <a:r>
              <a:rPr lang="pt-BR" dirty="0" smtClean="0"/>
              <a:t>https://www.javaworld.com/article/2073649/why-extends-is-evil.html</a:t>
            </a:r>
            <a:endParaRPr lang="pt-BR"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smtClean="0"/>
              <a:t>O Problema de Herança</a:t>
            </a:r>
            <a:endParaRPr lang="pt-BR" dirty="0"/>
          </a:p>
        </p:txBody>
      </p:sp>
      <p:sp>
        <p:nvSpPr>
          <p:cNvPr id="3" name="Content Placeholder 2"/>
          <p:cNvSpPr>
            <a:spLocks noGrp="1"/>
          </p:cNvSpPr>
          <p:nvPr>
            <p:ph idx="1"/>
          </p:nvPr>
        </p:nvSpPr>
        <p:spPr/>
        <p:txBody>
          <a:bodyPr/>
          <a:lstStyle/>
          <a:p>
            <a:r>
              <a:rPr lang="pt-BR" dirty="0" smtClean="0"/>
              <a:t>Viola o Encapsulamento</a:t>
            </a:r>
          </a:p>
          <a:p>
            <a:r>
              <a:rPr lang="pt-BR" dirty="0" smtClean="0"/>
              <a:t>Forte Acoplamento</a:t>
            </a:r>
          </a:p>
          <a:p>
            <a:r>
              <a:rPr lang="pt-BR" dirty="0" smtClean="0"/>
              <a:t>Hierarquias Complexas</a:t>
            </a:r>
          </a:p>
          <a:p>
            <a:endParaRPr lang="pt-BR"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pt-BR" dirty="0" smtClean="0"/>
              <a:t>Herança deve ser usada quando fizer sentido</a:t>
            </a:r>
            <a:endParaRPr lang="pt-BR" dirty="0"/>
          </a:p>
        </p:txBody>
      </p:sp>
      <p:sp>
        <p:nvSpPr>
          <p:cNvPr id="3" name="Content Placeholder 2"/>
          <p:cNvSpPr>
            <a:spLocks noGrp="1"/>
          </p:cNvSpPr>
          <p:nvPr>
            <p:ph idx="1"/>
          </p:nvPr>
        </p:nvSpPr>
        <p:spPr/>
        <p:txBody>
          <a:bodyPr>
            <a:normAutofit/>
          </a:bodyPr>
          <a:lstStyle/>
          <a:p>
            <a:r>
              <a:rPr lang="pt-BR" dirty="0" smtClean="0"/>
              <a:t>Herança não deve ser demonizada, mas também não deve ser usada sem sentido.</a:t>
            </a:r>
          </a:p>
          <a:p>
            <a:r>
              <a:rPr lang="pt-BR" dirty="0" smtClean="0"/>
              <a:t>Ex.: Gato é um Animal (ok)</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smtClean="0"/>
              <a:t>Herança em excesso</a:t>
            </a:r>
            <a:endParaRPr lang="pt-BR" dirty="0"/>
          </a:p>
        </p:txBody>
      </p:sp>
      <p:sp>
        <p:nvSpPr>
          <p:cNvPr id="3" name="Content Placeholder 2"/>
          <p:cNvSpPr>
            <a:spLocks noGrp="1"/>
          </p:cNvSpPr>
          <p:nvPr>
            <p:ph idx="1"/>
          </p:nvPr>
        </p:nvSpPr>
        <p:spPr/>
        <p:txBody>
          <a:bodyPr>
            <a:normAutofit/>
          </a:bodyPr>
          <a:lstStyle/>
          <a:p>
            <a:r>
              <a:rPr lang="pt-BR" dirty="0" smtClean="0"/>
              <a:t>Mudanças na classe pai podem afetar todas as classes filhas, mesmo quando isso não for intencional. </a:t>
            </a:r>
          </a:p>
          <a:p>
            <a:pPr lvl="1"/>
            <a:r>
              <a:rPr lang="pt-BR" dirty="0" smtClean="0"/>
              <a:t>Hierarquias de classes tem milhares de LOC!</a:t>
            </a:r>
          </a:p>
          <a:p>
            <a:r>
              <a:rPr lang="pt-BR" dirty="0" smtClean="0"/>
              <a:t>O acoplamento é forte, classes tem muito conhecimento sobre outras.</a:t>
            </a:r>
            <a:br>
              <a:rPr lang="pt-BR" dirty="0" smtClean="0"/>
            </a:br>
            <a:endParaRPr lang="pt-BR"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smtClean="0"/>
              <a:t>Práticas a serem evitadas</a:t>
            </a:r>
            <a:endParaRPr lang="pt-BR" dirty="0"/>
          </a:p>
        </p:txBody>
      </p:sp>
      <p:sp>
        <p:nvSpPr>
          <p:cNvPr id="3" name="Content Placeholder 2"/>
          <p:cNvSpPr>
            <a:spLocks noGrp="1"/>
          </p:cNvSpPr>
          <p:nvPr>
            <p:ph idx="1"/>
          </p:nvPr>
        </p:nvSpPr>
        <p:spPr/>
        <p:txBody>
          <a:bodyPr/>
          <a:lstStyle/>
          <a:p>
            <a:r>
              <a:rPr lang="pt-BR" dirty="0" smtClean="0"/>
              <a:t>Classes com baixa coesão</a:t>
            </a:r>
          </a:p>
          <a:p>
            <a:pPr lvl="1">
              <a:buNone/>
            </a:pPr>
            <a:endParaRPr lang="pt-BR" dirty="0" smtClean="0"/>
          </a:p>
          <a:p>
            <a:pPr lvl="1">
              <a:buNone/>
            </a:pPr>
            <a:endParaRPr lang="pt-BR" dirty="0"/>
          </a:p>
        </p:txBody>
      </p:sp>
      <p:pic>
        <p:nvPicPr>
          <p:cNvPr id="1027" name="Picture 3"/>
          <p:cNvPicPr>
            <a:picLocks noChangeAspect="1" noChangeArrowheads="1"/>
          </p:cNvPicPr>
          <p:nvPr/>
        </p:nvPicPr>
        <p:blipFill>
          <a:blip r:embed="rId2" cstate="print"/>
          <a:srcRect/>
          <a:stretch>
            <a:fillRect/>
          </a:stretch>
        </p:blipFill>
        <p:spPr bwMode="auto">
          <a:xfrm>
            <a:off x="3419872" y="2492896"/>
            <a:ext cx="1939677" cy="1838409"/>
          </a:xfrm>
          <a:prstGeom prst="rect">
            <a:avLst/>
          </a:prstGeom>
          <a:noFill/>
          <a:ln w="9525">
            <a:noFill/>
            <a:miter lim="800000"/>
            <a:headEnd/>
            <a:tailEnd/>
          </a:ln>
        </p:spPr>
      </p:pic>
      <p:pic>
        <p:nvPicPr>
          <p:cNvPr id="1028" name="Picture 4"/>
          <p:cNvPicPr>
            <a:picLocks noChangeAspect="1" noChangeArrowheads="1"/>
          </p:cNvPicPr>
          <p:nvPr/>
        </p:nvPicPr>
        <p:blipFill>
          <a:blip r:embed="rId3" cstate="print"/>
          <a:srcRect/>
          <a:stretch>
            <a:fillRect/>
          </a:stretch>
        </p:blipFill>
        <p:spPr bwMode="auto">
          <a:xfrm>
            <a:off x="1331640" y="4725144"/>
            <a:ext cx="6598087" cy="1944216"/>
          </a:xfrm>
          <a:prstGeom prst="rect">
            <a:avLst/>
          </a:prstGeom>
          <a:noFill/>
          <a:ln w="9525">
            <a:noFill/>
            <a:miter lim="800000"/>
            <a:headEnd/>
            <a:tailEnd/>
          </a:ln>
        </p:spPr>
      </p:pic>
      <p:pic>
        <p:nvPicPr>
          <p:cNvPr id="1029" name="Picture 5"/>
          <p:cNvPicPr>
            <a:picLocks noChangeAspect="1" noChangeArrowheads="1"/>
          </p:cNvPicPr>
          <p:nvPr/>
        </p:nvPicPr>
        <p:blipFill>
          <a:blip r:embed="rId4" cstate="print"/>
          <a:srcRect/>
          <a:stretch>
            <a:fillRect/>
          </a:stretch>
        </p:blipFill>
        <p:spPr bwMode="auto">
          <a:xfrm>
            <a:off x="179512" y="2996952"/>
            <a:ext cx="3343275" cy="800100"/>
          </a:xfrm>
          <a:prstGeom prst="rect">
            <a:avLst/>
          </a:prstGeom>
          <a:noFill/>
          <a:ln w="9525">
            <a:noFill/>
            <a:miter lim="800000"/>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smtClean="0"/>
              <a:t>Práticas a serem evitadas</a:t>
            </a:r>
            <a:endParaRPr lang="pt-BR" dirty="0"/>
          </a:p>
        </p:txBody>
      </p:sp>
      <p:pic>
        <p:nvPicPr>
          <p:cNvPr id="2050" name="Picture 2"/>
          <p:cNvPicPr>
            <a:picLocks noChangeAspect="1" noChangeArrowheads="1"/>
          </p:cNvPicPr>
          <p:nvPr/>
        </p:nvPicPr>
        <p:blipFill>
          <a:blip r:embed="rId2" cstate="print"/>
          <a:srcRect/>
          <a:stretch>
            <a:fillRect/>
          </a:stretch>
        </p:blipFill>
        <p:spPr bwMode="auto">
          <a:xfrm>
            <a:off x="179512" y="4005064"/>
            <a:ext cx="2174858" cy="1872208"/>
          </a:xfrm>
          <a:prstGeom prst="rect">
            <a:avLst/>
          </a:prstGeom>
          <a:noFill/>
          <a:ln w="9525">
            <a:noFill/>
            <a:miter lim="800000"/>
            <a:headEnd/>
            <a:tailEnd/>
          </a:ln>
        </p:spPr>
      </p:pic>
      <p:pic>
        <p:nvPicPr>
          <p:cNvPr id="2051" name="Picture 3"/>
          <p:cNvPicPr>
            <a:picLocks noChangeAspect="1" noChangeArrowheads="1"/>
          </p:cNvPicPr>
          <p:nvPr/>
        </p:nvPicPr>
        <p:blipFill>
          <a:blip r:embed="rId3" cstate="print"/>
          <a:srcRect/>
          <a:stretch>
            <a:fillRect/>
          </a:stretch>
        </p:blipFill>
        <p:spPr bwMode="auto">
          <a:xfrm>
            <a:off x="2562874" y="1556792"/>
            <a:ext cx="6581126" cy="4032448"/>
          </a:xfrm>
          <a:prstGeom prst="rect">
            <a:avLst/>
          </a:prstGeom>
          <a:noFill/>
          <a:ln w="9525">
            <a:noFill/>
            <a:miter lim="800000"/>
            <a:headEnd/>
            <a:tailEnd/>
          </a:ln>
        </p:spPr>
      </p:pic>
      <p:pic>
        <p:nvPicPr>
          <p:cNvPr id="2052" name="Picture 4"/>
          <p:cNvPicPr>
            <a:picLocks noChangeAspect="1" noChangeArrowheads="1"/>
          </p:cNvPicPr>
          <p:nvPr/>
        </p:nvPicPr>
        <p:blipFill>
          <a:blip r:embed="rId4" cstate="print"/>
          <a:srcRect/>
          <a:stretch>
            <a:fillRect/>
          </a:stretch>
        </p:blipFill>
        <p:spPr bwMode="auto">
          <a:xfrm>
            <a:off x="827584" y="1844824"/>
            <a:ext cx="714375" cy="2143125"/>
          </a:xfrm>
          <a:prstGeom prst="rect">
            <a:avLst/>
          </a:prstGeom>
          <a:noFill/>
          <a:ln w="9525">
            <a:noFill/>
            <a:miter lim="800000"/>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Exercícios</a:t>
            </a:r>
            <a:endParaRPr lang="pt-BR" dirty="0"/>
          </a:p>
        </p:txBody>
      </p:sp>
      <p:sp>
        <p:nvSpPr>
          <p:cNvPr id="3" name="Espaço Reservado para Conteúdo 2"/>
          <p:cNvSpPr>
            <a:spLocks noGrp="1"/>
          </p:cNvSpPr>
          <p:nvPr>
            <p:ph idx="1"/>
          </p:nvPr>
        </p:nvSpPr>
        <p:spPr/>
        <p:txBody>
          <a:bodyPr/>
          <a:lstStyle/>
          <a:p>
            <a:endParaRPr lang="pt-BR"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Convenções nesta disciplina</a:t>
            </a:r>
            <a:endParaRPr lang="pt-BR" dirty="0"/>
          </a:p>
        </p:txBody>
      </p:sp>
      <p:sp>
        <p:nvSpPr>
          <p:cNvPr id="3" name="Espaço Reservado para Conteúdo 2"/>
          <p:cNvSpPr>
            <a:spLocks noGrp="1"/>
          </p:cNvSpPr>
          <p:nvPr>
            <p:ph idx="1"/>
          </p:nvPr>
        </p:nvSpPr>
        <p:spPr/>
        <p:txBody>
          <a:bodyPr>
            <a:normAutofit/>
          </a:bodyPr>
          <a:lstStyle/>
          <a:p>
            <a:r>
              <a:rPr lang="pt-BR" dirty="0" smtClean="0"/>
              <a:t>Classes de Análise</a:t>
            </a:r>
          </a:p>
          <a:p>
            <a:pPr lvl="1"/>
            <a:r>
              <a:rPr lang="pt-BR" dirty="0" smtClean="0"/>
              <a:t>Métodos "simples“ com valor de retorno</a:t>
            </a:r>
          </a:p>
          <a:p>
            <a:pPr lvl="1"/>
            <a:r>
              <a:rPr lang="pt-BR" dirty="0" smtClean="0"/>
              <a:t>Atributos com tipo e visibilidade</a:t>
            </a:r>
          </a:p>
          <a:p>
            <a:pPr lvl="1"/>
            <a:r>
              <a:rPr lang="pt-BR" dirty="0" smtClean="0"/>
              <a:t>Associações nomeadas</a:t>
            </a:r>
          </a:p>
          <a:p>
            <a:pPr lvl="1"/>
            <a:r>
              <a:rPr lang="pt-BR" dirty="0" err="1" smtClean="0"/>
              <a:t>Cardinalidades</a:t>
            </a:r>
            <a:r>
              <a:rPr lang="pt-BR" dirty="0" smtClean="0"/>
              <a:t> definidas</a:t>
            </a:r>
          </a:p>
          <a:p>
            <a:endParaRPr lang="pt-BR"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179512" y="188640"/>
            <a:ext cx="8784976" cy="6480720"/>
          </a:xfrm>
        </p:spPr>
        <p:txBody>
          <a:bodyPr>
            <a:normAutofit fontScale="92500" lnSpcReduction="10000"/>
          </a:bodyPr>
          <a:lstStyle/>
          <a:p>
            <a:r>
              <a:rPr lang="pt-BR" dirty="0" smtClean="0"/>
              <a:t>Um filme tem obrigatoriamente ao menos uma cópia, mas pode possuir diversas cópias. </a:t>
            </a:r>
          </a:p>
          <a:p>
            <a:r>
              <a:rPr lang="pt-BR" dirty="0" smtClean="0"/>
              <a:t>Uma cópia refere-se exclusivamente a um determinado filme.</a:t>
            </a:r>
          </a:p>
          <a:p>
            <a:r>
              <a:rPr lang="pt-BR" dirty="0" smtClean="0"/>
              <a:t>Um sócio pode realizar muitas locações enquanto permanecer sócio da locadora. </a:t>
            </a:r>
          </a:p>
          <a:p>
            <a:r>
              <a:rPr lang="pt-BR" dirty="0" smtClean="0"/>
              <a:t>Uma locação refere-se unicamente a um determinado sócio.</a:t>
            </a:r>
          </a:p>
          <a:p>
            <a:r>
              <a:rPr lang="pt-BR" dirty="0" smtClean="0"/>
              <a:t>Cada locação deve obrigatoriamente referenciar-se ao menos a uma cópia de um filme, podendo referenciar-se a muitas cópias.</a:t>
            </a:r>
          </a:p>
          <a:p>
            <a:r>
              <a:rPr lang="pt-BR" dirty="0" smtClean="0"/>
              <a:t>Uma cópia pode ter sido locada diversas vezes.</a:t>
            </a:r>
          </a:p>
          <a:p>
            <a:r>
              <a:rPr lang="pt-BR" dirty="0" smtClean="0"/>
              <a:t>Uma cópia não pode ser locada ao mesmo tempo por dois ou mais sócios.</a:t>
            </a:r>
          </a:p>
          <a:p>
            <a:endParaRPr lang="pt-BR"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179512" y="404664"/>
            <a:ext cx="8784976" cy="6120680"/>
          </a:xfrm>
        </p:spPr>
        <p:txBody>
          <a:bodyPr>
            <a:normAutofit fontScale="32500" lnSpcReduction="20000"/>
          </a:bodyPr>
          <a:lstStyle/>
          <a:p>
            <a:pPr>
              <a:buNone/>
            </a:pPr>
            <a:r>
              <a:rPr lang="pt-BR" sz="4500" dirty="0" smtClean="0">
                <a:latin typeface="Arial" pitchFamily="34" charset="0"/>
                <a:cs typeface="Arial" pitchFamily="34" charset="0"/>
              </a:rPr>
              <a:t>“</a:t>
            </a:r>
            <a:r>
              <a:rPr lang="pt-BR" sz="7400" dirty="0" smtClean="0">
                <a:latin typeface="Arial" pitchFamily="34" charset="0"/>
                <a:cs typeface="Arial" pitchFamily="34" charset="0"/>
              </a:rPr>
              <a:t>Uma empresa de táxi possui 20 de carros. Nesta empresa trabalham 20 motoristas. Um motorista pode dirigir um carro no dia, e apenas um, mas pode dirigir vários carros enquanto for motorista da empresa. Um carro pode ser dirigido apenas por um motorista em um dia, mas pode ser dirigido por diversos motoristas enquanto o carro for de propriedade da empresa.” </a:t>
            </a:r>
          </a:p>
          <a:p>
            <a:pPr>
              <a:buNone/>
            </a:pPr>
            <a:r>
              <a:rPr lang="pt-BR" sz="4500" dirty="0" smtClean="0">
                <a:latin typeface="Arial" pitchFamily="34" charset="0"/>
                <a:cs typeface="Arial" pitchFamily="34" charset="0"/>
              </a:rPr>
              <a:t> </a:t>
            </a:r>
          </a:p>
          <a:p>
            <a:pPr>
              <a:buNone/>
            </a:pPr>
            <a:r>
              <a:rPr lang="pt-BR" sz="4500" dirty="0" smtClean="0">
                <a:latin typeface="Arial" pitchFamily="34" charset="0"/>
                <a:cs typeface="Arial" pitchFamily="34" charset="0"/>
              </a:rPr>
              <a:t>Dados do motorista: CPF, Nome, Telefone</a:t>
            </a:r>
          </a:p>
          <a:p>
            <a:pPr>
              <a:buNone/>
            </a:pPr>
            <a:r>
              <a:rPr lang="pt-BR" sz="4500" dirty="0" smtClean="0">
                <a:latin typeface="Arial" pitchFamily="34" charset="0"/>
                <a:cs typeface="Arial" pitchFamily="34" charset="0"/>
              </a:rPr>
              <a:t>Dados do carro: Placa e Ano</a:t>
            </a:r>
          </a:p>
          <a:p>
            <a:pPr>
              <a:buNone/>
            </a:pPr>
            <a:r>
              <a:rPr lang="pt-BR" sz="4500" dirty="0" smtClean="0">
                <a:latin typeface="Arial" pitchFamily="34" charset="0"/>
                <a:cs typeface="Arial" pitchFamily="34" charset="0"/>
              </a:rPr>
              <a:t> </a:t>
            </a:r>
          </a:p>
          <a:p>
            <a:pPr>
              <a:buNone/>
            </a:pPr>
            <a:r>
              <a:rPr lang="pt-BR" sz="4500" dirty="0" smtClean="0">
                <a:latin typeface="Arial" pitchFamily="34" charset="0"/>
                <a:cs typeface="Arial" pitchFamily="34" charset="0"/>
              </a:rPr>
              <a:t>CPF = XXX.XXX.XXX-XX, onde X = [0|1|2|3|4|5|6|7|8|9], </a:t>
            </a:r>
          </a:p>
          <a:p>
            <a:pPr>
              <a:buNone/>
            </a:pPr>
            <a:r>
              <a:rPr lang="pt-BR" sz="4500" dirty="0" smtClean="0">
                <a:latin typeface="Arial" pitchFamily="34" charset="0"/>
                <a:cs typeface="Arial" pitchFamily="34" charset="0"/>
              </a:rPr>
              <a:t>Nome = [Sr.|Sra.|Srta] + Sobrenome + </a:t>
            </a:r>
            <a:r>
              <a:rPr lang="pt-BR" sz="4500" dirty="0" err="1" smtClean="0">
                <a:latin typeface="Arial" pitchFamily="34" charset="0"/>
                <a:cs typeface="Arial" pitchFamily="34" charset="0"/>
              </a:rPr>
              <a:t>Pnome</a:t>
            </a:r>
            <a:endParaRPr lang="pt-BR" sz="4500" dirty="0" smtClean="0">
              <a:latin typeface="Arial" pitchFamily="34" charset="0"/>
              <a:cs typeface="Arial" pitchFamily="34" charset="0"/>
            </a:endParaRPr>
          </a:p>
          <a:p>
            <a:pPr>
              <a:buNone/>
            </a:pPr>
            <a:r>
              <a:rPr lang="pt-BR" sz="4500" dirty="0" smtClean="0">
                <a:latin typeface="Arial" pitchFamily="34" charset="0"/>
                <a:cs typeface="Arial" pitchFamily="34" charset="0"/>
              </a:rPr>
              <a:t>       Sobrenome = {A-Z}^20 </a:t>
            </a:r>
          </a:p>
          <a:p>
            <a:pPr>
              <a:buNone/>
            </a:pPr>
            <a:r>
              <a:rPr lang="pt-BR" sz="4500" dirty="0" smtClean="0">
                <a:latin typeface="Arial" pitchFamily="34" charset="0"/>
                <a:cs typeface="Arial" pitchFamily="34" charset="0"/>
              </a:rPr>
              <a:t>       </a:t>
            </a:r>
            <a:r>
              <a:rPr lang="pt-BR" sz="4500" dirty="0" err="1" smtClean="0">
                <a:latin typeface="Arial" pitchFamily="34" charset="0"/>
                <a:cs typeface="Arial" pitchFamily="34" charset="0"/>
              </a:rPr>
              <a:t>Pnome</a:t>
            </a:r>
            <a:r>
              <a:rPr lang="pt-BR" sz="4500" dirty="0" smtClean="0">
                <a:latin typeface="Arial" pitchFamily="34" charset="0"/>
                <a:cs typeface="Arial" pitchFamily="34" charset="0"/>
              </a:rPr>
              <a:t> = {A-Z}^15</a:t>
            </a:r>
          </a:p>
          <a:p>
            <a:pPr>
              <a:buNone/>
            </a:pPr>
            <a:r>
              <a:rPr lang="pt-BR" sz="4500" dirty="0" smtClean="0">
                <a:latin typeface="Arial" pitchFamily="34" charset="0"/>
                <a:cs typeface="Arial" pitchFamily="34" charset="0"/>
              </a:rPr>
              <a:t>Telefone = </a:t>
            </a:r>
            <a:r>
              <a:rPr lang="pt-BR" sz="4500" dirty="0" err="1" smtClean="0">
                <a:latin typeface="Arial" pitchFamily="34" charset="0"/>
                <a:cs typeface="Arial" pitchFamily="34" charset="0"/>
              </a:rPr>
              <a:t>codArea</a:t>
            </a:r>
            <a:r>
              <a:rPr lang="pt-BR" sz="4500" dirty="0" smtClean="0">
                <a:latin typeface="Arial" pitchFamily="34" charset="0"/>
                <a:cs typeface="Arial" pitchFamily="34" charset="0"/>
              </a:rPr>
              <a:t> + </a:t>
            </a:r>
            <a:r>
              <a:rPr lang="pt-BR" sz="4500" dirty="0" err="1" smtClean="0">
                <a:latin typeface="Arial" pitchFamily="34" charset="0"/>
                <a:cs typeface="Arial" pitchFamily="34" charset="0"/>
              </a:rPr>
              <a:t>tel</a:t>
            </a:r>
            <a:r>
              <a:rPr lang="pt-BR" sz="4500" dirty="0" smtClean="0">
                <a:latin typeface="Arial" pitchFamily="34" charset="0"/>
                <a:cs typeface="Arial" pitchFamily="34" charset="0"/>
              </a:rPr>
              <a:t>, onde </a:t>
            </a:r>
            <a:r>
              <a:rPr lang="pt-BR" sz="4500" dirty="0" err="1" smtClean="0">
                <a:latin typeface="Arial" pitchFamily="34" charset="0"/>
                <a:cs typeface="Arial" pitchFamily="34" charset="0"/>
              </a:rPr>
              <a:t>codArea</a:t>
            </a:r>
            <a:r>
              <a:rPr lang="pt-BR" sz="4500" dirty="0" smtClean="0">
                <a:latin typeface="Arial" pitchFamily="34" charset="0"/>
                <a:cs typeface="Arial" pitchFamily="34" charset="0"/>
              </a:rPr>
              <a:t> = [0..9]^2 e </a:t>
            </a:r>
            <a:r>
              <a:rPr lang="pt-BR" sz="4500" dirty="0" err="1" smtClean="0">
                <a:latin typeface="Arial" pitchFamily="34" charset="0"/>
                <a:cs typeface="Arial" pitchFamily="34" charset="0"/>
              </a:rPr>
              <a:t>tel</a:t>
            </a:r>
            <a:r>
              <a:rPr lang="pt-BR" sz="4500" dirty="0" smtClean="0">
                <a:latin typeface="Arial" pitchFamily="34" charset="0"/>
                <a:cs typeface="Arial" pitchFamily="34" charset="0"/>
              </a:rPr>
              <a:t> = [0..9]^8 | [0..9]^9</a:t>
            </a:r>
          </a:p>
          <a:p>
            <a:pPr>
              <a:buNone/>
            </a:pPr>
            <a:r>
              <a:rPr lang="pt-BR" sz="4500" dirty="0" smtClean="0">
                <a:latin typeface="Arial" pitchFamily="34" charset="0"/>
                <a:cs typeface="Arial" pitchFamily="34" charset="0"/>
              </a:rPr>
              <a:t>    </a:t>
            </a:r>
          </a:p>
          <a:p>
            <a:pPr>
              <a:buNone/>
            </a:pPr>
            <a:r>
              <a:rPr lang="pt-BR" sz="4500" dirty="0" smtClean="0">
                <a:latin typeface="Arial" pitchFamily="34" charset="0"/>
                <a:cs typeface="Arial" pitchFamily="34" charset="0"/>
              </a:rPr>
              <a:t>Dados dos carros de luxo: </a:t>
            </a:r>
          </a:p>
          <a:p>
            <a:pPr>
              <a:buNone/>
            </a:pPr>
            <a:r>
              <a:rPr lang="pt-BR" sz="4500" dirty="0" smtClean="0">
                <a:latin typeface="Arial" pitchFamily="34" charset="0"/>
                <a:cs typeface="Arial" pitchFamily="34" charset="0"/>
              </a:rPr>
              <a:t> </a:t>
            </a:r>
          </a:p>
          <a:p>
            <a:pPr>
              <a:buNone/>
            </a:pPr>
            <a:r>
              <a:rPr lang="en-US" sz="4500" dirty="0" err="1" smtClean="0">
                <a:latin typeface="Arial" pitchFamily="34" charset="0"/>
                <a:cs typeface="Arial" pitchFamily="34" charset="0"/>
              </a:rPr>
              <a:t>Placa</a:t>
            </a:r>
            <a:r>
              <a:rPr lang="en-US" sz="4500" dirty="0" smtClean="0">
                <a:latin typeface="Arial" pitchFamily="34" charset="0"/>
                <a:cs typeface="Arial" pitchFamily="34" charset="0"/>
              </a:rPr>
              <a:t> = let + num</a:t>
            </a:r>
            <a:endParaRPr lang="pt-BR" sz="4500" dirty="0" smtClean="0">
              <a:latin typeface="Arial" pitchFamily="34" charset="0"/>
              <a:cs typeface="Arial" pitchFamily="34" charset="0"/>
            </a:endParaRPr>
          </a:p>
          <a:p>
            <a:pPr>
              <a:buNone/>
            </a:pPr>
            <a:r>
              <a:rPr lang="pt-BR" sz="4500" dirty="0" smtClean="0">
                <a:latin typeface="Arial" pitchFamily="34" charset="0"/>
                <a:cs typeface="Arial" pitchFamily="34" charset="0"/>
              </a:rPr>
              <a:t>   </a:t>
            </a:r>
            <a:r>
              <a:rPr lang="pt-BR" sz="4500" dirty="0" err="1" smtClean="0">
                <a:latin typeface="Arial" pitchFamily="34" charset="0"/>
                <a:cs typeface="Arial" pitchFamily="34" charset="0"/>
              </a:rPr>
              <a:t>Let</a:t>
            </a:r>
            <a:r>
              <a:rPr lang="pt-BR" sz="4500" dirty="0" smtClean="0">
                <a:latin typeface="Arial" pitchFamily="34" charset="0"/>
                <a:cs typeface="Arial" pitchFamily="34" charset="0"/>
              </a:rPr>
              <a:t> = [A..Z]^3</a:t>
            </a:r>
          </a:p>
          <a:p>
            <a:pPr>
              <a:buNone/>
            </a:pPr>
            <a:r>
              <a:rPr lang="pt-BR" sz="4500" dirty="0" smtClean="0">
                <a:latin typeface="Arial" pitchFamily="34" charset="0"/>
                <a:cs typeface="Arial" pitchFamily="34" charset="0"/>
              </a:rPr>
              <a:t>   Num = [0..9]^4</a:t>
            </a:r>
          </a:p>
          <a:p>
            <a:pPr>
              <a:buNone/>
            </a:pPr>
            <a:r>
              <a:rPr lang="pt-BR" sz="4500" dirty="0" smtClean="0">
                <a:latin typeface="Arial" pitchFamily="34" charset="0"/>
                <a:cs typeface="Arial" pitchFamily="34" charset="0"/>
              </a:rPr>
              <a:t>   Ano = 2016 | 2017 | 2018</a:t>
            </a:r>
            <a:endParaRPr lang="pt-BR" dirty="0" smtClean="0">
              <a:latin typeface="Arial" pitchFamily="34" charset="0"/>
              <a:cs typeface="Arial" pitchFamily="34" charset="0"/>
            </a:endParaRPr>
          </a:p>
          <a:p>
            <a:endParaRPr lang="pt-BR"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107504" y="188640"/>
            <a:ext cx="9036496" cy="6480720"/>
          </a:xfrm>
        </p:spPr>
        <p:txBody>
          <a:bodyPr>
            <a:normAutofit fontScale="62500" lnSpcReduction="20000"/>
          </a:bodyPr>
          <a:lstStyle/>
          <a:p>
            <a:r>
              <a:rPr lang="pt-BR" dirty="0" smtClean="0"/>
              <a:t>Um cliente pode possuir muitos animais, mas um animal pertence a um único cliente. </a:t>
            </a:r>
          </a:p>
          <a:p>
            <a:r>
              <a:rPr lang="pt-BR" dirty="0" smtClean="0"/>
              <a:t>A clínica precisa de informações a respeito de cada cliente, como nome, endereço, e telefone.</a:t>
            </a:r>
          </a:p>
          <a:p>
            <a:r>
              <a:rPr lang="pt-BR" dirty="0" smtClean="0"/>
              <a:t>Um animal pertence a uma única espécie, e podem haver diversos animais cadastrados de uma determinada espécie.</a:t>
            </a:r>
          </a:p>
          <a:p>
            <a:r>
              <a:rPr lang="pt-BR" dirty="0" smtClean="0"/>
              <a:t>É preciso manter informações a respeito de cada animal, como nome dado pelo cliente, sexo, idade e espécie.</a:t>
            </a:r>
          </a:p>
          <a:p>
            <a:r>
              <a:rPr lang="pt-BR" dirty="0" smtClean="0"/>
              <a:t>Um animal pode realizar diversos tratamentos, mas um tratamento é realizado exclusivamente para um animal.</a:t>
            </a:r>
          </a:p>
          <a:p>
            <a:r>
              <a:rPr lang="pt-BR" dirty="0" smtClean="0"/>
              <a:t>Cada tratamento possui ao menos uma consulta, mas pode possuir muitas consultas. </a:t>
            </a:r>
          </a:p>
          <a:p>
            <a:r>
              <a:rPr lang="pt-BR" dirty="0" smtClean="0"/>
              <a:t>Uma determinada consulta refere-se exclusivamente a um determinado tratamento. </a:t>
            </a:r>
          </a:p>
          <a:p>
            <a:r>
              <a:rPr lang="pt-BR" dirty="0" smtClean="0"/>
              <a:t>Para cada consulta devem ser armazenadas informações como a data em que foi realizada, o veterinário que atendeu o animal e o resumo da consulta.</a:t>
            </a:r>
          </a:p>
          <a:p>
            <a:r>
              <a:rPr lang="pt-BR" dirty="0" smtClean="0"/>
              <a:t>Um veterinário pode realizar muitas consultas, porém uma consulta deve ser realizada por somente um veterinário.</a:t>
            </a:r>
          </a:p>
          <a:p>
            <a:r>
              <a:rPr lang="pt-BR" dirty="0" smtClean="0"/>
              <a:t>Cada veterinário deve ser armazenado no sistema, com dados como especialidade, formação, e endereço.</a:t>
            </a:r>
          </a:p>
          <a:p>
            <a:r>
              <a:rPr lang="pt-BR" dirty="0" smtClean="0"/>
              <a:t>Em uma consulta podem ser marcados exames para o animal, caso seja necessário. </a:t>
            </a:r>
          </a:p>
          <a:p>
            <a:endParaRPr lang="pt-BR"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107504" y="188640"/>
            <a:ext cx="8928992" cy="6552728"/>
          </a:xfrm>
        </p:spPr>
        <p:txBody>
          <a:bodyPr>
            <a:normAutofit fontScale="70000" lnSpcReduction="20000"/>
          </a:bodyPr>
          <a:lstStyle/>
          <a:p>
            <a:r>
              <a:rPr lang="pt-BR" dirty="0" smtClean="0"/>
              <a:t>Uma universidade possui dois tipos de funcionários: professores e técnico-administrativos. Quando são contratados, é necessário cadastrar o nome, telefone, endereço, CPF, e a data de contratação. </a:t>
            </a:r>
          </a:p>
          <a:p>
            <a:r>
              <a:rPr lang="pt-BR" dirty="0" smtClean="0"/>
              <a:t>Para o professor deve ser cadastrado também a titulação, área de pesquisa, e o tipo de contrato (20 horas, 40 horas ou Dedicação exclusiva).</a:t>
            </a:r>
          </a:p>
          <a:p>
            <a:r>
              <a:rPr lang="pt-BR" dirty="0" smtClean="0"/>
              <a:t>Um funcionário possui obrigatoriamente um único cargo. </a:t>
            </a:r>
          </a:p>
          <a:p>
            <a:r>
              <a:rPr lang="pt-BR" dirty="0" smtClean="0"/>
              <a:t>Um cargo possui um título e um salário. </a:t>
            </a:r>
          </a:p>
          <a:p>
            <a:r>
              <a:rPr lang="pt-BR" dirty="0" smtClean="0"/>
              <a:t>O salário do cargo pode ser aumentado apenas uma vez por ano.</a:t>
            </a:r>
          </a:p>
          <a:p>
            <a:r>
              <a:rPr lang="pt-BR" dirty="0" smtClean="0"/>
              <a:t>Um professor pode não ministrar disciplinas em um semestre, ou ministrar até no máximo 3 disciplinas. </a:t>
            </a:r>
          </a:p>
          <a:p>
            <a:r>
              <a:rPr lang="pt-BR" dirty="0" smtClean="0"/>
              <a:t>A disciplina pertence a um curso, ou a vários cursos. </a:t>
            </a:r>
          </a:p>
          <a:p>
            <a:r>
              <a:rPr lang="pt-BR" dirty="0" smtClean="0"/>
              <a:t>Um curso possui muitas disciplinas. </a:t>
            </a:r>
          </a:p>
          <a:p>
            <a:r>
              <a:rPr lang="pt-BR" dirty="0" smtClean="0"/>
              <a:t>Para o cadastro da disciplina, deve-se informar o nome da disciplina, a carga horária, e o tipo da disciplina. </a:t>
            </a:r>
          </a:p>
          <a:p>
            <a:r>
              <a:rPr lang="pt-BR" dirty="0" smtClean="0"/>
              <a:t>Um curso pode ser de graduação ou de pós-graduação. O curso possui um nome, carga horária e uma área (ex. Exatas). </a:t>
            </a:r>
          </a:p>
          <a:p>
            <a:r>
              <a:rPr lang="pt-BR" dirty="0" smtClean="0"/>
              <a:t>Cursos de pós-graduação podem ser de 2 tipos lato ou stricto sensu. </a:t>
            </a:r>
          </a:p>
          <a:p>
            <a:r>
              <a:rPr lang="pt-BR" dirty="0" smtClean="0"/>
              <a:t>Cursos </a:t>
            </a:r>
            <a:r>
              <a:rPr lang="pt-BR" dirty="0" err="1" smtClean="0"/>
              <a:t>stricto</a:t>
            </a:r>
            <a:r>
              <a:rPr lang="pt-BR" dirty="0" smtClean="0"/>
              <a:t> senso devem ter a nota da CAPES e a grande área a qual pertencem. </a:t>
            </a:r>
          </a:p>
          <a:p>
            <a:endParaRPr lang="pt-BR"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0" y="188640"/>
            <a:ext cx="9144000" cy="6480720"/>
          </a:xfrm>
        </p:spPr>
        <p:txBody>
          <a:bodyPr>
            <a:normAutofit fontScale="70000" lnSpcReduction="20000"/>
          </a:bodyPr>
          <a:lstStyle/>
          <a:p>
            <a:r>
              <a:rPr lang="pt-BR" dirty="0" smtClean="0"/>
              <a:t>Um hotel possui 300 quartos, e precisa fazer um novo sistema para o controle de reservas, ocupação, e consumo. </a:t>
            </a:r>
          </a:p>
          <a:p>
            <a:r>
              <a:rPr lang="pt-BR" dirty="0" smtClean="0"/>
              <a:t>O sistema deve armazenar reservas feitas por um funcionário de um ou mais quartos para um determinado cliente. </a:t>
            </a:r>
          </a:p>
          <a:p>
            <a:r>
              <a:rPr lang="pt-BR" dirty="0" smtClean="0"/>
              <a:t>O sistema deve permitir que o funcionário verifique se um quarto está ocupado. </a:t>
            </a:r>
          </a:p>
          <a:p>
            <a:r>
              <a:rPr lang="pt-BR" dirty="0" smtClean="0"/>
              <a:t>O sistema deve permitir que o funcionário insira os dados de um cliente. </a:t>
            </a:r>
          </a:p>
          <a:p>
            <a:r>
              <a:rPr lang="pt-BR" dirty="0" smtClean="0"/>
              <a:t>O sistema deve permitir que o funcionário faça reservas de quartos para um cliente. </a:t>
            </a:r>
          </a:p>
          <a:p>
            <a:r>
              <a:rPr lang="pt-BR" dirty="0" smtClean="0"/>
              <a:t>Cada cliente e funcionário devem ser cadastrados com os seguintes dados: nome, CPF, endereço e telefone. </a:t>
            </a:r>
          </a:p>
          <a:p>
            <a:r>
              <a:rPr lang="pt-BR" dirty="0" smtClean="0"/>
              <a:t>O funcionário deve ser cadastrado com cargo, data de contratação e salário. </a:t>
            </a:r>
          </a:p>
          <a:p>
            <a:r>
              <a:rPr lang="pt-BR" dirty="0" smtClean="0"/>
              <a:t>O sistema deve permitir o cadastro de quartos dos tipos simples ou luxo. Deve ser indicado o número de camas e o tipo de cada uma delas (solteiro ou casal, molas ou simples). </a:t>
            </a:r>
          </a:p>
          <a:p>
            <a:r>
              <a:rPr lang="pt-BR" dirty="0" smtClean="0"/>
              <a:t>O sistema deve permitir que o quarto seja ocupado somente se estiver disponível. </a:t>
            </a:r>
          </a:p>
          <a:p>
            <a:r>
              <a:rPr lang="pt-BR" dirty="0" smtClean="0"/>
              <a:t>Cada quarto deve ter apenas um frigobar, cujo conteúdo deve ser atualizado diariamente.</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70000" lnSpcReduction="20000"/>
          </a:bodyPr>
          <a:lstStyle/>
          <a:p>
            <a:pPr lvl="0"/>
            <a:endParaRPr lang="pt-BR" dirty="0" smtClean="0"/>
          </a:p>
          <a:p>
            <a:pPr lvl="0"/>
            <a:r>
              <a:rPr lang="pt-BR" dirty="0" smtClean="0"/>
              <a:t>RF01 – O sistema deve permitir o cadastro de cursos contendo código, descrição, data de início e professor coordenador.</a:t>
            </a:r>
          </a:p>
          <a:p>
            <a:pPr lvl="0"/>
            <a:r>
              <a:rPr lang="pt-BR" dirty="0" smtClean="0"/>
              <a:t>RF02 – O sistema deve permitir o cadastro de disciplinas de cursos, contendo código, descrição, carga horária, ementa, e bibliografia.</a:t>
            </a:r>
          </a:p>
          <a:p>
            <a:pPr lvl="0"/>
            <a:r>
              <a:rPr lang="pt-BR" dirty="0" smtClean="0"/>
              <a:t>RF03 - Ao cadastrar uma disciplina, caso haja disciplinas que são pré-requisitos, o sistema deve permitir que sejam cadastradas as disciplinas que são pré-requisitos para cada disciplina.</a:t>
            </a:r>
          </a:p>
          <a:p>
            <a:pPr lvl="0"/>
            <a:r>
              <a:rPr lang="pt-BR" dirty="0" smtClean="0"/>
              <a:t>RF04 – O sistema deve permitir o cadastro de alunos, contendo matrícula, email, nome, endereço (Logradouro, Numero, Bairro, Cidade, CEP), telefone e o curso para o qual foi aprovado.</a:t>
            </a:r>
          </a:p>
          <a:p>
            <a:pPr lvl="0"/>
            <a:r>
              <a:rPr lang="pt-BR" dirty="0" smtClean="0"/>
              <a:t>RF05 – O sistema deve permitir o cadastro de professores, contendo nome, email, endereço (Logradouro, Numero, Bairro, Cidade, CEP), telefone, titulação máxima (especialização, ou mestrado, ou doutorado), e seu vínculo, ou seja, data de contratação e salário, além de curso ao qual este está alocado.</a:t>
            </a:r>
          </a:p>
          <a:p>
            <a:pPr lvl="0"/>
            <a:r>
              <a:rPr lang="pt-BR" dirty="0" smtClean="0"/>
              <a:t>RF06 – O sistema deve permitir a abertura de turmas de disciplinas, informando ano e semestre, dias da semana e horários de realização.</a:t>
            </a:r>
          </a:p>
          <a:p>
            <a:pPr lvl="0"/>
            <a:r>
              <a:rPr lang="pt-BR" dirty="0" smtClean="0"/>
              <a:t>RF07 – O sistema deve permitir a alocação de professores a determinadas turmas.</a:t>
            </a:r>
          </a:p>
          <a:p>
            <a:r>
              <a:rPr lang="pt-BR" dirty="0" smtClean="0"/>
              <a:t>RF09 – O sistema deve permitir o controle da situação de um aluno, podendo estar matriculado, trancado, formado ou evadido.</a:t>
            </a:r>
            <a:endParaRPr lang="pt-BR"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88640"/>
            <a:ext cx="9144000" cy="6669360"/>
          </a:xfrm>
        </p:spPr>
        <p:txBody>
          <a:bodyPr>
            <a:normAutofit fontScale="92500"/>
          </a:bodyPr>
          <a:lstStyle/>
          <a:p>
            <a:r>
              <a:rPr lang="pt-BR" sz="2100" dirty="0" smtClean="0"/>
              <a:t>RF1 - O sistema deve permitir o cadastro de projetos. </a:t>
            </a:r>
          </a:p>
          <a:p>
            <a:r>
              <a:rPr lang="pt-BR" sz="2100" dirty="0" smtClean="0"/>
              <a:t>RF2 - O sistema deve permitir o cadastro de stakeholders.</a:t>
            </a:r>
          </a:p>
          <a:p>
            <a:r>
              <a:rPr lang="pt-BR" sz="2100" dirty="0" smtClean="0"/>
              <a:t>RF3 - O sistema deve permitir que um stakeholder mostre interesse em vários projetos.</a:t>
            </a:r>
          </a:p>
          <a:p>
            <a:r>
              <a:rPr lang="pt-BR" sz="2100" dirty="0" smtClean="0"/>
              <a:t>RF4 - O sistema deve permitir que atividades que compoem um projeto sejam cadastradas quando um projeto é criado. </a:t>
            </a:r>
          </a:p>
          <a:p>
            <a:r>
              <a:rPr lang="pt-BR" sz="2100" dirty="0" smtClean="0"/>
              <a:t>RF5 - As atividades de um projeto são sempre relativas a um único projeto.</a:t>
            </a:r>
          </a:p>
          <a:p>
            <a:r>
              <a:rPr lang="pt-BR" sz="2100" dirty="0" smtClean="0"/>
              <a:t>RF6 - O sistema deve alocar atividades de um projeto a ao menos uma equipe da empresa, mas uma atividade pode ser responsabilidade de várias equipes.</a:t>
            </a:r>
          </a:p>
          <a:p>
            <a:r>
              <a:rPr lang="pt-BR" sz="2100" dirty="0" smtClean="0"/>
              <a:t>RF7 - Uma equipe é composta de vários profissionais.</a:t>
            </a:r>
          </a:p>
          <a:p>
            <a:r>
              <a:rPr lang="pt-BR" sz="2100" dirty="0" smtClean="0"/>
              <a:t>RF8 - O sistema deve permitir o cadastro de clientes antes que estes peçam projetos. </a:t>
            </a:r>
          </a:p>
          <a:p>
            <a:r>
              <a:rPr lang="pt-BR" sz="2100" dirty="0" smtClean="0"/>
              <a:t>RF9 - Um projeto é pedido por um cliente da empresa, que pode pedir vários projetos.</a:t>
            </a:r>
          </a:p>
          <a:p>
            <a:r>
              <a:rPr lang="pt-BR" sz="2100" dirty="0" smtClean="0"/>
              <a:t>RF10 - O sistema deve manter informações de todos os profissionais. </a:t>
            </a:r>
          </a:p>
          <a:p>
            <a:r>
              <a:rPr lang="pt-BR" sz="2100" dirty="0" smtClean="0"/>
              <a:t>RF11 - O sistema deve permitir o gerenciamento de cada despesa do projeto.</a:t>
            </a:r>
          </a:p>
          <a:p>
            <a:r>
              <a:rPr lang="pt-BR" sz="2100" dirty="0" smtClean="0"/>
              <a:t>Informações de projeto: Nome, data de início, data de fim, custo e lucro esperado.</a:t>
            </a:r>
          </a:p>
          <a:p>
            <a:r>
              <a:rPr lang="pt-BR" sz="2100" dirty="0" smtClean="0"/>
              <a:t>Informações de atividade: data de início, data de fim, e nome da atividade.</a:t>
            </a:r>
          </a:p>
          <a:p>
            <a:r>
              <a:rPr lang="pt-BR" sz="2100" dirty="0" smtClean="0"/>
              <a:t>Informações do cliente: CNPJ, Nome Fantasia, Endereço, e Área de Atuação.</a:t>
            </a:r>
          </a:p>
          <a:p>
            <a:r>
              <a:rPr lang="pt-BR" sz="2100" dirty="0" smtClean="0"/>
              <a:t>Informações de profissionais: nome, cargo atual, salário do cargo, endereço, formação acadêmica (curso, ano de conclusão), e suas várias especialidades.</a:t>
            </a:r>
          </a:p>
          <a:p>
            <a:r>
              <a:rPr lang="pt-BR" sz="2100" dirty="0" smtClean="0"/>
              <a:t>Informações de despesas: valor gasto, a data, e o item sobre o qual a despesa é relativa.</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260648"/>
            <a:ext cx="8784976" cy="6480720"/>
          </a:xfrm>
        </p:spPr>
        <p:txBody>
          <a:bodyPr>
            <a:normAutofit fontScale="62500" lnSpcReduction="20000"/>
          </a:bodyPr>
          <a:lstStyle/>
          <a:p>
            <a:r>
              <a:rPr lang="pt-BR" dirty="0" smtClean="0"/>
              <a:t>RF1 – O sistema deve permitir o cadastro de sócios, que podem ser sócios efetivos ou remidos.</a:t>
            </a:r>
          </a:p>
          <a:p>
            <a:r>
              <a:rPr lang="pt-BR" dirty="0" smtClean="0"/>
              <a:t>RF2 – Sócios remidos são aqueles que não precisam pagar mensalidades.</a:t>
            </a:r>
          </a:p>
          <a:p>
            <a:r>
              <a:rPr lang="pt-BR" dirty="0" smtClean="0"/>
              <a:t>RF3 – Sócios efetivos precisam pagar mensalidades. </a:t>
            </a:r>
          </a:p>
          <a:p>
            <a:r>
              <a:rPr lang="pt-BR" dirty="0" smtClean="0"/>
              <a:t>RF4 – O sistema deve proibir que sócios efetivos inadimplentes participem de torneios. </a:t>
            </a:r>
          </a:p>
          <a:p>
            <a:r>
              <a:rPr lang="pt-BR" dirty="0" smtClean="0"/>
              <a:t>RF5 – O sistema deve permitir que um coordenador de esportes crie torneios de futebol de campo, futebol de salão, futebol de areia, voleibol ou de basquetebol. </a:t>
            </a:r>
          </a:p>
          <a:p>
            <a:r>
              <a:rPr lang="pt-BR" dirty="0" smtClean="0"/>
              <a:t>RF6 – Quando o coordenador de esportes crie um torneio, ele se torna o responsável por este torneio.</a:t>
            </a:r>
          </a:p>
          <a:p>
            <a:r>
              <a:rPr lang="pt-BR" dirty="0" smtClean="0"/>
              <a:t>RF7 – Para cada torneio, o sistema deve permitir que sejam alocados os locais (quadras, campos) das partidas, uma vez que esses locais são compartilhados por vários torneios.</a:t>
            </a:r>
          </a:p>
          <a:p>
            <a:r>
              <a:rPr lang="pt-BR" dirty="0" smtClean="0"/>
              <a:t>RF8 – O sistema deve permitir que o coordenador responsável pelo torneio gerencie todas as partidas que compoem o torneio. </a:t>
            </a:r>
          </a:p>
          <a:p>
            <a:r>
              <a:rPr lang="pt-BR" dirty="0" smtClean="0"/>
              <a:t>RF9 – O sistema deve permitir que sócios formem equipes para participar de um torneio. As equipes somente podem participar de um torneio.</a:t>
            </a:r>
          </a:p>
          <a:p>
            <a:r>
              <a:rPr lang="pt-BR" dirty="0" smtClean="0"/>
              <a:t>RF10 – O sistema deve gerar a classificação das equipes em cada torneio</a:t>
            </a:r>
          </a:p>
          <a:p>
            <a:r>
              <a:rPr lang="pt-BR" dirty="0" smtClean="0"/>
              <a:t>RF11 – Para cada partida, o sistema deve permitir o cadastro de funcionários que irão coordenar da partida.</a:t>
            </a:r>
          </a:p>
          <a:p>
            <a:pPr>
              <a:buNone/>
            </a:pPr>
            <a:endParaRPr lang="pt-BR" dirty="0" smtClean="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88640"/>
            <a:ext cx="8712968" cy="6480720"/>
          </a:xfrm>
        </p:spPr>
        <p:txBody>
          <a:bodyPr>
            <a:normAutofit fontScale="32500" lnSpcReduction="20000"/>
          </a:bodyPr>
          <a:lstStyle/>
          <a:p>
            <a:pPr>
              <a:buNone/>
            </a:pPr>
            <a:r>
              <a:rPr lang="pt-BR" sz="6200" b="1" dirty="0" smtClean="0"/>
              <a:t>Sistema </a:t>
            </a:r>
            <a:r>
              <a:rPr lang="pt-BR" sz="6200" b="1" dirty="0" smtClean="0"/>
              <a:t>de gestão de materiais</a:t>
            </a:r>
            <a:endParaRPr lang="pt-BR" sz="6200" b="1" dirty="0" smtClean="0"/>
          </a:p>
          <a:p>
            <a:endParaRPr lang="pt-BR" sz="5500" dirty="0" smtClean="0"/>
          </a:p>
          <a:p>
            <a:r>
              <a:rPr lang="pt-BR" sz="6200" dirty="0" smtClean="0"/>
              <a:t>RF1 </a:t>
            </a:r>
            <a:r>
              <a:rPr lang="pt-BR" sz="6200" dirty="0" smtClean="0"/>
              <a:t>- É preciso criar uma classificação com código para cada material e organizá-los por categorias previamente cadastradas.</a:t>
            </a:r>
          </a:p>
          <a:p>
            <a:r>
              <a:rPr lang="pt-BR" sz="6200" dirty="0" smtClean="0"/>
              <a:t>RF2 - Após a compra, cada material é armazenado em um setor específico da empresa.</a:t>
            </a:r>
          </a:p>
          <a:p>
            <a:r>
              <a:rPr lang="pt-BR" sz="6200" dirty="0" smtClean="0"/>
              <a:t>RF3 - O fornecedor de cada material para a empresa deve ser cadastrado.</a:t>
            </a:r>
          </a:p>
          <a:p>
            <a:r>
              <a:rPr lang="pt-BR" sz="6200" dirty="0" smtClean="0"/>
              <a:t>RF4 - Para boa gestão e governança, deve ser possível comprar materiais de qualquer fornecedor.</a:t>
            </a:r>
          </a:p>
          <a:p>
            <a:r>
              <a:rPr lang="pt-BR" sz="6200" dirty="0" smtClean="0"/>
              <a:t>RF5 - Cada material deve ter seus critérios específicos de qualidade determinados no sistema por qualquer profissional capacitado.</a:t>
            </a:r>
          </a:p>
          <a:p>
            <a:r>
              <a:rPr lang="pt-BR" sz="6200" dirty="0" smtClean="0"/>
              <a:t>RF6 - Cada setor define um plano de produção próprio.</a:t>
            </a:r>
          </a:p>
          <a:p>
            <a:r>
              <a:rPr lang="pt-BR" sz="6200" dirty="0" smtClean="0"/>
              <a:t>RF7 - Para cada plano de produção, devem ser especificadas quais as máquinas usadas.</a:t>
            </a:r>
          </a:p>
          <a:p>
            <a:r>
              <a:rPr lang="pt-BR" sz="6200" dirty="0" smtClean="0"/>
              <a:t>RF8 - Para cada plano de produção, devem ser especificados quais os materiais usados.</a:t>
            </a:r>
          </a:p>
          <a:p>
            <a:r>
              <a:rPr lang="pt-BR" sz="6200" dirty="0" smtClean="0"/>
              <a:t>RF9 - Cada máquina deve ser operada por um profissional capacitado, aprovado previamente pela empresa.</a:t>
            </a:r>
          </a:p>
          <a:p>
            <a:r>
              <a:rPr lang="pt-BR" sz="6200" dirty="0" smtClean="0"/>
              <a:t>RF10 - Um plano de produção pode ser cancelado a qualquer momento, então é preciso saber se o plano de produção está ativo ou inativo.</a:t>
            </a:r>
          </a:p>
          <a:p>
            <a:r>
              <a:rPr lang="pt-BR" sz="6200" dirty="0" smtClean="0"/>
              <a:t>RF11 – Para cada material, é preciso saber sua quantidade comprada e quem foi o fornecedor.</a:t>
            </a:r>
          </a:p>
          <a:p>
            <a:endParaRPr lang="pt-BR" dirty="0" smtClean="0"/>
          </a:p>
          <a:p>
            <a:endParaRPr lang="pt-BR" dirty="0" smtClean="0"/>
          </a:p>
          <a:p>
            <a:endParaRPr lang="pt-BR" dirty="0" smtClean="0"/>
          </a:p>
          <a:p>
            <a:endParaRPr lang="pt-BR" dirty="0" smtClean="0"/>
          </a:p>
          <a:p>
            <a:endParaRPr lang="pt-BR" dirty="0" smtClean="0"/>
          </a:p>
          <a:p>
            <a:endParaRPr lang="pt-BR" dirty="0" smtClean="0"/>
          </a:p>
          <a:p>
            <a:endParaRPr lang="pt-BR" dirty="0" smtClean="0"/>
          </a:p>
          <a:p>
            <a:endParaRPr lang="pt-BR" dirty="0" smtClean="0"/>
          </a:p>
          <a:p>
            <a:endParaRPr lang="pt-BR" dirty="0" smtClean="0"/>
          </a:p>
          <a:p>
            <a:endParaRPr lang="pt-BR" dirty="0" smtClean="0"/>
          </a:p>
          <a:p>
            <a:endParaRPr lang="pt-BR" dirty="0" smtClean="0"/>
          </a:p>
        </p:txBody>
      </p:sp>
    </p:spTree>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2138</TotalTime>
  <Words>3014</Words>
  <Application>Microsoft Office PowerPoint</Application>
  <PresentationFormat>On-screen Show (4:3)</PresentationFormat>
  <Paragraphs>326</Paragraphs>
  <Slides>61</Slides>
  <Notes>0</Notes>
  <HiddenSlides>0</HiddenSlides>
  <MMClips>0</MMClips>
  <ScaleCrop>false</ScaleCrop>
  <HeadingPairs>
    <vt:vector size="4" baseType="variant">
      <vt:variant>
        <vt:lpstr>Theme</vt:lpstr>
      </vt:variant>
      <vt:variant>
        <vt:i4>1</vt:i4>
      </vt:variant>
      <vt:variant>
        <vt:lpstr>Slide Titles</vt:lpstr>
      </vt:variant>
      <vt:variant>
        <vt:i4>61</vt:i4>
      </vt:variant>
    </vt:vector>
  </HeadingPairs>
  <TitlesOfParts>
    <vt:vector size="62" baseType="lpstr">
      <vt:lpstr>Tema do Office</vt:lpstr>
      <vt:lpstr>Diagrama de Classes</vt:lpstr>
      <vt:lpstr>Objetivos</vt:lpstr>
      <vt:lpstr>Modelo de Classes de Análise  (Análise do Domínio)</vt:lpstr>
      <vt:lpstr>Classes</vt:lpstr>
      <vt:lpstr>Exemplo</vt:lpstr>
      <vt:lpstr>Atributos</vt:lpstr>
      <vt:lpstr>Nota sobre modelagem de software</vt:lpstr>
      <vt:lpstr>Questão</vt:lpstr>
      <vt:lpstr>Notação para associações</vt:lpstr>
      <vt:lpstr>Slide 10</vt:lpstr>
      <vt:lpstr>Participação</vt:lpstr>
      <vt:lpstr>Acessórios para associações</vt:lpstr>
      <vt:lpstr>Um problema …</vt:lpstr>
      <vt:lpstr>Ex. Classe associativa</vt:lpstr>
      <vt:lpstr>Classe associativa</vt:lpstr>
      <vt:lpstr>Classe Associativa</vt:lpstr>
      <vt:lpstr>Exemplo de associação ternária</vt:lpstr>
      <vt:lpstr>Associações reflexivas</vt:lpstr>
      <vt:lpstr>Agregações e Composições</vt:lpstr>
      <vt:lpstr>Exemplo</vt:lpstr>
      <vt:lpstr>Agregações e composições - diferenças</vt:lpstr>
      <vt:lpstr>Agregação e Associação</vt:lpstr>
      <vt:lpstr>Restrições sobre associações</vt:lpstr>
      <vt:lpstr>Herança: Generalização e Especialização</vt:lpstr>
      <vt:lpstr>Herança de associações</vt:lpstr>
      <vt:lpstr>Exemplo de herança</vt:lpstr>
      <vt:lpstr>Cuidado com herança!</vt:lpstr>
      <vt:lpstr>Classes Abstratas</vt:lpstr>
      <vt:lpstr>Notação para classes abstratas</vt:lpstr>
      <vt:lpstr>Exercício - desafio</vt:lpstr>
      <vt:lpstr>Técnicas de Identificação de Objetos, Atributos e Métodos</vt:lpstr>
      <vt:lpstr>Categorias de Conceitos</vt:lpstr>
      <vt:lpstr>Categorias de Conceitos</vt:lpstr>
      <vt:lpstr>Análise Textual de Abbott</vt:lpstr>
      <vt:lpstr>Análise Textual de Abbott (cont.)</vt:lpstr>
      <vt:lpstr>Análise Textual de Abbott (cont.)</vt:lpstr>
      <vt:lpstr>Análise Textual de Abbott (cont.)</vt:lpstr>
      <vt:lpstr>Análise de Casos de Uso</vt:lpstr>
      <vt:lpstr>Análise de Casos de Uso</vt:lpstr>
      <vt:lpstr>Visibilidade</vt:lpstr>
      <vt:lpstr>Práticas a serem evitadas</vt:lpstr>
      <vt:lpstr>POJO - Plain and Old Java Object</vt:lpstr>
      <vt:lpstr>POJO - Exemplo</vt:lpstr>
      <vt:lpstr>O Problema de Herança</vt:lpstr>
      <vt:lpstr>O Problema de Herança</vt:lpstr>
      <vt:lpstr>O Problema de Herança</vt:lpstr>
      <vt:lpstr>Herança deve ser usada quando fizer sentido</vt:lpstr>
      <vt:lpstr>Herança em excesso</vt:lpstr>
      <vt:lpstr>Práticas a serem evitadas</vt:lpstr>
      <vt:lpstr>Práticas a serem evitadas</vt:lpstr>
      <vt:lpstr>Exercícios</vt:lpstr>
      <vt:lpstr>Convenções nesta disciplina</vt:lpstr>
      <vt:lpstr>Slide 53</vt:lpstr>
      <vt:lpstr>Slide 54</vt:lpstr>
      <vt:lpstr>Slide 55</vt:lpstr>
      <vt:lpstr>Slide 56</vt:lpstr>
      <vt:lpstr>Slide 57</vt:lpstr>
      <vt:lpstr>Slide 58</vt:lpstr>
      <vt:lpstr>Slide 59</vt:lpstr>
      <vt:lpstr>Slide 60</vt:lpstr>
      <vt:lpstr>Slide 61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Diagrama de Classes</dc:title>
  <dc:creator>Michel</dc:creator>
  <cp:lastModifiedBy>Michel</cp:lastModifiedBy>
  <cp:revision>228</cp:revision>
  <dcterms:created xsi:type="dcterms:W3CDTF">2012-12-03T11:37:59Z</dcterms:created>
  <dcterms:modified xsi:type="dcterms:W3CDTF">2025-05-08T17:16:16Z</dcterms:modified>
</cp:coreProperties>
</file>
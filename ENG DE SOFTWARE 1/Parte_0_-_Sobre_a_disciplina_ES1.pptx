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47" r:id="rId5"/>
    <p:sldId id="394" r:id="rId6"/>
    <p:sldId id="395" r:id="rId7"/>
    <p:sldId id="262" r:id="rId8"/>
    <p:sldId id="283" r:id="rId9"/>
    <p:sldId id="284" r:id="rId10"/>
    <p:sldId id="392" r:id="rId11"/>
    <p:sldId id="279" r:id="rId12"/>
    <p:sldId id="348" r:id="rId13"/>
    <p:sldId id="397" r:id="rId14"/>
    <p:sldId id="391" r:id="rId15"/>
    <p:sldId id="350" r:id="rId16"/>
    <p:sldId id="351" r:id="rId17"/>
    <p:sldId id="381" r:id="rId18"/>
    <p:sldId id="352" r:id="rId19"/>
    <p:sldId id="398" r:id="rId20"/>
    <p:sldId id="354" r:id="rId21"/>
    <p:sldId id="355" r:id="rId22"/>
    <p:sldId id="356" r:id="rId23"/>
    <p:sldId id="359" r:id="rId24"/>
    <p:sldId id="360" r:id="rId25"/>
    <p:sldId id="361" r:id="rId26"/>
    <p:sldId id="362" r:id="rId27"/>
    <p:sldId id="383" r:id="rId28"/>
    <p:sldId id="382" r:id="rId29"/>
    <p:sldId id="363" r:id="rId30"/>
    <p:sldId id="396" r:id="rId31"/>
    <p:sldId id="390" r:id="rId32"/>
    <p:sldId id="370" r:id="rId33"/>
    <p:sldId id="371" r:id="rId34"/>
    <p:sldId id="372" r:id="rId35"/>
    <p:sldId id="373" r:id="rId36"/>
    <p:sldId id="393" r:id="rId37"/>
    <p:sldId id="375" r:id="rId38"/>
    <p:sldId id="377" r:id="rId39"/>
    <p:sldId id="378" r:id="rId40"/>
    <p:sldId id="379" r:id="rId41"/>
    <p:sldId id="338" r:id="rId42"/>
    <p:sldId id="302" r:id="rId43"/>
    <p:sldId id="303" r:id="rId4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08/05/2025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ichel@dcomp.ufs.b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ng.acm.org/techtalks/histofsoften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Engenharia</a:t>
            </a:r>
            <a:r>
              <a:rPr lang="en-US" dirty="0" smtClean="0"/>
              <a:t> de Software 1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Prof. Michel </a:t>
            </a:r>
            <a:r>
              <a:rPr lang="en-US" dirty="0" err="1" smtClean="0"/>
              <a:t>Soares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Sobre</a:t>
            </a:r>
            <a:r>
              <a:rPr lang="en-US" dirty="0" smtClean="0"/>
              <a:t> o professor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Prof. Dr. Michel </a:t>
            </a:r>
            <a:r>
              <a:rPr lang="en-US" dirty="0" err="1" smtClean="0"/>
              <a:t>Soares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Michel@dcomp.ufs.br</a:t>
            </a:r>
            <a:r>
              <a:rPr lang="en-US" dirty="0" smtClean="0"/>
              <a:t> 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Ementa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disciplina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Introdução à Engenharia de Software (definição, importância, visão geral da área e relacionamento com outras áreas de conhecimento). </a:t>
            </a:r>
          </a:p>
          <a:p>
            <a:r>
              <a:rPr lang="pt-BR" dirty="0" smtClean="0"/>
              <a:t>Características específicas do produto de software. O ciclo de vida do software. </a:t>
            </a:r>
          </a:p>
          <a:p>
            <a:r>
              <a:rPr lang="pt-BR" dirty="0" smtClean="0"/>
              <a:t>Processos de Software. Metodologias de Desenvolvimento. </a:t>
            </a:r>
          </a:p>
          <a:p>
            <a:r>
              <a:rPr lang="pt-BR" dirty="0" smtClean="0"/>
              <a:t>Engenharia de Requisitos. Linguagens de Modelagem (Artefatos de Análise). </a:t>
            </a:r>
          </a:p>
          <a:p>
            <a:r>
              <a:rPr lang="pt-BR" dirty="0" smtClean="0"/>
              <a:t>Validação e Verificação de Requisitos de Software. </a:t>
            </a:r>
          </a:p>
          <a:p>
            <a:r>
              <a:rPr lang="pt-BR" dirty="0" smtClean="0"/>
              <a:t>Planejamento do Projeto. </a:t>
            </a:r>
          </a:p>
          <a:p>
            <a:r>
              <a:rPr lang="pt-BR" dirty="0" smtClean="0"/>
              <a:t>Ferramentas. Estudo de Casos. Projeto Prático.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Nova Grade Curricular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Nova ementa</a:t>
            </a:r>
          </a:p>
          <a:p>
            <a:r>
              <a:rPr lang="pt-BR" dirty="0" smtClean="0"/>
              <a:t>50% de teoria e 50% de práticas</a:t>
            </a:r>
          </a:p>
          <a:p>
            <a:pPr lvl="1"/>
            <a:r>
              <a:rPr lang="pt-BR" dirty="0" smtClean="0">
                <a:sym typeface="Wingdings" pitchFamily="2" charset="2"/>
              </a:rPr>
              <a:t>Aulas teóricas</a:t>
            </a:r>
          </a:p>
          <a:p>
            <a:pPr lvl="1"/>
            <a:r>
              <a:rPr lang="pt-BR" dirty="0" smtClean="0">
                <a:sym typeface="Wingdings" pitchFamily="2" charset="2"/>
              </a:rPr>
              <a:t>Exercícios e atividades práticas </a:t>
            </a:r>
          </a:p>
          <a:p>
            <a:pPr lvl="1"/>
            <a:r>
              <a:rPr lang="pt-BR" dirty="0" smtClean="0">
                <a:sym typeface="Wingdings" pitchFamily="2" charset="2"/>
              </a:rPr>
              <a:t>Projeto em equipe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Conceitos de Hora-Aula e Hora-Trabalho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Hora-Aula (45 minutos)</a:t>
            </a:r>
          </a:p>
          <a:p>
            <a:endParaRPr lang="pt-BR" dirty="0" smtClean="0"/>
          </a:p>
          <a:p>
            <a:r>
              <a:rPr lang="pt-BR" dirty="0" smtClean="0"/>
              <a:t>A hora-aula será caracterizada como encontros presenciais conduzidos pelo corpo docente, com duração padrão de 45 (quarenta e cinco) minutos e </a:t>
            </a:r>
            <a:r>
              <a:rPr lang="pt-BR" b="1" dirty="0" smtClean="0"/>
              <a:t>frequência obrigatória do discente</a:t>
            </a:r>
            <a:r>
              <a:rPr lang="pt-BR" dirty="0" smtClean="0"/>
              <a:t>, podendo ocorrer em sala de aula ou outro cenário adequado para a ação pedagógica.</a:t>
            </a:r>
          </a:p>
          <a:p>
            <a:endParaRPr lang="pt-BR" dirty="0" smtClean="0"/>
          </a:p>
          <a:p>
            <a:r>
              <a:rPr lang="pt-BR" dirty="0" smtClean="0"/>
              <a:t>(T1) 13h30 às 14h15</a:t>
            </a:r>
          </a:p>
          <a:p>
            <a:r>
              <a:rPr lang="pt-BR" dirty="0" smtClean="0"/>
              <a:t>(T2) 14h15 às 15h</a:t>
            </a:r>
          </a:p>
          <a:p>
            <a:r>
              <a:rPr lang="pt-BR" dirty="0" smtClean="0"/>
              <a:t>(T3) 15h15 às 16h</a:t>
            </a:r>
          </a:p>
          <a:p>
            <a:r>
              <a:rPr lang="pt-BR" dirty="0" smtClean="0"/>
              <a:t>(T4) 16h às 16h45</a:t>
            </a:r>
          </a:p>
          <a:p>
            <a:r>
              <a:rPr lang="pt-BR" b="1" dirty="0" smtClean="0"/>
              <a:t>(T5) 17h às 17h45</a:t>
            </a:r>
          </a:p>
          <a:p>
            <a:r>
              <a:rPr lang="pt-BR" b="1" dirty="0" smtClean="0"/>
              <a:t>(T6) 17h45 às 18h30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Conceitos de Hora-Aula e Hora-Trabalho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 smtClean="0"/>
              <a:t>Hora-Trabalho (15 minutos)</a:t>
            </a:r>
          </a:p>
          <a:p>
            <a:endParaRPr lang="pt-BR" dirty="0" smtClean="0"/>
          </a:p>
          <a:p>
            <a:r>
              <a:rPr lang="pt-BR" dirty="0" smtClean="0"/>
              <a:t>A hora-trabalho consiste na fração de hora relativa ao tempo livre dedicado pelo discente ao cumprimento de tarefas acadêmicas estabelecidas, supervisionadas e avaliadas regularmente pelo corpo docente dentro da unidade de crédito.</a:t>
            </a:r>
          </a:p>
          <a:p>
            <a:endParaRPr lang="pt-BR" dirty="0" smtClean="0"/>
          </a:p>
          <a:p>
            <a:r>
              <a:rPr lang="pt-BR" dirty="0" smtClean="0"/>
              <a:t>Hora-trabalho: </a:t>
            </a:r>
          </a:p>
          <a:p>
            <a:endParaRPr lang="pt-BR" dirty="0" smtClean="0"/>
          </a:p>
          <a:p>
            <a:r>
              <a:rPr lang="pt-BR" dirty="0" smtClean="0"/>
              <a:t>I. leituras programadas;</a:t>
            </a:r>
          </a:p>
          <a:p>
            <a:r>
              <a:rPr lang="pt-BR" dirty="0" smtClean="0"/>
              <a:t>II. levantamento bibliográfico;</a:t>
            </a:r>
          </a:p>
          <a:p>
            <a:r>
              <a:rPr lang="pt-BR" dirty="0" smtClean="0"/>
              <a:t>III. pesquisa documental;</a:t>
            </a:r>
          </a:p>
          <a:p>
            <a:r>
              <a:rPr lang="pt-BR" dirty="0" smtClean="0"/>
              <a:t>IV. estudos dirigidos;</a:t>
            </a:r>
          </a:p>
          <a:p>
            <a:r>
              <a:rPr lang="pt-BR" dirty="0" smtClean="0"/>
              <a:t>V. produção textual;</a:t>
            </a:r>
          </a:p>
          <a:p>
            <a:r>
              <a:rPr lang="pt-BR" dirty="0" smtClean="0"/>
              <a:t>VI. produção audiovisual e material, e ,</a:t>
            </a:r>
          </a:p>
          <a:p>
            <a:r>
              <a:rPr lang="pt-BR" dirty="0" smtClean="0"/>
              <a:t>VII. outras tarefas de natureza similar.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Horários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713387"/>
          </a:xfrm>
        </p:spPr>
        <p:txBody>
          <a:bodyPr/>
          <a:lstStyle/>
          <a:p>
            <a:r>
              <a:rPr lang="pt-BR" dirty="0" smtClean="0"/>
              <a:t>Segundas: 17:00h-18:30h - DID </a:t>
            </a:r>
            <a:br>
              <a:rPr lang="pt-BR" dirty="0" smtClean="0"/>
            </a:br>
            <a:endParaRPr lang="pt-BR" dirty="0" smtClean="0"/>
          </a:p>
          <a:p>
            <a:r>
              <a:rPr lang="pt-BR" dirty="0" smtClean="0"/>
              <a:t>Quartas: 17:00h-18:30h - DID </a:t>
            </a:r>
            <a:br>
              <a:rPr lang="pt-BR" dirty="0" smtClean="0"/>
            </a:br>
            <a:endParaRPr lang="pt-BR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Pré-requisitos da disciplina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Programação Orientada a Objetos</a:t>
            </a:r>
          </a:p>
          <a:p>
            <a:pPr lvl="1"/>
            <a:r>
              <a:rPr lang="pt-BR" dirty="0" smtClean="0"/>
              <a:t>C++, Java, C#</a:t>
            </a:r>
          </a:p>
          <a:p>
            <a:r>
              <a:rPr lang="pt-BR" dirty="0" smtClean="0"/>
              <a:t>Estruturas de Dados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Próxima disciplina</a:t>
            </a:r>
            <a:br>
              <a:rPr lang="pt-BR" dirty="0" smtClean="0"/>
            </a:br>
            <a:r>
              <a:rPr lang="pt-BR" dirty="0" smtClean="0"/>
              <a:t> Engenharia de Software 2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 smtClean="0"/>
              <a:t>Continuação do projeto a ser desenvolvido</a:t>
            </a:r>
          </a:p>
          <a:p>
            <a:r>
              <a:rPr lang="pt-BR" dirty="0" smtClean="0"/>
              <a:t>Uso de conhecimento de:</a:t>
            </a:r>
          </a:p>
          <a:p>
            <a:pPr lvl="1"/>
            <a:r>
              <a:rPr lang="pt-BR" dirty="0" smtClean="0"/>
              <a:t>Engenharia de Software 1: Processos, ciclo de vida, boas propriedades de software (coesão, acoplamento, hierarquização, modularidade, information hiding,) objetos, herança, requisitos de software, casos de uso</a:t>
            </a:r>
          </a:p>
          <a:p>
            <a:pPr lvl="1"/>
            <a:r>
              <a:rPr lang="pt-BR" dirty="0" smtClean="0"/>
              <a:t>Noções de Redes e Sistemas distribuídos</a:t>
            </a:r>
          </a:p>
          <a:p>
            <a:pPr lvl="1"/>
            <a:r>
              <a:rPr lang="pt-BR" dirty="0" smtClean="0"/>
              <a:t>Banco de dados</a:t>
            </a:r>
          </a:p>
          <a:p>
            <a:pPr lvl="2"/>
            <a:r>
              <a:rPr lang="pt-BR" dirty="0" smtClean="0"/>
              <a:t>Criação de tabelas, Inserção em tabelas, SELECTs</a:t>
            </a:r>
          </a:p>
          <a:p>
            <a:pPr lvl="1"/>
            <a:r>
              <a:rPr lang="pt-BR" dirty="0" smtClean="0"/>
              <a:t>Programação Orientada a Objetos</a:t>
            </a:r>
          </a:p>
          <a:p>
            <a:pPr lvl="2"/>
            <a:r>
              <a:rPr lang="pt-BR" dirty="0" smtClean="0"/>
              <a:t>C++, Java, C#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Disciplina de Práticas Orientadas em Computação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Nesta disciplina, vários conceitos/técnicas/processos/fundamentos de ES1 e ES2 serão usados</a:t>
            </a:r>
          </a:p>
          <a:p>
            <a:r>
              <a:rPr lang="pt-BR" dirty="0" smtClean="0"/>
              <a:t>Inovação e desenvolvimento de um produto de software é o foco desta disciplina</a:t>
            </a:r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Dias de </a:t>
            </a:r>
            <a:r>
              <a:rPr lang="en-US" dirty="0" err="1" smtClean="0"/>
              <a:t>aulas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 smtClean="0"/>
              <a:t>Maio – 12, 14, 19, 21, 26, 28 (6 aulas)</a:t>
            </a:r>
          </a:p>
          <a:p>
            <a:r>
              <a:rPr lang="pt-BR" sz="2400" dirty="0" smtClean="0"/>
              <a:t>Junho – 02, 04, 09, 11, 16, </a:t>
            </a:r>
            <a:r>
              <a:rPr lang="pt-BR" sz="2400" b="1" dirty="0" smtClean="0">
                <a:solidFill>
                  <a:srgbClr val="00B050"/>
                </a:solidFill>
              </a:rPr>
              <a:t>18</a:t>
            </a:r>
            <a:r>
              <a:rPr lang="pt-BR" sz="2400" dirty="0" smtClean="0"/>
              <a:t>, </a:t>
            </a:r>
            <a:r>
              <a:rPr lang="pt-BR" sz="2400" b="1" dirty="0" smtClean="0">
                <a:solidFill>
                  <a:srgbClr val="00B050"/>
                </a:solidFill>
              </a:rPr>
              <a:t>25</a:t>
            </a:r>
            <a:r>
              <a:rPr lang="pt-BR" sz="2400" dirty="0" smtClean="0"/>
              <a:t>, </a:t>
            </a:r>
            <a:r>
              <a:rPr lang="pt-BR" sz="2400" b="1" dirty="0" smtClean="0">
                <a:solidFill>
                  <a:schemeClr val="accent6">
                    <a:lumMod val="75000"/>
                  </a:schemeClr>
                </a:solidFill>
              </a:rPr>
              <a:t>30</a:t>
            </a:r>
            <a:r>
              <a:rPr lang="pt-BR" sz="2400" dirty="0" smtClean="0"/>
              <a:t> (8 aulas)</a:t>
            </a:r>
          </a:p>
          <a:p>
            <a:r>
              <a:rPr lang="pt-BR" sz="2400" dirty="0" smtClean="0"/>
              <a:t>Julho – 02, 07, 09, 14, </a:t>
            </a:r>
            <a:r>
              <a:rPr lang="pt-BR" sz="2400" b="1" dirty="0" smtClean="0">
                <a:solidFill>
                  <a:srgbClr val="00B050"/>
                </a:solidFill>
              </a:rPr>
              <a:t>16</a:t>
            </a:r>
            <a:r>
              <a:rPr lang="pt-BR" sz="2400" dirty="0" smtClean="0"/>
              <a:t>, </a:t>
            </a:r>
            <a:r>
              <a:rPr lang="pt-BR" sz="2400" b="1" dirty="0" smtClean="0">
                <a:solidFill>
                  <a:srgbClr val="00B050"/>
                </a:solidFill>
              </a:rPr>
              <a:t>21</a:t>
            </a:r>
            <a:r>
              <a:rPr lang="pt-BR" sz="2400" dirty="0" smtClean="0"/>
              <a:t>, </a:t>
            </a:r>
            <a:r>
              <a:rPr lang="pt-BR" sz="2400" b="1" dirty="0" smtClean="0">
                <a:solidFill>
                  <a:schemeClr val="accent6">
                    <a:lumMod val="75000"/>
                  </a:schemeClr>
                </a:solidFill>
              </a:rPr>
              <a:t>23</a:t>
            </a:r>
            <a:r>
              <a:rPr lang="pt-BR" sz="2400" dirty="0" smtClean="0"/>
              <a:t>, 28, 30 (9 aulas)</a:t>
            </a:r>
          </a:p>
          <a:p>
            <a:r>
              <a:rPr lang="pt-BR" sz="2400" dirty="0" smtClean="0"/>
              <a:t>Agosto – 04, 06, </a:t>
            </a:r>
            <a:r>
              <a:rPr lang="pt-BR" sz="2400" b="1" dirty="0" smtClean="0">
                <a:solidFill>
                  <a:srgbClr val="FF0000"/>
                </a:solidFill>
              </a:rPr>
              <a:t>11, 13</a:t>
            </a:r>
            <a:r>
              <a:rPr lang="pt-BR" sz="2400" dirty="0" smtClean="0"/>
              <a:t>, </a:t>
            </a:r>
            <a:r>
              <a:rPr lang="pt-BR" sz="2400" b="1" dirty="0" smtClean="0">
                <a:solidFill>
                  <a:srgbClr val="00B050"/>
                </a:solidFill>
              </a:rPr>
              <a:t>18</a:t>
            </a:r>
            <a:r>
              <a:rPr lang="pt-BR" sz="2400" dirty="0" smtClean="0"/>
              <a:t>, </a:t>
            </a:r>
            <a:r>
              <a:rPr lang="pt-BR" sz="2400" b="1" dirty="0" smtClean="0">
                <a:solidFill>
                  <a:srgbClr val="FF0000"/>
                </a:solidFill>
              </a:rPr>
              <a:t>20, </a:t>
            </a:r>
            <a:r>
              <a:rPr lang="pt-BR" sz="2400" b="1" dirty="0" smtClean="0">
                <a:solidFill>
                  <a:schemeClr val="accent6">
                    <a:lumMod val="75000"/>
                  </a:schemeClr>
                </a:solidFill>
              </a:rPr>
              <a:t>20</a:t>
            </a:r>
            <a:r>
              <a:rPr lang="pt-BR" sz="2400" dirty="0" smtClean="0"/>
              <a:t>, </a:t>
            </a:r>
            <a:r>
              <a:rPr lang="pt-BR" sz="2400" b="1" dirty="0" smtClean="0">
                <a:solidFill>
                  <a:schemeClr val="accent1"/>
                </a:solidFill>
              </a:rPr>
              <a:t>25</a:t>
            </a:r>
            <a:r>
              <a:rPr lang="pt-BR" sz="2400" dirty="0" smtClean="0"/>
              <a:t> (7 aulas)</a:t>
            </a:r>
          </a:p>
          <a:p>
            <a:endParaRPr lang="nn-NO" sz="2400" b="1" dirty="0" smtClean="0"/>
          </a:p>
          <a:p>
            <a:r>
              <a:rPr lang="nn-NO" sz="2400" dirty="0" smtClean="0"/>
              <a:t>Aulas Teóricas e exercícios</a:t>
            </a:r>
            <a:r>
              <a:rPr lang="nn-NO" sz="2400" b="1" dirty="0" smtClean="0">
                <a:solidFill>
                  <a:srgbClr val="FF0000"/>
                </a:solidFill>
              </a:rPr>
              <a:t>, Avaliações, </a:t>
            </a:r>
            <a:r>
              <a:rPr lang="nn-NO" sz="2400" b="1" dirty="0" smtClean="0">
                <a:solidFill>
                  <a:srgbClr val="0070C0"/>
                </a:solidFill>
              </a:rPr>
              <a:t>devolução e vista de provas</a:t>
            </a:r>
            <a:r>
              <a:rPr lang="nn-NO" sz="2400" b="1" dirty="0" smtClean="0">
                <a:solidFill>
                  <a:srgbClr val="FF0000"/>
                </a:solidFill>
              </a:rPr>
              <a:t>, </a:t>
            </a:r>
            <a:r>
              <a:rPr lang="nn-NO" sz="2400" b="1" dirty="0" smtClean="0">
                <a:solidFill>
                  <a:srgbClr val="00B050"/>
                </a:solidFill>
              </a:rPr>
              <a:t>aulas de dúvidas de trabalhos, </a:t>
            </a:r>
            <a:r>
              <a:rPr lang="nn-NO" sz="2400" b="1" dirty="0" smtClean="0">
                <a:solidFill>
                  <a:schemeClr val="accent6">
                    <a:lumMod val="75000"/>
                  </a:schemeClr>
                </a:solidFill>
              </a:rPr>
              <a:t>entrega de trabalhos</a:t>
            </a:r>
          </a:p>
          <a:p>
            <a:endParaRPr lang="pt-B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pt-BR" dirty="0" smtClean="0"/>
              <a:t>Datas importantes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568952" cy="4925144"/>
          </a:xfrm>
        </p:spPr>
        <p:txBody>
          <a:bodyPr>
            <a:noAutofit/>
          </a:bodyPr>
          <a:lstStyle/>
          <a:p>
            <a:r>
              <a:rPr lang="pt-BR" sz="2000" dirty="0" smtClean="0"/>
              <a:t>Prova (40%)</a:t>
            </a:r>
          </a:p>
          <a:p>
            <a:pPr lvl="1"/>
            <a:r>
              <a:rPr lang="pt-BR" sz="2000" b="1" dirty="0" smtClean="0">
                <a:solidFill>
                  <a:srgbClr val="FF0000"/>
                </a:solidFill>
              </a:rPr>
              <a:t>P1 – 11 de agosto</a:t>
            </a:r>
          </a:p>
          <a:p>
            <a:pPr lvl="1"/>
            <a:r>
              <a:rPr lang="pt-BR" sz="2000" b="1" dirty="0" smtClean="0">
                <a:solidFill>
                  <a:srgbClr val="FF0000"/>
                </a:solidFill>
              </a:rPr>
              <a:t>Data reservada para eventual Substitutiva – 20 de agosto</a:t>
            </a:r>
            <a:endParaRPr lang="pt-BR" sz="2000" dirty="0" smtClean="0"/>
          </a:p>
          <a:p>
            <a:r>
              <a:rPr lang="pt-BR" sz="2000" dirty="0" smtClean="0"/>
              <a:t>Exercício livre (20%)</a:t>
            </a:r>
          </a:p>
          <a:p>
            <a:pPr lvl="1"/>
            <a:r>
              <a:rPr lang="pt-BR" sz="2000" b="1" dirty="0" smtClean="0">
                <a:solidFill>
                  <a:srgbClr val="FF0000"/>
                </a:solidFill>
              </a:rPr>
              <a:t>13 de agosto</a:t>
            </a:r>
            <a:endParaRPr lang="pt-BR" sz="2000" dirty="0" smtClean="0"/>
          </a:p>
          <a:p>
            <a:r>
              <a:rPr lang="pt-BR" sz="2000" dirty="0" smtClean="0"/>
              <a:t>Entrega de trabalhos (40%)</a:t>
            </a:r>
          </a:p>
          <a:p>
            <a:pPr lvl="1"/>
            <a:r>
              <a:rPr lang="pt-BR" sz="2000" b="1" dirty="0" smtClean="0">
                <a:solidFill>
                  <a:srgbClr val="FF0000"/>
                </a:solidFill>
              </a:rPr>
              <a:t>30 de </a:t>
            </a:r>
            <a:r>
              <a:rPr lang="pt-BR" sz="2000" b="1" dirty="0" smtClean="0">
                <a:solidFill>
                  <a:srgbClr val="FF0000"/>
                </a:solidFill>
              </a:rPr>
              <a:t>junho (Requisitos + Casos de Uso) – durante a aula</a:t>
            </a:r>
          </a:p>
          <a:p>
            <a:pPr lvl="1"/>
            <a:r>
              <a:rPr lang="pt-BR" sz="2000" b="1" dirty="0" smtClean="0">
                <a:solidFill>
                  <a:srgbClr val="FF0000"/>
                </a:solidFill>
              </a:rPr>
              <a:t>23 de julho (Diagrama de Classes) – durante a aula</a:t>
            </a:r>
          </a:p>
          <a:p>
            <a:pPr lvl="1"/>
            <a:r>
              <a:rPr lang="pt-BR" sz="2000" b="1" dirty="0" smtClean="0">
                <a:solidFill>
                  <a:srgbClr val="FF0000"/>
                </a:solidFill>
              </a:rPr>
              <a:t>20 de agosto (Plano de projeto) – na sala 22 do DCOMP, das 14:30 até as 16:30</a:t>
            </a:r>
          </a:p>
          <a:p>
            <a:endParaRPr lang="pt-BR" sz="2000" dirty="0" smtClean="0"/>
          </a:p>
          <a:p>
            <a:r>
              <a:rPr lang="pt-BR" sz="2000" dirty="0" smtClean="0"/>
              <a:t>Vista e devolução de provas</a:t>
            </a:r>
          </a:p>
          <a:p>
            <a:pPr lvl="1"/>
            <a:r>
              <a:rPr lang="pt-BR" sz="2000" b="1" dirty="0" smtClean="0">
                <a:solidFill>
                  <a:srgbClr val="FF0000"/>
                </a:solidFill>
              </a:rPr>
              <a:t>25 de agosto</a:t>
            </a:r>
          </a:p>
          <a:p>
            <a:pPr lvl="1"/>
            <a:endParaRPr lang="pt-BR" sz="2000" dirty="0" smtClean="0">
              <a:solidFill>
                <a:srgbClr val="0070C0"/>
              </a:solidFill>
            </a:endParaRPr>
          </a:p>
          <a:p>
            <a:pPr lvl="1">
              <a:buNone/>
            </a:pPr>
            <a:endParaRPr lang="pt-BR" sz="16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pt-BR" sz="12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pt-BR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 smtClean="0">
                <a:solidFill>
                  <a:srgbClr val="00B050"/>
                </a:solidFill>
              </a:rPr>
              <a:t>Aulas de dúvidas de trabalhos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Dúvidas sobre os trabalhos</a:t>
            </a:r>
          </a:p>
          <a:p>
            <a:r>
              <a:rPr lang="pt-BR" dirty="0" smtClean="0"/>
              <a:t>Sala 22 do DCOMP</a:t>
            </a:r>
          </a:p>
          <a:p>
            <a:r>
              <a:rPr lang="pt-BR" dirty="0" smtClean="0"/>
              <a:t>Presença coletiva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Seminários de Grady Booch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/>
          <a:lstStyle/>
          <a:p>
            <a:r>
              <a:rPr lang="pt-BR" dirty="0" smtClean="0">
                <a:hlinkClick r:id="rId2"/>
              </a:rPr>
              <a:t>https://learning.acm.org/techtalks/histofsofteng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https://learning.acm.org/binaries/content/assets/leaning-center/webinar-slides/2018/thehistoryofsoftwareengineering_webinarslides.pdf</a:t>
            </a:r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Vista e Devolução de provas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dirty="0" smtClean="0"/>
              <a:t>Local: Sala 22 do DCOMP</a:t>
            </a:r>
          </a:p>
          <a:p>
            <a:pPr lvl="1"/>
            <a:r>
              <a:rPr lang="pt-BR" dirty="0" smtClean="0"/>
              <a:t>25 de agosto, 17:00 às 18:30</a:t>
            </a:r>
          </a:p>
          <a:p>
            <a:pPr>
              <a:buNone/>
            </a:pPr>
            <a:endParaRPr lang="pt-BR" sz="3600" b="1" dirty="0" smtClean="0">
              <a:solidFill>
                <a:srgbClr val="0070C0"/>
              </a:solidFill>
            </a:endParaRPr>
          </a:p>
          <a:p>
            <a:r>
              <a:rPr lang="pt-BR" sz="4300" b="1" dirty="0" smtClean="0"/>
              <a:t>Não haverá outra oportunidade em hipótese alguma</a:t>
            </a:r>
          </a:p>
          <a:p>
            <a:pPr lvl="1"/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Presença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Sala</a:t>
            </a:r>
            <a:r>
              <a:rPr lang="en-US" dirty="0" smtClean="0"/>
              <a:t> de Aula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Chamadas</a:t>
            </a:r>
            <a:r>
              <a:rPr lang="en-US" dirty="0" smtClean="0"/>
              <a:t> no </a:t>
            </a:r>
            <a:r>
              <a:rPr lang="en-US" dirty="0" err="1" smtClean="0"/>
              <a:t>início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aula</a:t>
            </a:r>
          </a:p>
          <a:p>
            <a:r>
              <a:rPr lang="en-US" dirty="0" err="1" smtClean="0"/>
              <a:t>Reprovações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faltas</a:t>
            </a:r>
            <a:r>
              <a:rPr lang="en-US" dirty="0" smtClean="0"/>
              <a:t>: </a:t>
            </a:r>
            <a:r>
              <a:rPr lang="en-US" dirty="0" err="1" smtClean="0"/>
              <a:t>mais</a:t>
            </a:r>
            <a:r>
              <a:rPr lang="en-US" dirty="0" smtClean="0"/>
              <a:t> de 25% de </a:t>
            </a:r>
            <a:r>
              <a:rPr lang="en-US" dirty="0" err="1" smtClean="0"/>
              <a:t>faltas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Presença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Sala</a:t>
            </a:r>
            <a:r>
              <a:rPr lang="en-US" dirty="0" smtClean="0"/>
              <a:t> de Aula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Art. 116. É reprovado na disciplina o estudante que não apresentar assiduidade mínima de 75% do total das aulas e atividades no período letivo, ressalvados os casos previstos em lei.</a:t>
            </a:r>
          </a:p>
          <a:p>
            <a:r>
              <a:rPr lang="pt-BR" dirty="0" smtClean="0"/>
              <a:t>Art. 117. A presença do discente é registrada por sua frequência em cada hora-aula.</a:t>
            </a:r>
          </a:p>
          <a:p>
            <a:pPr lvl="1"/>
            <a:r>
              <a:rPr lang="pt-BR" dirty="0" smtClean="0"/>
              <a:t>§ 1º Não será permitido abono de faltas, ressalvados os casos previstos em lei.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Formato da Avaliação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1 avaliação teórica – P1 (40%)</a:t>
            </a:r>
          </a:p>
          <a:p>
            <a:r>
              <a:rPr lang="pt-BR" dirty="0" smtClean="0"/>
              <a:t>1 avaliação substitutiva</a:t>
            </a:r>
          </a:p>
          <a:p>
            <a:pPr lvl="1"/>
            <a:r>
              <a:rPr lang="pt-BR" dirty="0" smtClean="0"/>
              <a:t>Para quem perdeu a avaliação P1, de acordo com a lei</a:t>
            </a:r>
          </a:p>
          <a:p>
            <a:pPr lvl="1"/>
            <a:endParaRPr lang="pt-BR" dirty="0" smtClean="0"/>
          </a:p>
          <a:p>
            <a:r>
              <a:rPr lang="pt-BR" dirty="0" smtClean="0"/>
              <a:t>3 trabalhos em grupo, com avaliação individual (40%)</a:t>
            </a:r>
          </a:p>
          <a:p>
            <a:r>
              <a:rPr lang="pt-BR" dirty="0" smtClean="0"/>
              <a:t>1 exercício livre de escrita sobre a disciplina (20%)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1 exercício livre de escrita sobre a disciplina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Como funciona? </a:t>
            </a:r>
          </a:p>
          <a:p>
            <a:r>
              <a:rPr lang="pt-BR" dirty="0" smtClean="0"/>
              <a:t>Na data (13 de agosto), durante a aula, cada aluno individualmente irá escrever em até 2 páginas do tipo A4 todo o conteúdo da disciplina, com suas próprias palavras.</a:t>
            </a:r>
          </a:p>
          <a:p>
            <a:r>
              <a:rPr lang="pt-BR" dirty="0" smtClean="0"/>
              <a:t>Não haverá outra oportunidade/data. Caso alguém perca, fará uma avaliação substitutiva no dia 20 de agosto.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será a nota do trabalho ?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 nota será individual - uma porcentagem da nota do grupo, variando de 0 a 100%</a:t>
            </a:r>
          </a:p>
          <a:p>
            <a:r>
              <a:rPr lang="pt-BR" dirty="0" smtClean="0"/>
              <a:t>Cabe ao grupo informar na capa do trabalho a porcentagem individual</a:t>
            </a:r>
          </a:p>
          <a:p>
            <a:r>
              <a:rPr lang="pt-BR" dirty="0" smtClean="0"/>
              <a:t>Caso não seja informado, será assumido que a porcentagem será de 100% para cada membro do grupo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Nota Individual do trabalho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0% - não fez nada</a:t>
            </a:r>
          </a:p>
          <a:p>
            <a:r>
              <a:rPr lang="pt-BR" dirty="0" smtClean="0"/>
              <a:t>30% - ajudou um pouco</a:t>
            </a:r>
          </a:p>
          <a:p>
            <a:r>
              <a:rPr lang="pt-BR" dirty="0" smtClean="0"/>
              <a:t>70% - ajudou quase sempre</a:t>
            </a:r>
          </a:p>
          <a:p>
            <a:r>
              <a:rPr lang="pt-BR" dirty="0" smtClean="0"/>
              <a:t>100% - ajudou sempre e fez todas as tarefas alocadas pelo grupo/líder</a:t>
            </a:r>
          </a:p>
          <a:p>
            <a:endParaRPr lang="pt-BR" dirty="0" smtClean="0"/>
          </a:p>
          <a:p>
            <a:r>
              <a:rPr lang="pt-BR" dirty="0" smtClean="0">
                <a:sym typeface="Wingdings" pitchFamily="2" charset="2"/>
              </a:rPr>
              <a:t> Só funciona se todos forem honestos em relação a sua participação efetiva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de nota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Grupo: nota do trabalho: 8</a:t>
            </a:r>
          </a:p>
          <a:p>
            <a:r>
              <a:rPr lang="pt-BR" dirty="0" smtClean="0"/>
              <a:t>Aluno1: 70% </a:t>
            </a:r>
            <a:r>
              <a:rPr lang="pt-BR" dirty="0" smtClean="0">
                <a:sym typeface="Wingdings" pitchFamily="2" charset="2"/>
              </a:rPr>
              <a:t> 8*0.7 = 5,6</a:t>
            </a:r>
            <a:endParaRPr lang="pt-BR" dirty="0" smtClean="0"/>
          </a:p>
          <a:p>
            <a:r>
              <a:rPr lang="pt-BR" dirty="0" smtClean="0"/>
              <a:t>Aluno2: 100% </a:t>
            </a:r>
            <a:r>
              <a:rPr lang="pt-BR" dirty="0" smtClean="0">
                <a:sym typeface="Wingdings" pitchFamily="2" charset="2"/>
              </a:rPr>
              <a:t> 8*1.0 = 8</a:t>
            </a:r>
            <a:endParaRPr lang="pt-BR" dirty="0" smtClean="0"/>
          </a:p>
          <a:p>
            <a:r>
              <a:rPr lang="pt-BR" dirty="0" smtClean="0"/>
              <a:t>Aluno3: 0% (nada contribuiu) </a:t>
            </a:r>
            <a:r>
              <a:rPr lang="pt-BR" dirty="0" smtClean="0">
                <a:sym typeface="Wingdings" pitchFamily="2" charset="2"/>
              </a:rPr>
              <a:t> 8*0 = 0</a:t>
            </a:r>
          </a:p>
          <a:p>
            <a:r>
              <a:rPr lang="pt-BR" dirty="0" smtClean="0">
                <a:sym typeface="Wingdings" pitchFamily="2" charset="2"/>
              </a:rPr>
              <a:t>Aluno4: 30%  8*0.3 = 2,4</a:t>
            </a:r>
          </a:p>
          <a:p>
            <a:endParaRPr lang="pt-BR" dirty="0" smtClean="0">
              <a:sym typeface="Wingdings" pitchFamily="2" charset="2"/>
            </a:endParaRPr>
          </a:p>
          <a:p>
            <a:endParaRPr lang="pt-BR" dirty="0" smtClean="0">
              <a:sym typeface="Wingdings" pitchFamily="2" charset="2"/>
            </a:endParaRP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Horários das Avaliações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lang="pt-BR" dirty="0" smtClean="0"/>
              <a:t>Início: 17:00</a:t>
            </a:r>
          </a:p>
          <a:p>
            <a:r>
              <a:rPr lang="pt-BR" dirty="0" smtClean="0"/>
              <a:t>Término: 18:30</a:t>
            </a:r>
          </a:p>
          <a:p>
            <a:r>
              <a:rPr lang="pt-BR" dirty="0" smtClean="0"/>
              <a:t>Sem intervalo</a:t>
            </a:r>
          </a:p>
          <a:p>
            <a:r>
              <a:rPr lang="pt-BR" dirty="0" smtClean="0"/>
              <a:t>Evitem chegar atrasados</a:t>
            </a:r>
          </a:p>
          <a:p>
            <a:r>
              <a:rPr lang="pt-BR" b="1" dirty="0" smtClean="0">
                <a:solidFill>
                  <a:srgbClr val="FF0000"/>
                </a:solidFill>
              </a:rPr>
              <a:t>Após alguém sair da sala, ninguém mais entra!</a:t>
            </a:r>
          </a:p>
          <a:p>
            <a:r>
              <a:rPr lang="pt-BR" b="1" dirty="0" smtClean="0">
                <a:solidFill>
                  <a:srgbClr val="FF0000"/>
                </a:solidFill>
              </a:rPr>
              <a:t>Os 3 últimos saem juntos.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Horários</a:t>
            </a:r>
            <a:r>
              <a:rPr lang="en-US" dirty="0" smtClean="0"/>
              <a:t> de </a:t>
            </a:r>
            <a:r>
              <a:rPr lang="en-US" dirty="0" err="1" smtClean="0"/>
              <a:t>Atendimento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525963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Presencial: </a:t>
            </a:r>
          </a:p>
          <a:p>
            <a:pPr lvl="1"/>
            <a:r>
              <a:rPr lang="pt-BR" dirty="0" smtClean="0"/>
              <a:t>Quartas-feiras: 15:00 às 16:30</a:t>
            </a:r>
          </a:p>
          <a:p>
            <a:r>
              <a:rPr lang="pt-BR" dirty="0" smtClean="0"/>
              <a:t>Virtual: </a:t>
            </a:r>
          </a:p>
          <a:p>
            <a:pPr lvl="1"/>
            <a:r>
              <a:rPr lang="pt-BR" dirty="0" smtClean="0"/>
              <a:t>Quintas-feiras, 8:00 às 9:00</a:t>
            </a:r>
          </a:p>
          <a:p>
            <a:pPr lvl="1"/>
            <a:r>
              <a:rPr lang="pt-BR" dirty="0" smtClean="0"/>
              <a:t>https://meet.google.com/qow-eqks-hzb</a:t>
            </a:r>
          </a:p>
          <a:p>
            <a:r>
              <a:rPr lang="en-US" dirty="0" err="1" smtClean="0"/>
              <a:t>Outros</a:t>
            </a:r>
            <a:r>
              <a:rPr lang="en-US" dirty="0" smtClean="0"/>
              <a:t> </a:t>
            </a:r>
            <a:r>
              <a:rPr lang="en-US" dirty="0" err="1" smtClean="0"/>
              <a:t>horários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possíveis</a:t>
            </a:r>
            <a:r>
              <a:rPr lang="en-US" dirty="0" smtClean="0"/>
              <a:t>, </a:t>
            </a:r>
            <a:r>
              <a:rPr lang="en-US" dirty="0" err="1" smtClean="0"/>
              <a:t>porém</a:t>
            </a:r>
            <a:r>
              <a:rPr lang="en-US" dirty="0" smtClean="0"/>
              <a:t> </a:t>
            </a:r>
            <a:r>
              <a:rPr lang="en-US" dirty="0" err="1" smtClean="0"/>
              <a:t>depende</a:t>
            </a:r>
            <a:r>
              <a:rPr lang="en-US" dirty="0" smtClean="0"/>
              <a:t> de </a:t>
            </a:r>
            <a:r>
              <a:rPr lang="en-US" dirty="0" err="1" smtClean="0"/>
              <a:t>outras</a:t>
            </a:r>
            <a:r>
              <a:rPr lang="en-US" dirty="0" smtClean="0"/>
              <a:t> </a:t>
            </a:r>
            <a:r>
              <a:rPr lang="en-US" dirty="0" err="1" smtClean="0"/>
              <a:t>alocações</a:t>
            </a:r>
            <a:r>
              <a:rPr lang="en-US" dirty="0" smtClean="0"/>
              <a:t> (</a:t>
            </a:r>
            <a:r>
              <a:rPr lang="en-US" dirty="0" err="1" smtClean="0"/>
              <a:t>aulas</a:t>
            </a:r>
            <a:r>
              <a:rPr lang="en-US" dirty="0" smtClean="0"/>
              <a:t>, </a:t>
            </a:r>
            <a:r>
              <a:rPr lang="en-US" dirty="0" err="1" smtClean="0"/>
              <a:t>orientações</a:t>
            </a:r>
            <a:r>
              <a:rPr lang="en-US" dirty="0" smtClean="0"/>
              <a:t> de </a:t>
            </a:r>
            <a:r>
              <a:rPr lang="en-US" dirty="0" err="1" smtClean="0"/>
              <a:t>alunos</a:t>
            </a:r>
            <a:r>
              <a:rPr lang="en-US" dirty="0" smtClean="0"/>
              <a:t>, </a:t>
            </a:r>
            <a:r>
              <a:rPr lang="en-US" dirty="0" err="1" smtClean="0"/>
              <a:t>reuniões</a:t>
            </a:r>
            <a:r>
              <a:rPr lang="en-US" dirty="0" smtClean="0"/>
              <a:t> de </a:t>
            </a:r>
            <a:r>
              <a:rPr lang="en-US" dirty="0" err="1" smtClean="0"/>
              <a:t>pós-graduação</a:t>
            </a:r>
            <a:r>
              <a:rPr lang="en-US" dirty="0" smtClean="0"/>
              <a:t>, DCOMP, </a:t>
            </a:r>
            <a:r>
              <a:rPr lang="en-US" dirty="0" err="1" smtClean="0"/>
              <a:t>Colegiados</a:t>
            </a:r>
            <a:r>
              <a:rPr lang="en-US" dirty="0" smtClean="0"/>
              <a:t>, CCET).</a:t>
            </a:r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Trabalhos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T1 – </a:t>
            </a:r>
            <a:r>
              <a:rPr lang="en-US" dirty="0" err="1" smtClean="0"/>
              <a:t>Especificação</a:t>
            </a:r>
            <a:r>
              <a:rPr lang="en-US" dirty="0" smtClean="0"/>
              <a:t> de </a:t>
            </a:r>
            <a:r>
              <a:rPr lang="en-US" dirty="0" err="1" smtClean="0"/>
              <a:t>Requisitos</a:t>
            </a:r>
            <a:r>
              <a:rPr lang="en-US" dirty="0" smtClean="0"/>
              <a:t> e </a:t>
            </a:r>
            <a:r>
              <a:rPr lang="en-US" dirty="0" err="1" smtClean="0"/>
              <a:t>Casos</a:t>
            </a:r>
            <a:r>
              <a:rPr lang="en-US" dirty="0" smtClean="0"/>
              <a:t> de </a:t>
            </a:r>
            <a:r>
              <a:rPr lang="en-US" dirty="0" err="1" smtClean="0"/>
              <a:t>Uso</a:t>
            </a:r>
            <a:r>
              <a:rPr lang="en-US" dirty="0" smtClean="0"/>
              <a:t> (</a:t>
            </a:r>
            <a:r>
              <a:rPr lang="en-US" dirty="0" err="1" smtClean="0"/>
              <a:t>descrição</a:t>
            </a:r>
            <a:r>
              <a:rPr lang="en-US" dirty="0" smtClean="0"/>
              <a:t> e </a:t>
            </a:r>
            <a:r>
              <a:rPr lang="en-US" dirty="0" err="1" smtClean="0"/>
              <a:t>diagrama</a:t>
            </a:r>
            <a:r>
              <a:rPr lang="en-US" dirty="0" smtClean="0"/>
              <a:t>)</a:t>
            </a:r>
          </a:p>
          <a:p>
            <a:r>
              <a:rPr lang="en-US" dirty="0" smtClean="0"/>
              <a:t>T2 – </a:t>
            </a:r>
            <a:r>
              <a:rPr lang="en-US" dirty="0" err="1" smtClean="0"/>
              <a:t>Diagrama</a:t>
            </a:r>
            <a:r>
              <a:rPr lang="en-US" dirty="0" smtClean="0"/>
              <a:t> de Classes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nível</a:t>
            </a:r>
            <a:r>
              <a:rPr lang="en-US" dirty="0" smtClean="0"/>
              <a:t> de </a:t>
            </a:r>
            <a:r>
              <a:rPr lang="en-US" dirty="0" err="1" smtClean="0"/>
              <a:t>análise</a:t>
            </a:r>
            <a:endParaRPr lang="en-US" dirty="0" smtClean="0"/>
          </a:p>
          <a:p>
            <a:r>
              <a:rPr lang="en-US" dirty="0" smtClean="0"/>
              <a:t>T3 – </a:t>
            </a:r>
            <a:r>
              <a:rPr lang="en-US" dirty="0" err="1" smtClean="0"/>
              <a:t>Proposta</a:t>
            </a:r>
            <a:r>
              <a:rPr lang="en-US" dirty="0" smtClean="0"/>
              <a:t> de Plano de </a:t>
            </a:r>
            <a:r>
              <a:rPr lang="en-US" dirty="0" err="1" smtClean="0"/>
              <a:t>Projeto</a:t>
            </a: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Trabalhos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Devem ser feitos realmente em grupos</a:t>
            </a:r>
          </a:p>
          <a:p>
            <a:r>
              <a:rPr lang="pt-BR" b="1" dirty="0" smtClean="0"/>
              <a:t>Não dividir por partes</a:t>
            </a:r>
          </a:p>
          <a:p>
            <a:pPr lvl="1"/>
            <a:r>
              <a:rPr lang="pt-BR" dirty="0" smtClean="0"/>
              <a:t>Todos devem se reunir e fazer juntos</a:t>
            </a:r>
          </a:p>
          <a:p>
            <a:r>
              <a:rPr lang="pt-BR" dirty="0" smtClean="0"/>
              <a:t>Usem ferramentas de colaboração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 substitutiva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Para casos previstos em lei</a:t>
            </a:r>
          </a:p>
          <a:p>
            <a:r>
              <a:rPr lang="pt-BR" dirty="0" smtClean="0"/>
              <a:t>Substitui apenas uma das avaliações teóricas</a:t>
            </a:r>
            <a:endParaRPr lang="pt-B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será a avaliação? 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P1: 40%</a:t>
            </a:r>
          </a:p>
          <a:p>
            <a:r>
              <a:rPr lang="pt-BR" dirty="0" smtClean="0"/>
              <a:t>Exercício: 20% </a:t>
            </a:r>
          </a:p>
          <a:p>
            <a:r>
              <a:rPr lang="pt-BR" dirty="0" smtClean="0"/>
              <a:t>Trabalho, em 3 partes ((T1+T2+T3)/3): 40%</a:t>
            </a:r>
            <a:endParaRPr lang="pt-B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Temas de projeto e mínimo de módulos/funcionalidades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06916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pt-BR" dirty="0" smtClean="0"/>
              <a:t>1 – Intranet empresarial</a:t>
            </a:r>
          </a:p>
          <a:p>
            <a:pPr lvl="1">
              <a:buNone/>
            </a:pPr>
            <a:r>
              <a:rPr lang="pt-BR" dirty="0" smtClean="0"/>
              <a:t>Viagens, projetos em andamento, reembolso de despesas, cursos, reuniões, perfil profissional, galeria de fotos e vídeos, enquetes, ponto eletrônico, patrimônio</a:t>
            </a:r>
          </a:p>
          <a:p>
            <a:pPr>
              <a:buNone/>
            </a:pPr>
            <a:r>
              <a:rPr lang="pt-BR" dirty="0" smtClean="0"/>
              <a:t>2 – Gestão de Fazendas de Grãos</a:t>
            </a:r>
          </a:p>
          <a:p>
            <a:pPr lvl="1">
              <a:buNone/>
            </a:pPr>
            <a:r>
              <a:rPr lang="pt-BR" dirty="0" smtClean="0"/>
              <a:t>Patrimônio, produção (custo, lucro), estoque, pessoal, insumos, armazenamento, produtividade, planejamento, despesas, fornecedores</a:t>
            </a:r>
          </a:p>
          <a:p>
            <a:pPr>
              <a:buNone/>
            </a:pPr>
            <a:r>
              <a:rPr lang="pt-BR" dirty="0" smtClean="0"/>
              <a:t>3 – Gestão de museus</a:t>
            </a:r>
          </a:p>
          <a:p>
            <a:pPr lvl="1">
              <a:buNone/>
            </a:pPr>
            <a:r>
              <a:rPr lang="pt-BR" dirty="0" smtClean="0"/>
              <a:t>Patrimônio, Notícias, Captação de recursos (Doações, vendas, contratos), Acervos (Registro, descarte, catalogação, empréstimos, relatórios de condição), Manutenção (seguro, conservação preventiva, prevenção de desastres; Marketing, Exposições</a:t>
            </a:r>
          </a:p>
          <a:p>
            <a:pPr>
              <a:buNone/>
            </a:pPr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>
              <a:buNone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Temas de projeto e mínimo de módulos/funcionalidades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069160"/>
          </a:xfrm>
        </p:spPr>
        <p:txBody>
          <a:bodyPr>
            <a:normAutofit fontScale="85000" lnSpcReduction="10000"/>
          </a:bodyPr>
          <a:lstStyle/>
          <a:p>
            <a:pPr lvl="1"/>
            <a:endParaRPr lang="pt-BR" dirty="0" smtClean="0"/>
          </a:p>
          <a:p>
            <a:pPr>
              <a:buNone/>
            </a:pPr>
            <a:r>
              <a:rPr lang="pt-BR" dirty="0" smtClean="0"/>
              <a:t>4 - Lattes simplificado </a:t>
            </a:r>
          </a:p>
          <a:p>
            <a:pPr>
              <a:buNone/>
            </a:pPr>
            <a:r>
              <a:rPr lang="pt-BR" dirty="0" smtClean="0"/>
              <a:t>	Resumo, Formação Acadêmico, Atuação Profissional, Projetos de pesquisa, Idiomas, Prêmios e títulos, Produção bibliográfica, Produção técnica, Patentes e registros de SW, Orientações (concluídas e em andamento)</a:t>
            </a:r>
          </a:p>
          <a:p>
            <a:pPr>
              <a:buNone/>
            </a:pPr>
            <a:r>
              <a:rPr lang="pt-BR" dirty="0" smtClean="0"/>
              <a:t>5 - Gestão de Escola (gerar boletos, boletim, horários),</a:t>
            </a:r>
          </a:p>
          <a:p>
            <a:pPr>
              <a:buNone/>
            </a:pPr>
            <a:r>
              <a:rPr lang="pt-BR" dirty="0" smtClean="0"/>
              <a:t>gestão de professores, funcionários, férias, alunos, salas, disciplinas</a:t>
            </a:r>
          </a:p>
          <a:p>
            <a:pPr>
              <a:buNone/>
            </a:pPr>
            <a:r>
              <a:rPr lang="pt-BR" dirty="0" smtClean="0"/>
              <a:t>6 – Gestão de obras </a:t>
            </a:r>
          </a:p>
          <a:p>
            <a:pPr>
              <a:buNone/>
            </a:pPr>
            <a:r>
              <a:rPr lang="pt-BR" dirty="0" smtClean="0"/>
              <a:t>	orçamento, cronograma, atividades, materiais, pessoal, compras, ferramentas, fornecedores, aprovações, entulhos</a:t>
            </a:r>
          </a:p>
          <a:p>
            <a:pPr lvl="1"/>
            <a:endParaRPr lang="pt-BR" dirty="0" smtClean="0"/>
          </a:p>
          <a:p>
            <a:pPr>
              <a:buNone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Áreas/Temas de Projetos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Outras áreas/temas podem ser propostos pelos grupos, mas precisam de aval do professor da disciplina</a:t>
            </a:r>
          </a:p>
          <a:p>
            <a:r>
              <a:rPr lang="pt-BR" dirty="0" smtClean="0"/>
              <a:t>O mesmo tema pode ser escolhido por até 2 grupos.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Trabalho</a:t>
            </a:r>
            <a:r>
              <a:rPr lang="en-US" dirty="0" smtClean="0"/>
              <a:t> – Parte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Requisitos</a:t>
            </a:r>
            <a:r>
              <a:rPr lang="en-US" dirty="0" smtClean="0"/>
              <a:t> e </a:t>
            </a:r>
            <a:r>
              <a:rPr lang="en-US" dirty="0" err="1" smtClean="0"/>
              <a:t>casos</a:t>
            </a:r>
            <a:r>
              <a:rPr lang="en-US" dirty="0" smtClean="0"/>
              <a:t> de </a:t>
            </a:r>
            <a:r>
              <a:rPr lang="en-US" dirty="0" err="1" smtClean="0"/>
              <a:t>uso</a:t>
            </a:r>
            <a:r>
              <a:rPr lang="en-US" dirty="0" smtClean="0"/>
              <a:t>.</a:t>
            </a:r>
          </a:p>
          <a:p>
            <a:r>
              <a:rPr lang="en-US" dirty="0" smtClean="0"/>
              <a:t>Data de </a:t>
            </a:r>
            <a:r>
              <a:rPr lang="en-US" dirty="0" err="1" smtClean="0"/>
              <a:t>entrega</a:t>
            </a:r>
            <a:r>
              <a:rPr lang="en-US" dirty="0" smtClean="0"/>
              <a:t> </a:t>
            </a:r>
            <a:r>
              <a:rPr lang="en-US" dirty="0" err="1" smtClean="0"/>
              <a:t>impresso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30 de </a:t>
            </a:r>
            <a:r>
              <a:rPr lang="en-US" dirty="0" err="1" smtClean="0"/>
              <a:t>junho</a:t>
            </a:r>
            <a:endParaRPr lang="en-US" dirty="0" smtClean="0"/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Trabalho</a:t>
            </a:r>
            <a:r>
              <a:rPr lang="en-US" dirty="0" smtClean="0"/>
              <a:t> – Parte 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Diagrama</a:t>
            </a:r>
            <a:r>
              <a:rPr lang="en-US" dirty="0" smtClean="0"/>
              <a:t> de Classes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nível</a:t>
            </a:r>
            <a:r>
              <a:rPr lang="en-US" dirty="0" smtClean="0"/>
              <a:t> de </a:t>
            </a:r>
            <a:r>
              <a:rPr lang="en-US" dirty="0" err="1" smtClean="0"/>
              <a:t>análise</a:t>
            </a:r>
            <a:endParaRPr lang="en-US" dirty="0" smtClean="0"/>
          </a:p>
          <a:p>
            <a:r>
              <a:rPr lang="en-US" dirty="0" smtClean="0"/>
              <a:t>Data de </a:t>
            </a:r>
            <a:r>
              <a:rPr lang="en-US" dirty="0" err="1" smtClean="0"/>
              <a:t>entrega</a:t>
            </a:r>
            <a:r>
              <a:rPr lang="en-US" dirty="0" smtClean="0"/>
              <a:t> </a:t>
            </a:r>
            <a:r>
              <a:rPr lang="en-US" dirty="0" err="1" smtClean="0"/>
              <a:t>impresso</a:t>
            </a:r>
            <a:endParaRPr lang="en-US" dirty="0" smtClean="0"/>
          </a:p>
          <a:p>
            <a:pPr lvl="1"/>
            <a:r>
              <a:rPr lang="en-US" dirty="0" smtClean="0"/>
              <a:t>23 de </a:t>
            </a:r>
            <a:r>
              <a:rPr lang="en-US" dirty="0" err="1" smtClean="0"/>
              <a:t>julho</a:t>
            </a:r>
            <a:endParaRPr lang="en-US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Trabalho</a:t>
            </a:r>
            <a:r>
              <a:rPr lang="en-US" dirty="0" smtClean="0"/>
              <a:t> – Parte 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Plano de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definido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requisitos</a:t>
            </a:r>
            <a:endParaRPr lang="en-US" dirty="0" smtClean="0"/>
          </a:p>
          <a:p>
            <a:r>
              <a:rPr lang="en-US" dirty="0" smtClean="0"/>
              <a:t>Data de </a:t>
            </a:r>
            <a:r>
              <a:rPr lang="en-US" dirty="0" err="1" smtClean="0"/>
              <a:t>entrega</a:t>
            </a:r>
            <a:r>
              <a:rPr lang="en-US" dirty="0" smtClean="0"/>
              <a:t> </a:t>
            </a:r>
            <a:r>
              <a:rPr lang="en-US" dirty="0" err="1" smtClean="0"/>
              <a:t>impresso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20 de </a:t>
            </a:r>
            <a:r>
              <a:rPr lang="en-US" dirty="0" err="1" smtClean="0"/>
              <a:t>agosto</a:t>
            </a:r>
            <a:endParaRPr lang="en-US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Grupos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42 </a:t>
            </a:r>
            <a:r>
              <a:rPr lang="en-US" dirty="0" err="1" smtClean="0"/>
              <a:t>alunos</a:t>
            </a:r>
            <a:r>
              <a:rPr lang="en-US" dirty="0" smtClean="0"/>
              <a:t> </a:t>
            </a:r>
            <a:r>
              <a:rPr lang="en-US" dirty="0" err="1" smtClean="0"/>
              <a:t>matriculados</a:t>
            </a:r>
            <a:endParaRPr lang="en-US" dirty="0" smtClean="0"/>
          </a:p>
          <a:p>
            <a:r>
              <a:rPr lang="en-US" dirty="0" err="1" smtClean="0"/>
              <a:t>Até</a:t>
            </a:r>
            <a:r>
              <a:rPr lang="en-US" dirty="0" smtClean="0"/>
              <a:t> </a:t>
            </a:r>
            <a:r>
              <a:rPr lang="en-US" dirty="0" smtClean="0"/>
              <a:t>7 </a:t>
            </a:r>
            <a:r>
              <a:rPr lang="en-US" dirty="0" err="1" smtClean="0"/>
              <a:t>grupos</a:t>
            </a:r>
            <a:endParaRPr lang="en-US" dirty="0" smtClean="0"/>
          </a:p>
          <a:p>
            <a:pPr lvl="1"/>
            <a:r>
              <a:rPr lang="en-US" dirty="0" smtClean="0"/>
              <a:t>6 </a:t>
            </a:r>
            <a:r>
              <a:rPr lang="en-US" dirty="0" err="1" smtClean="0"/>
              <a:t>alunos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grupo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Grupos e Temas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dirty="0" smtClean="0">
              <a:solidFill>
                <a:srgbClr val="0070C0"/>
              </a:solidFill>
            </a:endParaRPr>
          </a:p>
          <a:p>
            <a:pPr lvl="1"/>
            <a:endParaRPr lang="pt-BR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Política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dirty="0" smtClean="0"/>
              <a:t> </a:t>
            </a:r>
            <a:r>
              <a:rPr lang="en-US" smtClean="0"/>
              <a:t>plágio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Plágio</a:t>
            </a:r>
            <a:r>
              <a:rPr lang="en-US" dirty="0" smtClean="0"/>
              <a:t>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será</a:t>
            </a:r>
            <a:r>
              <a:rPr lang="en-US" dirty="0" smtClean="0"/>
              <a:t> </a:t>
            </a:r>
            <a:r>
              <a:rPr lang="en-US" dirty="0" err="1" smtClean="0"/>
              <a:t>tolerado</a:t>
            </a:r>
            <a:endParaRPr lang="en-US" dirty="0" smtClean="0"/>
          </a:p>
          <a:p>
            <a:r>
              <a:rPr lang="en-US" dirty="0" smtClean="0"/>
              <a:t>O </a:t>
            </a:r>
            <a:r>
              <a:rPr lang="en-US" dirty="0" err="1" smtClean="0"/>
              <a:t>trabalho</a:t>
            </a:r>
            <a:r>
              <a:rPr lang="en-US" dirty="0" smtClean="0"/>
              <a:t> </a:t>
            </a:r>
            <a:r>
              <a:rPr lang="en-US" dirty="0" err="1" smtClean="0"/>
              <a:t>relativo</a:t>
            </a:r>
            <a:r>
              <a:rPr lang="en-US" dirty="0" smtClean="0"/>
              <a:t> </a:t>
            </a:r>
            <a:r>
              <a:rPr lang="en-US" dirty="0" err="1" smtClean="0"/>
              <a:t>será</a:t>
            </a:r>
            <a:r>
              <a:rPr lang="en-US" dirty="0" smtClean="0"/>
              <a:t> </a:t>
            </a:r>
            <a:r>
              <a:rPr lang="en-US" dirty="0" err="1" smtClean="0"/>
              <a:t>zerado</a:t>
            </a:r>
            <a:endParaRPr lang="en-US" dirty="0" smtClean="0"/>
          </a:p>
          <a:p>
            <a:r>
              <a:rPr lang="en-US" dirty="0" err="1" smtClean="0"/>
              <a:t>Cópias</a:t>
            </a:r>
            <a:r>
              <a:rPr lang="en-US" dirty="0" smtClean="0"/>
              <a:t> de </a:t>
            </a:r>
            <a:r>
              <a:rPr lang="en-US" dirty="0" err="1" smtClean="0"/>
              <a:t>alunos</a:t>
            </a:r>
            <a:r>
              <a:rPr lang="en-US" dirty="0" smtClean="0"/>
              <a:t> </a:t>
            </a:r>
            <a:r>
              <a:rPr lang="en-US" dirty="0" err="1" smtClean="0"/>
              <a:t>também</a:t>
            </a:r>
            <a:r>
              <a:rPr lang="en-US" dirty="0" smtClean="0"/>
              <a:t> </a:t>
            </a:r>
            <a:r>
              <a:rPr lang="en-US" dirty="0" err="1" smtClean="0"/>
              <a:t>serão</a:t>
            </a:r>
            <a:r>
              <a:rPr lang="en-US" dirty="0" smtClean="0"/>
              <a:t> </a:t>
            </a:r>
            <a:r>
              <a:rPr lang="en-US" dirty="0" err="1" smtClean="0"/>
              <a:t>zeradas</a:t>
            </a:r>
            <a:r>
              <a:rPr lang="en-US" dirty="0" smtClean="0"/>
              <a:t> (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trabalhos</a:t>
            </a:r>
            <a:r>
              <a:rPr lang="en-US" dirty="0" smtClean="0"/>
              <a:t> </a:t>
            </a:r>
            <a:r>
              <a:rPr lang="en-US" dirty="0" err="1" smtClean="0"/>
              <a:t>iguais</a:t>
            </a:r>
            <a:r>
              <a:rPr lang="en-US" dirty="0" smtClean="0"/>
              <a:t> </a:t>
            </a:r>
            <a:r>
              <a:rPr lang="en-US" dirty="0" err="1" smtClean="0"/>
              <a:t>serão</a:t>
            </a:r>
            <a:r>
              <a:rPr lang="en-US" dirty="0" smtClean="0"/>
              <a:t> </a:t>
            </a:r>
            <a:r>
              <a:rPr lang="en-US" dirty="0" err="1" smtClean="0"/>
              <a:t>zerados</a:t>
            </a:r>
            <a:r>
              <a:rPr lang="en-US" dirty="0" smtClean="0"/>
              <a:t>, </a:t>
            </a:r>
            <a:r>
              <a:rPr lang="en-US" dirty="0" err="1" smtClean="0"/>
              <a:t>independente</a:t>
            </a:r>
            <a:r>
              <a:rPr lang="en-US" dirty="0" smtClean="0"/>
              <a:t> de </a:t>
            </a:r>
            <a:r>
              <a:rPr lang="en-US" dirty="0" err="1" smtClean="0"/>
              <a:t>quem</a:t>
            </a:r>
            <a:r>
              <a:rPr lang="en-US" dirty="0" smtClean="0"/>
              <a:t> fez/</a:t>
            </a:r>
            <a:r>
              <a:rPr lang="en-US" dirty="0" err="1" smtClean="0"/>
              <a:t>copiou</a:t>
            </a:r>
            <a:r>
              <a:rPr lang="en-US" dirty="0" smtClean="0"/>
              <a:t>)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Presença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Sala</a:t>
            </a:r>
            <a:r>
              <a:rPr lang="en-US" dirty="0" smtClean="0"/>
              <a:t> de Aula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b="1" dirty="0" err="1" smtClean="0">
                <a:solidFill>
                  <a:srgbClr val="FF0000"/>
                </a:solidFill>
              </a:rPr>
              <a:t>Evitem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chegar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atrasados</a:t>
            </a:r>
            <a:endParaRPr lang="en-US" sz="4400" b="1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Presença</a:t>
            </a:r>
            <a:r>
              <a:rPr lang="en-US" dirty="0" smtClean="0"/>
              <a:t> </a:t>
            </a:r>
            <a:r>
              <a:rPr lang="en-US" dirty="0" err="1" smtClean="0"/>
              <a:t>será</a:t>
            </a:r>
            <a:r>
              <a:rPr lang="en-US" dirty="0" smtClean="0"/>
              <a:t> </a:t>
            </a:r>
            <a:r>
              <a:rPr lang="en-US" dirty="0" err="1" smtClean="0"/>
              <a:t>cobrada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dias</a:t>
            </a:r>
            <a:r>
              <a:rPr lang="en-US" dirty="0" smtClean="0"/>
              <a:t>,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as </a:t>
            </a:r>
            <a:r>
              <a:rPr lang="en-US" dirty="0" err="1" smtClean="0"/>
              <a:t>aulas</a:t>
            </a:r>
            <a:r>
              <a:rPr lang="en-US" dirty="0" smtClean="0"/>
              <a:t>, </a:t>
            </a:r>
            <a:r>
              <a:rPr lang="en-US" dirty="0" err="1" smtClean="0"/>
              <a:t>exceto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vista e </a:t>
            </a:r>
            <a:r>
              <a:rPr lang="en-US" dirty="0" err="1" smtClean="0"/>
              <a:t>devolução</a:t>
            </a:r>
            <a:r>
              <a:rPr lang="en-US" dirty="0" smtClean="0"/>
              <a:t> de </a:t>
            </a:r>
            <a:r>
              <a:rPr lang="en-US" dirty="0" err="1" smtClean="0"/>
              <a:t>avaliações</a:t>
            </a:r>
            <a:endParaRPr lang="en-US" dirty="0" smtClean="0"/>
          </a:p>
          <a:p>
            <a:pPr lvl="1"/>
            <a:r>
              <a:rPr lang="en-US" dirty="0" err="1" smtClean="0"/>
              <a:t>substitutiva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Presença em sala de aula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Reprovações</a:t>
            </a:r>
            <a:r>
              <a:rPr lang="en-US" b="1" dirty="0" smtClean="0"/>
              <a:t> </a:t>
            </a:r>
            <a:r>
              <a:rPr lang="en-US" b="1" dirty="0" err="1" smtClean="0"/>
              <a:t>por</a:t>
            </a:r>
            <a:r>
              <a:rPr lang="en-US" b="1" dirty="0" smtClean="0"/>
              <a:t> </a:t>
            </a:r>
            <a:r>
              <a:rPr lang="en-US" b="1" dirty="0" err="1" smtClean="0"/>
              <a:t>faltas</a:t>
            </a:r>
            <a:r>
              <a:rPr lang="en-US" b="1" dirty="0" smtClean="0"/>
              <a:t>: </a:t>
            </a:r>
            <a:r>
              <a:rPr lang="en-US" b="1" dirty="0" err="1" smtClean="0"/>
              <a:t>mais</a:t>
            </a:r>
            <a:r>
              <a:rPr lang="en-US" b="1" dirty="0" smtClean="0"/>
              <a:t> de 25% de </a:t>
            </a:r>
            <a:r>
              <a:rPr lang="en-US" b="1" dirty="0" err="1" smtClean="0"/>
              <a:t>faltas</a:t>
            </a:r>
            <a:endParaRPr lang="en-US" b="1" dirty="0" smtClean="0"/>
          </a:p>
          <a:p>
            <a:r>
              <a:rPr lang="en-US" sz="4000" b="1" dirty="0" err="1" smtClean="0">
                <a:solidFill>
                  <a:srgbClr val="FF0000"/>
                </a:solidFill>
              </a:rPr>
              <a:t>Não</a:t>
            </a:r>
            <a:r>
              <a:rPr lang="en-US" sz="4000" b="1" dirty="0" smtClean="0">
                <a:solidFill>
                  <a:srgbClr val="FF0000"/>
                </a:solidFill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</a:rPr>
              <a:t>existe</a:t>
            </a:r>
            <a:r>
              <a:rPr lang="en-US" sz="4000" b="1" dirty="0" smtClean="0">
                <a:solidFill>
                  <a:srgbClr val="FF0000"/>
                </a:solidFill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</a:rPr>
              <a:t>abono</a:t>
            </a:r>
            <a:r>
              <a:rPr lang="en-US" sz="4000" b="1" dirty="0" smtClean="0">
                <a:solidFill>
                  <a:srgbClr val="FF0000"/>
                </a:solidFill>
              </a:rPr>
              <a:t> de </a:t>
            </a:r>
            <a:r>
              <a:rPr lang="en-US" sz="4000" b="1" dirty="0" err="1" smtClean="0">
                <a:solidFill>
                  <a:srgbClr val="FF0000"/>
                </a:solidFill>
              </a:rPr>
              <a:t>faltas</a:t>
            </a:r>
            <a:r>
              <a:rPr lang="en-US" b="1" dirty="0" smtClean="0"/>
              <a:t>!!! </a:t>
            </a:r>
            <a:r>
              <a:rPr lang="en-US" b="1" dirty="0" err="1" smtClean="0"/>
              <a:t>Ver</a:t>
            </a:r>
            <a:r>
              <a:rPr lang="en-US" b="1" dirty="0" smtClean="0"/>
              <a:t> </a:t>
            </a:r>
            <a:r>
              <a:rPr lang="en-US" b="1" dirty="0" err="1" smtClean="0"/>
              <a:t>normas</a:t>
            </a:r>
            <a:r>
              <a:rPr lang="en-US" b="1" dirty="0" smtClean="0"/>
              <a:t> </a:t>
            </a:r>
            <a:r>
              <a:rPr lang="en-US" b="1" dirty="0" err="1" smtClean="0"/>
              <a:t>acadêmicas</a:t>
            </a:r>
            <a:r>
              <a:rPr lang="en-US" b="1" dirty="0" smtClean="0"/>
              <a:t>: </a:t>
            </a:r>
            <a:r>
              <a:rPr lang="pt-BR" b="1" dirty="0" smtClean="0"/>
              <a:t>RESOLUÇÃO Nº 14/2015/CONEPE</a:t>
            </a:r>
            <a:endParaRPr lang="en-US" b="1" dirty="0" smtClean="0"/>
          </a:p>
          <a:p>
            <a:pPr lvl="1"/>
            <a:r>
              <a:rPr lang="pt-BR" b="1" dirty="0" smtClean="0"/>
              <a:t>Art. 117. A presença do discente é registrada por sua frequência em cada hora-aula.</a:t>
            </a:r>
          </a:p>
          <a:p>
            <a:pPr lvl="2"/>
            <a:r>
              <a:rPr lang="pt-BR" b="1" dirty="0" smtClean="0"/>
              <a:t>§ 1º Não será permitido abono de faltas, ressalvados os casos previstos em lei.</a:t>
            </a:r>
            <a:endParaRPr lang="en-US" b="1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Presença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Sala</a:t>
            </a:r>
            <a:r>
              <a:rPr lang="en-US" dirty="0" smtClean="0"/>
              <a:t> de Aula (</a:t>
            </a:r>
            <a:r>
              <a:rPr lang="en-US" dirty="0" err="1" smtClean="0"/>
              <a:t>Fonte</a:t>
            </a:r>
            <a:r>
              <a:rPr lang="en-US" dirty="0" smtClean="0"/>
              <a:t>: MEC)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“... Não existe legalmente abono de faltas. É admitida, para a aprovação, a freqüência mínima de 75% da freqüência total às aulas e demais atividades escolares”</a:t>
            </a:r>
          </a:p>
          <a:p>
            <a:endParaRPr lang="pt-BR" dirty="0" smtClean="0"/>
          </a:p>
          <a:p>
            <a:r>
              <a:rPr lang="pt-BR" dirty="0" smtClean="0"/>
              <a:t>“... a exigência mínima de 75% (sessenta e cinco por cento) de freqüência do total de horas letivas para aprovação dá ao aluno o direito de faltar às aulas até o limite de 25% (vinte e cinco por cento) do referido total.”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Entrega dos trabalhos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dirty="0" smtClean="0"/>
              <a:t>Trabalhos impressos</a:t>
            </a:r>
          </a:p>
          <a:p>
            <a:pPr lvl="0"/>
            <a:r>
              <a:rPr lang="pt-BR" dirty="0" smtClean="0"/>
              <a:t>Para cada aluno, deve ser indicado o seu percentual na capa do trabalho</a:t>
            </a:r>
          </a:p>
          <a:p>
            <a:pPr lvl="0"/>
            <a:r>
              <a:rPr lang="pt-BR" dirty="0" smtClean="0"/>
              <a:t>Caso o percentual não seja indicado, será assumido 100% para todos os alunos do grupo</a:t>
            </a:r>
          </a:p>
          <a:p>
            <a:pPr lvl="1"/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Estudo durante a disciplina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Muito importante: estudo semanal e constante</a:t>
            </a:r>
          </a:p>
          <a:p>
            <a:r>
              <a:rPr lang="pt-BR" sz="4800" b="1" dirty="0" smtClean="0">
                <a:solidFill>
                  <a:srgbClr val="FF0000"/>
                </a:solidFill>
              </a:rPr>
              <a:t>Ler os slides NÃO é suficiente</a:t>
            </a:r>
          </a:p>
          <a:p>
            <a:r>
              <a:rPr lang="pt-BR" b="1" dirty="0" smtClean="0"/>
              <a:t>Participem das aulas</a:t>
            </a:r>
          </a:p>
          <a:p>
            <a:r>
              <a:rPr lang="pt-BR" b="1" dirty="0" smtClean="0"/>
              <a:t>Busquem aprender com os livros</a:t>
            </a:r>
          </a:p>
          <a:p>
            <a:r>
              <a:rPr lang="pt-BR" b="1" dirty="0" smtClean="0"/>
              <a:t>Façam os exercícios propostos</a:t>
            </a:r>
          </a:p>
          <a:p>
            <a:r>
              <a:rPr lang="pt-BR" b="1" dirty="0" smtClean="0"/>
              <a:t>Trabalhem efetivamente no projeto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Bibliografia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997152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 smtClean="0"/>
              <a:t>1. </a:t>
            </a:r>
            <a:r>
              <a:rPr lang="en-US" b="1" dirty="0" err="1" smtClean="0"/>
              <a:t>Básica</a:t>
            </a:r>
            <a:r>
              <a:rPr lang="en-US" b="1" dirty="0" smtClean="0"/>
              <a:t>:</a:t>
            </a:r>
          </a:p>
          <a:p>
            <a:pPr>
              <a:buNone/>
            </a:pPr>
            <a:endParaRPr lang="pt-BR" dirty="0" smtClean="0"/>
          </a:p>
          <a:p>
            <a:r>
              <a:rPr lang="pt-BR" sz="3800" dirty="0" smtClean="0"/>
              <a:t>PRESSMAN, Roger S; FECCHIO, Mario Moro (Trad.). </a:t>
            </a:r>
            <a:r>
              <a:rPr lang="pt-BR" sz="3800" b="1" dirty="0" smtClean="0"/>
              <a:t>Engenharia de software: uma abordagem profissional</a:t>
            </a:r>
            <a:r>
              <a:rPr lang="pt-BR" sz="3800" dirty="0" smtClean="0"/>
              <a:t>. 8. ed. Porto Alegre: McGraw-Hill, 2016. 950p.</a:t>
            </a:r>
            <a:endParaRPr lang="pt-BR" sz="3800" b="1" dirty="0" smtClean="0"/>
          </a:p>
          <a:p>
            <a:r>
              <a:rPr lang="pt-BR" sz="3800" dirty="0" smtClean="0"/>
              <a:t>SOMMERVILLE, Ian. </a:t>
            </a:r>
            <a:r>
              <a:rPr lang="pt-BR" sz="3800" b="1" dirty="0" smtClean="0"/>
              <a:t>Engenharia de software</a:t>
            </a:r>
            <a:r>
              <a:rPr lang="pt-BR" sz="3800" dirty="0" smtClean="0"/>
              <a:t>. 9.a Edição, 2012, Pearson.</a:t>
            </a:r>
            <a:endParaRPr lang="pt-BR" sz="3800" b="1" dirty="0" smtClean="0"/>
          </a:p>
          <a:p>
            <a:r>
              <a:rPr lang="pt-BR" sz="3800" dirty="0" smtClean="0"/>
              <a:t>BOOCH, JACOBSON, RUMBAUGH. </a:t>
            </a:r>
            <a:r>
              <a:rPr lang="pt-BR" sz="3800" b="1" dirty="0" smtClean="0"/>
              <a:t>UML – Guia do Usuário</a:t>
            </a:r>
            <a:r>
              <a:rPr lang="pt-BR" sz="3800" dirty="0" smtClean="0"/>
              <a:t>, 2.a edição.</a:t>
            </a:r>
            <a:endParaRPr lang="pt-BR" sz="3800" b="1" dirty="0" smtClean="0"/>
          </a:p>
          <a:p>
            <a:r>
              <a:rPr lang="pt-BR" sz="3800" dirty="0" smtClean="0"/>
              <a:t>BLAHA, Michael; RUMBAUGH, James. </a:t>
            </a:r>
            <a:r>
              <a:rPr lang="pt-BR" sz="3800" b="1" dirty="0" smtClean="0"/>
              <a:t>Modelagem e projetos baseados em objetos com UML 2. </a:t>
            </a:r>
            <a:r>
              <a:rPr lang="pt-BR" sz="3800" dirty="0" smtClean="0"/>
              <a:t>2. ed. rev. e atual. Rio de Janeiro: Elsevier; Campus, 2006. 496 p.</a:t>
            </a:r>
          </a:p>
          <a:p>
            <a:r>
              <a:rPr lang="pt-BR" sz="3800" dirty="0" smtClean="0"/>
              <a:t>BEZERRA,EDUARDO. </a:t>
            </a:r>
            <a:r>
              <a:rPr lang="pt-BR" sz="3800" b="1" dirty="0" smtClean="0"/>
              <a:t>Princípio de Análise e Projetos de Sistemas com UML</a:t>
            </a:r>
            <a:r>
              <a:rPr lang="pt-BR" sz="3800" dirty="0" smtClean="0"/>
              <a:t>. Elsevier, Campus</a:t>
            </a:r>
          </a:p>
          <a:p>
            <a:r>
              <a:rPr lang="en-US" sz="3800" dirty="0" smtClean="0"/>
              <a:t>CRAIG LARMAN</a:t>
            </a:r>
            <a:r>
              <a:rPr lang="en-US" sz="3800" b="1" dirty="0" smtClean="0"/>
              <a:t>. Applying UML and Patterns: An Introduction to Object-Oriented Analysis and Design and Iterative Development</a:t>
            </a:r>
            <a:r>
              <a:rPr lang="en-US" sz="3800" dirty="0" smtClean="0"/>
              <a:t>. Prentice Hall; 3 edition (2004) </a:t>
            </a:r>
          </a:p>
          <a:p>
            <a:endParaRPr lang="pt-BR" dirty="0" smtClean="0"/>
          </a:p>
          <a:p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en-US" b="1" dirty="0" smtClean="0"/>
              <a:t>2. </a:t>
            </a:r>
            <a:r>
              <a:rPr lang="en-US" b="1" dirty="0" err="1" smtClean="0"/>
              <a:t>Complementar</a:t>
            </a:r>
            <a:r>
              <a:rPr lang="en-US" b="1" dirty="0" smtClean="0"/>
              <a:t>:</a:t>
            </a:r>
            <a:endParaRPr lang="pt-BR" dirty="0" smtClean="0"/>
          </a:p>
          <a:p>
            <a:pPr>
              <a:buNone/>
            </a:pPr>
            <a:r>
              <a:rPr lang="en-US" b="1" dirty="0" smtClean="0"/>
              <a:t> </a:t>
            </a:r>
            <a:endParaRPr lang="pt-BR" dirty="0" smtClean="0"/>
          </a:p>
          <a:p>
            <a:r>
              <a:rPr lang="en-US" dirty="0" smtClean="0"/>
              <a:t>BRUEGGE, B e DUTOIT, A</a:t>
            </a:r>
            <a:r>
              <a:rPr lang="en-US" b="1" dirty="0" smtClean="0"/>
              <a:t>. Object-Oriented Software Engineering</a:t>
            </a:r>
            <a:r>
              <a:rPr lang="en-US" dirty="0" smtClean="0"/>
              <a:t>, Second Edition, Pearson.</a:t>
            </a:r>
          </a:p>
          <a:p>
            <a:r>
              <a:rPr lang="pt-BR" dirty="0" smtClean="0"/>
              <a:t>PFLEEGER, Shari Lawrence. </a:t>
            </a:r>
            <a:r>
              <a:rPr lang="pt-BR" b="1" dirty="0" smtClean="0"/>
              <a:t>Engenharia de software: teoria e prática</a:t>
            </a:r>
            <a:r>
              <a:rPr lang="pt-BR" dirty="0" smtClean="0"/>
              <a:t>. 2. ed. São Paulo, SP: Prentice Hall, 2004. 535 p.</a:t>
            </a:r>
          </a:p>
          <a:p>
            <a:r>
              <a:rPr lang="pt-BR" b="1" dirty="0" smtClean="0"/>
              <a:t>SWEBOK V4.</a:t>
            </a:r>
          </a:p>
          <a:p>
            <a:endParaRPr lang="en-US" dirty="0" smtClean="0"/>
          </a:p>
          <a:p>
            <a:endParaRPr lang="pt-BR" dirty="0" smtClean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3377</TotalTime>
  <Words>1713</Words>
  <Application>Microsoft Office PowerPoint</Application>
  <PresentationFormat>On-screen Show (4:3)</PresentationFormat>
  <Paragraphs>252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Tema do Office</vt:lpstr>
      <vt:lpstr>Engenharia de Software 1</vt:lpstr>
      <vt:lpstr>Sobre o professor</vt:lpstr>
      <vt:lpstr>Ementa da disciplina</vt:lpstr>
      <vt:lpstr>Nova Grade Curricular</vt:lpstr>
      <vt:lpstr>Conceitos de Hora-Aula e Hora-Trabalho</vt:lpstr>
      <vt:lpstr>Conceitos de Hora-Aula e Hora-Trabalho</vt:lpstr>
      <vt:lpstr>Horários</vt:lpstr>
      <vt:lpstr>Pré-requisitos da disciplina</vt:lpstr>
      <vt:lpstr>Próxima disciplina  Engenharia de Software 2</vt:lpstr>
      <vt:lpstr>Disciplina de Práticas Orientadas em Computação</vt:lpstr>
      <vt:lpstr>Dias de aulas</vt:lpstr>
      <vt:lpstr>Datas importantes</vt:lpstr>
      <vt:lpstr>Aulas de dúvidas de trabalhos</vt:lpstr>
      <vt:lpstr>Seminários de Grady Booch</vt:lpstr>
      <vt:lpstr>Vista e Devolução de provas</vt:lpstr>
      <vt:lpstr>Presença em Sala de Aula</vt:lpstr>
      <vt:lpstr>Presença em Sala de Aula</vt:lpstr>
      <vt:lpstr>Formato da Avaliação</vt:lpstr>
      <vt:lpstr> 1 exercício livre de escrita sobre a disciplina </vt:lpstr>
      <vt:lpstr>Como será a nota do trabalho ?</vt:lpstr>
      <vt:lpstr>Nota Individual do trabalho</vt:lpstr>
      <vt:lpstr>Exemplo de nota</vt:lpstr>
      <vt:lpstr>Horários das Avaliações</vt:lpstr>
      <vt:lpstr>Horários de Atendimento</vt:lpstr>
      <vt:lpstr>Trabalhos</vt:lpstr>
      <vt:lpstr>Trabalhos</vt:lpstr>
      <vt:lpstr>Avaliação substitutiva</vt:lpstr>
      <vt:lpstr>Como será a avaliação? </vt:lpstr>
      <vt:lpstr>Temas de projeto e mínimo de módulos/funcionalidades</vt:lpstr>
      <vt:lpstr>Temas de projeto e mínimo de módulos/funcionalidades</vt:lpstr>
      <vt:lpstr>Áreas/Temas de Projetos</vt:lpstr>
      <vt:lpstr>Trabalho – Parte 1</vt:lpstr>
      <vt:lpstr>Trabalho – Parte 2</vt:lpstr>
      <vt:lpstr>Trabalho – Parte 3</vt:lpstr>
      <vt:lpstr>Grupos</vt:lpstr>
      <vt:lpstr>Grupos e Temas</vt:lpstr>
      <vt:lpstr>Política sobre plágio</vt:lpstr>
      <vt:lpstr>Presença em Sala de Aula</vt:lpstr>
      <vt:lpstr>Presença em sala de aula</vt:lpstr>
      <vt:lpstr>Presença em Sala de Aula (Fonte: MEC)</vt:lpstr>
      <vt:lpstr>Entrega dos trabalhos</vt:lpstr>
      <vt:lpstr>Estudo durante a disciplina</vt:lpstr>
      <vt:lpstr>Bibliografia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3</dc:title>
  <dc:creator>Michel</dc:creator>
  <cp:lastModifiedBy>Michel</cp:lastModifiedBy>
  <cp:revision>452</cp:revision>
  <dcterms:created xsi:type="dcterms:W3CDTF">2013-07-10T19:21:43Z</dcterms:created>
  <dcterms:modified xsi:type="dcterms:W3CDTF">2025-05-08T16:52:19Z</dcterms:modified>
</cp:coreProperties>
</file>
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57" r:id="rId5"/>
    <p:sldId id="289" r:id="rId6"/>
    <p:sldId id="276" r:id="rId7"/>
    <p:sldId id="277" r:id="rId8"/>
    <p:sldId id="337" r:id="rId9"/>
    <p:sldId id="258" r:id="rId10"/>
    <p:sldId id="290" r:id="rId11"/>
    <p:sldId id="259" r:id="rId12"/>
    <p:sldId id="260" r:id="rId13"/>
    <p:sldId id="261" r:id="rId14"/>
    <p:sldId id="262" r:id="rId15"/>
    <p:sldId id="263" r:id="rId16"/>
    <p:sldId id="278" r:id="rId17"/>
    <p:sldId id="338" r:id="rId18"/>
    <p:sldId id="339" r:id="rId19"/>
    <p:sldId id="340" r:id="rId20"/>
    <p:sldId id="344" r:id="rId21"/>
    <p:sldId id="345" r:id="rId22"/>
    <p:sldId id="350" r:id="rId23"/>
    <p:sldId id="264" r:id="rId24"/>
    <p:sldId id="322" r:id="rId25"/>
    <p:sldId id="265" r:id="rId26"/>
    <p:sldId id="279" r:id="rId27"/>
    <p:sldId id="280" r:id="rId28"/>
    <p:sldId id="281" r:id="rId29"/>
    <p:sldId id="282" r:id="rId30"/>
    <p:sldId id="283" r:id="rId31"/>
    <p:sldId id="266" r:id="rId32"/>
    <p:sldId id="267" r:id="rId33"/>
    <p:sldId id="286" r:id="rId34"/>
    <p:sldId id="287" r:id="rId35"/>
    <p:sldId id="288" r:id="rId36"/>
    <p:sldId id="284" r:id="rId37"/>
    <p:sldId id="285" r:id="rId38"/>
    <p:sldId id="291" r:id="rId39"/>
    <p:sldId id="292" r:id="rId40"/>
    <p:sldId id="293" r:id="rId41"/>
    <p:sldId id="294" r:id="rId42"/>
    <p:sldId id="268" r:id="rId43"/>
    <p:sldId id="300" r:id="rId44"/>
    <p:sldId id="301" r:id="rId45"/>
    <p:sldId id="302" r:id="rId46"/>
    <p:sldId id="304" r:id="rId47"/>
    <p:sldId id="347" r:id="rId48"/>
    <p:sldId id="348" r:id="rId49"/>
    <p:sldId id="352" r:id="rId50"/>
    <p:sldId id="296" r:id="rId51"/>
    <p:sldId id="295" r:id="rId52"/>
    <p:sldId id="297" r:id="rId53"/>
    <p:sldId id="298" r:id="rId54"/>
    <p:sldId id="299" r:id="rId55"/>
    <p:sldId id="303" r:id="rId56"/>
    <p:sldId id="305" r:id="rId57"/>
    <p:sldId id="306" r:id="rId58"/>
    <p:sldId id="307" r:id="rId59"/>
    <p:sldId id="309" r:id="rId60"/>
    <p:sldId id="310" r:id="rId61"/>
    <p:sldId id="311" r:id="rId62"/>
    <p:sldId id="312" r:id="rId63"/>
    <p:sldId id="269" r:id="rId64"/>
    <p:sldId id="270" r:id="rId65"/>
    <p:sldId id="314" r:id="rId66"/>
    <p:sldId id="316" r:id="rId67"/>
    <p:sldId id="317" r:id="rId68"/>
    <p:sldId id="318" r:id="rId69"/>
    <p:sldId id="319" r:id="rId70"/>
    <p:sldId id="320" r:id="rId71"/>
    <p:sldId id="321" r:id="rId72"/>
    <p:sldId id="315" r:id="rId73"/>
    <p:sldId id="349" r:id="rId74"/>
    <p:sldId id="271" r:id="rId75"/>
    <p:sldId id="272" r:id="rId76"/>
    <p:sldId id="323" r:id="rId77"/>
    <p:sldId id="324" r:id="rId78"/>
    <p:sldId id="325" r:id="rId79"/>
    <p:sldId id="342" r:id="rId80"/>
    <p:sldId id="326" r:id="rId81"/>
    <p:sldId id="327" r:id="rId82"/>
    <p:sldId id="328" r:id="rId83"/>
    <p:sldId id="341" r:id="rId84"/>
    <p:sldId id="329" r:id="rId85"/>
    <p:sldId id="330" r:id="rId86"/>
    <p:sldId id="331" r:id="rId87"/>
    <p:sldId id="332" r:id="rId88"/>
    <p:sldId id="333" r:id="rId89"/>
    <p:sldId id="334" r:id="rId90"/>
    <p:sldId id="273" r:id="rId91"/>
    <p:sldId id="351" r:id="rId92"/>
    <p:sldId id="353" r:id="rId93"/>
    <p:sldId id="336" r:id="rId94"/>
    <p:sldId id="343" r:id="rId95"/>
    <p:sldId id="354" r:id="rId9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learning/library/engaging-stakeholders-project-success-11199" TargetMode="External"/><Relationship Id="rId2" Type="http://schemas.openxmlformats.org/officeDocument/2006/relationships/hyperlink" Target="https://www.pmi.org/learning/library/stakeholder-management-task-project-success-7736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Planejamento</a:t>
            </a:r>
            <a:r>
              <a:rPr lang="en-US" dirty="0" smtClean="0"/>
              <a:t> e </a:t>
            </a:r>
            <a:r>
              <a:rPr lang="en-US" dirty="0" err="1" smtClean="0"/>
              <a:t>Gerenciamento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Definição</a:t>
            </a:r>
            <a:r>
              <a:rPr lang="en-US" dirty="0" smtClean="0"/>
              <a:t> de </a:t>
            </a:r>
            <a:r>
              <a:rPr lang="en-US" dirty="0" err="1" smtClean="0"/>
              <a:t>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“um </a:t>
            </a:r>
            <a:r>
              <a:rPr lang="en-US" dirty="0" err="1" smtClean="0"/>
              <a:t>empreendimento</a:t>
            </a:r>
            <a:r>
              <a:rPr lang="en-US" dirty="0" smtClean="0"/>
              <a:t> </a:t>
            </a:r>
            <a:r>
              <a:rPr lang="en-US" dirty="0" err="1" smtClean="0"/>
              <a:t>temporário</a:t>
            </a:r>
            <a:r>
              <a:rPr lang="en-US" dirty="0" smtClean="0"/>
              <a:t> </a:t>
            </a:r>
            <a:r>
              <a:rPr lang="en-US" dirty="0" err="1" smtClean="0"/>
              <a:t>realizado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criar</a:t>
            </a:r>
            <a:r>
              <a:rPr lang="en-US" dirty="0" smtClean="0"/>
              <a:t> um </a:t>
            </a:r>
            <a:r>
              <a:rPr lang="en-US" dirty="0" err="1" smtClean="0"/>
              <a:t>produto</a:t>
            </a:r>
            <a:r>
              <a:rPr lang="en-US" dirty="0" smtClean="0"/>
              <a:t>, um </a:t>
            </a:r>
            <a:r>
              <a:rPr lang="en-US" dirty="0" err="1" smtClean="0"/>
              <a:t>serviço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um </a:t>
            </a:r>
            <a:r>
              <a:rPr lang="en-US" dirty="0" err="1" smtClean="0"/>
              <a:t>resultado</a:t>
            </a:r>
            <a:r>
              <a:rPr lang="en-US" dirty="0" smtClean="0"/>
              <a:t> </a:t>
            </a:r>
            <a:r>
              <a:rPr lang="en-US" dirty="0" err="1" smtClean="0"/>
              <a:t>único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“um </a:t>
            </a:r>
            <a:r>
              <a:rPr lang="en-US" dirty="0" err="1" smtClean="0"/>
              <a:t>conjunto</a:t>
            </a:r>
            <a:r>
              <a:rPr lang="en-US" dirty="0" smtClean="0"/>
              <a:t> singular de </a:t>
            </a:r>
            <a:r>
              <a:rPr lang="en-US" dirty="0" err="1" smtClean="0"/>
              <a:t>atividades</a:t>
            </a:r>
            <a:r>
              <a:rPr lang="en-US" dirty="0" smtClean="0"/>
              <a:t> </a:t>
            </a:r>
            <a:r>
              <a:rPr lang="en-US" dirty="0" err="1" smtClean="0"/>
              <a:t>coordenadas</a:t>
            </a:r>
            <a:r>
              <a:rPr lang="en-US" dirty="0" smtClean="0"/>
              <a:t>, com </a:t>
            </a:r>
            <a:r>
              <a:rPr lang="en-US" dirty="0" err="1" smtClean="0"/>
              <a:t>início</a:t>
            </a:r>
            <a:r>
              <a:rPr lang="en-US" dirty="0" smtClean="0"/>
              <a:t> e </a:t>
            </a:r>
            <a:r>
              <a:rPr lang="en-US" dirty="0" err="1" smtClean="0"/>
              <a:t>término</a:t>
            </a:r>
            <a:r>
              <a:rPr lang="en-US" dirty="0" smtClean="0"/>
              <a:t> </a:t>
            </a:r>
            <a:r>
              <a:rPr lang="en-US" dirty="0" err="1" smtClean="0"/>
              <a:t>definidos</a:t>
            </a:r>
            <a:r>
              <a:rPr lang="en-US" dirty="0" smtClean="0"/>
              <a:t>, </a:t>
            </a:r>
            <a:r>
              <a:rPr lang="en-US" dirty="0" err="1" smtClean="0"/>
              <a:t>empreendido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um </a:t>
            </a:r>
            <a:r>
              <a:rPr lang="en-US" dirty="0" err="1" smtClean="0"/>
              <a:t>indivíduo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organização</a:t>
            </a:r>
            <a:r>
              <a:rPr lang="en-US" dirty="0" smtClean="0"/>
              <a:t>,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atingir</a:t>
            </a:r>
            <a:r>
              <a:rPr lang="en-US" dirty="0" smtClean="0"/>
              <a:t> </a:t>
            </a:r>
            <a:r>
              <a:rPr lang="en-US" dirty="0" err="1" smtClean="0"/>
              <a:t>objetivos</a:t>
            </a:r>
            <a:r>
              <a:rPr lang="en-US" dirty="0" smtClean="0"/>
              <a:t> </a:t>
            </a:r>
            <a:r>
              <a:rPr lang="en-US" dirty="0" err="1" smtClean="0"/>
              <a:t>específicos</a:t>
            </a:r>
            <a:r>
              <a:rPr lang="en-US" dirty="0" smtClean="0"/>
              <a:t>, com </a:t>
            </a:r>
            <a:r>
              <a:rPr lang="en-US" dirty="0" err="1" smtClean="0"/>
              <a:t>cronograma</a:t>
            </a:r>
            <a:r>
              <a:rPr lang="en-US" dirty="0" smtClean="0"/>
              <a:t>, </a:t>
            </a:r>
            <a:r>
              <a:rPr lang="en-US" dirty="0" err="1" smtClean="0"/>
              <a:t>custo</a:t>
            </a:r>
            <a:r>
              <a:rPr lang="en-US" dirty="0" smtClean="0"/>
              <a:t> e </a:t>
            </a:r>
            <a:r>
              <a:rPr lang="en-US" dirty="0" err="1" smtClean="0"/>
              <a:t>desempenho</a:t>
            </a:r>
            <a:r>
              <a:rPr lang="en-US" dirty="0" smtClean="0"/>
              <a:t> </a:t>
            </a:r>
            <a:r>
              <a:rPr lang="en-US" smtClean="0"/>
              <a:t>determinados”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Características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Limite</a:t>
            </a:r>
            <a:r>
              <a:rPr lang="en-US" dirty="0" smtClean="0"/>
              <a:t> de tempo</a:t>
            </a:r>
          </a:p>
          <a:p>
            <a:r>
              <a:rPr lang="en-US" dirty="0" err="1" smtClean="0"/>
              <a:t>Individualidade</a:t>
            </a:r>
            <a:r>
              <a:rPr lang="en-US" dirty="0" smtClean="0"/>
              <a:t> do </a:t>
            </a:r>
            <a:r>
              <a:rPr lang="en-US" dirty="0" err="1" smtClean="0"/>
              <a:t>produto</a:t>
            </a:r>
            <a:r>
              <a:rPr lang="en-US" dirty="0" smtClean="0"/>
              <a:t>/</a:t>
            </a:r>
            <a:r>
              <a:rPr lang="en-US" dirty="0" err="1" smtClean="0"/>
              <a:t>serviço</a:t>
            </a:r>
            <a:endParaRPr lang="en-US" dirty="0" smtClean="0"/>
          </a:p>
          <a:p>
            <a:r>
              <a:rPr lang="en-US" dirty="0" err="1" smtClean="0"/>
              <a:t>Empreendimento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repetitivo</a:t>
            </a:r>
            <a:endParaRPr lang="en-US" dirty="0" smtClean="0"/>
          </a:p>
          <a:p>
            <a:r>
              <a:rPr lang="en-US" dirty="0" err="1" smtClean="0"/>
              <a:t>Sequência</a:t>
            </a:r>
            <a:r>
              <a:rPr lang="en-US" dirty="0" smtClean="0"/>
              <a:t> </a:t>
            </a:r>
            <a:r>
              <a:rPr lang="en-US" dirty="0" err="1" smtClean="0"/>
              <a:t>clara</a:t>
            </a:r>
            <a:r>
              <a:rPr lang="en-US" dirty="0" smtClean="0"/>
              <a:t> e </a:t>
            </a:r>
            <a:r>
              <a:rPr lang="en-US" dirty="0" err="1" smtClean="0"/>
              <a:t>lógica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en-US" dirty="0" smtClean="0"/>
          </a:p>
          <a:p>
            <a:r>
              <a:rPr lang="en-US" dirty="0" err="1" smtClean="0"/>
              <a:t>Objetivo</a:t>
            </a:r>
            <a:r>
              <a:rPr lang="en-US" dirty="0" smtClean="0"/>
              <a:t> </a:t>
            </a:r>
            <a:r>
              <a:rPr lang="en-US" dirty="0" err="1" smtClean="0"/>
              <a:t>claro</a:t>
            </a:r>
            <a:r>
              <a:rPr lang="en-US" dirty="0" smtClean="0"/>
              <a:t> e </a:t>
            </a:r>
            <a:r>
              <a:rPr lang="en-US" dirty="0" err="1" smtClean="0"/>
              <a:t>definido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Lei Fundamental dos </a:t>
            </a:r>
            <a:r>
              <a:rPr lang="en-US" dirty="0" err="1" smtClean="0"/>
              <a:t>Projetos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pt-BR" sz="2800" dirty="0" smtClean="0"/>
              <a:t>Projetos bem planejados falham. </a:t>
            </a:r>
            <a:endParaRPr lang="pt-BR" sz="3600" dirty="0" smtClean="0"/>
          </a:p>
          <a:p>
            <a:pPr lvl="2"/>
            <a:r>
              <a:rPr lang="pt-BR" sz="2800" dirty="0" smtClean="0"/>
              <a:t>Projetos mal planejados </a:t>
            </a:r>
            <a:r>
              <a:rPr lang="pt-BR" sz="2800" u="sng" dirty="0" smtClean="0"/>
              <a:t>sempre falham.</a:t>
            </a:r>
            <a:endParaRPr lang="pt-BR" sz="3200" u="sng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</a:t>
            </a:r>
            <a:r>
              <a:rPr lang="en-US" dirty="0" err="1" smtClean="0"/>
              <a:t>sucesso</a:t>
            </a:r>
            <a:r>
              <a:rPr lang="en-US" dirty="0" smtClean="0"/>
              <a:t> de um </a:t>
            </a:r>
            <a:r>
              <a:rPr lang="en-US" dirty="0" err="1" smtClean="0"/>
              <a:t>projeto</a:t>
            </a:r>
            <a:r>
              <a:rPr lang="en-US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Fornecer</a:t>
            </a:r>
            <a:r>
              <a:rPr lang="en-US" dirty="0" smtClean="0"/>
              <a:t> o software </a:t>
            </a:r>
            <a:r>
              <a:rPr lang="en-US" dirty="0" err="1" smtClean="0"/>
              <a:t>dentro</a:t>
            </a:r>
            <a:r>
              <a:rPr lang="en-US" dirty="0" smtClean="0"/>
              <a:t> do </a:t>
            </a:r>
            <a:r>
              <a:rPr lang="en-US" dirty="0" err="1" smtClean="0"/>
              <a:t>prazo</a:t>
            </a:r>
            <a:r>
              <a:rPr lang="en-US" dirty="0" smtClean="0"/>
              <a:t> </a:t>
            </a:r>
            <a:r>
              <a:rPr lang="en-US" dirty="0" err="1" smtClean="0"/>
              <a:t>estabelecido</a:t>
            </a:r>
            <a:endParaRPr lang="en-US" dirty="0" smtClean="0"/>
          </a:p>
          <a:p>
            <a:r>
              <a:rPr lang="en-US" dirty="0" err="1" smtClean="0"/>
              <a:t>Manter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custos</a:t>
            </a:r>
            <a:r>
              <a:rPr lang="en-US" dirty="0" smtClean="0"/>
              <a:t> </a:t>
            </a:r>
            <a:r>
              <a:rPr lang="en-US" dirty="0" err="1" smtClean="0"/>
              <a:t>gerais</a:t>
            </a:r>
            <a:r>
              <a:rPr lang="en-US" dirty="0" smtClean="0"/>
              <a:t> </a:t>
            </a:r>
            <a:r>
              <a:rPr lang="en-US" dirty="0" err="1" smtClean="0"/>
              <a:t>dentro</a:t>
            </a:r>
            <a:r>
              <a:rPr lang="en-US" dirty="0" smtClean="0"/>
              <a:t> do </a:t>
            </a:r>
            <a:r>
              <a:rPr lang="en-US" dirty="0" err="1" smtClean="0"/>
              <a:t>orçamento</a:t>
            </a:r>
            <a:endParaRPr lang="en-US" dirty="0" smtClean="0"/>
          </a:p>
          <a:p>
            <a:r>
              <a:rPr lang="en-US" dirty="0" err="1" smtClean="0"/>
              <a:t>Entregar</a:t>
            </a:r>
            <a:r>
              <a:rPr lang="en-US" dirty="0" smtClean="0"/>
              <a:t> software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atenda</a:t>
            </a:r>
            <a:r>
              <a:rPr lang="en-US" dirty="0" smtClean="0"/>
              <a:t> as </a:t>
            </a:r>
            <a:r>
              <a:rPr lang="en-US" dirty="0" err="1" smtClean="0"/>
              <a:t>expectativas</a:t>
            </a:r>
            <a:r>
              <a:rPr lang="en-US" dirty="0" smtClean="0"/>
              <a:t> do </a:t>
            </a:r>
            <a:r>
              <a:rPr lang="en-US" dirty="0" err="1" smtClean="0"/>
              <a:t>cliente</a:t>
            </a:r>
            <a:endParaRPr lang="en-US" dirty="0" smtClean="0"/>
          </a:p>
          <a:p>
            <a:r>
              <a:rPr lang="en-US" dirty="0" err="1" smtClean="0"/>
              <a:t>Manter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trabalhe</a:t>
            </a:r>
            <a:r>
              <a:rPr lang="en-US" dirty="0" smtClean="0"/>
              <a:t> </a:t>
            </a:r>
            <a:r>
              <a:rPr lang="en-US" dirty="0" err="1" smtClean="0"/>
              <a:t>comprometida</a:t>
            </a:r>
            <a:r>
              <a:rPr lang="en-US" dirty="0" smtClean="0"/>
              <a:t> e </a:t>
            </a:r>
            <a:r>
              <a:rPr lang="en-US" dirty="0" err="1" smtClean="0"/>
              <a:t>feliz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Principais</a:t>
            </a:r>
            <a:r>
              <a:rPr lang="en-US" dirty="0" smtClean="0"/>
              <a:t> </a:t>
            </a:r>
            <a:r>
              <a:rPr lang="en-US" dirty="0" err="1" smtClean="0"/>
              <a:t>causas</a:t>
            </a:r>
            <a:r>
              <a:rPr lang="en-US" dirty="0" smtClean="0"/>
              <a:t> de </a:t>
            </a:r>
            <a:r>
              <a:rPr lang="en-US" dirty="0" err="1" smtClean="0"/>
              <a:t>falhas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projetos</a:t>
            </a:r>
            <a:r>
              <a:rPr lang="en-US" dirty="0" smtClean="0"/>
              <a:t> – </a:t>
            </a:r>
            <a:r>
              <a:rPr lang="en-US" dirty="0" err="1" smtClean="0"/>
              <a:t>Aspectos</a:t>
            </a:r>
            <a:r>
              <a:rPr lang="en-US" dirty="0" smtClean="0"/>
              <a:t> </a:t>
            </a:r>
            <a:r>
              <a:rPr lang="en-US" dirty="0" err="1" smtClean="0"/>
              <a:t>gerais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Mudança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estrutura</a:t>
            </a:r>
            <a:r>
              <a:rPr lang="en-US" dirty="0" smtClean="0"/>
              <a:t> </a:t>
            </a:r>
            <a:r>
              <a:rPr lang="en-US" dirty="0" err="1" smtClean="0"/>
              <a:t>organizacional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empresa</a:t>
            </a:r>
            <a:endParaRPr lang="en-US" dirty="0" smtClean="0"/>
          </a:p>
          <a:p>
            <a:r>
              <a:rPr lang="en-US" dirty="0" err="1" smtClean="0"/>
              <a:t>Mudanças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tecnologia</a:t>
            </a:r>
            <a:r>
              <a:rPr lang="en-US" dirty="0" smtClean="0"/>
              <a:t> </a:t>
            </a:r>
            <a:r>
              <a:rPr lang="en-US" dirty="0" err="1" smtClean="0"/>
              <a:t>disponível</a:t>
            </a:r>
            <a:endParaRPr lang="en-US" dirty="0" smtClean="0"/>
          </a:p>
          <a:p>
            <a:r>
              <a:rPr lang="en-US" dirty="0" err="1" smtClean="0"/>
              <a:t>Evolução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prazos</a:t>
            </a:r>
            <a:r>
              <a:rPr lang="en-US" dirty="0" smtClean="0"/>
              <a:t> e </a:t>
            </a:r>
            <a:r>
              <a:rPr lang="en-US" dirty="0" err="1" smtClean="0"/>
              <a:t>custos</a:t>
            </a:r>
            <a:endParaRPr lang="en-US" dirty="0" smtClean="0"/>
          </a:p>
          <a:p>
            <a:r>
              <a:rPr lang="en-US" dirty="0" err="1" smtClean="0"/>
              <a:t>Cenário</a:t>
            </a:r>
            <a:r>
              <a:rPr lang="en-US" dirty="0" smtClean="0"/>
              <a:t> </a:t>
            </a:r>
            <a:r>
              <a:rPr lang="en-US" dirty="0" err="1" smtClean="0"/>
              <a:t>político-econômico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Principais</a:t>
            </a:r>
            <a:r>
              <a:rPr lang="en-US" dirty="0" smtClean="0"/>
              <a:t> </a:t>
            </a:r>
            <a:r>
              <a:rPr lang="en-US" dirty="0" err="1" smtClean="0"/>
              <a:t>causas</a:t>
            </a:r>
            <a:r>
              <a:rPr lang="en-US" dirty="0" smtClean="0"/>
              <a:t> de </a:t>
            </a:r>
            <a:r>
              <a:rPr lang="en-US" dirty="0" err="1" smtClean="0"/>
              <a:t>falhas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projetos</a:t>
            </a:r>
            <a:r>
              <a:rPr lang="en-US" dirty="0" smtClean="0"/>
              <a:t> – </a:t>
            </a:r>
            <a:r>
              <a:rPr lang="en-US" dirty="0" err="1" smtClean="0"/>
              <a:t>aspectos</a:t>
            </a:r>
            <a:r>
              <a:rPr lang="en-US" dirty="0" smtClean="0"/>
              <a:t> </a:t>
            </a:r>
            <a:r>
              <a:rPr lang="en-US" dirty="0" err="1" smtClean="0"/>
              <a:t>gerenciais</a:t>
            </a:r>
            <a:r>
              <a:rPr lang="en-US" dirty="0" smtClean="0"/>
              <a:t> (1)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Objetivos</a:t>
            </a:r>
            <a:r>
              <a:rPr lang="en-US" sz="3600" dirty="0" smtClean="0"/>
              <a:t> mal </a:t>
            </a:r>
            <a:r>
              <a:rPr lang="en-US" sz="3600" dirty="0" err="1" smtClean="0"/>
              <a:t>estabelecidos</a:t>
            </a:r>
            <a:r>
              <a:rPr lang="en-US" sz="3600" dirty="0" smtClean="0"/>
              <a:t>/</a:t>
            </a:r>
            <a:r>
              <a:rPr lang="en-US" sz="3600" dirty="0" err="1" smtClean="0"/>
              <a:t>não</a:t>
            </a:r>
            <a:r>
              <a:rPr lang="en-US" sz="3600" dirty="0" smtClean="0"/>
              <a:t> </a:t>
            </a:r>
            <a:r>
              <a:rPr lang="en-US" sz="3600" dirty="0" err="1" smtClean="0"/>
              <a:t>compreendidos</a:t>
            </a:r>
            <a:endParaRPr lang="en-US" sz="3600" dirty="0" smtClean="0"/>
          </a:p>
          <a:p>
            <a:r>
              <a:rPr lang="en-US" sz="3600" dirty="0" err="1" smtClean="0"/>
              <a:t>Pouca</a:t>
            </a:r>
            <a:r>
              <a:rPr lang="en-US" sz="3600" dirty="0" smtClean="0"/>
              <a:t> </a:t>
            </a:r>
            <a:r>
              <a:rPr lang="en-US" sz="3600" dirty="0" err="1" smtClean="0"/>
              <a:t>compreensão</a:t>
            </a:r>
            <a:r>
              <a:rPr lang="en-US" sz="3600" dirty="0" smtClean="0"/>
              <a:t> </a:t>
            </a:r>
            <a:r>
              <a:rPr lang="en-US" sz="3600" dirty="0" err="1" smtClean="0"/>
              <a:t>da</a:t>
            </a:r>
            <a:r>
              <a:rPr lang="en-US" sz="3600" dirty="0" smtClean="0"/>
              <a:t> </a:t>
            </a:r>
            <a:r>
              <a:rPr lang="en-US" sz="3600" dirty="0" err="1" smtClean="0"/>
              <a:t>complexidade</a:t>
            </a:r>
            <a:endParaRPr lang="en-US" sz="3600" dirty="0" smtClean="0"/>
          </a:p>
          <a:p>
            <a:r>
              <a:rPr lang="en-US" sz="3600" dirty="0" err="1" smtClean="0"/>
              <a:t>Muitas</a:t>
            </a:r>
            <a:r>
              <a:rPr lang="en-US" sz="3600" dirty="0" smtClean="0"/>
              <a:t> </a:t>
            </a:r>
            <a:r>
              <a:rPr lang="en-US" sz="3600" dirty="0" err="1" smtClean="0"/>
              <a:t>atividades</a:t>
            </a:r>
            <a:r>
              <a:rPr lang="en-US" sz="3600" dirty="0" smtClean="0"/>
              <a:t> e </a:t>
            </a:r>
            <a:r>
              <a:rPr lang="en-US" sz="3600" dirty="0" err="1" smtClean="0"/>
              <a:t>pouco</a:t>
            </a:r>
            <a:r>
              <a:rPr lang="en-US" sz="3600" dirty="0" smtClean="0"/>
              <a:t> tempo</a:t>
            </a:r>
          </a:p>
          <a:p>
            <a:r>
              <a:rPr lang="en-US" sz="3600" dirty="0" err="1" smtClean="0"/>
              <a:t>Estimativas</a:t>
            </a:r>
            <a:r>
              <a:rPr lang="en-US" sz="3600" dirty="0" smtClean="0"/>
              <a:t> </a:t>
            </a:r>
            <a:r>
              <a:rPr lang="en-US" sz="3600" dirty="0" err="1" smtClean="0"/>
              <a:t>financeiras</a:t>
            </a:r>
            <a:r>
              <a:rPr lang="en-US" sz="3600" dirty="0" smtClean="0"/>
              <a:t> </a:t>
            </a:r>
            <a:r>
              <a:rPr lang="en-US" sz="3600" dirty="0" err="1" smtClean="0"/>
              <a:t>erradas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Principais</a:t>
            </a:r>
            <a:r>
              <a:rPr lang="en-US" dirty="0" smtClean="0"/>
              <a:t> </a:t>
            </a:r>
            <a:r>
              <a:rPr lang="en-US" dirty="0" err="1" smtClean="0"/>
              <a:t>causas</a:t>
            </a:r>
            <a:r>
              <a:rPr lang="en-US" dirty="0" smtClean="0"/>
              <a:t> de </a:t>
            </a:r>
            <a:r>
              <a:rPr lang="en-US" dirty="0" err="1" smtClean="0"/>
              <a:t>falhas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projetos</a:t>
            </a:r>
            <a:r>
              <a:rPr lang="en-US" dirty="0" smtClean="0"/>
              <a:t> – </a:t>
            </a:r>
            <a:r>
              <a:rPr lang="en-US" dirty="0" err="1" smtClean="0"/>
              <a:t>aspectos</a:t>
            </a:r>
            <a:r>
              <a:rPr lang="en-US" dirty="0" smtClean="0"/>
              <a:t> </a:t>
            </a:r>
            <a:r>
              <a:rPr lang="en-US" dirty="0" err="1" smtClean="0"/>
              <a:t>gerenciais</a:t>
            </a:r>
            <a:r>
              <a:rPr lang="en-US" dirty="0" smtClean="0"/>
              <a:t> (2)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Não</a:t>
            </a:r>
            <a:r>
              <a:rPr lang="en-US" sz="3600" dirty="0" smtClean="0"/>
              <a:t> </a:t>
            </a:r>
            <a:r>
              <a:rPr lang="en-US" sz="3600" dirty="0" err="1" smtClean="0"/>
              <a:t>ter</a:t>
            </a:r>
            <a:r>
              <a:rPr lang="en-US" sz="3600" dirty="0" smtClean="0"/>
              <a:t> </a:t>
            </a:r>
            <a:r>
              <a:rPr lang="en-US" sz="3600" dirty="0" err="1" smtClean="0"/>
              <a:t>gerente</a:t>
            </a:r>
            <a:r>
              <a:rPr lang="en-US" sz="3600" dirty="0" smtClean="0"/>
              <a:t>/</a:t>
            </a:r>
            <a:r>
              <a:rPr lang="en-US" sz="3600" dirty="0" err="1" smtClean="0"/>
              <a:t>ter</a:t>
            </a:r>
            <a:r>
              <a:rPr lang="en-US" sz="3600" dirty="0" smtClean="0"/>
              <a:t> </a:t>
            </a:r>
            <a:r>
              <a:rPr lang="en-US" sz="3600" dirty="0" err="1" smtClean="0"/>
              <a:t>vários</a:t>
            </a:r>
            <a:r>
              <a:rPr lang="en-US" sz="3600" dirty="0" smtClean="0"/>
              <a:t> </a:t>
            </a:r>
            <a:r>
              <a:rPr lang="en-US" sz="3600" dirty="0" err="1" smtClean="0"/>
              <a:t>gerentes</a:t>
            </a:r>
            <a:endParaRPr lang="en-US" sz="3600" dirty="0" smtClean="0"/>
          </a:p>
          <a:p>
            <a:r>
              <a:rPr lang="en-US" sz="3600" dirty="0" err="1" smtClean="0"/>
              <a:t>Não</a:t>
            </a:r>
            <a:r>
              <a:rPr lang="en-US" sz="3600" dirty="0" smtClean="0"/>
              <a:t> </a:t>
            </a:r>
            <a:r>
              <a:rPr lang="en-US" sz="3600" dirty="0" err="1" smtClean="0"/>
              <a:t>observar</a:t>
            </a:r>
            <a:r>
              <a:rPr lang="en-US" sz="3600" dirty="0" smtClean="0"/>
              <a:t> </a:t>
            </a:r>
            <a:r>
              <a:rPr lang="en-US" sz="3600" dirty="0" err="1" smtClean="0"/>
              <a:t>histórico</a:t>
            </a:r>
            <a:r>
              <a:rPr lang="en-US" sz="3600" dirty="0" smtClean="0"/>
              <a:t> de </a:t>
            </a:r>
            <a:r>
              <a:rPr lang="en-US" sz="3600" dirty="0" err="1" smtClean="0"/>
              <a:t>projetos</a:t>
            </a:r>
            <a:endParaRPr lang="en-US" sz="3600" dirty="0" smtClean="0"/>
          </a:p>
          <a:p>
            <a:r>
              <a:rPr lang="en-US" sz="3600" dirty="0" err="1" smtClean="0"/>
              <a:t>Não</a:t>
            </a:r>
            <a:r>
              <a:rPr lang="en-US" sz="3600" dirty="0" smtClean="0"/>
              <a:t> </a:t>
            </a:r>
            <a:r>
              <a:rPr lang="en-US" sz="3600" dirty="0" err="1" smtClean="0"/>
              <a:t>destinar</a:t>
            </a:r>
            <a:r>
              <a:rPr lang="en-US" sz="3600" dirty="0" smtClean="0"/>
              <a:t> tempo </a:t>
            </a:r>
            <a:r>
              <a:rPr lang="en-US" sz="3600" dirty="0" err="1" smtClean="0"/>
              <a:t>para</a:t>
            </a:r>
            <a:r>
              <a:rPr lang="en-US" sz="3600" dirty="0" smtClean="0"/>
              <a:t> </a:t>
            </a:r>
            <a:r>
              <a:rPr lang="en-US" sz="3600" dirty="0" err="1" smtClean="0"/>
              <a:t>planejamento</a:t>
            </a:r>
            <a:endParaRPr lang="en-US" sz="3600" dirty="0" smtClean="0"/>
          </a:p>
          <a:p>
            <a:r>
              <a:rPr lang="en-US" sz="3600" dirty="0" err="1" smtClean="0"/>
              <a:t>Problemas</a:t>
            </a:r>
            <a:r>
              <a:rPr lang="en-US" sz="3600" dirty="0" smtClean="0"/>
              <a:t> com </a:t>
            </a:r>
            <a:r>
              <a:rPr lang="en-US" sz="3600" dirty="0" err="1" smtClean="0"/>
              <a:t>pessoal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Engenharias</a:t>
            </a:r>
            <a:r>
              <a:rPr lang="en-US" dirty="0" smtClean="0"/>
              <a:t> </a:t>
            </a:r>
            <a:r>
              <a:rPr lang="en-US" dirty="0" err="1" smtClean="0"/>
              <a:t>Tradicionais</a:t>
            </a:r>
            <a:r>
              <a:rPr lang="en-US" dirty="0" smtClean="0"/>
              <a:t> vs. </a:t>
            </a:r>
            <a:r>
              <a:rPr lang="en-US" dirty="0" err="1" smtClean="0"/>
              <a:t>Engenharia</a:t>
            </a:r>
            <a:r>
              <a:rPr lang="en-US" dirty="0" smtClean="0"/>
              <a:t> de Software</a:t>
            </a: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3139956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149080"/>
            <a:ext cx="3024336" cy="249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47738" y="4077072"/>
            <a:ext cx="2754725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970" name="Picture 2" descr="A História das Caravelas Portuguesas | ncultur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5976" y="1700807"/>
            <a:ext cx="4032448" cy="22581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Engenharias</a:t>
            </a:r>
            <a:r>
              <a:rPr lang="en-US" dirty="0" smtClean="0"/>
              <a:t> </a:t>
            </a:r>
            <a:r>
              <a:rPr lang="en-US" dirty="0" err="1" smtClean="0"/>
              <a:t>Tradicionais</a:t>
            </a:r>
            <a:r>
              <a:rPr lang="en-US" dirty="0" smtClean="0"/>
              <a:t> vs. </a:t>
            </a:r>
            <a:r>
              <a:rPr lang="en-US" dirty="0" err="1" smtClean="0"/>
              <a:t>Engenharia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 software é </a:t>
            </a:r>
            <a:r>
              <a:rPr lang="en-US" dirty="0" err="1" smtClean="0"/>
              <a:t>intangível</a:t>
            </a:r>
            <a:endParaRPr lang="en-US" dirty="0" smtClean="0"/>
          </a:p>
          <a:p>
            <a:r>
              <a:rPr lang="en-US" dirty="0" err="1" smtClean="0"/>
              <a:t>Grandes</a:t>
            </a:r>
            <a:r>
              <a:rPr lang="en-US" dirty="0" smtClean="0"/>
              <a:t> </a:t>
            </a:r>
            <a:r>
              <a:rPr lang="en-US" dirty="0" err="1" smtClean="0"/>
              <a:t>projetos</a:t>
            </a:r>
            <a:r>
              <a:rPr lang="en-US" dirty="0" smtClean="0"/>
              <a:t> de software </a:t>
            </a:r>
            <a:r>
              <a:rPr lang="en-US" dirty="0" err="1" smtClean="0"/>
              <a:t>são</a:t>
            </a:r>
            <a:r>
              <a:rPr lang="en-US" dirty="0" smtClean="0"/>
              <a:t>, </a:t>
            </a:r>
            <a:r>
              <a:rPr lang="en-US" dirty="0" err="1" smtClean="0"/>
              <a:t>muitas</a:t>
            </a:r>
            <a:r>
              <a:rPr lang="en-US" dirty="0" smtClean="0"/>
              <a:t> </a:t>
            </a:r>
            <a:r>
              <a:rPr lang="en-US" dirty="0" err="1" smtClean="0"/>
              <a:t>vezes</a:t>
            </a:r>
            <a:r>
              <a:rPr lang="en-US" dirty="0" smtClean="0"/>
              <a:t>, </a:t>
            </a:r>
            <a:r>
              <a:rPr lang="en-US" dirty="0" err="1" smtClean="0"/>
              <a:t>únicos</a:t>
            </a:r>
            <a:endParaRPr lang="en-US" dirty="0" smtClean="0"/>
          </a:p>
          <a:p>
            <a:pPr lvl="1"/>
            <a:r>
              <a:rPr lang="en-US" dirty="0" err="1" smtClean="0"/>
              <a:t>Difícil</a:t>
            </a:r>
            <a:r>
              <a:rPr lang="en-US" dirty="0" smtClean="0"/>
              <a:t> </a:t>
            </a:r>
            <a:r>
              <a:rPr lang="en-US" dirty="0" err="1" smtClean="0"/>
              <a:t>usar</a:t>
            </a:r>
            <a:r>
              <a:rPr lang="en-US" dirty="0" smtClean="0"/>
              <a:t> </a:t>
            </a:r>
            <a:r>
              <a:rPr lang="en-US" dirty="0" err="1" smtClean="0"/>
              <a:t>experiência</a:t>
            </a:r>
            <a:r>
              <a:rPr lang="en-US" dirty="0" smtClean="0"/>
              <a:t> anterior</a:t>
            </a:r>
          </a:p>
          <a:p>
            <a:r>
              <a:rPr lang="en-US" dirty="0" smtClean="0"/>
              <a:t>Os </a:t>
            </a:r>
            <a:r>
              <a:rPr lang="en-US" dirty="0" err="1" smtClean="0"/>
              <a:t>processos</a:t>
            </a:r>
            <a:r>
              <a:rPr lang="en-US" dirty="0" smtClean="0"/>
              <a:t> de software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variáveis</a:t>
            </a:r>
            <a:r>
              <a:rPr lang="en-US" dirty="0" smtClean="0"/>
              <a:t> e </a:t>
            </a:r>
            <a:r>
              <a:rPr lang="en-US" dirty="0" err="1" smtClean="0"/>
              <a:t>específicos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organização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Engenharia</a:t>
            </a:r>
            <a:r>
              <a:rPr lang="en-US" dirty="0" smtClean="0"/>
              <a:t> Civil vs. </a:t>
            </a:r>
            <a:r>
              <a:rPr lang="en-US" dirty="0" err="1" smtClean="0"/>
              <a:t>Engenharia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Terminamos 80% da parte inicial do edifício (sem contar o acabamento)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pt-BR" dirty="0" smtClean="0"/>
              <a:t>Como saber que 80% do software foi terminado, se software é produto intangível?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662919"/>
            <a:ext cx="1511424" cy="2278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2204864"/>
            <a:ext cx="2053952" cy="2752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Engenharia</a:t>
            </a:r>
            <a:r>
              <a:rPr lang="en-US" dirty="0" smtClean="0"/>
              <a:t> Civil vs. </a:t>
            </a:r>
            <a:r>
              <a:rPr lang="en-US" dirty="0" err="1" smtClean="0"/>
              <a:t>Engenharia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Cliente sem noção 1: “adicione mais um quarto de 20m2 ao lado da cozinha”</a:t>
            </a:r>
            <a:endParaRPr lang="pt-BR" sz="4000" dirty="0" smtClean="0"/>
          </a:p>
          <a:p>
            <a:r>
              <a:rPr lang="pt-BR" dirty="0" smtClean="0"/>
              <a:t>Cliente sem noção 2: “eu quero que este prédio de 20 andares fique pronto em 3 meses”</a:t>
            </a:r>
            <a:endParaRPr lang="pt-BR" sz="4000" dirty="0" smtClean="0"/>
          </a:p>
          <a:p>
            <a:pPr lvl="1"/>
            <a:r>
              <a:rPr lang="pt-BR" dirty="0" smtClean="0"/>
              <a:t>Engenheiro civil: “É impossível”</a:t>
            </a:r>
            <a:endParaRPr lang="pt-BR" sz="3600" dirty="0" smtClean="0"/>
          </a:p>
          <a:p>
            <a:pPr lvl="2"/>
            <a:endParaRPr lang="pt-BR" dirty="0" smtClean="0"/>
          </a:p>
          <a:p>
            <a:pPr lvl="2"/>
            <a:endParaRPr lang="pt-BR" dirty="0" smtClean="0"/>
          </a:p>
          <a:p>
            <a:r>
              <a:rPr lang="pt-BR" dirty="0" smtClean="0"/>
              <a:t>Cliente sem noção 1: “quero o software entregue em 2 meses”</a:t>
            </a:r>
            <a:endParaRPr lang="pt-BR" sz="4000" dirty="0" smtClean="0"/>
          </a:p>
          <a:p>
            <a:pPr lvl="1"/>
            <a:r>
              <a:rPr lang="pt-BR" dirty="0" smtClean="0"/>
              <a:t>Engenheiro de software:  “É impossível”</a:t>
            </a:r>
            <a:endParaRPr lang="pt-BR" sz="3600" dirty="0" smtClean="0"/>
          </a:p>
          <a:p>
            <a:pPr lvl="1"/>
            <a:r>
              <a:rPr lang="pt-BR" dirty="0" smtClean="0"/>
              <a:t>Cliente sem noção 1: “adicione mais pessoas”</a:t>
            </a:r>
            <a:endParaRPr lang="pt-BR" sz="3600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Engenharia</a:t>
            </a:r>
            <a:r>
              <a:rPr lang="en-US" dirty="0" smtClean="0"/>
              <a:t> Civil vs. </a:t>
            </a:r>
            <a:r>
              <a:rPr lang="en-US" dirty="0" err="1" smtClean="0"/>
              <a:t>Engenharia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Grandes projetos de engenharia civil são geralmente repetidos</a:t>
            </a:r>
          </a:p>
          <a:p>
            <a:r>
              <a:rPr lang="pt-BR" dirty="0" smtClean="0"/>
              <a:t>Grandes projetos de software são frequentemente únicos</a:t>
            </a:r>
          </a:p>
          <a:p>
            <a:pPr lvl="1"/>
            <a:r>
              <a:rPr lang="pt-BR" dirty="0" smtClean="0"/>
              <a:t>Rápidas mudanças tecnológicas</a:t>
            </a:r>
          </a:p>
          <a:p>
            <a:pPr lvl="1"/>
            <a:r>
              <a:rPr lang="pt-BR" dirty="0" smtClean="0"/>
              <a:t>Lições aprendidas nem sempre são transferíveis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Engenharia</a:t>
            </a:r>
            <a:r>
              <a:rPr lang="en-US" dirty="0" smtClean="0"/>
              <a:t> Civil vs. </a:t>
            </a:r>
            <a:r>
              <a:rPr lang="en-US" dirty="0" err="1" smtClean="0"/>
              <a:t>Engenharia</a:t>
            </a:r>
            <a:r>
              <a:rPr lang="en-US" dirty="0" smtClean="0"/>
              <a:t>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Noções</a:t>
            </a:r>
            <a:r>
              <a:rPr lang="en-US" dirty="0" smtClean="0"/>
              <a:t> de Eng. Civil vs. </a:t>
            </a:r>
            <a:r>
              <a:rPr lang="en-US" dirty="0" err="1" smtClean="0"/>
              <a:t>Noções</a:t>
            </a:r>
            <a:r>
              <a:rPr lang="en-US" dirty="0" smtClean="0"/>
              <a:t> de Eng. De Software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população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Atividades</a:t>
            </a:r>
            <a:r>
              <a:rPr lang="en-US" dirty="0" smtClean="0"/>
              <a:t> do </a:t>
            </a:r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Elaboração de propostas</a:t>
            </a:r>
          </a:p>
          <a:p>
            <a:r>
              <a:rPr lang="pt-BR" dirty="0" smtClean="0"/>
              <a:t>Planejamento e programação de projetos</a:t>
            </a:r>
          </a:p>
          <a:p>
            <a:r>
              <a:rPr lang="pt-BR" dirty="0" smtClean="0"/>
              <a:t>Definição de custos do projeto</a:t>
            </a:r>
          </a:p>
          <a:p>
            <a:r>
              <a:rPr lang="pt-BR" dirty="0" smtClean="0"/>
              <a:t>Monitoramento e revisão de projetos</a:t>
            </a:r>
          </a:p>
          <a:p>
            <a:r>
              <a:rPr lang="pt-BR" dirty="0" smtClean="0"/>
              <a:t>Seleção e avaliação de pessoal</a:t>
            </a:r>
          </a:p>
          <a:p>
            <a:r>
              <a:rPr lang="pt-BR" dirty="0" smtClean="0"/>
              <a:t>Elaboração de relatórios e apresentações</a:t>
            </a:r>
          </a:p>
          <a:p>
            <a:r>
              <a:rPr lang="pt-BR" dirty="0" smtClean="0"/>
              <a:t>Comunicação com os </a:t>
            </a:r>
            <a:r>
              <a:rPr lang="pt-BR" dirty="0" err="1" smtClean="0"/>
              <a:t>stakeholders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Como </a:t>
            </a:r>
            <a:r>
              <a:rPr lang="en-US" dirty="0" err="1" smtClean="0"/>
              <a:t>selecionar</a:t>
            </a:r>
            <a:r>
              <a:rPr lang="en-US" dirty="0" smtClean="0"/>
              <a:t> um </a:t>
            </a:r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r>
              <a:rPr lang="en-US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Conjuntos</a:t>
            </a:r>
            <a:r>
              <a:rPr lang="en-US" dirty="0" smtClean="0"/>
              <a:t> de </a:t>
            </a:r>
            <a:r>
              <a:rPr lang="en-US" dirty="0" err="1" smtClean="0"/>
              <a:t>habilidades</a:t>
            </a:r>
            <a:endParaRPr lang="en-US" dirty="0" smtClean="0"/>
          </a:p>
          <a:p>
            <a:pPr lvl="1"/>
            <a:r>
              <a:rPr lang="en-US" dirty="0" err="1" smtClean="0"/>
              <a:t>Resolução</a:t>
            </a:r>
            <a:r>
              <a:rPr lang="en-US" dirty="0" smtClean="0"/>
              <a:t> de </a:t>
            </a:r>
            <a:r>
              <a:rPr lang="en-US" dirty="0" err="1" smtClean="0"/>
              <a:t>problemas</a:t>
            </a:r>
            <a:endParaRPr lang="en-US" dirty="0" smtClean="0"/>
          </a:p>
          <a:p>
            <a:pPr lvl="1"/>
            <a:r>
              <a:rPr lang="en-US" dirty="0" err="1" smtClean="0"/>
              <a:t>Conhecimento</a:t>
            </a:r>
            <a:r>
              <a:rPr lang="en-US" dirty="0" smtClean="0"/>
              <a:t> </a:t>
            </a:r>
            <a:r>
              <a:rPr lang="en-US" dirty="0" err="1" smtClean="0"/>
              <a:t>administrativo</a:t>
            </a:r>
            <a:endParaRPr lang="en-US" dirty="0" smtClean="0"/>
          </a:p>
          <a:p>
            <a:pPr lvl="1"/>
            <a:r>
              <a:rPr lang="en-US" dirty="0" err="1" smtClean="0"/>
              <a:t>Supervisão</a:t>
            </a:r>
            <a:r>
              <a:rPr lang="en-US" dirty="0" smtClean="0"/>
              <a:t> e </a:t>
            </a:r>
            <a:r>
              <a:rPr lang="en-US" dirty="0" err="1" smtClean="0"/>
              <a:t>Gerenciamento</a:t>
            </a:r>
            <a:r>
              <a:rPr lang="en-US" dirty="0" smtClean="0"/>
              <a:t> do time</a:t>
            </a:r>
          </a:p>
          <a:p>
            <a:pPr lvl="1"/>
            <a:r>
              <a:rPr lang="en-US" dirty="0" err="1" smtClean="0"/>
              <a:t>Relações</a:t>
            </a:r>
            <a:r>
              <a:rPr lang="en-US" dirty="0" smtClean="0"/>
              <a:t> </a:t>
            </a:r>
            <a:r>
              <a:rPr lang="en-US" dirty="0" err="1" smtClean="0"/>
              <a:t>Interpessoais</a:t>
            </a:r>
            <a:endParaRPr lang="en-US" dirty="0" smtClean="0"/>
          </a:p>
          <a:p>
            <a:pPr lvl="1"/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Habilidades</a:t>
            </a:r>
            <a:r>
              <a:rPr lang="en-US" dirty="0" smtClean="0"/>
              <a:t> </a:t>
            </a:r>
            <a:r>
              <a:rPr lang="en-US" dirty="0" err="1" smtClean="0"/>
              <a:t>pessoais</a:t>
            </a:r>
            <a:endParaRPr lang="en-US" dirty="0" smtClean="0"/>
          </a:p>
          <a:p>
            <a:pPr lvl="2"/>
            <a:r>
              <a:rPr lang="en-US" dirty="0" err="1" smtClean="0"/>
              <a:t>Pró-atividade</a:t>
            </a:r>
            <a:endParaRPr lang="en-US" dirty="0" smtClean="0"/>
          </a:p>
          <a:p>
            <a:pPr lvl="2"/>
            <a:r>
              <a:rPr lang="en-US" dirty="0" err="1" smtClean="0"/>
              <a:t>Autoconfiança</a:t>
            </a:r>
            <a:r>
              <a:rPr lang="en-US" dirty="0" smtClean="0"/>
              <a:t>, </a:t>
            </a:r>
            <a:r>
              <a:rPr lang="en-US" dirty="0" err="1" smtClean="0"/>
              <a:t>maturidade</a:t>
            </a:r>
            <a:r>
              <a:rPr lang="en-US" dirty="0" smtClean="0"/>
              <a:t>, </a:t>
            </a:r>
            <a:r>
              <a:rPr lang="en-US" dirty="0" err="1" smtClean="0"/>
              <a:t>estabilidade</a:t>
            </a:r>
            <a:r>
              <a:rPr lang="en-US" dirty="0" smtClean="0"/>
              <a:t> </a:t>
            </a:r>
            <a:r>
              <a:rPr lang="en-US" dirty="0" err="1" smtClean="0"/>
              <a:t>emocional</a:t>
            </a:r>
            <a:endParaRPr lang="en-US" dirty="0" smtClean="0"/>
          </a:p>
          <a:p>
            <a:pPr lvl="2"/>
            <a:r>
              <a:rPr lang="en-US" dirty="0" err="1" smtClean="0"/>
              <a:t>Abertura</a:t>
            </a:r>
            <a:r>
              <a:rPr lang="en-US" dirty="0" smtClean="0"/>
              <a:t> a </a:t>
            </a:r>
            <a:r>
              <a:rPr lang="en-US" dirty="0" err="1" smtClean="0"/>
              <a:t>mudanças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Descrição</a:t>
            </a:r>
            <a:r>
              <a:rPr lang="en-US" dirty="0" smtClean="0"/>
              <a:t> de </a:t>
            </a:r>
            <a:r>
              <a:rPr lang="en-US" dirty="0" err="1" smtClean="0"/>
              <a:t>vagas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gerentes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1 - </a:t>
            </a:r>
            <a:r>
              <a:rPr lang="pt-BR" dirty="0" smtClean="0"/>
              <a:t>Imprescindível vivência no setor bancário e certificação PMP. Experiência em escritório de projetos para gestão de portfólio. Responsável por planos de ação, controle de riscos, gerenciamento de comunicação com as partes </a:t>
            </a:r>
            <a:br>
              <a:rPr lang="pt-BR" dirty="0" smtClean="0"/>
            </a:br>
            <a:r>
              <a:rPr lang="pt-BR" dirty="0" smtClean="0"/>
              <a:t>interessadas no projeto, reuniões semanais e mensais com diretores do banco e equipes de TI, controle financeiro, manutenção de procedimentos organizacionais e utilização de padrões de gerenciamento e governança.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Descrição</a:t>
            </a:r>
            <a:r>
              <a:rPr lang="en-US" dirty="0" smtClean="0"/>
              <a:t> de </a:t>
            </a:r>
            <a:r>
              <a:rPr lang="en-US" dirty="0" err="1" smtClean="0"/>
              <a:t>vagas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gerentes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2 - </a:t>
            </a:r>
            <a:r>
              <a:rPr lang="pt-BR" dirty="0" smtClean="0"/>
              <a:t>Acima de 5 anos de experiência com implantação de metodologia, habilidade de </a:t>
            </a:r>
            <a:br>
              <a:rPr lang="pt-BR" dirty="0" smtClean="0"/>
            </a:br>
            <a:r>
              <a:rPr lang="pt-BR" dirty="0" smtClean="0"/>
              <a:t>negociação, criação do escritório de projetos, escopo, cronograma, analise de </a:t>
            </a:r>
            <a:br>
              <a:rPr lang="pt-BR" dirty="0" smtClean="0"/>
            </a:br>
            <a:r>
              <a:rPr lang="pt-BR" dirty="0" smtClean="0"/>
              <a:t>riscos e controles de custos/qualidade </a:t>
            </a:r>
            <a:br>
              <a:rPr lang="pt-BR" dirty="0" smtClean="0"/>
            </a:br>
            <a:r>
              <a:rPr lang="pt-BR" dirty="0" err="1" smtClean="0"/>
              <a:t>Profissioal</a:t>
            </a:r>
            <a:r>
              <a:rPr lang="pt-BR" dirty="0" smtClean="0"/>
              <a:t> com superior completo </a:t>
            </a:r>
            <a:br>
              <a:rPr lang="pt-BR" dirty="0" smtClean="0"/>
            </a:br>
            <a:r>
              <a:rPr lang="pt-BR" dirty="0" err="1" smtClean="0"/>
              <a:t>Desevável</a:t>
            </a:r>
            <a:r>
              <a:rPr lang="pt-BR" dirty="0" smtClean="0"/>
              <a:t> pós graduação em Gerenciamento de Projetos </a:t>
            </a:r>
            <a:br>
              <a:rPr lang="pt-BR" dirty="0" smtClean="0"/>
            </a:br>
            <a:r>
              <a:rPr lang="pt-BR" dirty="0" smtClean="0"/>
              <a:t>Certificações: Cobit, ITIL e PMI(desejáveis) </a:t>
            </a:r>
            <a:br>
              <a:rPr lang="pt-BR" dirty="0" smtClean="0"/>
            </a:br>
            <a:r>
              <a:rPr lang="pt-BR" dirty="0" smtClean="0"/>
              <a:t>Atuação direta com </a:t>
            </a:r>
            <a:r>
              <a:rPr lang="pt-BR" dirty="0" err="1" smtClean="0"/>
              <a:t>àrea</a:t>
            </a:r>
            <a:r>
              <a:rPr lang="pt-BR" dirty="0" smtClean="0"/>
              <a:t> técnica.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Descrição</a:t>
            </a:r>
            <a:r>
              <a:rPr lang="en-US" dirty="0" smtClean="0"/>
              <a:t> de </a:t>
            </a:r>
            <a:r>
              <a:rPr lang="en-US" dirty="0" err="1" smtClean="0"/>
              <a:t>vagas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gerentes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3 - </a:t>
            </a:r>
            <a:r>
              <a:rPr lang="pt-BR" dirty="0" smtClean="0"/>
              <a:t>Elaborar o plano do projeto em conjunto com os </a:t>
            </a:r>
            <a:r>
              <a:rPr lang="pt-BR" dirty="0" err="1" smtClean="0"/>
              <a:t>Sponsors</a:t>
            </a:r>
            <a:r>
              <a:rPr lang="pt-BR" dirty="0" smtClean="0"/>
              <a:t> e demais membros do  Time de Projeto. Estruturar e executar os planos de comunicação,divulgar relatórios de desempenho dos projetos Estruturar e gerir cronogramas, análises planejado x realizado, visando a otimização constante dos prazos do projeto Acompanhar a gestão dos investimentos e as despesas ao longo do projeto Gerir todo o ciclo de vida dos riscos no projeto Gerir todas as mudanças no projeto(escopo, cronograma, custos) Acompanhar os indicadores do projeto – acompanhar e identificar os desvios encontrados nos indicadores estabelecidos para o projeto. Desejável conhecimentos em Processos e Metodologias de Gestão de Projetos Conhecimentos das melhores práticas do </a:t>
            </a:r>
            <a:r>
              <a:rPr lang="pt-BR" dirty="0" err="1" smtClean="0"/>
              <a:t>PMBoK</a:t>
            </a:r>
            <a:r>
              <a:rPr lang="pt-BR" dirty="0" smtClean="0"/>
              <a:t> </a:t>
            </a:r>
            <a:br>
              <a:rPr lang="pt-BR" dirty="0" smtClean="0"/>
            </a:br>
            <a:r>
              <a:rPr lang="pt-BR" dirty="0" smtClean="0"/>
              <a:t>Habilidade para interagir com os Gerentes e Diretores </a:t>
            </a:r>
            <a:br>
              <a:rPr lang="pt-BR" dirty="0" smtClean="0"/>
            </a:br>
            <a:r>
              <a:rPr lang="pt-BR" dirty="0" smtClean="0"/>
              <a:t>Com Projetos Corporativos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Salários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Apinfo – Brasil </a:t>
            </a:r>
          </a:p>
          <a:p>
            <a:pPr lvl="1"/>
            <a:r>
              <a:rPr lang="pt-BR" dirty="0" smtClean="0"/>
              <a:t>Julho de 2021: R$12.200,00</a:t>
            </a:r>
          </a:p>
          <a:p>
            <a:pPr lvl="1"/>
            <a:r>
              <a:rPr lang="pt-BR" dirty="0" smtClean="0"/>
              <a:t>Julho de 2023: R$12.900,00</a:t>
            </a:r>
          </a:p>
          <a:p>
            <a:r>
              <a:rPr lang="pt-BR" dirty="0" smtClean="0"/>
              <a:t>Outros sites</a:t>
            </a:r>
          </a:p>
          <a:p>
            <a:pPr lvl="1"/>
            <a:r>
              <a:rPr lang="pt-BR" dirty="0" smtClean="0"/>
              <a:t>CATHO – R$11.000,00</a:t>
            </a:r>
          </a:p>
          <a:p>
            <a:pPr lvl="1"/>
            <a:r>
              <a:rPr lang="pt-BR" dirty="0" smtClean="0"/>
              <a:t>Glassdoor – R$13.000,00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2400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PMBOK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0"/>
            <a:ext cx="8712968" cy="5256584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Project Management Body of Knowledge - 10</a:t>
            </a:r>
            <a:r>
              <a:rPr lang="en-US" dirty="0" smtClean="0"/>
              <a:t> </a:t>
            </a:r>
            <a:r>
              <a:rPr lang="en-US" dirty="0" err="1" smtClean="0"/>
              <a:t>Áreas</a:t>
            </a:r>
            <a:r>
              <a:rPr lang="en-US" dirty="0" smtClean="0"/>
              <a:t>: 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sz="3600" dirty="0" smtClean="0"/>
              <a:t>Gerenciamento de integração do projeto</a:t>
            </a:r>
          </a:p>
          <a:p>
            <a:r>
              <a:rPr lang="pt-BR" sz="3600" dirty="0" smtClean="0"/>
              <a:t>Gerenciamento do escopo do projeto</a:t>
            </a:r>
          </a:p>
          <a:p>
            <a:r>
              <a:rPr lang="pt-BR" sz="3600" dirty="0" smtClean="0"/>
              <a:t>Gerenciamento de tempo do projeto</a:t>
            </a:r>
          </a:p>
          <a:p>
            <a:r>
              <a:rPr lang="pt-BR" sz="3600" dirty="0" smtClean="0"/>
              <a:t>Gerenciamento de custos do projeto</a:t>
            </a:r>
          </a:p>
          <a:p>
            <a:r>
              <a:rPr lang="pt-BR" sz="3600" dirty="0" smtClean="0"/>
              <a:t>Gerenciamento da qualidade do projeto</a:t>
            </a:r>
          </a:p>
          <a:p>
            <a:r>
              <a:rPr lang="pt-BR" sz="3600" dirty="0" smtClean="0"/>
              <a:t>Gerenciamento de recursos humanos do projeto</a:t>
            </a:r>
          </a:p>
          <a:p>
            <a:r>
              <a:rPr lang="pt-BR" sz="3600" dirty="0" smtClean="0"/>
              <a:t>Gerenciamento das comunicações do projeto</a:t>
            </a:r>
          </a:p>
          <a:p>
            <a:r>
              <a:rPr lang="pt-BR" sz="3600" dirty="0" smtClean="0"/>
              <a:t>Gerenciamento de riscos do projeto</a:t>
            </a:r>
          </a:p>
          <a:p>
            <a:r>
              <a:rPr lang="pt-BR" sz="3600" dirty="0" smtClean="0"/>
              <a:t>Gerenciamento de aquisições do projeto</a:t>
            </a:r>
          </a:p>
          <a:p>
            <a:r>
              <a:rPr lang="pt-BR" sz="3600" dirty="0" smtClean="0"/>
              <a:t>Gerenciamento de stakeholders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Áreas</a:t>
            </a:r>
            <a:r>
              <a:rPr lang="en-US" dirty="0" smtClean="0"/>
              <a:t> do PMBOK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Algumas</a:t>
            </a:r>
            <a:r>
              <a:rPr lang="en-US" dirty="0" smtClean="0"/>
              <a:t> das 10 </a:t>
            </a:r>
            <a:r>
              <a:rPr lang="en-US" dirty="0" err="1" smtClean="0"/>
              <a:t>áreas</a:t>
            </a:r>
            <a:r>
              <a:rPr lang="en-US" dirty="0" smtClean="0"/>
              <a:t> </a:t>
            </a:r>
            <a:r>
              <a:rPr lang="en-US" dirty="0" err="1" smtClean="0"/>
              <a:t>serão</a:t>
            </a:r>
            <a:r>
              <a:rPr lang="en-US" dirty="0" smtClean="0"/>
              <a:t> </a:t>
            </a:r>
            <a:r>
              <a:rPr lang="en-US" dirty="0" err="1" smtClean="0"/>
              <a:t>detalhadas</a:t>
            </a:r>
            <a:r>
              <a:rPr lang="en-US" dirty="0" smtClean="0"/>
              <a:t> </a:t>
            </a:r>
            <a:r>
              <a:rPr lang="en-US" dirty="0" err="1" smtClean="0"/>
              <a:t>nesta</a:t>
            </a:r>
            <a:r>
              <a:rPr lang="en-US" dirty="0" smtClean="0"/>
              <a:t> </a:t>
            </a:r>
            <a:r>
              <a:rPr lang="en-US" dirty="0" err="1" smtClean="0"/>
              <a:t>disciplina</a:t>
            </a:r>
            <a:endParaRPr lang="en-US" dirty="0" smtClean="0"/>
          </a:p>
          <a:p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áreas</a:t>
            </a:r>
            <a:r>
              <a:rPr lang="en-US" dirty="0" smtClean="0"/>
              <a:t> </a:t>
            </a:r>
            <a:r>
              <a:rPr lang="en-US" dirty="0" err="1" smtClean="0"/>
              <a:t>serão</a:t>
            </a:r>
            <a:r>
              <a:rPr lang="en-US" dirty="0" smtClean="0"/>
              <a:t> </a:t>
            </a:r>
            <a:r>
              <a:rPr lang="en-US" dirty="0" err="1" smtClean="0"/>
              <a:t>assunto</a:t>
            </a:r>
            <a:r>
              <a:rPr lang="en-US" dirty="0" smtClean="0"/>
              <a:t> </a:t>
            </a:r>
            <a:r>
              <a:rPr lang="en-US" dirty="0" err="1" smtClean="0"/>
              <a:t>detalhado</a:t>
            </a:r>
            <a:r>
              <a:rPr lang="en-US" dirty="0" smtClean="0"/>
              <a:t> </a:t>
            </a:r>
            <a:r>
              <a:rPr lang="en-US" dirty="0" err="1" smtClean="0"/>
              <a:t>nas</a:t>
            </a:r>
            <a:r>
              <a:rPr lang="en-US" dirty="0" smtClean="0"/>
              <a:t> </a:t>
            </a:r>
            <a:r>
              <a:rPr lang="en-US" dirty="0" err="1" smtClean="0"/>
              <a:t>disciplinas</a:t>
            </a:r>
            <a:r>
              <a:rPr lang="en-US" dirty="0" smtClean="0"/>
              <a:t> “</a:t>
            </a:r>
            <a:r>
              <a:rPr lang="en-US" dirty="0" err="1" smtClean="0"/>
              <a:t>Gerência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r>
              <a:rPr lang="en-US" dirty="0" smtClean="0"/>
              <a:t>” e/</a:t>
            </a:r>
            <a:r>
              <a:rPr lang="en-US" dirty="0" err="1" smtClean="0"/>
              <a:t>ou</a:t>
            </a:r>
            <a:r>
              <a:rPr lang="en-US" dirty="0" smtClean="0"/>
              <a:t> “</a:t>
            </a:r>
            <a:r>
              <a:rPr lang="en-US" dirty="0" err="1" smtClean="0"/>
              <a:t>Qualidade</a:t>
            </a:r>
            <a:r>
              <a:rPr lang="en-US" dirty="0" smtClean="0"/>
              <a:t> de Software” e/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optativas</a:t>
            </a:r>
            <a:r>
              <a:rPr lang="en-US" dirty="0" smtClean="0"/>
              <a:t> de </a:t>
            </a:r>
            <a:r>
              <a:rPr lang="en-US" dirty="0" err="1" smtClean="0"/>
              <a:t>cursos</a:t>
            </a:r>
            <a:r>
              <a:rPr lang="en-US" dirty="0" smtClean="0"/>
              <a:t> de </a:t>
            </a:r>
            <a:r>
              <a:rPr lang="en-US" dirty="0" err="1" smtClean="0"/>
              <a:t>Administração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1 - Gerenciamento de integração do projeto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Processos</a:t>
            </a:r>
            <a:r>
              <a:rPr lang="en-US" dirty="0" smtClean="0"/>
              <a:t> e </a:t>
            </a:r>
            <a:r>
              <a:rPr lang="en-US" dirty="0" err="1" smtClean="0"/>
              <a:t>atividades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assegurar</a:t>
            </a:r>
            <a:r>
              <a:rPr lang="en-US" dirty="0" smtClean="0"/>
              <a:t> a </a:t>
            </a:r>
            <a:r>
              <a:rPr lang="en-US" dirty="0" err="1" smtClean="0"/>
              <a:t>coordenação</a:t>
            </a:r>
            <a:r>
              <a:rPr lang="en-US" dirty="0" smtClean="0"/>
              <a:t> das </a:t>
            </a:r>
            <a:r>
              <a:rPr lang="en-US" dirty="0" err="1" smtClean="0"/>
              <a:t>várias</a:t>
            </a:r>
            <a:r>
              <a:rPr lang="en-US" dirty="0" smtClean="0"/>
              <a:t> </a:t>
            </a:r>
            <a:r>
              <a:rPr lang="en-US" dirty="0" err="1" smtClean="0"/>
              <a:t>partes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Alguns</a:t>
            </a:r>
            <a:r>
              <a:rPr lang="en-US" dirty="0" smtClean="0"/>
              <a:t> </a:t>
            </a:r>
            <a:r>
              <a:rPr lang="en-US" dirty="0" err="1" smtClean="0"/>
              <a:t>resultados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gestão</a:t>
            </a:r>
            <a:r>
              <a:rPr lang="en-US" dirty="0" smtClean="0"/>
              <a:t>: </a:t>
            </a:r>
          </a:p>
          <a:p>
            <a:pPr lvl="1"/>
            <a:r>
              <a:rPr lang="en-US" dirty="0" err="1" smtClean="0"/>
              <a:t>Termo</a:t>
            </a:r>
            <a:r>
              <a:rPr lang="en-US" dirty="0" smtClean="0"/>
              <a:t> de </a:t>
            </a:r>
            <a:r>
              <a:rPr lang="en-US" dirty="0" err="1" smtClean="0"/>
              <a:t>Autorização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pPr lvl="1"/>
            <a:r>
              <a:rPr lang="en-US" dirty="0" err="1" smtClean="0"/>
              <a:t>Definição</a:t>
            </a:r>
            <a:r>
              <a:rPr lang="en-US" dirty="0" smtClean="0"/>
              <a:t> do </a:t>
            </a:r>
            <a:r>
              <a:rPr lang="en-US" dirty="0" err="1" smtClean="0"/>
              <a:t>escopo</a:t>
            </a:r>
            <a:endParaRPr lang="en-US" dirty="0" smtClean="0"/>
          </a:p>
          <a:p>
            <a:pPr lvl="1"/>
            <a:r>
              <a:rPr lang="en-US" dirty="0" smtClean="0"/>
              <a:t>Plano de </a:t>
            </a:r>
            <a:r>
              <a:rPr lang="en-US" dirty="0" err="1" smtClean="0"/>
              <a:t>Projeto</a:t>
            </a:r>
            <a:endParaRPr lang="en-US" dirty="0" smtClean="0"/>
          </a:p>
          <a:p>
            <a:pPr lvl="1"/>
            <a:r>
              <a:rPr lang="en-US" dirty="0" err="1" smtClean="0"/>
              <a:t>Entregas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pPr lvl="1"/>
            <a:r>
              <a:rPr lang="en-US" dirty="0" err="1" smtClean="0"/>
              <a:t>Produtos</a:t>
            </a:r>
            <a:r>
              <a:rPr lang="en-US" dirty="0" smtClean="0"/>
              <a:t>/</a:t>
            </a:r>
            <a:r>
              <a:rPr lang="en-US" dirty="0" err="1" smtClean="0"/>
              <a:t>serviços</a:t>
            </a:r>
            <a:r>
              <a:rPr lang="en-US" dirty="0" smtClean="0"/>
              <a:t> </a:t>
            </a:r>
            <a:r>
              <a:rPr lang="en-US" dirty="0" err="1" smtClean="0"/>
              <a:t>finais</a:t>
            </a:r>
            <a:endParaRPr lang="en-US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Termo</a:t>
            </a:r>
            <a:r>
              <a:rPr lang="en-US" dirty="0" smtClean="0"/>
              <a:t> de </a:t>
            </a:r>
            <a:r>
              <a:rPr lang="en-US" dirty="0" err="1" smtClean="0"/>
              <a:t>Autorização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Descrição</a:t>
            </a:r>
            <a:r>
              <a:rPr lang="en-US" dirty="0" smtClean="0"/>
              <a:t> do </a:t>
            </a:r>
            <a:r>
              <a:rPr lang="en-US" dirty="0" err="1" smtClean="0"/>
              <a:t>produto</a:t>
            </a:r>
            <a:r>
              <a:rPr lang="en-US" dirty="0" smtClean="0"/>
              <a:t>/</a:t>
            </a:r>
            <a:r>
              <a:rPr lang="en-US" dirty="0" err="1" smtClean="0"/>
              <a:t>serviço</a:t>
            </a:r>
            <a:endParaRPr lang="en-US" dirty="0" smtClean="0"/>
          </a:p>
          <a:p>
            <a:r>
              <a:rPr lang="en-US" dirty="0" err="1" smtClean="0"/>
              <a:t>Propósitos</a:t>
            </a:r>
            <a:r>
              <a:rPr lang="en-US" dirty="0" smtClean="0"/>
              <a:t>/</a:t>
            </a:r>
            <a:r>
              <a:rPr lang="en-US" dirty="0" err="1" smtClean="0"/>
              <a:t>justificativas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Expectativas</a:t>
            </a:r>
            <a:r>
              <a:rPr lang="en-US" dirty="0" smtClean="0"/>
              <a:t> dos stakeholders</a:t>
            </a:r>
          </a:p>
          <a:p>
            <a:r>
              <a:rPr lang="en-US" dirty="0" err="1" smtClean="0"/>
              <a:t>Organizações</a:t>
            </a:r>
            <a:r>
              <a:rPr lang="en-US" dirty="0" smtClean="0"/>
              <a:t> (e </a:t>
            </a:r>
            <a:r>
              <a:rPr lang="en-US" dirty="0" err="1" smtClean="0"/>
              <a:t>partes</a:t>
            </a:r>
            <a:r>
              <a:rPr lang="en-US" dirty="0" smtClean="0"/>
              <a:t>)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irão</a:t>
            </a:r>
            <a:r>
              <a:rPr lang="en-US" dirty="0" smtClean="0"/>
              <a:t> </a:t>
            </a:r>
            <a:r>
              <a:rPr lang="en-US" dirty="0" err="1" smtClean="0"/>
              <a:t>atuar</a:t>
            </a:r>
            <a:r>
              <a:rPr lang="en-US" dirty="0" smtClean="0"/>
              <a:t> no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Suposições</a:t>
            </a:r>
            <a:r>
              <a:rPr lang="en-US" dirty="0" smtClean="0"/>
              <a:t>/</a:t>
            </a:r>
            <a:r>
              <a:rPr lang="en-US" dirty="0" err="1" smtClean="0"/>
              <a:t>restrições</a:t>
            </a:r>
            <a:endParaRPr lang="en-US" dirty="0" smtClean="0"/>
          </a:p>
          <a:p>
            <a:r>
              <a:rPr lang="en-US" dirty="0" err="1" smtClean="0"/>
              <a:t>Orçamento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4000" dirty="0" err="1" smtClean="0"/>
              <a:t>Definição</a:t>
            </a:r>
            <a:r>
              <a:rPr lang="en-US" sz="4000" dirty="0" smtClean="0"/>
              <a:t> do </a:t>
            </a:r>
            <a:r>
              <a:rPr lang="en-US" sz="4000" dirty="0" err="1" smtClean="0"/>
              <a:t>escopo</a:t>
            </a:r>
            <a:r>
              <a:rPr lang="en-US" sz="4000" dirty="0" smtClean="0"/>
              <a:t> </a:t>
            </a:r>
            <a:r>
              <a:rPr lang="en-US" sz="4000" dirty="0" err="1" smtClean="0"/>
              <a:t>preliminar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Características</a:t>
            </a:r>
            <a:r>
              <a:rPr lang="en-US" dirty="0" smtClean="0"/>
              <a:t> do </a:t>
            </a:r>
            <a:r>
              <a:rPr lang="en-US" dirty="0" err="1" smtClean="0"/>
              <a:t>produto</a:t>
            </a:r>
            <a:r>
              <a:rPr lang="en-US" dirty="0" smtClean="0"/>
              <a:t>, </a:t>
            </a:r>
            <a:r>
              <a:rPr lang="en-US" dirty="0" err="1" smtClean="0"/>
              <a:t>critérios</a:t>
            </a:r>
            <a:r>
              <a:rPr lang="en-US" dirty="0" smtClean="0"/>
              <a:t> de </a:t>
            </a:r>
            <a:r>
              <a:rPr lang="en-US" dirty="0" err="1" smtClean="0"/>
              <a:t>aceitação</a:t>
            </a:r>
            <a:r>
              <a:rPr lang="en-US" dirty="0" smtClean="0"/>
              <a:t> e </a:t>
            </a:r>
            <a:r>
              <a:rPr lang="en-US" dirty="0" err="1" smtClean="0"/>
              <a:t>aprovação</a:t>
            </a:r>
            <a:endParaRPr lang="en-US" dirty="0" smtClean="0"/>
          </a:p>
          <a:p>
            <a:r>
              <a:rPr lang="en-US" dirty="0" err="1" smtClean="0"/>
              <a:t>Limites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Produtos</a:t>
            </a:r>
            <a:r>
              <a:rPr lang="en-US" dirty="0" smtClean="0"/>
              <a:t> e </a:t>
            </a:r>
            <a:r>
              <a:rPr lang="en-US" dirty="0" err="1" smtClean="0"/>
              <a:t>entregas</a:t>
            </a:r>
            <a:r>
              <a:rPr lang="en-US" dirty="0" smtClean="0"/>
              <a:t> </a:t>
            </a:r>
            <a:r>
              <a:rPr lang="en-US" dirty="0" err="1" smtClean="0"/>
              <a:t>principais</a:t>
            </a:r>
            <a:endParaRPr lang="en-US" dirty="0" smtClean="0"/>
          </a:p>
          <a:p>
            <a:r>
              <a:rPr lang="en-US" dirty="0" err="1" smtClean="0"/>
              <a:t>Organização</a:t>
            </a:r>
            <a:r>
              <a:rPr lang="en-US" dirty="0" smtClean="0"/>
              <a:t> </a:t>
            </a:r>
            <a:r>
              <a:rPr lang="en-US" dirty="0" err="1" smtClean="0"/>
              <a:t>inicial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Riscos</a:t>
            </a:r>
            <a:r>
              <a:rPr lang="en-US" dirty="0" smtClean="0"/>
              <a:t> </a:t>
            </a:r>
            <a:r>
              <a:rPr lang="en-US" dirty="0" err="1" smtClean="0"/>
              <a:t>iniciais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Plano de </a:t>
            </a:r>
            <a:r>
              <a:rPr lang="en-US" dirty="0" err="1" smtClean="0"/>
              <a:t>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Vários</a:t>
            </a:r>
            <a:r>
              <a:rPr lang="en-US" dirty="0" smtClean="0"/>
              <a:t> </a:t>
            </a:r>
            <a:r>
              <a:rPr lang="en-US" dirty="0" err="1" smtClean="0"/>
              <a:t>modelos</a:t>
            </a:r>
            <a:r>
              <a:rPr lang="en-US" dirty="0" smtClean="0"/>
              <a:t> </a:t>
            </a:r>
            <a:r>
              <a:rPr lang="en-US" dirty="0" err="1" smtClean="0"/>
              <a:t>podem</a:t>
            </a:r>
            <a:r>
              <a:rPr lang="en-US" dirty="0" smtClean="0"/>
              <a:t> ser </a:t>
            </a:r>
            <a:r>
              <a:rPr lang="en-US" dirty="0" err="1" smtClean="0"/>
              <a:t>usados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Variável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termos</a:t>
            </a:r>
            <a:r>
              <a:rPr lang="en-US" dirty="0" smtClean="0"/>
              <a:t> de </a:t>
            </a:r>
            <a:r>
              <a:rPr lang="en-US" dirty="0" err="1" smtClean="0"/>
              <a:t>tipo</a:t>
            </a:r>
            <a:r>
              <a:rPr lang="en-US" dirty="0" smtClean="0"/>
              <a:t>, </a:t>
            </a:r>
            <a:r>
              <a:rPr lang="en-US" dirty="0" err="1" smtClean="0"/>
              <a:t>tamanho</a:t>
            </a:r>
            <a:r>
              <a:rPr lang="en-US" dirty="0" smtClean="0"/>
              <a:t>, </a:t>
            </a:r>
            <a:r>
              <a:rPr lang="en-US" dirty="0" err="1" smtClean="0"/>
              <a:t>detalhes</a:t>
            </a:r>
            <a:endParaRPr lang="en-US" dirty="0" smtClean="0"/>
          </a:p>
          <a:p>
            <a:r>
              <a:rPr lang="en-US" dirty="0" err="1" smtClean="0"/>
              <a:t>Deve</a:t>
            </a:r>
            <a:r>
              <a:rPr lang="en-US" dirty="0" smtClean="0"/>
              <a:t> ser </a:t>
            </a:r>
            <a:r>
              <a:rPr lang="en-US" dirty="0" err="1" smtClean="0"/>
              <a:t>constantemente</a:t>
            </a:r>
            <a:r>
              <a:rPr lang="en-US" dirty="0" smtClean="0"/>
              <a:t> </a:t>
            </a:r>
            <a:r>
              <a:rPr lang="en-US" dirty="0" err="1" smtClean="0"/>
              <a:t>revisado</a:t>
            </a:r>
            <a:endParaRPr lang="en-US" dirty="0" smtClean="0"/>
          </a:p>
          <a:p>
            <a:r>
              <a:rPr lang="en-US" dirty="0" err="1" smtClean="0"/>
              <a:t>Frequentemente</a:t>
            </a:r>
            <a:r>
              <a:rPr lang="en-US" dirty="0" smtClean="0"/>
              <a:t> </a:t>
            </a:r>
            <a:r>
              <a:rPr lang="en-US" dirty="0" err="1" smtClean="0"/>
              <a:t>feito</a:t>
            </a:r>
            <a:r>
              <a:rPr lang="en-US" dirty="0" smtClean="0"/>
              <a:t> com </a:t>
            </a:r>
            <a:r>
              <a:rPr lang="en-US" dirty="0" err="1" smtClean="0"/>
              <a:t>poucas</a:t>
            </a:r>
            <a:r>
              <a:rPr lang="en-US" dirty="0" smtClean="0"/>
              <a:t> </a:t>
            </a:r>
            <a:r>
              <a:rPr lang="en-US" dirty="0" err="1" smtClean="0"/>
              <a:t>noções</a:t>
            </a:r>
            <a:r>
              <a:rPr lang="en-US" dirty="0" smtClean="0"/>
              <a:t> do </a:t>
            </a:r>
            <a:r>
              <a:rPr lang="en-US" dirty="0" err="1" smtClean="0"/>
              <a:t>problema</a:t>
            </a:r>
            <a:r>
              <a:rPr lang="en-US" dirty="0" smtClean="0"/>
              <a:t>/</a:t>
            </a:r>
            <a:r>
              <a:rPr lang="en-US" dirty="0" err="1" smtClean="0"/>
              <a:t>requisitos</a:t>
            </a:r>
            <a:r>
              <a:rPr lang="en-US" dirty="0" smtClean="0"/>
              <a:t>/</a:t>
            </a:r>
            <a:r>
              <a:rPr lang="en-US" dirty="0" err="1" smtClean="0"/>
              <a:t>domínio</a:t>
            </a:r>
            <a:r>
              <a:rPr lang="en-US" dirty="0" smtClean="0"/>
              <a:t>…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Plano de </a:t>
            </a:r>
            <a:r>
              <a:rPr lang="en-US" dirty="0" err="1" smtClean="0"/>
              <a:t>Projeto</a:t>
            </a:r>
            <a:r>
              <a:rPr lang="en-US" dirty="0" smtClean="0"/>
              <a:t> - </a:t>
            </a:r>
            <a:r>
              <a:rPr lang="en-US" dirty="0" err="1" smtClean="0"/>
              <a:t>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pt-BR" sz="3800" dirty="0" smtClean="0"/>
              <a:t>1 – Introdução (descrição breve da situação atual)</a:t>
            </a:r>
          </a:p>
          <a:p>
            <a:pPr>
              <a:buNone/>
            </a:pPr>
            <a:r>
              <a:rPr lang="pt-BR" sz="3800" dirty="0" smtClean="0"/>
              <a:t>2 – Qual o problema a ser resolvido (escopo em alto nível)</a:t>
            </a:r>
          </a:p>
          <a:p>
            <a:pPr>
              <a:buNone/>
            </a:pPr>
            <a:r>
              <a:rPr lang="pt-BR" sz="3800" dirty="0" smtClean="0"/>
              <a:t>3 – Objetivos</a:t>
            </a:r>
          </a:p>
          <a:p>
            <a:pPr>
              <a:buNone/>
            </a:pPr>
            <a:r>
              <a:rPr lang="pt-BR" sz="3800" dirty="0" smtClean="0"/>
              <a:t>4 – Possíveis soluções (em alto nível, sem muitos detalhes)</a:t>
            </a:r>
          </a:p>
          <a:p>
            <a:pPr>
              <a:buNone/>
            </a:pPr>
            <a:r>
              <a:rPr lang="pt-BR" sz="3800" dirty="0" smtClean="0"/>
              <a:t>5 – Componentes necessários (hardware, software, sistema de comunicação, máquinas, sensores, recursos em geral)</a:t>
            </a:r>
          </a:p>
          <a:p>
            <a:pPr>
              <a:buNone/>
            </a:pPr>
            <a:r>
              <a:rPr lang="pt-BR" sz="3800" dirty="0" smtClean="0"/>
              <a:t>6 – Equipe (pessoas, experiências, formação, duração no projeto, decomposição, habilidades necessárias)</a:t>
            </a:r>
          </a:p>
          <a:p>
            <a:pPr>
              <a:buNone/>
            </a:pPr>
            <a:r>
              <a:rPr lang="pt-BR" sz="3800" dirty="0" smtClean="0"/>
              <a:t>7 – Cronograma (incluindo </a:t>
            </a:r>
            <a:r>
              <a:rPr lang="pt-BR" sz="3800" i="1" dirty="0" err="1" smtClean="0"/>
              <a:t>milestones</a:t>
            </a:r>
            <a:r>
              <a:rPr lang="pt-BR" sz="3800" i="1" dirty="0" smtClean="0"/>
              <a:t> e </a:t>
            </a:r>
            <a:r>
              <a:rPr lang="pt-BR" sz="3800" i="1" dirty="0" err="1" smtClean="0"/>
              <a:t>deliverables</a:t>
            </a:r>
            <a:r>
              <a:rPr lang="pt-BR" sz="3800" i="1" dirty="0" smtClean="0"/>
              <a:t>)</a:t>
            </a:r>
          </a:p>
          <a:p>
            <a:pPr>
              <a:buNone/>
            </a:pPr>
            <a:r>
              <a:rPr lang="pt-BR" sz="3800" dirty="0" smtClean="0"/>
              <a:t>8 – Riscos (identificação, análise, planejamento)</a:t>
            </a:r>
          </a:p>
          <a:p>
            <a:pPr>
              <a:buNone/>
            </a:pPr>
            <a:r>
              <a:rPr lang="en-US" sz="3800" dirty="0" smtClean="0"/>
              <a:t>9 – Interfaces/</a:t>
            </a:r>
            <a:r>
              <a:rPr lang="en-US" sz="3800" dirty="0" err="1" smtClean="0"/>
              <a:t>dependências</a:t>
            </a:r>
            <a:r>
              <a:rPr lang="en-US" sz="3800" dirty="0" smtClean="0"/>
              <a:t> com </a:t>
            </a:r>
            <a:r>
              <a:rPr lang="en-US" sz="3800" dirty="0" err="1" smtClean="0"/>
              <a:t>outros</a:t>
            </a:r>
            <a:r>
              <a:rPr lang="en-US" sz="3800" dirty="0" smtClean="0"/>
              <a:t> </a:t>
            </a:r>
            <a:r>
              <a:rPr lang="en-US" sz="3800" dirty="0" err="1" smtClean="0"/>
              <a:t>projetos</a:t>
            </a:r>
            <a:r>
              <a:rPr lang="en-US" sz="3800" dirty="0" smtClean="0"/>
              <a:t>, </a:t>
            </a:r>
            <a:r>
              <a:rPr lang="en-US" sz="3800" dirty="0" err="1" smtClean="0"/>
              <a:t>organizações</a:t>
            </a:r>
            <a:r>
              <a:rPr lang="en-US" sz="3800" dirty="0" smtClean="0"/>
              <a:t>/</a:t>
            </a:r>
            <a:r>
              <a:rPr lang="en-US" sz="3800" dirty="0" err="1" smtClean="0"/>
              <a:t>departamentos</a:t>
            </a:r>
            <a:r>
              <a:rPr lang="en-US" sz="3800" dirty="0" smtClean="0"/>
              <a:t>/</a:t>
            </a:r>
            <a:r>
              <a:rPr lang="en-US" sz="3800" dirty="0" err="1" smtClean="0"/>
              <a:t>equipes</a:t>
            </a:r>
            <a:r>
              <a:rPr lang="en-US" sz="3800" dirty="0" smtClean="0"/>
              <a:t>, ...</a:t>
            </a:r>
          </a:p>
          <a:p>
            <a:pPr>
              <a:buNone/>
            </a:pPr>
            <a:r>
              <a:rPr lang="en-US" sz="3800" dirty="0" smtClean="0"/>
              <a:t>10 – </a:t>
            </a:r>
            <a:r>
              <a:rPr lang="en-US" sz="3800" dirty="0" err="1" smtClean="0"/>
              <a:t>Estimativas</a:t>
            </a:r>
            <a:r>
              <a:rPr lang="en-US" sz="3800" dirty="0" smtClean="0"/>
              <a:t> de </a:t>
            </a:r>
            <a:r>
              <a:rPr lang="en-US" sz="3800" dirty="0" err="1" smtClean="0"/>
              <a:t>Custos</a:t>
            </a:r>
            <a:r>
              <a:rPr lang="en-US" sz="3800" dirty="0" smtClean="0"/>
              <a:t> </a:t>
            </a:r>
          </a:p>
          <a:p>
            <a:pPr>
              <a:buNone/>
            </a:pPr>
            <a:r>
              <a:rPr lang="en-US" sz="3800" dirty="0" smtClean="0"/>
              <a:t>11 – </a:t>
            </a:r>
            <a:r>
              <a:rPr lang="en-US" sz="3800" dirty="0" err="1" smtClean="0"/>
              <a:t>Questões</a:t>
            </a:r>
            <a:r>
              <a:rPr lang="en-US" sz="3800" dirty="0" smtClean="0"/>
              <a:t> </a:t>
            </a:r>
            <a:r>
              <a:rPr lang="en-US" sz="3800" dirty="0" err="1" smtClean="0"/>
              <a:t>em</a:t>
            </a:r>
            <a:r>
              <a:rPr lang="en-US" sz="3800" dirty="0" smtClean="0"/>
              <a:t> </a:t>
            </a:r>
            <a:r>
              <a:rPr lang="en-US" sz="3800" dirty="0" err="1" smtClean="0"/>
              <a:t>aberto</a:t>
            </a:r>
            <a:r>
              <a:rPr lang="en-US" sz="3800" dirty="0" smtClean="0"/>
              <a:t> e </a:t>
            </a:r>
            <a:r>
              <a:rPr lang="en-US" sz="3800" dirty="0" err="1" smtClean="0"/>
              <a:t>decisões</a:t>
            </a:r>
            <a:r>
              <a:rPr lang="en-US" sz="3800" dirty="0" smtClean="0"/>
              <a:t> </a:t>
            </a:r>
            <a:r>
              <a:rPr lang="en-US" sz="3800" dirty="0" err="1" smtClean="0"/>
              <a:t>pendentes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Entregas</a:t>
            </a:r>
            <a:r>
              <a:rPr lang="en-US" dirty="0" smtClean="0"/>
              <a:t>/</a:t>
            </a:r>
            <a:r>
              <a:rPr lang="en-US" dirty="0" err="1" smtClean="0"/>
              <a:t>Produtos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Peças</a:t>
            </a:r>
            <a:r>
              <a:rPr lang="en-US" dirty="0" smtClean="0"/>
              <a:t>, </a:t>
            </a:r>
            <a:r>
              <a:rPr lang="en-US" dirty="0" err="1" smtClean="0"/>
              <a:t>componentes</a:t>
            </a:r>
            <a:r>
              <a:rPr lang="en-US" dirty="0" smtClean="0"/>
              <a:t>, </a:t>
            </a:r>
            <a:r>
              <a:rPr lang="en-US" dirty="0" err="1" smtClean="0"/>
              <a:t>resultados</a:t>
            </a:r>
            <a:r>
              <a:rPr lang="en-US" dirty="0" smtClean="0"/>
              <a:t> </a:t>
            </a:r>
            <a:r>
              <a:rPr lang="en-US" dirty="0" err="1" smtClean="0"/>
              <a:t>experimentais</a:t>
            </a:r>
            <a:r>
              <a:rPr lang="en-US" dirty="0" smtClean="0"/>
              <a:t>, </a:t>
            </a:r>
            <a:r>
              <a:rPr lang="en-US" dirty="0" err="1" smtClean="0"/>
              <a:t>relatórios</a:t>
            </a:r>
            <a:endParaRPr lang="en-US" dirty="0" smtClean="0"/>
          </a:p>
          <a:p>
            <a:r>
              <a:rPr lang="en-US" dirty="0" err="1" smtClean="0"/>
              <a:t>Avaliações</a:t>
            </a:r>
            <a:r>
              <a:rPr lang="en-US" dirty="0" smtClean="0"/>
              <a:t>, </a:t>
            </a:r>
            <a:r>
              <a:rPr lang="en-US" dirty="0" err="1" smtClean="0"/>
              <a:t>análises</a:t>
            </a:r>
            <a:r>
              <a:rPr lang="en-US" dirty="0" smtClean="0"/>
              <a:t>, </a:t>
            </a:r>
            <a:r>
              <a:rPr lang="en-US" dirty="0" err="1" smtClean="0"/>
              <a:t>decisões</a:t>
            </a:r>
            <a:endParaRPr lang="en-US" dirty="0" smtClean="0"/>
          </a:p>
          <a:p>
            <a:r>
              <a:rPr lang="en-US" dirty="0" err="1" smtClean="0"/>
              <a:t>Manuais</a:t>
            </a:r>
            <a:r>
              <a:rPr lang="en-US" dirty="0" smtClean="0"/>
              <a:t>, </a:t>
            </a:r>
            <a:r>
              <a:rPr lang="en-US" dirty="0" err="1" smtClean="0"/>
              <a:t>treinamentos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2 - Gerenciamento do escopo do projeto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Descrição</a:t>
            </a:r>
            <a:r>
              <a:rPr lang="en-US" dirty="0" smtClean="0"/>
              <a:t> </a:t>
            </a:r>
            <a:r>
              <a:rPr lang="en-US" dirty="0" err="1" smtClean="0"/>
              <a:t>documentada</a:t>
            </a:r>
            <a:r>
              <a:rPr lang="en-US" dirty="0" smtClean="0"/>
              <a:t> de um </a:t>
            </a:r>
            <a:r>
              <a:rPr lang="en-US" dirty="0" err="1" smtClean="0"/>
              <a:t>projeto</a:t>
            </a:r>
            <a:r>
              <a:rPr lang="en-US" dirty="0" smtClean="0"/>
              <a:t>, </a:t>
            </a:r>
            <a:r>
              <a:rPr lang="en-US" dirty="0" err="1" smtClean="0"/>
              <a:t>incluindo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Objetivos</a:t>
            </a:r>
            <a:endParaRPr lang="en-US" dirty="0" smtClean="0"/>
          </a:p>
          <a:p>
            <a:pPr lvl="1"/>
            <a:r>
              <a:rPr lang="en-US" dirty="0" err="1" smtClean="0"/>
              <a:t>Abordagem</a:t>
            </a:r>
            <a:endParaRPr lang="en-US" dirty="0" smtClean="0"/>
          </a:p>
          <a:p>
            <a:pPr lvl="1"/>
            <a:r>
              <a:rPr lang="en-US" dirty="0" err="1" smtClean="0"/>
              <a:t>Atividades</a:t>
            </a:r>
            <a:r>
              <a:rPr lang="en-US" dirty="0" smtClean="0"/>
              <a:t> </a:t>
            </a:r>
            <a:r>
              <a:rPr lang="en-US" dirty="0" err="1" smtClean="0"/>
              <a:t>necessárias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concluir</a:t>
            </a:r>
            <a:r>
              <a:rPr lang="en-US" dirty="0" smtClean="0"/>
              <a:t> o </a:t>
            </a:r>
            <a:r>
              <a:rPr lang="en-US" dirty="0" err="1" smtClean="0"/>
              <a:t>projeto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3 - Gerenciamento de tempo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dirty="0" err="1" smtClean="0"/>
              <a:t>Envolve</a:t>
            </a:r>
            <a:r>
              <a:rPr lang="en-US" dirty="0" smtClean="0"/>
              <a:t> </a:t>
            </a:r>
            <a:r>
              <a:rPr lang="en-US" dirty="0" err="1" smtClean="0"/>
              <a:t>diversas</a:t>
            </a:r>
            <a:r>
              <a:rPr lang="en-US" dirty="0" smtClean="0"/>
              <a:t> </a:t>
            </a:r>
            <a:r>
              <a:rPr lang="en-US" dirty="0" err="1" smtClean="0"/>
              <a:t>atividades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Definição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en-US" dirty="0" smtClean="0"/>
          </a:p>
          <a:p>
            <a:pPr lvl="1"/>
            <a:r>
              <a:rPr lang="en-US" dirty="0" err="1" smtClean="0"/>
              <a:t>Sequenciamento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en-US" dirty="0" smtClean="0"/>
          </a:p>
          <a:p>
            <a:pPr lvl="1"/>
            <a:r>
              <a:rPr lang="en-US" dirty="0" err="1" smtClean="0"/>
              <a:t>Estimativas</a:t>
            </a:r>
            <a:r>
              <a:rPr lang="en-US" dirty="0" smtClean="0"/>
              <a:t> de tempo (COCOMO e </a:t>
            </a:r>
            <a:r>
              <a:rPr lang="en-US" dirty="0" err="1" smtClean="0"/>
              <a:t>outros</a:t>
            </a:r>
            <a:r>
              <a:rPr lang="en-US" dirty="0" smtClean="0"/>
              <a:t> </a:t>
            </a:r>
            <a:r>
              <a:rPr lang="en-US" dirty="0" err="1" smtClean="0"/>
              <a:t>modelos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Preparo</a:t>
            </a:r>
            <a:r>
              <a:rPr lang="en-US" dirty="0" smtClean="0"/>
              <a:t> do </a:t>
            </a:r>
            <a:r>
              <a:rPr lang="en-US" dirty="0" err="1" smtClean="0"/>
              <a:t>cronograma</a:t>
            </a:r>
            <a:endParaRPr lang="en-US" dirty="0" smtClean="0"/>
          </a:p>
          <a:p>
            <a:pPr lvl="1"/>
            <a:r>
              <a:rPr lang="en-US" dirty="0" err="1" smtClean="0"/>
              <a:t>Controle</a:t>
            </a:r>
            <a:r>
              <a:rPr lang="en-US" dirty="0" smtClean="0"/>
              <a:t> do </a:t>
            </a:r>
            <a:r>
              <a:rPr lang="en-US" dirty="0" err="1" smtClean="0"/>
              <a:t>cronograma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Conceitos</a:t>
            </a:r>
            <a:r>
              <a:rPr lang="en-US" dirty="0" smtClean="0"/>
              <a:t> de </a:t>
            </a:r>
            <a:r>
              <a:rPr lang="en-US" dirty="0" err="1" smtClean="0"/>
              <a:t>Cronograma</a:t>
            </a:r>
            <a:r>
              <a:rPr lang="en-US" dirty="0" smtClean="0"/>
              <a:t> – Marcos (Milestones)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pt-BR" sz="2800" dirty="0" smtClean="0"/>
              <a:t>Ponto final de uma atividade de processo de software</a:t>
            </a:r>
          </a:p>
          <a:p>
            <a:r>
              <a:rPr lang="pt-BR" sz="2800" dirty="0" smtClean="0"/>
              <a:t>Cada marco deve ter associada uma saída formal (relatório, documento, apresentação, ...)</a:t>
            </a:r>
          </a:p>
          <a:p>
            <a:r>
              <a:rPr lang="pt-BR" sz="2800" dirty="0" smtClean="0"/>
              <a:t>Marcos devem representar o final de um estágio distinto de um projeto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Conceitos</a:t>
            </a:r>
            <a:r>
              <a:rPr lang="en-US" dirty="0" smtClean="0"/>
              <a:t> de </a:t>
            </a:r>
            <a:r>
              <a:rPr lang="en-US" dirty="0" err="1" smtClean="0"/>
              <a:t>Cronograma</a:t>
            </a:r>
            <a:r>
              <a:rPr lang="en-US" dirty="0" smtClean="0"/>
              <a:t> – </a:t>
            </a:r>
            <a:r>
              <a:rPr lang="en-US" dirty="0" err="1" smtClean="0"/>
              <a:t>Produtos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Entregas</a:t>
            </a:r>
            <a:r>
              <a:rPr lang="en-US" dirty="0" smtClean="0"/>
              <a:t> (Deliverables)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Resultado do projeto entregue ao cliente</a:t>
            </a:r>
          </a:p>
          <a:p>
            <a:r>
              <a:rPr lang="pt-BR" dirty="0" smtClean="0"/>
              <a:t>Normalmente os produtos a serem entregues são resultados de marcos</a:t>
            </a:r>
          </a:p>
          <a:p>
            <a:r>
              <a:rPr lang="pt-BR" dirty="0" smtClean="0"/>
              <a:t>ex. documentos de requisitos, modelo de arquitetura do software, software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 de Marcos e </a:t>
            </a:r>
            <a:r>
              <a:rPr lang="en-US" dirty="0" err="1" smtClean="0"/>
              <a:t>Produtos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2347913"/>
            <a:ext cx="6877050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Definição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Projetos</a:t>
            </a:r>
            <a:r>
              <a:rPr lang="en-US" dirty="0" smtClean="0"/>
              <a:t> </a:t>
            </a:r>
            <a:r>
              <a:rPr lang="en-US" dirty="0" err="1" smtClean="0"/>
              <a:t>devem</a:t>
            </a:r>
            <a:r>
              <a:rPr lang="en-US" dirty="0" smtClean="0"/>
              <a:t> ser </a:t>
            </a:r>
            <a:r>
              <a:rPr lang="en-US" dirty="0" err="1" smtClean="0"/>
              <a:t>divididos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atividades</a:t>
            </a:r>
            <a:r>
              <a:rPr lang="en-US" dirty="0" smtClean="0"/>
              <a:t> </a:t>
            </a:r>
            <a:r>
              <a:rPr lang="en-US" dirty="0" err="1" smtClean="0"/>
              <a:t>menores</a:t>
            </a:r>
            <a:r>
              <a:rPr lang="en-US" dirty="0" smtClean="0"/>
              <a:t>, </a:t>
            </a:r>
            <a:r>
              <a:rPr lang="en-US" dirty="0" err="1" smtClean="0"/>
              <a:t>atômicas</a:t>
            </a:r>
            <a:r>
              <a:rPr lang="en-US" dirty="0" smtClean="0"/>
              <a:t>, </a:t>
            </a:r>
            <a:r>
              <a:rPr lang="en-US" dirty="0" err="1" smtClean="0"/>
              <a:t>separadas</a:t>
            </a:r>
            <a:endParaRPr lang="en-US" dirty="0" smtClean="0"/>
          </a:p>
          <a:p>
            <a:r>
              <a:rPr lang="en-US" dirty="0" smtClean="0"/>
              <a:t>Tempo das </a:t>
            </a:r>
            <a:r>
              <a:rPr lang="en-US" dirty="0" err="1" smtClean="0"/>
              <a:t>atividades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Pelo</a:t>
            </a:r>
            <a:r>
              <a:rPr lang="en-US" dirty="0" smtClean="0"/>
              <a:t> </a:t>
            </a:r>
            <a:r>
              <a:rPr lang="en-US" dirty="0" err="1" smtClean="0"/>
              <a:t>menos</a:t>
            </a:r>
            <a:r>
              <a:rPr lang="en-US" dirty="0" smtClean="0"/>
              <a:t> 1 </a:t>
            </a:r>
            <a:r>
              <a:rPr lang="en-US" dirty="0" err="1" smtClean="0"/>
              <a:t>semana</a:t>
            </a:r>
            <a:endParaRPr lang="en-US" dirty="0" smtClean="0"/>
          </a:p>
          <a:p>
            <a:pPr lvl="1"/>
            <a:r>
              <a:rPr lang="en-US" dirty="0" smtClean="0"/>
              <a:t>No </a:t>
            </a:r>
            <a:r>
              <a:rPr lang="en-US" dirty="0" err="1" smtClean="0"/>
              <a:t>máximo</a:t>
            </a:r>
            <a:r>
              <a:rPr lang="en-US" dirty="0" smtClean="0"/>
              <a:t> 2 </a:t>
            </a:r>
            <a:r>
              <a:rPr lang="en-US" dirty="0" err="1" smtClean="0"/>
              <a:t>meses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Sequenciamento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Atividades</a:t>
            </a:r>
            <a:r>
              <a:rPr lang="en-US" dirty="0" smtClean="0"/>
              <a:t> </a:t>
            </a:r>
            <a:r>
              <a:rPr lang="en-US" dirty="0" err="1" smtClean="0"/>
              <a:t>podem</a:t>
            </a:r>
            <a:r>
              <a:rPr lang="en-US" dirty="0" smtClean="0"/>
              <a:t> ser</a:t>
            </a:r>
          </a:p>
          <a:p>
            <a:pPr lvl="1"/>
            <a:r>
              <a:rPr lang="en-US" dirty="0" err="1" smtClean="0"/>
              <a:t>Sequenciais</a:t>
            </a:r>
            <a:endParaRPr lang="en-US" dirty="0" smtClean="0"/>
          </a:p>
          <a:p>
            <a:pPr lvl="1"/>
            <a:r>
              <a:rPr lang="en-US" dirty="0" err="1" smtClean="0"/>
              <a:t>Independentes</a:t>
            </a:r>
            <a:endParaRPr lang="en-US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maior</a:t>
            </a:r>
            <a:r>
              <a:rPr lang="en-US" dirty="0" smtClean="0"/>
              <a:t> </a:t>
            </a:r>
            <a:r>
              <a:rPr lang="en-US" dirty="0" err="1" smtClean="0"/>
              <a:t>percurso</a:t>
            </a:r>
            <a:r>
              <a:rPr lang="en-US" dirty="0" smtClean="0"/>
              <a:t> das </a:t>
            </a:r>
            <a:r>
              <a:rPr lang="en-US" dirty="0" err="1" smtClean="0"/>
              <a:t>atividades</a:t>
            </a:r>
            <a:r>
              <a:rPr lang="en-US" dirty="0" smtClean="0"/>
              <a:t> é o </a:t>
            </a:r>
            <a:r>
              <a:rPr lang="en-US" dirty="0" err="1" smtClean="0"/>
              <a:t>caminho</a:t>
            </a:r>
            <a:r>
              <a:rPr lang="en-US" dirty="0" smtClean="0"/>
              <a:t> </a:t>
            </a:r>
            <a:r>
              <a:rPr lang="en-US" dirty="0" err="1" smtClean="0"/>
              <a:t>crítico</a:t>
            </a:r>
            <a:r>
              <a:rPr lang="en-US" dirty="0" smtClean="0"/>
              <a:t> (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pode</a:t>
            </a:r>
            <a:r>
              <a:rPr lang="en-US" dirty="0" smtClean="0"/>
              <a:t> ser </a:t>
            </a:r>
            <a:r>
              <a:rPr lang="en-US" dirty="0" err="1" smtClean="0"/>
              <a:t>paralelizado</a:t>
            </a:r>
            <a:r>
              <a:rPr lang="en-US" dirty="0" smtClean="0"/>
              <a:t>)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Representação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556793"/>
            <a:ext cx="9780509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Diagrama</a:t>
            </a:r>
            <a:r>
              <a:rPr lang="en-US" dirty="0" smtClean="0"/>
              <a:t> de </a:t>
            </a:r>
            <a:r>
              <a:rPr lang="en-US" dirty="0" err="1" smtClean="0"/>
              <a:t>Redes</a:t>
            </a:r>
            <a:r>
              <a:rPr lang="en-US" dirty="0" smtClean="0"/>
              <a:t> de </a:t>
            </a:r>
            <a:r>
              <a:rPr lang="en-US" dirty="0" err="1" smtClean="0"/>
              <a:t>Atividades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" y="1412776"/>
            <a:ext cx="7696200" cy="495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Diagrama</a:t>
            </a:r>
            <a:r>
              <a:rPr lang="en-US" dirty="0" smtClean="0"/>
              <a:t> de Barras de </a:t>
            </a:r>
            <a:r>
              <a:rPr lang="en-US" dirty="0" err="1" smtClean="0"/>
              <a:t>Atividades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7513" y="1570757"/>
            <a:ext cx="8307387" cy="495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Alocação</a:t>
            </a:r>
            <a:r>
              <a:rPr lang="en-US" dirty="0" smtClean="0"/>
              <a:t> – </a:t>
            </a:r>
            <a:r>
              <a:rPr lang="en-US" dirty="0" err="1" smtClean="0"/>
              <a:t>Equipe</a:t>
            </a:r>
            <a:r>
              <a:rPr lang="en-US" dirty="0" smtClean="0"/>
              <a:t>/Tempo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413" y="1844824"/>
            <a:ext cx="7875587" cy="464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4 - Gerenciamento de custos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Custos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decorrentes</a:t>
            </a:r>
            <a:r>
              <a:rPr lang="en-US" dirty="0" smtClean="0"/>
              <a:t> do </a:t>
            </a:r>
            <a:r>
              <a:rPr lang="en-US" dirty="0" err="1" smtClean="0"/>
              <a:t>fornecimento</a:t>
            </a:r>
            <a:r>
              <a:rPr lang="en-US" dirty="0" smtClean="0"/>
              <a:t> de </a:t>
            </a:r>
            <a:r>
              <a:rPr lang="en-US" dirty="0" err="1" smtClean="0"/>
              <a:t>recursos</a:t>
            </a:r>
            <a:r>
              <a:rPr lang="en-US" dirty="0" smtClean="0"/>
              <a:t> e </a:t>
            </a:r>
            <a:r>
              <a:rPr lang="en-US" dirty="0" err="1" smtClean="0"/>
              <a:t>serviços</a:t>
            </a:r>
            <a:r>
              <a:rPr lang="en-US" dirty="0" smtClean="0"/>
              <a:t> </a:t>
            </a:r>
            <a:r>
              <a:rPr lang="en-US" dirty="0" err="1" smtClean="0"/>
              <a:t>necessários</a:t>
            </a:r>
            <a:r>
              <a:rPr lang="en-US" dirty="0" smtClean="0"/>
              <a:t> </a:t>
            </a:r>
            <a:r>
              <a:rPr lang="en-US" dirty="0" err="1" smtClean="0"/>
              <a:t>às</a:t>
            </a:r>
            <a:r>
              <a:rPr lang="en-US" dirty="0" smtClean="0"/>
              <a:t> </a:t>
            </a:r>
            <a:r>
              <a:rPr lang="en-US" dirty="0" err="1" smtClean="0"/>
              <a:t>atividades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: </a:t>
            </a:r>
          </a:p>
          <a:p>
            <a:pPr lvl="1"/>
            <a:r>
              <a:rPr lang="en-US" dirty="0" err="1" smtClean="0"/>
              <a:t>pessoal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equipamentos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materiais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serviços</a:t>
            </a:r>
            <a:r>
              <a:rPr lang="en-US" dirty="0" smtClean="0"/>
              <a:t>, </a:t>
            </a:r>
          </a:p>
          <a:p>
            <a:pPr lvl="1"/>
            <a:r>
              <a:rPr lang="en-US" dirty="0" smtClean="0"/>
              <a:t>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13" y="104775"/>
            <a:ext cx="9070975" cy="664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13" y="1154113"/>
            <a:ext cx="9070975" cy="454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13" y="268288"/>
            <a:ext cx="9070975" cy="632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Avaliação</a:t>
            </a:r>
            <a:r>
              <a:rPr lang="en-US" dirty="0" smtClean="0"/>
              <a:t> de LOC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t-BR" dirty="0" smtClean="0"/>
              <a:t>+ fácil contagem</a:t>
            </a:r>
          </a:p>
          <a:p>
            <a:pPr>
              <a:buNone/>
            </a:pPr>
            <a:r>
              <a:rPr lang="pt-BR" dirty="0" smtClean="0"/>
              <a:t>+ comum a todos projetos</a:t>
            </a:r>
          </a:p>
          <a:p>
            <a:pPr>
              <a:buNone/>
            </a:pPr>
            <a:r>
              <a:rPr lang="pt-BR" dirty="0" smtClean="0"/>
              <a:t>+ Grande volume de dados/projetos</a:t>
            </a:r>
          </a:p>
          <a:p>
            <a:pPr>
              <a:buNone/>
            </a:pPr>
            <a:r>
              <a:rPr lang="pt-BR" dirty="0" smtClean="0"/>
              <a:t>- dependente de linguagem de programação</a:t>
            </a:r>
          </a:p>
          <a:p>
            <a:pPr>
              <a:buNone/>
            </a:pPr>
            <a:r>
              <a:rPr lang="pt-BR" dirty="0" smtClean="0"/>
              <a:t>- penalizam programas pequenos</a:t>
            </a:r>
          </a:p>
          <a:p>
            <a:pPr>
              <a:buNone/>
            </a:pPr>
            <a:r>
              <a:rPr lang="pt-BR" dirty="0" smtClean="0"/>
              <a:t>- Não mostra complexidade necessariamente</a:t>
            </a:r>
          </a:p>
          <a:p>
            <a:pPr>
              <a:buNone/>
            </a:pPr>
            <a:r>
              <a:rPr lang="pt-BR" dirty="0" smtClean="0"/>
              <a:t>- difícil aplicação a linguagens não procedimentais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se </a:t>
            </a:r>
            <a:r>
              <a:rPr lang="en-US" dirty="0" err="1" smtClean="0"/>
              <a:t>diz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bugs/KLOC?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“. After release, the number would rather be 1 to 5 bugs per </a:t>
            </a:r>
            <a:r>
              <a:rPr lang="en-US" dirty="0" err="1" smtClean="0"/>
              <a:t>kLOC</a:t>
            </a:r>
            <a:r>
              <a:rPr lang="en-US" dirty="0" smtClean="0"/>
              <a:t> in commercial software. For mission-critical code, the count can be as low as 0.1 bugs per </a:t>
            </a:r>
            <a:r>
              <a:rPr lang="en-US" dirty="0" err="1" smtClean="0"/>
              <a:t>kLOC</a:t>
            </a:r>
            <a:r>
              <a:rPr lang="en-US" dirty="0" smtClean="0"/>
              <a:t> (as in Shuttle software), depending on </a:t>
            </a:r>
            <a:r>
              <a:rPr lang="en-US" dirty="0" err="1" smtClean="0"/>
              <a:t>criticity</a:t>
            </a:r>
            <a:r>
              <a:rPr lang="en-US" dirty="0" smtClean="0"/>
              <a:t> and budget. Project size is also a factor.” - </a:t>
            </a:r>
            <a:r>
              <a:rPr lang="pt-BR" dirty="0" smtClean="0"/>
              <a:t> http://lwn.net/Articles/115566/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se </a:t>
            </a:r>
            <a:r>
              <a:rPr lang="en-US" dirty="0" err="1" smtClean="0"/>
              <a:t>diz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bugs/KLOC?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NASA has a defect density of 0.004 bugs/KLOC (</a:t>
            </a:r>
            <a:r>
              <a:rPr lang="en-US" dirty="0" err="1" smtClean="0"/>
              <a:t>vs</a:t>
            </a:r>
            <a:r>
              <a:rPr lang="en-US" dirty="0" smtClean="0"/>
              <a:t> 5.00 bugs/KLOC for the Industry) but this has a cost of $850.0/LOC (</a:t>
            </a:r>
            <a:r>
              <a:rPr lang="en-US" dirty="0" err="1" smtClean="0"/>
              <a:t>vs</a:t>
            </a:r>
            <a:r>
              <a:rPr lang="en-US" dirty="0" smtClean="0"/>
              <a:t> $5.0/LOC for the Industry). 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Valores típicos de bugs/KLOC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Mission-Critical Systems (e.g., Aerospace):</a:t>
            </a:r>
            <a:endParaRPr lang="pt-BR" dirty="0" smtClean="0"/>
          </a:p>
          <a:p>
            <a:pPr lvl="1"/>
            <a:r>
              <a:rPr lang="pt-BR" dirty="0" smtClean="0"/>
              <a:t>0.1 to 0.5 bugs per kLOC</a:t>
            </a:r>
          </a:p>
          <a:p>
            <a:r>
              <a:rPr lang="pt-BR" b="1" dirty="0" smtClean="0"/>
              <a:t>High-Quality Commercial Software: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1 to 10 bugs per kLOC</a:t>
            </a:r>
          </a:p>
          <a:p>
            <a:r>
              <a:rPr lang="pt-BR" b="1" dirty="0" smtClean="0"/>
              <a:t>Average Commercial Software: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15 to 50 bugs per kLOC</a:t>
            </a:r>
          </a:p>
          <a:p>
            <a:r>
              <a:rPr lang="pt-BR" b="1" dirty="0" smtClean="0"/>
              <a:t>Poor Quality Software: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50+ bugs per kLOC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Fontes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estabelecer</a:t>
            </a:r>
            <a:r>
              <a:rPr lang="en-US" dirty="0" smtClean="0"/>
              <a:t> </a:t>
            </a:r>
            <a:r>
              <a:rPr lang="en-US" dirty="0" err="1" smtClean="0"/>
              <a:t>custos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Modelos</a:t>
            </a:r>
            <a:r>
              <a:rPr lang="en-US" dirty="0" smtClean="0"/>
              <a:t> de </a:t>
            </a:r>
            <a:r>
              <a:rPr lang="en-US" dirty="0" err="1" smtClean="0"/>
              <a:t>estimativas</a:t>
            </a:r>
            <a:endParaRPr lang="en-US" dirty="0" smtClean="0"/>
          </a:p>
          <a:p>
            <a:r>
              <a:rPr lang="en-US" dirty="0" smtClean="0"/>
              <a:t>Bases de dados </a:t>
            </a:r>
            <a:r>
              <a:rPr lang="en-US" dirty="0" err="1" smtClean="0"/>
              <a:t>comerciais</a:t>
            </a:r>
            <a:r>
              <a:rPr lang="en-US" dirty="0" smtClean="0"/>
              <a:t> </a:t>
            </a:r>
            <a:r>
              <a:rPr lang="en-US" dirty="0" err="1" smtClean="0"/>
              <a:t>gerais</a:t>
            </a:r>
            <a:endParaRPr lang="en-US" dirty="0" smtClean="0"/>
          </a:p>
          <a:p>
            <a:r>
              <a:rPr lang="en-US" dirty="0" err="1" smtClean="0"/>
              <a:t>Arquivos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r>
              <a:rPr lang="en-US" dirty="0" smtClean="0"/>
              <a:t> </a:t>
            </a:r>
            <a:r>
              <a:rPr lang="en-US" dirty="0" err="1" smtClean="0"/>
              <a:t>anteriores</a:t>
            </a:r>
            <a:endParaRPr lang="en-US" dirty="0" smtClean="0"/>
          </a:p>
          <a:p>
            <a:r>
              <a:rPr lang="en-US" dirty="0" err="1" smtClean="0"/>
              <a:t>Conhecimento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r>
              <a:rPr lang="en-US" dirty="0" err="1" smtClean="0"/>
              <a:t>Lições</a:t>
            </a:r>
            <a:r>
              <a:rPr lang="en-US" dirty="0" smtClean="0"/>
              <a:t> </a:t>
            </a:r>
            <a:r>
              <a:rPr lang="en-US" dirty="0" err="1" smtClean="0"/>
              <a:t>aprendidas</a:t>
            </a:r>
            <a:endParaRPr lang="en-US" dirty="0" smtClean="0"/>
          </a:p>
          <a:p>
            <a:r>
              <a:rPr lang="en-US" dirty="0" err="1" smtClean="0"/>
              <a:t>Custos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Estimativas</a:t>
            </a:r>
            <a:r>
              <a:rPr lang="en-US" dirty="0" smtClean="0"/>
              <a:t> de Tempo, </a:t>
            </a:r>
            <a:r>
              <a:rPr lang="en-US" dirty="0" err="1" smtClean="0"/>
              <a:t>Custo</a:t>
            </a:r>
            <a:r>
              <a:rPr lang="en-US" dirty="0" smtClean="0"/>
              <a:t> e </a:t>
            </a:r>
            <a:r>
              <a:rPr lang="en-US" dirty="0" err="1" smtClean="0"/>
              <a:t>Esforço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Tipos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Estimativas</a:t>
            </a:r>
            <a:r>
              <a:rPr lang="en-US" dirty="0" smtClean="0"/>
              <a:t> </a:t>
            </a:r>
            <a:r>
              <a:rPr lang="en-US" dirty="0" err="1" smtClean="0"/>
              <a:t>baseadas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experiência</a:t>
            </a:r>
            <a:endParaRPr lang="en-US" dirty="0" smtClean="0"/>
          </a:p>
          <a:p>
            <a:pPr lvl="1"/>
            <a:r>
              <a:rPr lang="en-US" dirty="0" err="1" smtClean="0"/>
              <a:t>Modelagem</a:t>
            </a:r>
            <a:r>
              <a:rPr lang="en-US" dirty="0" smtClean="0"/>
              <a:t> </a:t>
            </a:r>
            <a:r>
              <a:rPr lang="en-US" dirty="0" err="1" smtClean="0"/>
              <a:t>algoritmica</a:t>
            </a:r>
            <a:r>
              <a:rPr lang="en-US" dirty="0" smtClean="0"/>
              <a:t>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3600" dirty="0" err="1" smtClean="0"/>
              <a:t>Estimativas</a:t>
            </a:r>
            <a:r>
              <a:rPr lang="en-US" sz="3600" dirty="0" smtClean="0"/>
              <a:t> </a:t>
            </a:r>
            <a:r>
              <a:rPr lang="en-US" sz="3600" dirty="0" err="1" smtClean="0"/>
              <a:t>baseadas</a:t>
            </a:r>
            <a:r>
              <a:rPr lang="en-US" sz="3600" dirty="0" smtClean="0"/>
              <a:t> </a:t>
            </a:r>
            <a:r>
              <a:rPr lang="en-US" sz="3600" dirty="0" err="1" smtClean="0"/>
              <a:t>em</a:t>
            </a:r>
            <a:r>
              <a:rPr lang="en-US" sz="3600" dirty="0" smtClean="0"/>
              <a:t> </a:t>
            </a:r>
            <a:r>
              <a:rPr lang="en-US" sz="3600" dirty="0" err="1" smtClean="0"/>
              <a:t>experiência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Experiência</a:t>
            </a:r>
            <a:r>
              <a:rPr lang="en-US" dirty="0" smtClean="0"/>
              <a:t> do </a:t>
            </a:r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endParaRPr lang="en-US" dirty="0" smtClean="0"/>
          </a:p>
          <a:p>
            <a:r>
              <a:rPr lang="en-US" dirty="0" smtClean="0"/>
              <a:t>Dados de </a:t>
            </a:r>
            <a:r>
              <a:rPr lang="en-US" dirty="0" err="1" smtClean="0"/>
              <a:t>projetos</a:t>
            </a:r>
            <a:r>
              <a:rPr lang="en-US" dirty="0" smtClean="0"/>
              <a:t> </a:t>
            </a:r>
            <a:r>
              <a:rPr lang="en-US" dirty="0" err="1" smtClean="0"/>
              <a:t>anteriores</a:t>
            </a:r>
            <a:endParaRPr lang="en-US" dirty="0" smtClean="0"/>
          </a:p>
          <a:p>
            <a:r>
              <a:rPr lang="en-US" dirty="0" smtClean="0"/>
              <a:t>Dados </a:t>
            </a:r>
            <a:r>
              <a:rPr lang="en-US" dirty="0" err="1" smtClean="0"/>
              <a:t>adquiridos</a:t>
            </a:r>
            <a:r>
              <a:rPr lang="en-US" dirty="0" smtClean="0"/>
              <a:t> com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membros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en-US" dirty="0" smtClean="0"/>
          </a:p>
          <a:p>
            <a:r>
              <a:rPr lang="en-US" dirty="0" err="1" smtClean="0"/>
              <a:t>Problemas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Mudança</a:t>
            </a:r>
            <a:r>
              <a:rPr lang="en-US" dirty="0" smtClean="0"/>
              <a:t> </a:t>
            </a:r>
            <a:r>
              <a:rPr lang="en-US" dirty="0" err="1" smtClean="0"/>
              <a:t>tecnológica</a:t>
            </a:r>
            <a:endParaRPr lang="en-US" dirty="0" smtClean="0"/>
          </a:p>
          <a:p>
            <a:pPr lvl="1"/>
            <a:r>
              <a:rPr lang="en-US" dirty="0" err="1" smtClean="0"/>
              <a:t>Altas</a:t>
            </a:r>
            <a:r>
              <a:rPr lang="en-US" dirty="0" smtClean="0"/>
              <a:t> </a:t>
            </a:r>
            <a:r>
              <a:rPr lang="en-US" dirty="0" err="1" smtClean="0"/>
              <a:t>falhas</a:t>
            </a:r>
            <a:endParaRPr lang="en-US" dirty="0" smtClean="0"/>
          </a:p>
          <a:p>
            <a:pPr lvl="1"/>
            <a:r>
              <a:rPr lang="en-US" dirty="0" err="1" smtClean="0"/>
              <a:t>Dependência</a:t>
            </a:r>
            <a:r>
              <a:rPr lang="en-US" dirty="0" smtClean="0"/>
              <a:t> de </a:t>
            </a:r>
            <a:r>
              <a:rPr lang="en-US" dirty="0" err="1" smtClean="0"/>
              <a:t>pessoas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3600" dirty="0" err="1" smtClean="0"/>
              <a:t>Modelagem</a:t>
            </a:r>
            <a:r>
              <a:rPr lang="en-US" sz="3600" dirty="0" smtClean="0"/>
              <a:t> </a:t>
            </a:r>
            <a:r>
              <a:rPr lang="en-US" sz="3600" dirty="0" err="1" smtClean="0"/>
              <a:t>algoritmica</a:t>
            </a:r>
            <a:r>
              <a:rPr lang="en-US" sz="3600" dirty="0" smtClean="0"/>
              <a:t> 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Fórmula</a:t>
            </a:r>
            <a:r>
              <a:rPr lang="en-US" dirty="0" smtClean="0"/>
              <a:t> </a:t>
            </a:r>
            <a:r>
              <a:rPr lang="en-US" dirty="0" err="1" smtClean="0"/>
              <a:t>matemática</a:t>
            </a:r>
            <a:r>
              <a:rPr lang="en-US" dirty="0" smtClean="0"/>
              <a:t> com base </a:t>
            </a:r>
            <a:r>
              <a:rPr lang="en-US" dirty="0" err="1" smtClean="0"/>
              <a:t>em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Estimativas</a:t>
            </a:r>
            <a:r>
              <a:rPr lang="en-US" dirty="0" smtClean="0"/>
              <a:t> de </a:t>
            </a:r>
            <a:r>
              <a:rPr lang="en-US" dirty="0" err="1" smtClean="0"/>
              <a:t>tamanho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endParaRPr lang="en-US" dirty="0" smtClean="0"/>
          </a:p>
          <a:p>
            <a:pPr lvl="1"/>
            <a:r>
              <a:rPr lang="en-US" dirty="0" err="1" smtClean="0"/>
              <a:t>Tipo</a:t>
            </a:r>
            <a:r>
              <a:rPr lang="en-US" dirty="0" smtClean="0"/>
              <a:t> de software</a:t>
            </a:r>
          </a:p>
          <a:p>
            <a:pPr lvl="1"/>
            <a:r>
              <a:rPr lang="en-US" dirty="0" err="1" smtClean="0"/>
              <a:t>Fatores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Fórmula</a:t>
            </a:r>
            <a:r>
              <a:rPr lang="en-US" dirty="0" smtClean="0"/>
              <a:t> do </a:t>
            </a:r>
            <a:r>
              <a:rPr lang="en-US" dirty="0" err="1" smtClean="0"/>
              <a:t>Esforço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Esforço</a:t>
            </a:r>
            <a:r>
              <a:rPr lang="en-US" dirty="0" smtClean="0"/>
              <a:t> = A x </a:t>
            </a:r>
            <a:r>
              <a:rPr lang="en-US" dirty="0" err="1" smtClean="0"/>
              <a:t>Tamanho^B</a:t>
            </a:r>
            <a:r>
              <a:rPr lang="en-US" dirty="0" smtClean="0"/>
              <a:t> x M</a:t>
            </a:r>
          </a:p>
          <a:p>
            <a:pPr lvl="1"/>
            <a:r>
              <a:rPr lang="en-US" dirty="0" smtClean="0"/>
              <a:t>A: </a:t>
            </a:r>
            <a:r>
              <a:rPr lang="en-US" dirty="0" err="1" smtClean="0"/>
              <a:t>fator</a:t>
            </a:r>
            <a:r>
              <a:rPr lang="en-US" dirty="0" smtClean="0"/>
              <a:t> </a:t>
            </a:r>
            <a:r>
              <a:rPr lang="en-US" dirty="0" err="1" smtClean="0"/>
              <a:t>constante</a:t>
            </a:r>
            <a:r>
              <a:rPr lang="en-US" dirty="0" smtClean="0"/>
              <a:t>, </a:t>
            </a:r>
            <a:r>
              <a:rPr lang="en-US" dirty="0" err="1" smtClean="0"/>
              <a:t>depende</a:t>
            </a:r>
            <a:r>
              <a:rPr lang="en-US" dirty="0" smtClean="0"/>
              <a:t> do </a:t>
            </a:r>
            <a:r>
              <a:rPr lang="en-US" dirty="0" err="1" smtClean="0"/>
              <a:t>tipo</a:t>
            </a:r>
            <a:r>
              <a:rPr lang="en-US" dirty="0" smtClean="0"/>
              <a:t> de software</a:t>
            </a:r>
          </a:p>
          <a:p>
            <a:pPr lvl="1"/>
            <a:r>
              <a:rPr lang="en-US" dirty="0" err="1" smtClean="0"/>
              <a:t>Tamanho</a:t>
            </a:r>
            <a:r>
              <a:rPr lang="en-US" dirty="0" smtClean="0"/>
              <a:t>: LOC </a:t>
            </a:r>
            <a:r>
              <a:rPr lang="en-US" dirty="0" err="1" smtClean="0"/>
              <a:t>ou</a:t>
            </a:r>
            <a:r>
              <a:rPr lang="en-US" dirty="0" smtClean="0"/>
              <a:t> PF</a:t>
            </a:r>
          </a:p>
          <a:p>
            <a:pPr lvl="1"/>
            <a:r>
              <a:rPr lang="en-US" dirty="0" smtClean="0"/>
              <a:t>B: </a:t>
            </a:r>
            <a:r>
              <a:rPr lang="en-US" dirty="0" err="1" smtClean="0"/>
              <a:t>relacionado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tamanho</a:t>
            </a:r>
            <a:r>
              <a:rPr lang="en-US" dirty="0" smtClean="0"/>
              <a:t> e </a:t>
            </a:r>
            <a:r>
              <a:rPr lang="en-US" dirty="0" err="1" smtClean="0"/>
              <a:t>complexidade</a:t>
            </a:r>
            <a:endParaRPr lang="en-US" dirty="0" smtClean="0"/>
          </a:p>
          <a:p>
            <a:pPr lvl="1"/>
            <a:r>
              <a:rPr lang="en-US" dirty="0" smtClean="0"/>
              <a:t>M: </a:t>
            </a:r>
            <a:r>
              <a:rPr lang="en-US" dirty="0" err="1" smtClean="0"/>
              <a:t>fator</a:t>
            </a:r>
            <a:r>
              <a:rPr lang="en-US" dirty="0" smtClean="0"/>
              <a:t> </a:t>
            </a:r>
            <a:r>
              <a:rPr lang="en-US" dirty="0" err="1" smtClean="0"/>
              <a:t>feito</a:t>
            </a:r>
            <a:r>
              <a:rPr lang="en-US" dirty="0" smtClean="0"/>
              <a:t> </a:t>
            </a:r>
            <a:r>
              <a:rPr lang="en-US" dirty="0" err="1" smtClean="0"/>
              <a:t>pela</a:t>
            </a:r>
            <a:r>
              <a:rPr lang="en-US" dirty="0" smtClean="0"/>
              <a:t> </a:t>
            </a:r>
            <a:r>
              <a:rPr lang="en-US" dirty="0" err="1" smtClean="0"/>
              <a:t>combinação</a:t>
            </a:r>
            <a:r>
              <a:rPr lang="en-US" dirty="0" smtClean="0"/>
              <a:t> de </a:t>
            </a:r>
            <a:r>
              <a:rPr lang="en-US" dirty="0" err="1" smtClean="0"/>
              <a:t>atributos</a:t>
            </a:r>
            <a:r>
              <a:rPr lang="en-US" dirty="0" smtClean="0"/>
              <a:t> de </a:t>
            </a:r>
            <a:r>
              <a:rPr lang="en-US" dirty="0" err="1" smtClean="0"/>
              <a:t>processo</a:t>
            </a:r>
            <a:r>
              <a:rPr lang="en-US" dirty="0" smtClean="0"/>
              <a:t>, </a:t>
            </a:r>
            <a:r>
              <a:rPr lang="en-US" dirty="0" err="1" smtClean="0"/>
              <a:t>produtos</a:t>
            </a:r>
            <a:r>
              <a:rPr lang="en-US" dirty="0" smtClean="0"/>
              <a:t> e de </a:t>
            </a:r>
            <a:r>
              <a:rPr lang="en-US" dirty="0" err="1" smtClean="0"/>
              <a:t>desenvolvimento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Problemas</a:t>
            </a:r>
            <a:r>
              <a:rPr lang="en-US" dirty="0" smtClean="0"/>
              <a:t> com </a:t>
            </a:r>
            <a:r>
              <a:rPr lang="en-US" dirty="0" err="1" smtClean="0"/>
              <a:t>estimativas</a:t>
            </a:r>
            <a:r>
              <a:rPr lang="en-US" dirty="0" smtClean="0"/>
              <a:t> de </a:t>
            </a:r>
            <a:r>
              <a:rPr lang="en-US" dirty="0" err="1" smtClean="0"/>
              <a:t>esforço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Difícil</a:t>
            </a:r>
            <a:r>
              <a:rPr lang="en-US" dirty="0" smtClean="0"/>
              <a:t> </a:t>
            </a:r>
            <a:r>
              <a:rPr lang="en-US" dirty="0" err="1" smtClean="0"/>
              <a:t>estimar</a:t>
            </a:r>
            <a:r>
              <a:rPr lang="en-US" dirty="0" smtClean="0"/>
              <a:t> </a:t>
            </a:r>
            <a:r>
              <a:rPr lang="en-US" dirty="0" err="1" smtClean="0"/>
              <a:t>tamanho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estágios</a:t>
            </a:r>
            <a:r>
              <a:rPr lang="en-US" dirty="0" smtClean="0"/>
              <a:t> </a:t>
            </a:r>
            <a:r>
              <a:rPr lang="en-US" dirty="0" err="1" smtClean="0"/>
              <a:t>iniciais</a:t>
            </a:r>
            <a:endParaRPr lang="en-US" dirty="0" smtClean="0"/>
          </a:p>
          <a:p>
            <a:r>
              <a:rPr lang="en-US" dirty="0" err="1" smtClean="0"/>
              <a:t>Estimativas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Fatores</a:t>
            </a:r>
            <a:r>
              <a:rPr lang="en-US" dirty="0" smtClean="0"/>
              <a:t> B e M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subjetivas</a:t>
            </a:r>
            <a:endParaRPr lang="en-US" dirty="0" smtClean="0"/>
          </a:p>
          <a:p>
            <a:r>
              <a:rPr lang="en-US" dirty="0" err="1" smtClean="0"/>
              <a:t>Linguagem</a:t>
            </a:r>
            <a:r>
              <a:rPr lang="en-US" dirty="0" smtClean="0"/>
              <a:t> de </a:t>
            </a:r>
            <a:r>
              <a:rPr lang="en-US" dirty="0" err="1" smtClean="0"/>
              <a:t>programação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Estilo</a:t>
            </a:r>
            <a:r>
              <a:rPr lang="en-US" dirty="0" smtClean="0"/>
              <a:t> de </a:t>
            </a:r>
            <a:r>
              <a:rPr lang="en-US" dirty="0" err="1" smtClean="0"/>
              <a:t>codificação</a:t>
            </a:r>
            <a:endParaRPr lang="en-US" dirty="0" smtClean="0"/>
          </a:p>
          <a:p>
            <a:r>
              <a:rPr lang="en-US" dirty="0" err="1" smtClean="0"/>
              <a:t>Difícil</a:t>
            </a:r>
            <a:r>
              <a:rPr lang="en-US" dirty="0" smtClean="0"/>
              <a:t> </a:t>
            </a:r>
            <a:r>
              <a:rPr lang="en-US" dirty="0" err="1" smtClean="0"/>
              <a:t>calibração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Exemplos</a:t>
            </a:r>
            <a:r>
              <a:rPr lang="en-US" dirty="0" smtClean="0"/>
              <a:t> de </a:t>
            </a:r>
            <a:r>
              <a:rPr lang="en-US" dirty="0" err="1" smtClean="0"/>
              <a:t>Técnicas</a:t>
            </a:r>
            <a:r>
              <a:rPr lang="en-US" dirty="0" smtClean="0"/>
              <a:t> de </a:t>
            </a:r>
            <a:r>
              <a:rPr lang="en-US" dirty="0" err="1" smtClean="0"/>
              <a:t>Esforço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 smtClean="0"/>
              <a:t>Walston-Felix</a:t>
            </a:r>
            <a:r>
              <a:rPr lang="pt-BR" dirty="0" smtClean="0"/>
              <a:t>: E = 5,2 x (KLOC)^0,91</a:t>
            </a:r>
          </a:p>
          <a:p>
            <a:pPr lvl="1"/>
            <a:r>
              <a:rPr lang="pt-BR" dirty="0" smtClean="0"/>
              <a:t>16KLOC – E = 65 pessoas-mês</a:t>
            </a:r>
          </a:p>
          <a:p>
            <a:pPr lvl="1"/>
            <a:r>
              <a:rPr lang="pt-BR" dirty="0" smtClean="0"/>
              <a:t>246LOC pessoa-mês</a:t>
            </a:r>
          </a:p>
          <a:p>
            <a:r>
              <a:rPr lang="pt-BR" dirty="0" err="1" smtClean="0"/>
              <a:t>Boehm</a:t>
            </a:r>
            <a:r>
              <a:rPr lang="pt-BR" dirty="0" smtClean="0"/>
              <a:t> simples: E = 3,2 x (KLOC)^1,05</a:t>
            </a:r>
          </a:p>
          <a:p>
            <a:pPr lvl="1"/>
            <a:r>
              <a:rPr lang="pt-BR" dirty="0" smtClean="0"/>
              <a:t>16KLOC: E = 59 pessoas-mês</a:t>
            </a:r>
          </a:p>
          <a:p>
            <a:pPr lvl="1"/>
            <a:r>
              <a:rPr lang="pt-BR" dirty="0" smtClean="0"/>
              <a:t>271LOC pessoa-mês</a:t>
            </a:r>
          </a:p>
          <a:p>
            <a:r>
              <a:rPr lang="it-IT" dirty="0" smtClean="0"/>
              <a:t>Bailey-Basili: E = 5,5 + 0,73 x (KLOC)^1,16</a:t>
            </a:r>
          </a:p>
          <a:p>
            <a:pPr lvl="1"/>
            <a:r>
              <a:rPr lang="pt-BR" dirty="0" smtClean="0"/>
              <a:t>16KLOC: E = 24 pessoas-mês</a:t>
            </a:r>
          </a:p>
          <a:p>
            <a:pPr lvl="1"/>
            <a:r>
              <a:rPr lang="pt-BR" dirty="0" smtClean="0"/>
              <a:t>666LOC pessoa-mês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Análise</a:t>
            </a:r>
            <a:r>
              <a:rPr lang="en-US" dirty="0" smtClean="0"/>
              <a:t> dos </a:t>
            </a:r>
            <a:r>
              <a:rPr lang="en-US" dirty="0" err="1" smtClean="0"/>
              <a:t>modelos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Resultados diferentes!</a:t>
            </a:r>
          </a:p>
          <a:p>
            <a:pPr lvl="1"/>
            <a:r>
              <a:rPr lang="pt-BR" dirty="0" smtClean="0"/>
              <a:t>São apenas estimativas </a:t>
            </a:r>
          </a:p>
          <a:p>
            <a:pPr lvl="1"/>
            <a:r>
              <a:rPr lang="pt-BR" dirty="0" smtClean="0"/>
              <a:t>Devem ser adequadas a realidade de cada empresa, de cada projeto, de cada domínio</a:t>
            </a:r>
          </a:p>
          <a:p>
            <a:pPr lvl="1"/>
            <a:r>
              <a:rPr lang="en-US" dirty="0" err="1" smtClean="0"/>
              <a:t>Deve</a:t>
            </a:r>
            <a:r>
              <a:rPr lang="en-US" dirty="0" smtClean="0"/>
              <a:t>-se </a:t>
            </a:r>
            <a:r>
              <a:rPr lang="en-US" dirty="0" err="1" smtClean="0"/>
              <a:t>fazer</a:t>
            </a:r>
            <a:r>
              <a:rPr lang="en-US" dirty="0" smtClean="0"/>
              <a:t> </a:t>
            </a:r>
            <a:r>
              <a:rPr lang="en-US" dirty="0" err="1" smtClean="0"/>
              <a:t>estimativas</a:t>
            </a:r>
            <a:r>
              <a:rPr lang="en-US" dirty="0" smtClean="0"/>
              <a:t> </a:t>
            </a:r>
            <a:r>
              <a:rPr lang="en-US" dirty="0" err="1" smtClean="0"/>
              <a:t>mínimas</a:t>
            </a:r>
            <a:r>
              <a:rPr lang="en-US" dirty="0" smtClean="0"/>
              <a:t>, </a:t>
            </a:r>
            <a:r>
              <a:rPr lang="en-US" dirty="0" err="1" smtClean="0"/>
              <a:t>médias</a:t>
            </a:r>
            <a:r>
              <a:rPr lang="en-US" dirty="0" smtClean="0"/>
              <a:t> e </a:t>
            </a:r>
            <a:r>
              <a:rPr lang="en-US" dirty="0" err="1" smtClean="0"/>
              <a:t>máximas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</a:t>
            </a:r>
            <a:r>
              <a:rPr lang="en-US" dirty="0" smtClean="0"/>
              <a:t> COCOMO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Proposto em 1981 por Barry </a:t>
            </a:r>
            <a:r>
              <a:rPr lang="pt-BR" dirty="0" err="1" smtClean="0"/>
              <a:t>Boehm</a:t>
            </a:r>
            <a:endParaRPr lang="pt-BR" dirty="0" smtClean="0"/>
          </a:p>
          <a:p>
            <a:r>
              <a:rPr lang="pt-BR" dirty="0" err="1" smtClean="0"/>
              <a:t>Constructive</a:t>
            </a:r>
            <a:r>
              <a:rPr lang="pt-BR" dirty="0" smtClean="0"/>
              <a:t> </a:t>
            </a:r>
            <a:r>
              <a:rPr lang="pt-BR" dirty="0" err="1" smtClean="0"/>
              <a:t>Cost</a:t>
            </a:r>
            <a:r>
              <a:rPr lang="pt-BR" dirty="0" smtClean="0"/>
              <a:t> </a:t>
            </a:r>
            <a:r>
              <a:rPr lang="pt-BR" dirty="0" err="1" smtClean="0"/>
              <a:t>Model</a:t>
            </a:r>
            <a:endParaRPr lang="pt-BR" dirty="0" smtClean="0"/>
          </a:p>
          <a:p>
            <a:r>
              <a:rPr lang="pt-BR" dirty="0" smtClean="0"/>
              <a:t>Estudo a partir de 63 projetos na TRW</a:t>
            </a:r>
          </a:p>
          <a:p>
            <a:r>
              <a:rPr lang="pt-BR" dirty="0" smtClean="0"/>
              <a:t>2KLOC a 100KLOC</a:t>
            </a:r>
          </a:p>
          <a:p>
            <a:r>
              <a:rPr lang="pt-BR" dirty="0" smtClean="0"/>
              <a:t>Várias linguagens de programação.</a:t>
            </a:r>
          </a:p>
          <a:p>
            <a:r>
              <a:rPr lang="pt-BR" dirty="0" smtClean="0"/>
              <a:t>Projetos em cascata, green-field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Cálculo</a:t>
            </a:r>
            <a:r>
              <a:rPr lang="en-US" dirty="0" smtClean="0"/>
              <a:t> do COCOMO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581128"/>
            <a:ext cx="8229600" cy="1545035"/>
          </a:xfrm>
        </p:spPr>
        <p:txBody>
          <a:bodyPr/>
          <a:lstStyle/>
          <a:p>
            <a:r>
              <a:rPr lang="pt-BR" dirty="0" smtClean="0"/>
              <a:t>PM: Pessoas-mês</a:t>
            </a:r>
          </a:p>
          <a:p>
            <a:r>
              <a:rPr lang="pt-BR" dirty="0" smtClean="0"/>
              <a:t>M: multiplicador</a:t>
            </a:r>
          </a:p>
          <a:p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40" y="1638156"/>
            <a:ext cx="9094664" cy="233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Multiplicador</a:t>
            </a:r>
            <a:r>
              <a:rPr lang="en-US" dirty="0" smtClean="0"/>
              <a:t> 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M = PERS x RCPX x RUSE x PDIF x PREX x FCIL x SCED</a:t>
            </a:r>
          </a:p>
          <a:p>
            <a:pPr lvl="1"/>
            <a:r>
              <a:rPr lang="pt-BR" dirty="0" smtClean="0"/>
              <a:t>PERS: capacidade do pessoal</a:t>
            </a:r>
          </a:p>
          <a:p>
            <a:pPr lvl="1"/>
            <a:r>
              <a:rPr lang="en-US" dirty="0" smtClean="0"/>
              <a:t>RCPX: </a:t>
            </a:r>
            <a:r>
              <a:rPr lang="en-US" dirty="0" err="1" smtClean="0"/>
              <a:t>confiabilidade</a:t>
            </a:r>
            <a:r>
              <a:rPr lang="en-US" dirty="0" smtClean="0"/>
              <a:t> e </a:t>
            </a:r>
            <a:r>
              <a:rPr lang="en-US" dirty="0" err="1" smtClean="0"/>
              <a:t>complexidade</a:t>
            </a:r>
            <a:r>
              <a:rPr lang="en-US" dirty="0" smtClean="0"/>
              <a:t> do </a:t>
            </a:r>
            <a:r>
              <a:rPr lang="en-US" dirty="0" err="1" smtClean="0"/>
              <a:t>produto</a:t>
            </a:r>
            <a:endParaRPr lang="en-US" dirty="0" smtClean="0"/>
          </a:p>
          <a:p>
            <a:pPr lvl="1"/>
            <a:r>
              <a:rPr lang="pt-BR" dirty="0" smtClean="0"/>
              <a:t>RUSE: reuse requerido</a:t>
            </a:r>
          </a:p>
          <a:p>
            <a:pPr lvl="1"/>
            <a:r>
              <a:rPr lang="pt-BR" dirty="0" smtClean="0"/>
              <a:t>PDIF: dificuldade da plataforma</a:t>
            </a:r>
          </a:p>
          <a:p>
            <a:pPr lvl="1"/>
            <a:r>
              <a:rPr lang="pt-BR" dirty="0" smtClean="0"/>
              <a:t>PREX: experiência do pessoal</a:t>
            </a:r>
          </a:p>
          <a:p>
            <a:pPr lvl="1"/>
            <a:r>
              <a:rPr lang="pt-BR" dirty="0" smtClean="0"/>
              <a:t>SCED: </a:t>
            </a:r>
            <a:r>
              <a:rPr lang="pt-BR" dirty="0" err="1" smtClean="0"/>
              <a:t>schedule</a:t>
            </a:r>
            <a:r>
              <a:rPr lang="pt-BR" dirty="0" smtClean="0"/>
              <a:t> (cronograma)</a:t>
            </a:r>
          </a:p>
          <a:p>
            <a:pPr lvl="1"/>
            <a:r>
              <a:rPr lang="pt-BR" dirty="0" smtClean="0"/>
              <a:t>FCIL: recursos de apoio</a:t>
            </a:r>
          </a:p>
          <a:p>
            <a:r>
              <a:rPr lang="en-US" dirty="0" err="1" smtClean="0"/>
              <a:t>Cada</a:t>
            </a:r>
            <a:r>
              <a:rPr lang="en-US" dirty="0" smtClean="0"/>
              <a:t> valor </a:t>
            </a:r>
            <a:r>
              <a:rPr lang="en-US" dirty="0" err="1" smtClean="0"/>
              <a:t>varia</a:t>
            </a:r>
            <a:r>
              <a:rPr lang="en-US" dirty="0" smtClean="0"/>
              <a:t> de 1(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baixo</a:t>
            </a:r>
            <a:r>
              <a:rPr lang="en-US" dirty="0" smtClean="0"/>
              <a:t>) a 6 (</a:t>
            </a:r>
            <a:r>
              <a:rPr lang="en-US" dirty="0" err="1" smtClean="0"/>
              <a:t>muito</a:t>
            </a:r>
            <a:r>
              <a:rPr lang="en-US" dirty="0" smtClean="0"/>
              <a:t> alto)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2 (1995)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Reconhece diferentes abordagens para desenvolver software (</a:t>
            </a:r>
            <a:r>
              <a:rPr lang="pt-BR" dirty="0" err="1" smtClean="0"/>
              <a:t>prototipação</a:t>
            </a:r>
            <a:r>
              <a:rPr lang="pt-BR" dirty="0" smtClean="0"/>
              <a:t>, componentes, 4GLs)</a:t>
            </a:r>
          </a:p>
          <a:p>
            <a:r>
              <a:rPr lang="pt-BR" dirty="0" smtClean="0"/>
              <a:t>Os níveis estão relacionados a etapas do desenvolvimento de software</a:t>
            </a:r>
          </a:p>
          <a:p>
            <a:r>
              <a:rPr lang="pt-BR" dirty="0" smtClean="0"/>
              <a:t>Estimativas de pontos por objeto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Pontos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objeto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Estimativa ponderada dos fatores:</a:t>
            </a:r>
          </a:p>
          <a:p>
            <a:pPr lvl="1"/>
            <a:r>
              <a:rPr lang="pt-BR" dirty="0" smtClean="0"/>
              <a:t>n.o de telas exibidas (simples: 1, medianas: 2, complexas: 3)</a:t>
            </a:r>
          </a:p>
          <a:p>
            <a:pPr lvl="1"/>
            <a:r>
              <a:rPr lang="pt-BR" dirty="0" smtClean="0"/>
              <a:t>n.o de relatórios produzidos (simples: 2, medianos: 5, complexos: 8)</a:t>
            </a:r>
          </a:p>
          <a:p>
            <a:pPr lvl="1"/>
            <a:r>
              <a:rPr lang="pt-BR" dirty="0" smtClean="0"/>
              <a:t>n.o de módulos escritos em 3GL desenvolvidos (cada módulo: 10 pontos de objeto)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5 - Gerenciamento da qualidade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Envolve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Planejamento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qualidade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Garantia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qualidade</a:t>
            </a:r>
            <a:endParaRPr lang="en-US" dirty="0" smtClean="0"/>
          </a:p>
          <a:p>
            <a:pPr lvl="1"/>
            <a:r>
              <a:rPr lang="en-US" dirty="0" err="1" smtClean="0"/>
              <a:t>Controle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qualidade</a:t>
            </a:r>
            <a:endParaRPr lang="en-US" dirty="0" smtClean="0"/>
          </a:p>
          <a:p>
            <a:r>
              <a:rPr lang="en-US" dirty="0" err="1" smtClean="0"/>
              <a:t>Qualidade</a:t>
            </a:r>
            <a:r>
              <a:rPr lang="en-US" dirty="0" smtClean="0"/>
              <a:t> do </a:t>
            </a:r>
            <a:r>
              <a:rPr lang="en-US" dirty="0" err="1" smtClean="0"/>
              <a:t>produto</a:t>
            </a:r>
            <a:endParaRPr lang="en-US" dirty="0" smtClean="0"/>
          </a:p>
          <a:p>
            <a:r>
              <a:rPr lang="en-US" dirty="0" err="1" smtClean="0"/>
              <a:t>Qualidade</a:t>
            </a:r>
            <a:r>
              <a:rPr lang="en-US" dirty="0" smtClean="0"/>
              <a:t> do </a:t>
            </a:r>
            <a:r>
              <a:rPr lang="en-US" dirty="0" err="1" smtClean="0"/>
              <a:t>processo</a:t>
            </a:r>
            <a:endParaRPr lang="en-US" dirty="0" smtClean="0"/>
          </a:p>
          <a:p>
            <a:r>
              <a:rPr lang="en-US" dirty="0" err="1" smtClean="0"/>
              <a:t>Assunto</a:t>
            </a:r>
            <a:r>
              <a:rPr lang="en-US" dirty="0" smtClean="0"/>
              <a:t> a ser </a:t>
            </a:r>
            <a:r>
              <a:rPr lang="en-US" dirty="0" err="1" smtClean="0"/>
              <a:t>abordado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disciplina</a:t>
            </a:r>
            <a:r>
              <a:rPr lang="en-US" dirty="0" smtClean="0"/>
              <a:t> </a:t>
            </a:r>
            <a:r>
              <a:rPr lang="en-US" dirty="0" err="1" smtClean="0"/>
              <a:t>Qualidade</a:t>
            </a:r>
            <a:r>
              <a:rPr lang="en-US" dirty="0" smtClean="0"/>
              <a:t> de Software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6 - Gerenciamento de recursos humanos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Envolve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Planejamento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gestão</a:t>
            </a:r>
            <a:r>
              <a:rPr lang="en-US" dirty="0" smtClean="0"/>
              <a:t> de </a:t>
            </a:r>
            <a:r>
              <a:rPr lang="en-US" dirty="0" err="1" smtClean="0"/>
              <a:t>pessoas</a:t>
            </a:r>
            <a:endParaRPr lang="en-US" dirty="0" smtClean="0"/>
          </a:p>
          <a:p>
            <a:pPr lvl="1"/>
            <a:r>
              <a:rPr lang="en-US" dirty="0" err="1" smtClean="0"/>
              <a:t>Obtenção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en-US" dirty="0" smtClean="0"/>
          </a:p>
          <a:p>
            <a:pPr lvl="1"/>
            <a:r>
              <a:rPr lang="en-US" dirty="0" err="1" smtClean="0"/>
              <a:t>Desenvolvimento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en-US" dirty="0" smtClean="0"/>
          </a:p>
          <a:p>
            <a:pPr lvl="1"/>
            <a:r>
              <a:rPr lang="en-US" dirty="0" err="1" smtClean="0"/>
              <a:t>Gestão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en-US" dirty="0" smtClean="0"/>
          </a:p>
          <a:p>
            <a:pPr lvl="1"/>
            <a:r>
              <a:rPr lang="en-US" dirty="0" err="1" smtClean="0"/>
              <a:t>Dissolução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dirty="0" err="1" smtClean="0"/>
              <a:t>Alguns</a:t>
            </a:r>
            <a:r>
              <a:rPr lang="en-US" sz="4000" dirty="0" smtClean="0"/>
              <a:t> </a:t>
            </a:r>
            <a:r>
              <a:rPr lang="en-US" sz="4000" dirty="0" err="1" smtClean="0"/>
              <a:t>desafios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Desenvolvimento</a:t>
            </a:r>
            <a:r>
              <a:rPr lang="en-US" dirty="0" smtClean="0"/>
              <a:t> global de software (</a:t>
            </a:r>
            <a:r>
              <a:rPr lang="en-US" dirty="0" err="1" smtClean="0"/>
              <a:t>Exs</a:t>
            </a:r>
            <a:r>
              <a:rPr lang="en-US" dirty="0" smtClean="0"/>
              <a:t>.: Microsoft, IBM, Apple e </a:t>
            </a:r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grandes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Capturar</a:t>
            </a:r>
            <a:r>
              <a:rPr lang="en-US" dirty="0" smtClean="0"/>
              <a:t> e </a:t>
            </a:r>
            <a:r>
              <a:rPr lang="en-US" dirty="0" err="1" smtClean="0"/>
              <a:t>reter</a:t>
            </a:r>
            <a:r>
              <a:rPr lang="en-US" dirty="0" smtClean="0"/>
              <a:t> </a:t>
            </a:r>
            <a:r>
              <a:rPr lang="en-US" dirty="0" err="1" smtClean="0"/>
              <a:t>talentos</a:t>
            </a:r>
            <a:endParaRPr lang="en-US" dirty="0" smtClean="0"/>
          </a:p>
          <a:p>
            <a:r>
              <a:rPr lang="en-US" dirty="0" err="1" smtClean="0"/>
              <a:t>Fazer</a:t>
            </a:r>
            <a:r>
              <a:rPr lang="en-US" dirty="0" smtClean="0"/>
              <a:t> a </a:t>
            </a:r>
            <a:r>
              <a:rPr lang="en-US" dirty="0" err="1" smtClean="0"/>
              <a:t>equipe</a:t>
            </a:r>
            <a:r>
              <a:rPr lang="en-US" dirty="0" smtClean="0"/>
              <a:t> </a:t>
            </a:r>
            <a:r>
              <a:rPr lang="en-US" dirty="0" err="1" smtClean="0"/>
              <a:t>trabalhar</a:t>
            </a:r>
            <a:r>
              <a:rPr lang="en-US" dirty="0" smtClean="0"/>
              <a:t> de forma </a:t>
            </a:r>
            <a:r>
              <a:rPr lang="en-US" dirty="0" err="1" smtClean="0"/>
              <a:t>coesa</a:t>
            </a:r>
            <a:endParaRPr lang="en-US" dirty="0" smtClean="0"/>
          </a:p>
          <a:p>
            <a:r>
              <a:rPr lang="en-US" dirty="0" smtClean="0"/>
              <a:t>Home-office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Alguns</a:t>
            </a:r>
            <a:r>
              <a:rPr lang="en-US" dirty="0" smtClean="0"/>
              <a:t> </a:t>
            </a:r>
            <a:r>
              <a:rPr lang="en-US" dirty="0" err="1" smtClean="0"/>
              <a:t>desafios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dirty="0" err="1" smtClean="0"/>
              <a:t>Montar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equipe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tenha</a:t>
            </a:r>
            <a:r>
              <a:rPr lang="en-US" dirty="0" smtClean="0"/>
              <a:t> </a:t>
            </a:r>
            <a:r>
              <a:rPr lang="en-US" dirty="0" err="1" smtClean="0"/>
              <a:t>equilíbrio</a:t>
            </a:r>
            <a:r>
              <a:rPr lang="en-US" dirty="0" smtClean="0"/>
              <a:t> entre:</a:t>
            </a:r>
          </a:p>
          <a:p>
            <a:pPr lvl="1"/>
            <a:r>
              <a:rPr lang="en-US" dirty="0" err="1" smtClean="0"/>
              <a:t>Habilidades</a:t>
            </a:r>
            <a:r>
              <a:rPr lang="en-US" dirty="0" smtClean="0"/>
              <a:t> </a:t>
            </a:r>
            <a:r>
              <a:rPr lang="en-US" dirty="0" err="1" smtClean="0"/>
              <a:t>técnicas</a:t>
            </a:r>
            <a:endParaRPr lang="en-US" dirty="0" smtClean="0"/>
          </a:p>
          <a:p>
            <a:pPr lvl="1"/>
            <a:r>
              <a:rPr lang="en-US" dirty="0" err="1" smtClean="0"/>
              <a:t>Experiência</a:t>
            </a:r>
            <a:endParaRPr lang="en-US" dirty="0" smtClean="0"/>
          </a:p>
          <a:p>
            <a:pPr lvl="1"/>
            <a:r>
              <a:rPr lang="en-US" dirty="0" err="1" smtClean="0"/>
              <a:t>Personalidades</a:t>
            </a:r>
            <a:endParaRPr lang="en-US" dirty="0" smtClean="0"/>
          </a:p>
          <a:p>
            <a:r>
              <a:rPr lang="en-US" dirty="0" err="1" smtClean="0"/>
              <a:t>Treinamento</a:t>
            </a:r>
            <a:endParaRPr lang="en-US" dirty="0" smtClean="0"/>
          </a:p>
          <a:p>
            <a:r>
              <a:rPr lang="en-US" dirty="0" err="1" smtClean="0"/>
              <a:t>Diferenças</a:t>
            </a:r>
            <a:r>
              <a:rPr lang="en-US" dirty="0" smtClean="0"/>
              <a:t> de </a:t>
            </a:r>
            <a:r>
              <a:rPr lang="en-US" dirty="0" err="1" smtClean="0"/>
              <a:t>habilidades</a:t>
            </a:r>
            <a:r>
              <a:rPr lang="en-US" dirty="0" smtClean="0"/>
              <a:t> </a:t>
            </a:r>
            <a:r>
              <a:rPr lang="en-US" dirty="0" err="1" smtClean="0"/>
              <a:t>técnicas</a:t>
            </a:r>
            <a:r>
              <a:rPr lang="en-US" dirty="0" smtClean="0"/>
              <a:t> (25 </a:t>
            </a:r>
            <a:r>
              <a:rPr lang="en-US" dirty="0" err="1" smtClean="0"/>
              <a:t>vezes</a:t>
            </a:r>
            <a:r>
              <a:rPr lang="en-US" dirty="0" smtClean="0"/>
              <a:t>!)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Seleção</a:t>
            </a:r>
            <a:r>
              <a:rPr lang="en-US" dirty="0" smtClean="0"/>
              <a:t> de </a:t>
            </a:r>
            <a:r>
              <a:rPr lang="en-US" dirty="0" err="1" smtClean="0"/>
              <a:t>equipe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Diversas</a:t>
            </a:r>
            <a:r>
              <a:rPr lang="en-US" dirty="0" smtClean="0"/>
              <a:t> </a:t>
            </a:r>
            <a:r>
              <a:rPr lang="en-US" dirty="0" err="1" smtClean="0"/>
              <a:t>atividades</a:t>
            </a:r>
            <a:r>
              <a:rPr lang="en-US" dirty="0" smtClean="0"/>
              <a:t>/</a:t>
            </a:r>
            <a:r>
              <a:rPr lang="en-US" dirty="0" err="1" smtClean="0"/>
              <a:t>profissionais</a:t>
            </a:r>
            <a:r>
              <a:rPr lang="en-US" dirty="0" smtClean="0"/>
              <a:t> </a:t>
            </a:r>
            <a:r>
              <a:rPr lang="en-US" dirty="0" err="1" smtClean="0"/>
              <a:t>trabalham</a:t>
            </a:r>
            <a:r>
              <a:rPr lang="en-US" dirty="0" smtClean="0"/>
              <a:t> no </a:t>
            </a:r>
            <a:r>
              <a:rPr lang="en-US" dirty="0" err="1" smtClean="0"/>
              <a:t>desenvolvimento</a:t>
            </a:r>
            <a:r>
              <a:rPr lang="en-US" dirty="0" smtClean="0"/>
              <a:t> de um </a:t>
            </a:r>
            <a:r>
              <a:rPr lang="en-US" dirty="0" err="1" smtClean="0"/>
              <a:t>sistema</a:t>
            </a:r>
            <a:endParaRPr lang="en-US" dirty="0" smtClean="0"/>
          </a:p>
          <a:p>
            <a:r>
              <a:rPr lang="en-US" dirty="0" err="1" smtClean="0"/>
              <a:t>Profissionais</a:t>
            </a:r>
            <a:r>
              <a:rPr lang="en-US" dirty="0" smtClean="0"/>
              <a:t> </a:t>
            </a:r>
            <a:r>
              <a:rPr lang="en-US" dirty="0" err="1" smtClean="0"/>
              <a:t>normalmente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classificados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Júnior</a:t>
            </a:r>
            <a:endParaRPr lang="en-US" dirty="0" smtClean="0"/>
          </a:p>
          <a:p>
            <a:pPr lvl="1"/>
            <a:r>
              <a:rPr lang="en-US" dirty="0" err="1" smtClean="0"/>
              <a:t>Pleno</a:t>
            </a:r>
            <a:endParaRPr lang="en-US" dirty="0" smtClean="0"/>
          </a:p>
          <a:p>
            <a:pPr lvl="1"/>
            <a:r>
              <a:rPr lang="en-US" dirty="0" err="1" smtClean="0"/>
              <a:t>Sênior</a:t>
            </a:r>
            <a:endParaRPr lang="en-US" dirty="0" smtClean="0"/>
          </a:p>
          <a:p>
            <a:pPr lvl="1"/>
            <a:r>
              <a:rPr lang="en-US" dirty="0" smtClean="0"/>
              <a:t>Supervisor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Seleção</a:t>
            </a:r>
            <a:r>
              <a:rPr lang="en-US" dirty="0" smtClean="0"/>
              <a:t> de </a:t>
            </a:r>
            <a:r>
              <a:rPr lang="en-US" dirty="0" err="1" smtClean="0"/>
              <a:t>Equipe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Requisitos</a:t>
            </a:r>
            <a:endParaRPr lang="en-US" dirty="0" smtClean="0"/>
          </a:p>
          <a:p>
            <a:pPr lvl="1"/>
            <a:r>
              <a:rPr lang="en-US" dirty="0" err="1" smtClean="0"/>
              <a:t>Analistas</a:t>
            </a:r>
            <a:r>
              <a:rPr lang="en-US" dirty="0" smtClean="0"/>
              <a:t> de </a:t>
            </a:r>
            <a:r>
              <a:rPr lang="en-US" dirty="0" err="1" smtClean="0"/>
              <a:t>Requisitos</a:t>
            </a:r>
            <a:endParaRPr lang="en-US" dirty="0" smtClean="0"/>
          </a:p>
          <a:p>
            <a:pPr lvl="1"/>
            <a:r>
              <a:rPr lang="en-US" dirty="0" err="1" smtClean="0"/>
              <a:t>Analistas</a:t>
            </a:r>
            <a:r>
              <a:rPr lang="en-US" dirty="0" smtClean="0"/>
              <a:t> de </a:t>
            </a:r>
            <a:r>
              <a:rPr lang="en-US" dirty="0" err="1" smtClean="0"/>
              <a:t>Processos</a:t>
            </a:r>
            <a:endParaRPr lang="en-US" dirty="0" smtClean="0"/>
          </a:p>
          <a:p>
            <a:pPr lvl="1"/>
            <a:r>
              <a:rPr lang="en-US" dirty="0" err="1" smtClean="0"/>
              <a:t>Analistas</a:t>
            </a:r>
            <a:r>
              <a:rPr lang="en-US" dirty="0" smtClean="0"/>
              <a:t> de </a:t>
            </a:r>
            <a:r>
              <a:rPr lang="en-US" dirty="0" err="1" smtClean="0"/>
              <a:t>Sistemas</a:t>
            </a:r>
            <a:endParaRPr lang="en-US" dirty="0" smtClean="0"/>
          </a:p>
          <a:p>
            <a:r>
              <a:rPr lang="en-US" dirty="0" err="1" smtClean="0"/>
              <a:t>Desenvolvimento</a:t>
            </a:r>
            <a:endParaRPr lang="en-US" dirty="0" smtClean="0"/>
          </a:p>
          <a:p>
            <a:pPr lvl="1"/>
            <a:r>
              <a:rPr lang="en-US" dirty="0" err="1" smtClean="0"/>
              <a:t>Analistas</a:t>
            </a:r>
            <a:r>
              <a:rPr lang="en-US" dirty="0" smtClean="0"/>
              <a:t> de </a:t>
            </a:r>
            <a:r>
              <a:rPr lang="en-US" dirty="0" err="1" smtClean="0"/>
              <a:t>Sistemas</a:t>
            </a:r>
            <a:endParaRPr lang="en-US" dirty="0" smtClean="0"/>
          </a:p>
          <a:p>
            <a:pPr lvl="1"/>
            <a:r>
              <a:rPr lang="en-US" dirty="0" err="1" smtClean="0"/>
              <a:t>Analistas-Programadores</a:t>
            </a:r>
            <a:endParaRPr lang="en-US" dirty="0" smtClean="0"/>
          </a:p>
          <a:p>
            <a:pPr lvl="1"/>
            <a:r>
              <a:rPr lang="en-US" dirty="0" err="1" smtClean="0"/>
              <a:t>Programadores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Seleção</a:t>
            </a:r>
            <a:r>
              <a:rPr lang="en-US" dirty="0" smtClean="0"/>
              <a:t> de </a:t>
            </a:r>
            <a:r>
              <a:rPr lang="en-US" dirty="0" err="1" smtClean="0"/>
              <a:t>Equipe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Banco</a:t>
            </a:r>
            <a:r>
              <a:rPr lang="en-US" dirty="0" smtClean="0"/>
              <a:t> de Dados</a:t>
            </a:r>
          </a:p>
          <a:p>
            <a:pPr lvl="1"/>
            <a:r>
              <a:rPr lang="en-US" dirty="0" err="1" smtClean="0"/>
              <a:t>Administrador</a:t>
            </a:r>
            <a:r>
              <a:rPr lang="en-US" dirty="0" smtClean="0"/>
              <a:t> de Dados</a:t>
            </a:r>
          </a:p>
          <a:p>
            <a:pPr lvl="1"/>
            <a:r>
              <a:rPr lang="en-US" dirty="0" smtClean="0"/>
              <a:t>DBA</a:t>
            </a:r>
          </a:p>
          <a:p>
            <a:r>
              <a:rPr lang="en-US" dirty="0" err="1" smtClean="0"/>
              <a:t>Infraestrutura</a:t>
            </a:r>
            <a:endParaRPr lang="en-US" dirty="0" smtClean="0"/>
          </a:p>
          <a:p>
            <a:pPr lvl="1"/>
            <a:r>
              <a:rPr lang="en-US" dirty="0" err="1" smtClean="0"/>
              <a:t>Analista</a:t>
            </a:r>
            <a:r>
              <a:rPr lang="en-US" dirty="0" smtClean="0"/>
              <a:t> de </a:t>
            </a:r>
            <a:r>
              <a:rPr lang="en-US" dirty="0" err="1" smtClean="0"/>
              <a:t>Redes</a:t>
            </a:r>
            <a:endParaRPr lang="en-US" dirty="0" smtClean="0"/>
          </a:p>
          <a:p>
            <a:pPr lvl="1"/>
            <a:r>
              <a:rPr lang="en-US" dirty="0" err="1" smtClean="0"/>
              <a:t>Analista</a:t>
            </a:r>
            <a:r>
              <a:rPr lang="en-US" dirty="0" smtClean="0"/>
              <a:t> de </a:t>
            </a:r>
            <a:r>
              <a:rPr lang="en-US" dirty="0" err="1" smtClean="0"/>
              <a:t>Infraestrutura</a:t>
            </a:r>
            <a:endParaRPr lang="en-US" dirty="0" smtClean="0"/>
          </a:p>
          <a:p>
            <a:pPr lvl="1"/>
            <a:r>
              <a:rPr lang="en-US" dirty="0" err="1" smtClean="0"/>
              <a:t>Analista</a:t>
            </a:r>
            <a:r>
              <a:rPr lang="en-US" dirty="0" smtClean="0"/>
              <a:t> de </a:t>
            </a:r>
            <a:r>
              <a:rPr lang="en-US" dirty="0" err="1" smtClean="0"/>
              <a:t>Suporte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Seleção</a:t>
            </a:r>
            <a:r>
              <a:rPr lang="en-US" dirty="0" smtClean="0"/>
              <a:t> de </a:t>
            </a:r>
            <a:r>
              <a:rPr lang="en-US" dirty="0" err="1" smtClean="0"/>
              <a:t>Equipe</a:t>
            </a:r>
            <a:r>
              <a:rPr lang="en-US" dirty="0" smtClean="0"/>
              <a:t> – </a:t>
            </a:r>
            <a:r>
              <a:rPr lang="en-US" dirty="0" err="1" smtClean="0"/>
              <a:t>Níveis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altos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Arquiteto</a:t>
            </a:r>
            <a:r>
              <a:rPr lang="en-US" dirty="0" smtClean="0"/>
              <a:t> de Software</a:t>
            </a:r>
          </a:p>
          <a:p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Projetos</a:t>
            </a:r>
            <a:endParaRPr lang="en-US" dirty="0" smtClean="0"/>
          </a:p>
          <a:p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Desenvolvimento</a:t>
            </a:r>
            <a:r>
              <a:rPr lang="en-US" dirty="0" smtClean="0"/>
              <a:t> de </a:t>
            </a:r>
            <a:r>
              <a:rPr lang="en-US" dirty="0" err="1" smtClean="0"/>
              <a:t>Sistemas</a:t>
            </a:r>
            <a:endParaRPr lang="en-US" dirty="0" smtClean="0"/>
          </a:p>
          <a:p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Informática</a:t>
            </a:r>
            <a:endParaRPr lang="en-US" dirty="0" smtClean="0"/>
          </a:p>
          <a:p>
            <a:r>
              <a:rPr lang="en-US" dirty="0" err="1" smtClean="0"/>
              <a:t>Gerente</a:t>
            </a:r>
            <a:r>
              <a:rPr lang="en-US" dirty="0" smtClean="0"/>
              <a:t> de </a:t>
            </a:r>
            <a:r>
              <a:rPr lang="en-US" dirty="0" err="1" smtClean="0"/>
              <a:t>Tecnologia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Informação</a:t>
            </a:r>
            <a:endParaRPr lang="en-US" dirty="0" smtClean="0"/>
          </a:p>
          <a:p>
            <a:r>
              <a:rPr lang="en-US" dirty="0" err="1" smtClean="0"/>
              <a:t>Diretor</a:t>
            </a:r>
            <a:r>
              <a:rPr lang="en-US" dirty="0" smtClean="0"/>
              <a:t> de </a:t>
            </a:r>
            <a:r>
              <a:rPr lang="en-US" dirty="0" err="1" smtClean="0"/>
              <a:t>Tecnologia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Informação</a:t>
            </a:r>
            <a:endParaRPr lang="en-US" dirty="0" smtClean="0"/>
          </a:p>
          <a:p>
            <a:r>
              <a:rPr lang="en-US" dirty="0" err="1" smtClean="0"/>
              <a:t>Diretor</a:t>
            </a:r>
            <a:r>
              <a:rPr lang="en-US" dirty="0" smtClean="0"/>
              <a:t> de </a:t>
            </a:r>
            <a:r>
              <a:rPr lang="en-US" dirty="0" err="1" smtClean="0"/>
              <a:t>Desenvolvimento</a:t>
            </a:r>
            <a:r>
              <a:rPr lang="en-US" dirty="0" smtClean="0"/>
              <a:t> de </a:t>
            </a:r>
            <a:r>
              <a:rPr lang="en-US" dirty="0" err="1" smtClean="0"/>
              <a:t>Sistemas</a:t>
            </a:r>
            <a:endParaRPr lang="en-US" dirty="0" smtClean="0"/>
          </a:p>
          <a:p>
            <a:r>
              <a:rPr lang="en-US" dirty="0" err="1" smtClean="0"/>
              <a:t>Diretor</a:t>
            </a:r>
            <a:r>
              <a:rPr lang="en-US" dirty="0" smtClean="0"/>
              <a:t> de </a:t>
            </a:r>
            <a:r>
              <a:rPr lang="en-US" dirty="0" err="1" smtClean="0"/>
              <a:t>Informática</a:t>
            </a:r>
            <a:endParaRPr lang="en-US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Seleção</a:t>
            </a:r>
            <a:r>
              <a:rPr lang="en-US" dirty="0" smtClean="0"/>
              <a:t> de </a:t>
            </a:r>
            <a:r>
              <a:rPr lang="en-US" dirty="0" err="1" smtClean="0"/>
              <a:t>Equipe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Nomes</a:t>
            </a:r>
            <a:r>
              <a:rPr lang="en-US" dirty="0" smtClean="0"/>
              <a:t> </a:t>
            </a:r>
            <a:r>
              <a:rPr lang="en-US" dirty="0" err="1" smtClean="0"/>
              <a:t>variados</a:t>
            </a:r>
            <a:endParaRPr lang="en-US" dirty="0" smtClean="0"/>
          </a:p>
          <a:p>
            <a:r>
              <a:rPr lang="en-US" dirty="0" err="1" smtClean="0"/>
              <a:t>Depende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organização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Formas</a:t>
            </a:r>
            <a:r>
              <a:rPr lang="en-US" dirty="0" smtClean="0"/>
              <a:t> de </a:t>
            </a:r>
            <a:r>
              <a:rPr lang="en-US" dirty="0" err="1" smtClean="0"/>
              <a:t>Equipe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Organização</a:t>
            </a:r>
            <a:r>
              <a:rPr lang="en-US" dirty="0" smtClean="0"/>
              <a:t> informal, </a:t>
            </a:r>
            <a:r>
              <a:rPr lang="en-US" dirty="0" err="1" smtClean="0"/>
              <a:t>grupos</a:t>
            </a:r>
            <a:r>
              <a:rPr lang="en-US" dirty="0" smtClean="0"/>
              <a:t> </a:t>
            </a:r>
            <a:r>
              <a:rPr lang="en-US" dirty="0" err="1" smtClean="0"/>
              <a:t>pequenos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Ex. XP, SCRUM</a:t>
            </a:r>
          </a:p>
          <a:p>
            <a:r>
              <a:rPr lang="en-US" dirty="0" err="1" smtClean="0"/>
              <a:t>Organização</a:t>
            </a:r>
            <a:r>
              <a:rPr lang="en-US" dirty="0" smtClean="0"/>
              <a:t> </a:t>
            </a:r>
            <a:r>
              <a:rPr lang="en-US" dirty="0" err="1" smtClean="0"/>
              <a:t>hierárquica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Programador-chefe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IBM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Desafios atuais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Home-Office</a:t>
            </a:r>
          </a:p>
          <a:p>
            <a:pPr lvl="1"/>
            <a:r>
              <a:rPr lang="pt-BR" dirty="0" smtClean="0"/>
              <a:t>Produtividade (?)</a:t>
            </a:r>
          </a:p>
          <a:p>
            <a:r>
              <a:rPr lang="pt-BR" dirty="0" smtClean="0"/>
              <a:t>Prazos mais curtos para entregas</a:t>
            </a:r>
          </a:p>
          <a:p>
            <a:r>
              <a:rPr lang="pt-BR" dirty="0" smtClean="0"/>
              <a:t>Atualização de tecnologias</a:t>
            </a:r>
          </a:p>
          <a:p>
            <a:r>
              <a:rPr lang="pt-BR" dirty="0" smtClean="0"/>
              <a:t>Terceirização</a:t>
            </a:r>
          </a:p>
          <a:p>
            <a:r>
              <a:rPr lang="pt-BR" dirty="0" smtClean="0"/>
              <a:t>Outros ?  </a:t>
            </a:r>
            <a:endParaRPr lang="pt-BR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7 - Gerenciamento das comunicações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dirty="0" err="1" smtClean="0"/>
              <a:t>Relatórios</a:t>
            </a:r>
            <a:r>
              <a:rPr lang="en-US" dirty="0" smtClean="0"/>
              <a:t> </a:t>
            </a:r>
            <a:r>
              <a:rPr lang="en-US" dirty="0" err="1" smtClean="0"/>
              <a:t>diversos</a:t>
            </a:r>
            <a:endParaRPr lang="en-US" dirty="0" smtClean="0"/>
          </a:p>
          <a:p>
            <a:pPr lvl="1"/>
            <a:r>
              <a:rPr lang="en-US" dirty="0" smtClean="0"/>
              <a:t>Status do </a:t>
            </a:r>
            <a:r>
              <a:rPr lang="en-US" dirty="0" err="1" smtClean="0"/>
              <a:t>projeto</a:t>
            </a:r>
            <a:endParaRPr lang="en-US" dirty="0" smtClean="0"/>
          </a:p>
          <a:p>
            <a:pPr lvl="1"/>
            <a:r>
              <a:rPr lang="en-US" dirty="0" smtClean="0"/>
              <a:t>Progresso do </a:t>
            </a:r>
            <a:r>
              <a:rPr lang="en-US" dirty="0" err="1" smtClean="0"/>
              <a:t>projeto</a:t>
            </a:r>
            <a:r>
              <a:rPr lang="en-US" dirty="0" smtClean="0"/>
              <a:t>, </a:t>
            </a:r>
            <a:r>
              <a:rPr lang="en-US" dirty="0" err="1" smtClean="0"/>
              <a:t>contendo</a:t>
            </a:r>
            <a:r>
              <a:rPr lang="en-US" dirty="0" smtClean="0"/>
              <a:t> 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foi</a:t>
            </a:r>
            <a:r>
              <a:rPr lang="en-US" dirty="0" smtClean="0"/>
              <a:t> </a:t>
            </a:r>
            <a:r>
              <a:rPr lang="en-US" dirty="0" err="1" smtClean="0"/>
              <a:t>produzido</a:t>
            </a:r>
            <a:endParaRPr lang="en-US" dirty="0" smtClean="0"/>
          </a:p>
          <a:p>
            <a:pPr lvl="1"/>
            <a:r>
              <a:rPr lang="en-US" dirty="0" err="1" smtClean="0"/>
              <a:t>Prognósticos</a:t>
            </a:r>
            <a:r>
              <a:rPr lang="en-US" dirty="0" smtClean="0"/>
              <a:t>, </a:t>
            </a:r>
            <a:r>
              <a:rPr lang="en-US" dirty="0" err="1" smtClean="0"/>
              <a:t>contendo</a:t>
            </a:r>
            <a:r>
              <a:rPr lang="en-US" dirty="0" smtClean="0"/>
              <a:t> </a:t>
            </a:r>
            <a:r>
              <a:rPr lang="en-US" dirty="0" err="1" smtClean="0"/>
              <a:t>expectativas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a </a:t>
            </a:r>
            <a:r>
              <a:rPr lang="en-US" dirty="0" err="1" smtClean="0"/>
              <a:t>situação</a:t>
            </a:r>
            <a:r>
              <a:rPr lang="en-US" dirty="0" smtClean="0"/>
              <a:t> </a:t>
            </a:r>
            <a:r>
              <a:rPr lang="en-US" dirty="0" err="1" smtClean="0"/>
              <a:t>futura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8 - Gerenciamento de riscos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Risco: probabilidade de que alguma circunstância adversa venha a acontecer</a:t>
            </a:r>
          </a:p>
          <a:p>
            <a:r>
              <a:rPr lang="pt-BR" dirty="0" smtClean="0"/>
              <a:t>Categorias:</a:t>
            </a:r>
          </a:p>
          <a:p>
            <a:pPr lvl="1"/>
            <a:r>
              <a:rPr lang="pt-BR" dirty="0" smtClean="0"/>
              <a:t>Riscos do projeto: afetam a programação/recursos do projeto</a:t>
            </a:r>
          </a:p>
          <a:p>
            <a:pPr lvl="1"/>
            <a:r>
              <a:rPr lang="pt-BR" dirty="0" smtClean="0"/>
              <a:t>Riscos do produto: afetam a qualidade ou o desempenho do software</a:t>
            </a:r>
          </a:p>
          <a:p>
            <a:pPr lvl="1"/>
            <a:r>
              <a:rPr lang="pt-BR" dirty="0" smtClean="0"/>
              <a:t>Riscos do negócio: afetam a organização que está desenvolvendo ou adquirindo o software.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Consequências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r>
              <a:rPr lang="en-US" dirty="0" smtClean="0"/>
              <a:t> – 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pode</a:t>
            </a:r>
            <a:r>
              <a:rPr lang="en-US" dirty="0" smtClean="0"/>
              <a:t> ser </a:t>
            </a:r>
            <a:r>
              <a:rPr lang="en-US" dirty="0" err="1" smtClean="0"/>
              <a:t>afetado</a:t>
            </a:r>
            <a:r>
              <a:rPr lang="en-US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Desempenho</a:t>
            </a:r>
          </a:p>
          <a:p>
            <a:pPr lvl="1"/>
            <a:r>
              <a:rPr lang="pt-BR" dirty="0" smtClean="0"/>
              <a:t>Impossibilidade de se atingir um requisito</a:t>
            </a:r>
          </a:p>
          <a:p>
            <a:r>
              <a:rPr lang="pt-BR" dirty="0" smtClean="0"/>
              <a:t>Custo</a:t>
            </a:r>
          </a:p>
          <a:p>
            <a:pPr lvl="1"/>
            <a:r>
              <a:rPr lang="pt-BR" dirty="0" smtClean="0"/>
              <a:t>Surgimento de despesas adicionais</a:t>
            </a:r>
          </a:p>
          <a:p>
            <a:r>
              <a:rPr lang="pt-BR" dirty="0" smtClean="0"/>
              <a:t>Cronograma</a:t>
            </a:r>
          </a:p>
          <a:p>
            <a:pPr lvl="1"/>
            <a:r>
              <a:rPr lang="pt-BR" dirty="0" smtClean="0"/>
              <a:t>Ocorrência de atrasos</a:t>
            </a:r>
          </a:p>
          <a:p>
            <a:r>
              <a:rPr lang="pt-BR" dirty="0" smtClean="0"/>
              <a:t>Combinação</a:t>
            </a:r>
          </a:p>
          <a:p>
            <a:pPr lvl="1"/>
            <a:r>
              <a:rPr lang="pt-BR" dirty="0" smtClean="0"/>
              <a:t>Desempenho + custo + cronograma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surgem</a:t>
            </a:r>
            <a:r>
              <a:rPr lang="en-US" dirty="0" smtClean="0"/>
              <a:t> </a:t>
            </a:r>
            <a:r>
              <a:rPr lang="en-US" dirty="0" err="1" smtClean="0"/>
              <a:t>riscos</a:t>
            </a:r>
            <a:r>
              <a:rPr lang="en-US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Requisitos mal definidos</a:t>
            </a:r>
          </a:p>
          <a:p>
            <a:r>
              <a:rPr lang="pt-BR" dirty="0" smtClean="0"/>
              <a:t>Mudanças nos requisitos</a:t>
            </a:r>
          </a:p>
          <a:p>
            <a:r>
              <a:rPr lang="pt-BR" dirty="0" smtClean="0"/>
              <a:t>Dificuldades em estimar prazo e recursos necessários</a:t>
            </a:r>
          </a:p>
          <a:p>
            <a:r>
              <a:rPr lang="pt-BR" dirty="0" smtClean="0"/>
              <a:t>Dependência de habilidades individuais</a:t>
            </a:r>
          </a:p>
          <a:p>
            <a:r>
              <a:rPr lang="en-US" dirty="0" err="1" smtClean="0"/>
              <a:t>Alterações</a:t>
            </a:r>
            <a:r>
              <a:rPr lang="en-US" dirty="0" smtClean="0"/>
              <a:t> </a:t>
            </a:r>
            <a:r>
              <a:rPr lang="en-US" dirty="0" err="1" smtClean="0"/>
              <a:t>tecnológicas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Processo</a:t>
            </a:r>
            <a:r>
              <a:rPr lang="en-US" dirty="0" smtClean="0"/>
              <a:t> de </a:t>
            </a:r>
            <a:r>
              <a:rPr lang="en-US" dirty="0" err="1" smtClean="0"/>
              <a:t>Gerenciamento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47525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1 – identificação dos riscos: </a:t>
            </a:r>
          </a:p>
          <a:p>
            <a:pPr>
              <a:buNone/>
            </a:pPr>
            <a:r>
              <a:rPr lang="pt-BR" dirty="0" smtClean="0"/>
              <a:t>		são identificados os possíveis riscos de projeto, produto e negócios</a:t>
            </a:r>
          </a:p>
          <a:p>
            <a:pPr>
              <a:buNone/>
            </a:pPr>
            <a:r>
              <a:rPr lang="pt-BR" dirty="0" smtClean="0"/>
              <a:t>2 – análise dos riscos: </a:t>
            </a:r>
          </a:p>
          <a:p>
            <a:pPr>
              <a:buNone/>
            </a:pPr>
            <a:r>
              <a:rPr lang="pt-BR" dirty="0" smtClean="0"/>
              <a:t>		são avaliadas as possibilidades e as consequências da ocorrência desses riscos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Processo</a:t>
            </a:r>
            <a:r>
              <a:rPr lang="en-US" dirty="0" smtClean="0"/>
              <a:t> de </a:t>
            </a:r>
            <a:r>
              <a:rPr lang="en-US" dirty="0" err="1" smtClean="0"/>
              <a:t>Gerenciamento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47525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3 – planejamento de riscos: </a:t>
            </a:r>
          </a:p>
          <a:p>
            <a:pPr>
              <a:buNone/>
            </a:pPr>
            <a:r>
              <a:rPr lang="pt-BR" dirty="0" smtClean="0"/>
              <a:t>		são traçados planos para enfrentar os riscos, evitando-se ou minimizando seus efeitos</a:t>
            </a:r>
          </a:p>
          <a:p>
            <a:pPr>
              <a:buNone/>
            </a:pPr>
            <a:r>
              <a:rPr lang="pt-BR" dirty="0" smtClean="0"/>
              <a:t>4 – monitoramento dos riscos: </a:t>
            </a:r>
          </a:p>
          <a:p>
            <a:pPr>
              <a:buNone/>
            </a:pPr>
            <a:r>
              <a:rPr lang="pt-BR" dirty="0" smtClean="0"/>
              <a:t>		o risco é constantemente avaliado e os planos são revisados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Identificação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Tecnologia: </a:t>
            </a:r>
          </a:p>
          <a:p>
            <a:pPr lvl="1"/>
            <a:r>
              <a:rPr lang="pt-BR" dirty="0" smtClean="0"/>
              <a:t>de hardware ou software, que são usadas durante o desenvolvimento</a:t>
            </a:r>
          </a:p>
          <a:p>
            <a:r>
              <a:rPr lang="pt-BR" dirty="0" smtClean="0"/>
              <a:t>Pessoal: </a:t>
            </a:r>
          </a:p>
          <a:p>
            <a:pPr lvl="1"/>
            <a:r>
              <a:rPr lang="pt-BR" dirty="0" smtClean="0"/>
              <a:t>perda de profissionais </a:t>
            </a:r>
          </a:p>
          <a:p>
            <a:pPr lvl="1"/>
            <a:r>
              <a:rPr lang="en-US" dirty="0" err="1" smtClean="0"/>
              <a:t>Dificuldade</a:t>
            </a:r>
            <a:r>
              <a:rPr lang="en-US" dirty="0" smtClean="0"/>
              <a:t> de </a:t>
            </a:r>
            <a:r>
              <a:rPr lang="en-US" dirty="0" err="1" smtClean="0"/>
              <a:t>encontrar</a:t>
            </a:r>
            <a:r>
              <a:rPr lang="en-US" dirty="0" smtClean="0"/>
              <a:t> o </a:t>
            </a:r>
            <a:r>
              <a:rPr lang="en-US" dirty="0" err="1" smtClean="0"/>
              <a:t>profissional</a:t>
            </a:r>
            <a:r>
              <a:rPr lang="en-US" dirty="0" smtClean="0"/>
              <a:t> </a:t>
            </a:r>
            <a:r>
              <a:rPr lang="en-US" dirty="0" err="1" smtClean="0"/>
              <a:t>certo</a:t>
            </a:r>
            <a:endParaRPr lang="pt-BR" dirty="0" smtClean="0"/>
          </a:p>
          <a:p>
            <a:r>
              <a:rPr lang="pt-BR" dirty="0" smtClean="0"/>
              <a:t>Organizacionais: </a:t>
            </a:r>
          </a:p>
          <a:p>
            <a:pPr lvl="1"/>
            <a:r>
              <a:rPr lang="pt-BR" dirty="0" smtClean="0"/>
              <a:t>derivam do ambiente organizacional, incluindo mudanças de governos</a:t>
            </a:r>
          </a:p>
          <a:p>
            <a:pPr lvl="1"/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Identificação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Ferramentas: </a:t>
            </a:r>
          </a:p>
          <a:p>
            <a:pPr lvl="1"/>
            <a:r>
              <a:rPr lang="pt-BR" dirty="0" smtClean="0"/>
              <a:t>CASE</a:t>
            </a:r>
          </a:p>
          <a:p>
            <a:pPr lvl="1"/>
            <a:r>
              <a:rPr lang="pt-BR" dirty="0" smtClean="0"/>
              <a:t>outros softwares de apoio</a:t>
            </a:r>
          </a:p>
          <a:p>
            <a:r>
              <a:rPr lang="pt-BR" dirty="0" smtClean="0"/>
              <a:t>Requisitos: </a:t>
            </a:r>
          </a:p>
          <a:p>
            <a:pPr lvl="1"/>
            <a:r>
              <a:rPr lang="pt-BR" dirty="0" smtClean="0"/>
              <a:t>derivam de constantes modificações de requisitos</a:t>
            </a:r>
          </a:p>
          <a:p>
            <a:r>
              <a:rPr lang="pt-BR" dirty="0" smtClean="0"/>
              <a:t>Estimativa: </a:t>
            </a:r>
          </a:p>
          <a:p>
            <a:pPr lvl="1"/>
            <a:r>
              <a:rPr lang="en-US" dirty="0" err="1" smtClean="0"/>
              <a:t>Estimativas</a:t>
            </a:r>
            <a:r>
              <a:rPr lang="en-US" dirty="0" smtClean="0"/>
              <a:t> </a:t>
            </a:r>
            <a:r>
              <a:rPr lang="en-US" dirty="0" err="1" smtClean="0"/>
              <a:t>exageradamente</a:t>
            </a:r>
            <a:r>
              <a:rPr lang="en-US" dirty="0" smtClean="0"/>
              <a:t> </a:t>
            </a:r>
            <a:r>
              <a:rPr lang="en-US" dirty="0" err="1" smtClean="0"/>
              <a:t>otimistas</a:t>
            </a:r>
            <a:endParaRPr lang="en-US" dirty="0" smtClean="0"/>
          </a:p>
          <a:p>
            <a:pPr lvl="1"/>
            <a:r>
              <a:rPr lang="en-US" dirty="0" err="1" smtClean="0"/>
              <a:t>Estimativas</a:t>
            </a:r>
            <a:r>
              <a:rPr lang="en-US" dirty="0" smtClean="0"/>
              <a:t> </a:t>
            </a:r>
            <a:r>
              <a:rPr lang="en-US" dirty="0" err="1" smtClean="0"/>
              <a:t>exageradamente</a:t>
            </a:r>
            <a:r>
              <a:rPr lang="en-US" dirty="0" smtClean="0"/>
              <a:t> </a:t>
            </a:r>
            <a:r>
              <a:rPr lang="en-US" dirty="0" err="1" smtClean="0"/>
              <a:t>pessimistas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Exemplos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040560"/>
          </a:xfrm>
        </p:spPr>
        <p:txBody>
          <a:bodyPr>
            <a:normAutofit/>
          </a:bodyPr>
          <a:lstStyle/>
          <a:p>
            <a:r>
              <a:rPr lang="pt-BR" dirty="0" smtClean="0"/>
              <a:t>Tecnologia: O banco de dados não processa tantas transações como esperado.</a:t>
            </a:r>
          </a:p>
          <a:p>
            <a:r>
              <a:rPr lang="pt-BR" dirty="0" smtClean="0"/>
              <a:t>Pessoal: pessoas importantes não estão disponíveis em períodos cruciais</a:t>
            </a:r>
          </a:p>
          <a:p>
            <a:r>
              <a:rPr lang="pt-BR" dirty="0" smtClean="0"/>
              <a:t>Organizacional: problemas financeiros forçam a diminuição do orçamento do projeto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Exemplos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040560"/>
          </a:xfrm>
        </p:spPr>
        <p:txBody>
          <a:bodyPr>
            <a:normAutofit/>
          </a:bodyPr>
          <a:lstStyle/>
          <a:p>
            <a:r>
              <a:rPr lang="pt-BR" dirty="0" smtClean="0"/>
              <a:t>Ferramentas: nova linguagem de programação será usada</a:t>
            </a:r>
          </a:p>
          <a:p>
            <a:r>
              <a:rPr lang="pt-BR" dirty="0" smtClean="0"/>
              <a:t>Requisitos: os clientes não entendem o impacto na mudança de requisitos</a:t>
            </a:r>
          </a:p>
          <a:p>
            <a:r>
              <a:rPr lang="pt-BR" dirty="0" smtClean="0"/>
              <a:t>Estimativa: o tamanho do software é subestimado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Análise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 partir da experiência dos gerentes, decide-se pela probabilidade e seriedade do risco</a:t>
            </a:r>
          </a:p>
          <a:p>
            <a:r>
              <a:rPr lang="pt-BR" dirty="0" smtClean="0"/>
              <a:t>Probabilidade: </a:t>
            </a:r>
          </a:p>
          <a:p>
            <a:pPr lvl="1"/>
            <a:r>
              <a:rPr lang="pt-BR" dirty="0" smtClean="0"/>
              <a:t>muito baixa (&lt;10%), baixa (10-25%), moderada (25-50%), alta (50-75%), muito alta (&gt;75%)</a:t>
            </a:r>
          </a:p>
          <a:p>
            <a:r>
              <a:rPr lang="pt-BR" dirty="0" smtClean="0"/>
              <a:t>Seriedade: </a:t>
            </a:r>
          </a:p>
          <a:p>
            <a:pPr lvl="1"/>
            <a:r>
              <a:rPr lang="pt-BR" dirty="0" smtClean="0"/>
              <a:t>catastróficos, sérios, toleráveis, insignificantes</a:t>
            </a:r>
          </a:p>
          <a:p>
            <a:r>
              <a:rPr lang="pt-BR" dirty="0" smtClean="0"/>
              <a:t>Faz-se então um julgamento dos principais riscos baseado nessas métricas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2750"/>
            <a:ext cx="9217025" cy="603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 de </a:t>
            </a:r>
            <a:r>
              <a:rPr lang="en-US" dirty="0" err="1" smtClean="0"/>
              <a:t>Análise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62416"/>
            <a:ext cx="9108504" cy="287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Planejamento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Considera cada um dos riscos mais importantes que foram identificados e define estratégias para gerenciá-lo</a:t>
            </a:r>
          </a:p>
          <a:p>
            <a:r>
              <a:rPr lang="pt-BR" dirty="0" smtClean="0"/>
              <a:t>Depende da experiência do gerente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Categorias de estratégias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Preventivas. </a:t>
            </a:r>
          </a:p>
          <a:p>
            <a:pPr lvl="1"/>
            <a:r>
              <a:rPr lang="pt-BR" dirty="0" smtClean="0"/>
              <a:t>Ex. Substitua componentes críticos por componentes comprados de um fornecedor conhecido</a:t>
            </a:r>
          </a:p>
          <a:p>
            <a:r>
              <a:rPr lang="pt-BR" dirty="0" smtClean="0"/>
              <a:t>Minimização. </a:t>
            </a:r>
          </a:p>
          <a:p>
            <a:pPr lvl="1"/>
            <a:r>
              <a:rPr lang="pt-BR" dirty="0" smtClean="0"/>
              <a:t>Ex. Reorganize a equipe de trabalho de forma que mais pessoas sejam responsáveis por maiores partes do projeto</a:t>
            </a:r>
          </a:p>
          <a:p>
            <a:r>
              <a:rPr lang="pt-BR" dirty="0" smtClean="0"/>
              <a:t>Planos de contingência. </a:t>
            </a:r>
          </a:p>
          <a:p>
            <a:pPr lvl="1"/>
            <a:r>
              <a:rPr lang="pt-BR" dirty="0" smtClean="0"/>
              <a:t>Ex. Prepare um documento mostrando o quanto o projeto é importante para a empresa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Monitoramento</a:t>
            </a:r>
            <a:r>
              <a:rPr lang="en-US" dirty="0" smtClean="0"/>
              <a:t> de </a:t>
            </a:r>
            <a:r>
              <a:rPr lang="en-US" dirty="0" err="1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Avaliar regularmente cada um dos riscos individuais</a:t>
            </a:r>
          </a:p>
          <a:p>
            <a:r>
              <a:rPr lang="pt-BR" dirty="0" smtClean="0"/>
              <a:t>Decidir se o risco está se tornando mais ou menos provável</a:t>
            </a:r>
          </a:p>
          <a:p>
            <a:r>
              <a:rPr lang="pt-BR" dirty="0" smtClean="0"/>
              <a:t>Decidir se o efeito do risco está se tornando mais ou menos sério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9 - Gerenciamento de aquisições do projeto 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Trata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obtenção</a:t>
            </a:r>
            <a:r>
              <a:rPr lang="en-US" dirty="0" smtClean="0"/>
              <a:t> de </a:t>
            </a:r>
            <a:r>
              <a:rPr lang="en-US" dirty="0" err="1" smtClean="0"/>
              <a:t>recursos</a:t>
            </a:r>
            <a:r>
              <a:rPr lang="en-US" dirty="0" smtClean="0"/>
              <a:t> a </a:t>
            </a:r>
            <a:r>
              <a:rPr lang="en-US" dirty="0" err="1" smtClean="0"/>
              <a:t>partir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</a:t>
            </a:r>
            <a:r>
              <a:rPr lang="en-US" dirty="0" err="1" smtClean="0"/>
              <a:t>externas</a:t>
            </a:r>
            <a:r>
              <a:rPr lang="en-US" dirty="0" smtClean="0"/>
              <a:t> à </a:t>
            </a:r>
            <a:r>
              <a:rPr lang="en-US" dirty="0" err="1" smtClean="0"/>
              <a:t>organização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Contratação</a:t>
            </a:r>
            <a:r>
              <a:rPr lang="en-US" dirty="0" smtClean="0"/>
              <a:t> de </a:t>
            </a:r>
            <a:r>
              <a:rPr lang="en-US" dirty="0" err="1" smtClean="0"/>
              <a:t>pessoal</a:t>
            </a:r>
            <a:endParaRPr lang="en-US" dirty="0" smtClean="0"/>
          </a:p>
          <a:p>
            <a:pPr lvl="1"/>
            <a:r>
              <a:rPr lang="en-US" dirty="0" err="1" smtClean="0"/>
              <a:t>Fluxo</a:t>
            </a:r>
            <a:r>
              <a:rPr lang="en-US" dirty="0" smtClean="0"/>
              <a:t> de </a:t>
            </a:r>
            <a:r>
              <a:rPr lang="en-US" dirty="0" err="1" smtClean="0"/>
              <a:t>caixa</a:t>
            </a:r>
            <a:endParaRPr lang="en-US" dirty="0" smtClean="0"/>
          </a:p>
          <a:p>
            <a:pPr lvl="1"/>
            <a:r>
              <a:rPr lang="en-US" dirty="0" err="1" smtClean="0"/>
              <a:t>Prazos</a:t>
            </a:r>
            <a:r>
              <a:rPr lang="en-US" dirty="0" smtClean="0"/>
              <a:t>/</a:t>
            </a:r>
            <a:r>
              <a:rPr lang="en-US" dirty="0" err="1" smtClean="0"/>
              <a:t>requisitos</a:t>
            </a:r>
            <a:endParaRPr lang="en-US" dirty="0" smtClean="0"/>
          </a:p>
          <a:p>
            <a:pPr lvl="1"/>
            <a:r>
              <a:rPr lang="en-US" dirty="0" err="1" smtClean="0"/>
              <a:t>Seleção</a:t>
            </a:r>
            <a:r>
              <a:rPr lang="en-US" dirty="0" smtClean="0"/>
              <a:t> de </a:t>
            </a:r>
            <a:r>
              <a:rPr lang="en-US" dirty="0" err="1" smtClean="0"/>
              <a:t>Fornecedores</a:t>
            </a:r>
            <a:endParaRPr lang="en-US" dirty="0" smtClean="0"/>
          </a:p>
          <a:p>
            <a:pPr lvl="1"/>
            <a:r>
              <a:rPr lang="en-US" dirty="0" err="1" smtClean="0"/>
              <a:t>Administração</a:t>
            </a:r>
            <a:r>
              <a:rPr lang="en-US" dirty="0" smtClean="0"/>
              <a:t> de </a:t>
            </a:r>
            <a:r>
              <a:rPr lang="en-US" dirty="0" err="1" smtClean="0"/>
              <a:t>contratos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10 - Gerenciamento stakeholders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Identificar stakeholders</a:t>
            </a:r>
          </a:p>
          <a:p>
            <a:r>
              <a:rPr lang="pt-BR" dirty="0" smtClean="0"/>
              <a:t>Analisar os stakeholders</a:t>
            </a:r>
          </a:p>
          <a:p>
            <a:pPr lvl="1"/>
            <a:r>
              <a:rPr lang="pt-BR" dirty="0" smtClean="0"/>
              <a:t>Nível de poder, interesse, influência e impacto</a:t>
            </a:r>
          </a:p>
          <a:p>
            <a:pPr lvl="1"/>
            <a:r>
              <a:rPr lang="pt-BR" dirty="0" smtClean="0"/>
              <a:t>Priorizar stakeholders</a:t>
            </a:r>
          </a:p>
          <a:p>
            <a:r>
              <a:rPr lang="pt-BR" dirty="0" smtClean="0"/>
              <a:t>Planejamento de stakeholder</a:t>
            </a:r>
          </a:p>
          <a:p>
            <a:pPr lvl="1"/>
            <a:r>
              <a:rPr lang="pt-BR" dirty="0" smtClean="0"/>
              <a:t>Como cada um prefere ser contactado? </a:t>
            </a:r>
          </a:p>
          <a:p>
            <a:pPr lvl="1"/>
            <a:r>
              <a:rPr lang="pt-BR" dirty="0" smtClean="0"/>
              <a:t>Qual a frequência de comunicação? </a:t>
            </a:r>
          </a:p>
          <a:p>
            <a:r>
              <a:rPr lang="pt-BR" dirty="0" smtClean="0"/>
              <a:t>Gerenciar o engajamento dos stakeholders</a:t>
            </a:r>
          </a:p>
          <a:p>
            <a:pPr lvl="1"/>
            <a:r>
              <a:rPr lang="pt-BR" dirty="0" smtClean="0"/>
              <a:t>Reuniões, comunicados, emails, feedback</a:t>
            </a:r>
          </a:p>
          <a:p>
            <a:r>
              <a:rPr lang="pt-BR" dirty="0" smtClean="0"/>
              <a:t>Monitoramento e melhorias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10 - Gerenciamento stakeholders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hlinkClick r:id="rId2"/>
              </a:rPr>
              <a:t>https://www.pmi.org/learning/library/stakeholder-management-task-project-success-7736</a:t>
            </a:r>
            <a:endParaRPr lang="pt-BR" dirty="0" smtClean="0"/>
          </a:p>
          <a:p>
            <a:r>
              <a:rPr lang="pt-BR" dirty="0" smtClean="0">
                <a:hlinkClick r:id="rId3"/>
              </a:rPr>
              <a:t>https://www.pmi.org/learning/library/engaging-stakeholders-project-success-11199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Trabalho</a:t>
            </a:r>
            <a:r>
              <a:rPr lang="en-US" dirty="0" smtClean="0"/>
              <a:t> - Plano de </a:t>
            </a:r>
            <a:r>
              <a:rPr lang="en-US" dirty="0" err="1" smtClean="0"/>
              <a:t>Projeto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Mínimo</a:t>
            </a:r>
            <a:r>
              <a:rPr lang="en-US" dirty="0" smtClean="0"/>
              <a:t> de </a:t>
            </a:r>
            <a:r>
              <a:rPr lang="en-US" dirty="0" err="1" smtClean="0"/>
              <a:t>itens</a:t>
            </a:r>
            <a:r>
              <a:rPr lang="en-US" dirty="0" smtClean="0"/>
              <a:t>:</a:t>
            </a:r>
            <a:br>
              <a:rPr lang="en-US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pt-BR" sz="3800" dirty="0" smtClean="0"/>
              <a:t>1 – Introdução (descrição breve da situação atual)</a:t>
            </a:r>
          </a:p>
          <a:p>
            <a:pPr>
              <a:buNone/>
            </a:pPr>
            <a:r>
              <a:rPr lang="pt-BR" sz="3800" dirty="0" smtClean="0"/>
              <a:t>2 – Qual o problema a ser resolvido (escopo em alto nível)</a:t>
            </a:r>
          </a:p>
          <a:p>
            <a:pPr>
              <a:buNone/>
            </a:pPr>
            <a:r>
              <a:rPr lang="pt-BR" sz="3800" dirty="0" smtClean="0"/>
              <a:t>3 – Objetivos</a:t>
            </a:r>
          </a:p>
          <a:p>
            <a:pPr>
              <a:buNone/>
            </a:pPr>
            <a:r>
              <a:rPr lang="pt-BR" sz="3800" dirty="0" smtClean="0"/>
              <a:t>4 – Possíveis soluções (em alto nível, sem muitos detalhes)</a:t>
            </a:r>
          </a:p>
          <a:p>
            <a:pPr>
              <a:buNone/>
            </a:pPr>
            <a:r>
              <a:rPr lang="pt-BR" sz="3800" dirty="0" smtClean="0"/>
              <a:t>5 – Componentes necessários (hardware, software, sistema de comunicação, máquinas, sensores, recursos em geral)</a:t>
            </a:r>
          </a:p>
          <a:p>
            <a:pPr>
              <a:buNone/>
            </a:pPr>
            <a:r>
              <a:rPr lang="pt-BR" sz="3800" dirty="0" smtClean="0"/>
              <a:t>6 – Equipe (pessoas, experiências, formação, duração no projeto, decomposição, habilidades necessárias)</a:t>
            </a:r>
          </a:p>
          <a:p>
            <a:pPr>
              <a:buNone/>
            </a:pPr>
            <a:r>
              <a:rPr lang="pt-BR" sz="3800" dirty="0" smtClean="0"/>
              <a:t>7 – Cronograma (incluindo </a:t>
            </a:r>
            <a:r>
              <a:rPr lang="pt-BR" sz="3800" i="1" dirty="0" err="1" smtClean="0"/>
              <a:t>milestones</a:t>
            </a:r>
            <a:r>
              <a:rPr lang="pt-BR" sz="3800" i="1" dirty="0" smtClean="0"/>
              <a:t> e </a:t>
            </a:r>
            <a:r>
              <a:rPr lang="pt-BR" sz="3800" i="1" dirty="0" err="1" smtClean="0"/>
              <a:t>deliverables</a:t>
            </a:r>
            <a:r>
              <a:rPr lang="pt-BR" sz="3800" i="1" dirty="0" smtClean="0"/>
              <a:t>)</a:t>
            </a:r>
          </a:p>
          <a:p>
            <a:pPr>
              <a:buNone/>
            </a:pPr>
            <a:r>
              <a:rPr lang="pt-BR" sz="3800" dirty="0" smtClean="0"/>
              <a:t>8 – Riscos (identificação, análise, planejamento)</a:t>
            </a:r>
          </a:p>
          <a:p>
            <a:pPr>
              <a:buNone/>
            </a:pPr>
            <a:r>
              <a:rPr lang="en-US" sz="3800" dirty="0" smtClean="0"/>
              <a:t>9 – Interfaces/</a:t>
            </a:r>
            <a:r>
              <a:rPr lang="en-US" sz="3800" dirty="0" err="1" smtClean="0"/>
              <a:t>dependências</a:t>
            </a:r>
            <a:r>
              <a:rPr lang="en-US" sz="3800" dirty="0" smtClean="0"/>
              <a:t> com </a:t>
            </a:r>
            <a:r>
              <a:rPr lang="en-US" sz="3800" dirty="0" err="1" smtClean="0"/>
              <a:t>outros</a:t>
            </a:r>
            <a:r>
              <a:rPr lang="en-US" sz="3800" dirty="0" smtClean="0"/>
              <a:t> </a:t>
            </a:r>
            <a:r>
              <a:rPr lang="en-US" sz="3800" dirty="0" err="1" smtClean="0"/>
              <a:t>projetos</a:t>
            </a:r>
            <a:r>
              <a:rPr lang="en-US" sz="3800" dirty="0" smtClean="0"/>
              <a:t>, </a:t>
            </a:r>
            <a:r>
              <a:rPr lang="en-US" sz="3800" dirty="0" err="1" smtClean="0"/>
              <a:t>organizações</a:t>
            </a:r>
            <a:r>
              <a:rPr lang="en-US" sz="3800" dirty="0" smtClean="0"/>
              <a:t>/</a:t>
            </a:r>
            <a:r>
              <a:rPr lang="en-US" sz="3800" dirty="0" err="1" smtClean="0"/>
              <a:t>departamentos</a:t>
            </a:r>
            <a:r>
              <a:rPr lang="en-US" sz="3800" dirty="0" smtClean="0"/>
              <a:t>, ...</a:t>
            </a:r>
          </a:p>
          <a:p>
            <a:pPr>
              <a:buNone/>
            </a:pPr>
            <a:r>
              <a:rPr lang="en-US" sz="3800" dirty="0" smtClean="0"/>
              <a:t>10 – </a:t>
            </a:r>
            <a:r>
              <a:rPr lang="en-US" sz="3800" dirty="0" err="1" smtClean="0"/>
              <a:t>Estimativas</a:t>
            </a:r>
            <a:r>
              <a:rPr lang="en-US" sz="3800" dirty="0" smtClean="0"/>
              <a:t> de </a:t>
            </a:r>
            <a:r>
              <a:rPr lang="en-US" sz="3800" dirty="0" err="1" smtClean="0"/>
              <a:t>Custos</a:t>
            </a:r>
            <a:r>
              <a:rPr lang="en-US" sz="3800" dirty="0" smtClean="0"/>
              <a:t> </a:t>
            </a:r>
          </a:p>
          <a:p>
            <a:pPr>
              <a:buNone/>
            </a:pPr>
            <a:r>
              <a:rPr lang="en-US" sz="3800" dirty="0" smtClean="0"/>
              <a:t>11 – </a:t>
            </a:r>
            <a:r>
              <a:rPr lang="en-US" sz="3800" dirty="0" err="1" smtClean="0"/>
              <a:t>Questões</a:t>
            </a:r>
            <a:r>
              <a:rPr lang="en-US" sz="3800" dirty="0" smtClean="0"/>
              <a:t> </a:t>
            </a:r>
            <a:r>
              <a:rPr lang="en-US" sz="3800" dirty="0" err="1" smtClean="0"/>
              <a:t>em</a:t>
            </a:r>
            <a:r>
              <a:rPr lang="en-US" sz="3800" dirty="0" smtClean="0"/>
              <a:t> </a:t>
            </a:r>
            <a:r>
              <a:rPr lang="en-US" sz="3800" dirty="0" err="1" smtClean="0"/>
              <a:t>aberto</a:t>
            </a:r>
            <a:r>
              <a:rPr lang="en-US" sz="3800" dirty="0" smtClean="0"/>
              <a:t> e </a:t>
            </a:r>
            <a:r>
              <a:rPr lang="en-US" sz="3800" dirty="0" err="1" smtClean="0"/>
              <a:t>decisões</a:t>
            </a:r>
            <a:r>
              <a:rPr lang="en-US" sz="3800" dirty="0" smtClean="0"/>
              <a:t> </a:t>
            </a:r>
            <a:r>
              <a:rPr lang="en-US" sz="3800" dirty="0" err="1" smtClean="0"/>
              <a:t>pendentes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Procure ferramentas que auxiliam no planejamento e gerenciamento de projetos.</a:t>
            </a:r>
          </a:p>
          <a:p>
            <a:r>
              <a:rPr lang="pt-BR" dirty="0" smtClean="0"/>
              <a:t>Faça uma análise de quais das 10 áreas do PMBOK são cobertas por cada ferramenta.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Exemplos de Chamadas de projetos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PRODESP</a:t>
            </a:r>
          </a:p>
          <a:p>
            <a:r>
              <a:rPr lang="pt-BR" dirty="0" smtClean="0"/>
              <a:t>PRODAM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2880</Words>
  <Application>Microsoft Office PowerPoint</Application>
  <PresentationFormat>On-screen Show (4:3)</PresentationFormat>
  <Paragraphs>491</Paragraphs>
  <Slides>95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Tema do Office</vt:lpstr>
      <vt:lpstr>Planejamento e Gerenciamento de Projetos</vt:lpstr>
      <vt:lpstr>Definição de Projeto</vt:lpstr>
      <vt:lpstr>Características de Projetos</vt:lpstr>
      <vt:lpstr>Lei Fundamental dos Projetos de Software</vt:lpstr>
      <vt:lpstr>O que é sucesso de um projeto?</vt:lpstr>
      <vt:lpstr>Principais causas de falhas em projetos – Aspectos gerais</vt:lpstr>
      <vt:lpstr>Principais causas de falhas em projetos – aspectos gerenciais (1)</vt:lpstr>
      <vt:lpstr>Principais causas de falhas em projetos – aspectos gerenciais (2)</vt:lpstr>
      <vt:lpstr>Engenharias Tradicionais vs. Engenharia de Software</vt:lpstr>
      <vt:lpstr>Engenharias Tradicionais vs. Engenharia de Software</vt:lpstr>
      <vt:lpstr>Engenharia Civil vs. Engenharia de Software</vt:lpstr>
      <vt:lpstr>Engenharia Civil vs. Engenharia de Software</vt:lpstr>
      <vt:lpstr>Engenharia Civil vs. Engenharia de Software</vt:lpstr>
      <vt:lpstr>Engenharia Civil vs. Engenharia de Software</vt:lpstr>
      <vt:lpstr>Atividades do Gerente de Projetos</vt:lpstr>
      <vt:lpstr>Como selecionar um gerente de projetos?</vt:lpstr>
      <vt:lpstr>Descrição de vagas para gerentes</vt:lpstr>
      <vt:lpstr>Descrição de vagas para gerentes</vt:lpstr>
      <vt:lpstr>Descrição de vagas para gerentes</vt:lpstr>
      <vt:lpstr>Salários</vt:lpstr>
      <vt:lpstr>Slide 21</vt:lpstr>
      <vt:lpstr>Slide 22</vt:lpstr>
      <vt:lpstr>PMBOK</vt:lpstr>
      <vt:lpstr>Áreas do PMBOK</vt:lpstr>
      <vt:lpstr> 1 - Gerenciamento de integração do projeto </vt:lpstr>
      <vt:lpstr>Termo de Autorização do Projeto</vt:lpstr>
      <vt:lpstr>Definição do escopo preliminar </vt:lpstr>
      <vt:lpstr>Plano de Projeto</vt:lpstr>
      <vt:lpstr>Plano de Projeto - Modelo</vt:lpstr>
      <vt:lpstr>Entregas/Produtos do projeto</vt:lpstr>
      <vt:lpstr>  2 - Gerenciamento do escopo do projeto  </vt:lpstr>
      <vt:lpstr>  3 - Gerenciamento de tempo do projeto  </vt:lpstr>
      <vt:lpstr>Conceitos de Cronograma – Marcos (Milestones)</vt:lpstr>
      <vt:lpstr>Conceitos de Cronograma – Produtos ou Entregas (Deliverables)</vt:lpstr>
      <vt:lpstr>Exemplo de Marcos e Produtos</vt:lpstr>
      <vt:lpstr>Definição de Atividades</vt:lpstr>
      <vt:lpstr>Sequenciamento de Atividades</vt:lpstr>
      <vt:lpstr>Representação de Atividades</vt:lpstr>
      <vt:lpstr>Diagrama de Redes de Atividades</vt:lpstr>
      <vt:lpstr>Diagrama de Barras de Atividades</vt:lpstr>
      <vt:lpstr>Alocação – Equipe/Tempo</vt:lpstr>
      <vt:lpstr>  4 - Gerenciamento de custos do projeto  </vt:lpstr>
      <vt:lpstr>Slide 43</vt:lpstr>
      <vt:lpstr>Slide 44</vt:lpstr>
      <vt:lpstr>Slide 45</vt:lpstr>
      <vt:lpstr>Avaliação de LOC</vt:lpstr>
      <vt:lpstr>O que se diz sobre bugs/KLOC?</vt:lpstr>
      <vt:lpstr>O que se diz sobre bugs/KLOC?</vt:lpstr>
      <vt:lpstr>Valores típicos de bugs/KLOC</vt:lpstr>
      <vt:lpstr>Fontes para estabelecer custos</vt:lpstr>
      <vt:lpstr>Estimativas de Tempo, Custo e Esforço</vt:lpstr>
      <vt:lpstr>Estimativas baseadas em experiência </vt:lpstr>
      <vt:lpstr>Modelagem algoritmica  </vt:lpstr>
      <vt:lpstr>Fórmula do Esforço</vt:lpstr>
      <vt:lpstr>Problemas com estimativas de esforço</vt:lpstr>
      <vt:lpstr>Exemplos de Técnicas de Esforço</vt:lpstr>
      <vt:lpstr>Análise dos modelos</vt:lpstr>
      <vt:lpstr>Modelo COCOMO</vt:lpstr>
      <vt:lpstr>Cálculo do COCOMO</vt:lpstr>
      <vt:lpstr>Multiplicador M</vt:lpstr>
      <vt:lpstr>COCOMO 2 (1995)</vt:lpstr>
      <vt:lpstr>Pontos por objeto</vt:lpstr>
      <vt:lpstr>  5 - Gerenciamento da qualidade do projeto  </vt:lpstr>
      <vt:lpstr>  6 - Gerenciamento de recursos humanos do projeto  </vt:lpstr>
      <vt:lpstr>Alguns desafios</vt:lpstr>
      <vt:lpstr>Alguns desafios</vt:lpstr>
      <vt:lpstr>Seleção de equipe</vt:lpstr>
      <vt:lpstr>Seleção de Equipe</vt:lpstr>
      <vt:lpstr>Seleção de Equipe</vt:lpstr>
      <vt:lpstr>Seleção de Equipe – Níveis mais altos</vt:lpstr>
      <vt:lpstr>Seleção de Equipe</vt:lpstr>
      <vt:lpstr>Formas de Equipe</vt:lpstr>
      <vt:lpstr>Desafios atuais</vt:lpstr>
      <vt:lpstr>  7 - Gerenciamento das comunicações do projeto  </vt:lpstr>
      <vt:lpstr>  8 - Gerenciamento de riscos do projeto  </vt:lpstr>
      <vt:lpstr>Consequências de Riscos – O que pode ser afetado?</vt:lpstr>
      <vt:lpstr>Por que surgem riscos?</vt:lpstr>
      <vt:lpstr>Processo de Gerenciamento de Riscos</vt:lpstr>
      <vt:lpstr>Processo de Gerenciamento de Riscos</vt:lpstr>
      <vt:lpstr>Identificação de Riscos</vt:lpstr>
      <vt:lpstr>Identificação de Riscos</vt:lpstr>
      <vt:lpstr>Exemplos de Riscos</vt:lpstr>
      <vt:lpstr>Exemplos de Riscos</vt:lpstr>
      <vt:lpstr>Análise de Riscos</vt:lpstr>
      <vt:lpstr>Slide 85</vt:lpstr>
      <vt:lpstr>Exemplo de Análise de Riscos</vt:lpstr>
      <vt:lpstr>Planejamento de Riscos</vt:lpstr>
      <vt:lpstr>Categorias de estratégias </vt:lpstr>
      <vt:lpstr>Monitoramento de Riscos</vt:lpstr>
      <vt:lpstr>  9 - Gerenciamento de aquisições do projeto  </vt:lpstr>
      <vt:lpstr>10 - Gerenciamento stakeholders</vt:lpstr>
      <vt:lpstr>10 - Gerenciamento stakeholders</vt:lpstr>
      <vt:lpstr>Trabalho - Plano de Projeto Mínimo de itens: </vt:lpstr>
      <vt:lpstr>Exercício</vt:lpstr>
      <vt:lpstr>Exemplos de Chamadas de projetos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Gerenciamento de Projetos</dc:title>
  <dc:creator>Michel</dc:creator>
  <cp:lastModifiedBy>Michel</cp:lastModifiedBy>
  <cp:revision>122</cp:revision>
  <dcterms:created xsi:type="dcterms:W3CDTF">2013-07-12T13:16:32Z</dcterms:created>
  <dcterms:modified xsi:type="dcterms:W3CDTF">2025-07-28T11:02:03Z</dcterms:modified>
</cp:coreProperties>
</file>
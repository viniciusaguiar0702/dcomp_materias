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18"/>
  </p:notesMasterIdLst>
  <p:sldIdLst>
    <p:sldId id="256" r:id="rId2"/>
    <p:sldId id="302" r:id="rId3"/>
    <p:sldId id="273" r:id="rId4"/>
    <p:sldId id="301" r:id="rId5"/>
    <p:sldId id="288" r:id="rId6"/>
    <p:sldId id="277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296" r:id="rId16"/>
    <p:sldId id="275" r:id="rId1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00"/>
    <a:srgbClr val="160AB6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2000" spc="-1">
                <a:latin typeface="Arial"/>
              </a:rPr>
              <a:t>Clique para editar o formato de notas</a:t>
            </a:r>
            <a:endParaRPr/>
          </a:p>
        </p:txBody>
      </p:sp>
      <p:sp>
        <p:nvSpPr>
          <p:cNvPr id="84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1400" spc="-1">
                <a:latin typeface="Times New Roman"/>
              </a:rPr>
              <a:t>&lt;cabeçalho&gt;</a:t>
            </a:r>
            <a:endParaRPr/>
          </a:p>
        </p:txBody>
      </p:sp>
      <p:sp>
        <p:nvSpPr>
          <p:cNvPr id="85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pt-BR" sz="1400" spc="-1">
                <a:latin typeface="Times New Roman"/>
              </a:rPr>
              <a:t>&lt;data/hora&gt;</a:t>
            </a:r>
            <a:endParaRPr/>
          </a:p>
        </p:txBody>
      </p:sp>
      <p:sp>
        <p:nvSpPr>
          <p:cNvPr id="86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pt-BR" sz="1400" spc="-1">
                <a:latin typeface="Times New Roman"/>
              </a:rPr>
              <a:t>&lt;rodapé&gt;</a:t>
            </a:r>
            <a:endParaRPr/>
          </a:p>
        </p:txBody>
      </p:sp>
      <p:sp>
        <p:nvSpPr>
          <p:cNvPr id="87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3D5F74A3-8A57-413B-B613-06CE19546CAA}" type="slidenum">
              <a:rPr lang="pt-BR" sz="1400" spc="-1">
                <a:latin typeface="Times New Roman"/>
              </a:rPr>
              <a:pPr algn="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7638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7619760" cy="48002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761976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7180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361400" y="1600200"/>
            <a:ext cx="37180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761976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57200" y="41076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361400" y="1600200"/>
            <a:ext cx="37180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7180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361400" y="16002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361400" y="41076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361400" y="16002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4107600"/>
            <a:ext cx="761976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761976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57200" y="4107600"/>
            <a:ext cx="761976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361400" y="16002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361400" y="41076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457200" y="41076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761976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761976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81" name="Imagem 80"/>
          <p:cNvPicPr/>
          <p:nvPr/>
        </p:nvPicPr>
        <p:blipFill>
          <a:blip r:embed="rId2"/>
          <a:stretch/>
        </p:blipFill>
        <p:spPr>
          <a:xfrm>
            <a:off x="1258920" y="1600200"/>
            <a:ext cx="6016320" cy="4800240"/>
          </a:xfrm>
          <a:prstGeom prst="rect">
            <a:avLst/>
          </a:prstGeom>
          <a:ln>
            <a:noFill/>
          </a:ln>
        </p:spPr>
      </p:pic>
      <p:pic>
        <p:nvPicPr>
          <p:cNvPr id="82" name="Imagem 81"/>
          <p:cNvPicPr/>
          <p:nvPr/>
        </p:nvPicPr>
        <p:blipFill>
          <a:blip r:embed="rId2"/>
          <a:stretch/>
        </p:blipFill>
        <p:spPr>
          <a:xfrm>
            <a:off x="1258920" y="1600200"/>
            <a:ext cx="6016320" cy="4800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8458200" y="0"/>
            <a:ext cx="68544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" name="CustomShape 2"/>
          <p:cNvSpPr/>
          <p:nvPr/>
        </p:nvSpPr>
        <p:spPr>
          <a:xfrm>
            <a:off x="8458200" y="5486400"/>
            <a:ext cx="685440" cy="685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PlaceHolder 3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pt-BR" sz="4600" strike="noStrike" spc="-97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Clique para editar o título mestre</a:t>
            </a:r>
            <a:endParaRPr/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57200" y="1600200"/>
            <a:ext cx="7619760" cy="4800240"/>
          </a:xfrm>
          <a:prstGeom prst="rect">
            <a:avLst/>
          </a:prstGeom>
        </p:spPr>
        <p:txBody>
          <a:bodyPr/>
          <a:lstStyle/>
          <a:p>
            <a:pPr marL="432000" indent="-324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Clique para editar o formato do texto da estrutura de tópicos</a:t>
            </a:r>
            <a:endParaRPr/>
          </a:p>
          <a:p>
            <a:pPr marL="864000" lvl="1" indent="-324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2.º nível da estrutura de tópicos</a:t>
            </a:r>
            <a:endParaRPr/>
          </a:p>
          <a:p>
            <a:pPr marL="1296000" lvl="2" indent="-288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3.º nível da estrutura de tópicos</a:t>
            </a:r>
            <a:endParaRPr/>
          </a:p>
          <a:p>
            <a:pPr marL="1728000" lvl="3" indent="-216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4.º nível da estrutura de tópicos</a:t>
            </a:r>
            <a:endParaRPr/>
          </a:p>
          <a:p>
            <a:pPr marL="2160000" lvl="4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5.º nível da estrutura de tópicos</a:t>
            </a:r>
            <a:endParaRPr/>
          </a:p>
          <a:p>
            <a:pPr marL="2592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6.º nível da estrutura de tópicos</a:t>
            </a:r>
            <a:endParaRPr/>
          </a:p>
          <a:p>
            <a:pPr marL="343080" indent="-228240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7.º nível da estrutura de tópicosClique para editar o texto mestre</a:t>
            </a:r>
            <a:endParaRPr/>
          </a:p>
          <a:p>
            <a:pPr marL="640080" lvl="1" indent="-228240">
              <a:lnSpc>
                <a:spcPct val="100000"/>
              </a:lnSpc>
              <a:buClr>
                <a:srgbClr val="C0504D"/>
              </a:buClr>
              <a:buFont typeface="Arial"/>
              <a:buChar char="•"/>
            </a:pPr>
            <a:r>
              <a:rPr lang="pt-BR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Segundo nível</a:t>
            </a:r>
            <a:endParaRPr/>
          </a:p>
          <a:p>
            <a:pPr marL="1005840" lvl="2" indent="-228240">
              <a:lnSpc>
                <a:spcPct val="100000"/>
              </a:lnSpc>
              <a:buClr>
                <a:srgbClr val="9BBB59"/>
              </a:buClr>
              <a:buFont typeface="Arial"/>
              <a:buChar char="•"/>
            </a:pPr>
            <a:r>
              <a:rPr lang="pt-BR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Terceiro nível</a:t>
            </a:r>
            <a:endParaRPr/>
          </a:p>
          <a:p>
            <a:pPr marL="1280160" lvl="3" indent="-228240">
              <a:lnSpc>
                <a:spcPct val="100000"/>
              </a:lnSpc>
              <a:buClr>
                <a:srgbClr val="8064A2"/>
              </a:buClr>
              <a:buFont typeface="Arial"/>
              <a:buChar char="•"/>
            </a:pPr>
            <a:r>
              <a:rPr lang="pt-BR" sz="1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Quarto nível</a:t>
            </a:r>
            <a:endParaRPr/>
          </a:p>
          <a:p>
            <a:pPr marL="1554480" lvl="4" indent="-228240">
              <a:lnSpc>
                <a:spcPct val="100000"/>
              </a:lnSpc>
              <a:buClr>
                <a:srgbClr val="4BACC6"/>
              </a:buClr>
              <a:buFont typeface="Arial"/>
              <a:buChar char="•"/>
            </a:pPr>
            <a:r>
              <a:rPr lang="pt-BR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Quinto nível</a:t>
            </a:r>
            <a:endParaRPr/>
          </a:p>
        </p:txBody>
      </p:sp>
      <p:sp>
        <p:nvSpPr>
          <p:cNvPr id="46" name="PlaceHolder 5"/>
          <p:cNvSpPr>
            <a:spLocks noGrp="1"/>
          </p:cNvSpPr>
          <p:nvPr>
            <p:ph type="dt"/>
          </p:nvPr>
        </p:nvSpPr>
        <p:spPr>
          <a:xfrm rot="16200000">
            <a:off x="7551360" y="1646280"/>
            <a:ext cx="2437920" cy="36540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pt-BR" sz="1200" strike="noStrike" spc="-1">
                <a:solidFill>
                  <a:srgbClr val="EEECE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29/08/16</a:t>
            </a:r>
            <a:endParaRPr/>
          </a:p>
        </p:txBody>
      </p:sp>
      <p:sp>
        <p:nvSpPr>
          <p:cNvPr id="47" name="PlaceHolder 6"/>
          <p:cNvSpPr>
            <a:spLocks noGrp="1"/>
          </p:cNvSpPr>
          <p:nvPr>
            <p:ph type="ftr"/>
          </p:nvPr>
        </p:nvSpPr>
        <p:spPr>
          <a:xfrm rot="16200000">
            <a:off x="7587000" y="4048920"/>
            <a:ext cx="2367000" cy="36540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48" name="PlaceHolder 7"/>
          <p:cNvSpPr>
            <a:spLocks noGrp="1"/>
          </p:cNvSpPr>
          <p:nvPr>
            <p:ph type="sldNum"/>
          </p:nvPr>
        </p:nvSpPr>
        <p:spPr>
          <a:xfrm>
            <a:off x="8531640" y="5649120"/>
            <a:ext cx="548280" cy="396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fld id="{2571F600-D208-45D5-A42A-3FF857E66308}" type="slidenum">
              <a:rPr lang="pt-BR" sz="18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pPr algn="ctr">
                <a:lnSpc>
                  <a:spcPct val="100000"/>
                </a:lnSpc>
              </a:pPr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1.folha.uol.com.br/fsp/negocios/cn0411200703.ht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685800" y="1905120"/>
            <a:ext cx="7543440" cy="116352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pt-BR" sz="2800" b="1" strike="noStrike" spc="-97" dirty="0" err="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Geovânia</a:t>
            </a:r>
            <a:r>
              <a:rPr lang="pt-BR" sz="2800" b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Carvalho</a:t>
            </a:r>
            <a:r>
              <a:rPr lang="pt-BR" sz="2000" b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
</a:t>
            </a:r>
            <a:r>
              <a:rPr lang="pt-BR" sz="2400" b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Linha de Pesquisa: Tecnologias </a:t>
            </a:r>
            <a:r>
              <a:rPr lang="pt-BR" sz="2400" b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e Humanidade  </a:t>
            </a:r>
            <a:endParaRPr sz="2400"/>
          </a:p>
        </p:txBody>
      </p:sp>
      <p:sp>
        <p:nvSpPr>
          <p:cNvPr id="89" name="TextShape 2"/>
          <p:cNvSpPr txBox="1"/>
          <p:nvPr/>
        </p:nvSpPr>
        <p:spPr>
          <a:xfrm>
            <a:off x="685800" y="3789000"/>
            <a:ext cx="6461280" cy="244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pt-BR" sz="24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Notas sobre “Princípio </a:t>
            </a:r>
            <a:r>
              <a:rPr lang="pt-BR" sz="2400" b="1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</a:t>
            </a:r>
            <a:r>
              <a:rPr lang="pt-BR" sz="24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esponsabilidade” de </a:t>
            </a:r>
            <a:r>
              <a:rPr lang="pt-BR" sz="2400" b="1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H</a:t>
            </a:r>
            <a:r>
              <a:rPr lang="pt-BR" sz="24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ans </a:t>
            </a:r>
            <a:r>
              <a:rPr lang="pt-BR" sz="2400" b="1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J</a:t>
            </a:r>
            <a:r>
              <a:rPr lang="pt-BR" sz="24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onas </a:t>
            </a:r>
            <a:r>
              <a:rPr lang="pt-BR" sz="2400" b="1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</a:p>
          <a:p>
            <a:pPr>
              <a:lnSpc>
                <a:spcPct val="100000"/>
              </a:lnSpc>
            </a:pPr>
            <a:endParaRPr lang="pt-BR" b="1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  <a:p>
            <a:pPr>
              <a:lnSpc>
                <a:spcPct val="100000"/>
              </a:lnSpc>
            </a:pPr>
            <a:r>
              <a:rPr lang="pt-BR" b="1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JONAS, Hans - </a:t>
            </a:r>
            <a:r>
              <a:rPr lang="pt-BR" b="1" i="1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Princípio responsabilidade - ensaio de uma ética para a civilização tecnológica</a:t>
            </a:r>
            <a:r>
              <a:rPr lang="pt-BR" b="1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. Contraponto, Ed. PUC-RJ, 2006. </a:t>
            </a:r>
            <a:endParaRPr dirty="0"/>
          </a:p>
          <a:p>
            <a:pPr>
              <a:lnSpc>
                <a:spcPct val="100000"/>
              </a:lnSpc>
            </a:pPr>
            <a:endParaRPr dirty="0"/>
          </a:p>
          <a:p>
            <a:pPr>
              <a:lnSpc>
                <a:spcPct val="100000"/>
              </a:lnSpc>
            </a:pPr>
            <a:endParaRPr dirty="0"/>
          </a:p>
          <a:p>
            <a:pPr algn="ctr">
              <a:lnSpc>
                <a:spcPct val="100000"/>
              </a:lnSpc>
            </a:pPr>
            <a:r>
              <a:rPr lang="pt-BR" sz="12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UFS, </a:t>
            </a:r>
            <a:r>
              <a:rPr lang="pt-BR" sz="1200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julho </a:t>
            </a:r>
            <a:r>
              <a:rPr lang="pt-BR" sz="12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de 2019  </a:t>
            </a:r>
            <a:endParaRPr dirty="0"/>
          </a:p>
        </p:txBody>
      </p:sp>
      <p:pic>
        <p:nvPicPr>
          <p:cNvPr id="90" name="Picture 2"/>
          <p:cNvPicPr/>
          <p:nvPr/>
        </p:nvPicPr>
        <p:blipFill>
          <a:blip r:embed="rId2"/>
          <a:stretch/>
        </p:blipFill>
        <p:spPr>
          <a:xfrm>
            <a:off x="2332800" y="908640"/>
            <a:ext cx="3531960" cy="935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7619760" cy="4614882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800" b="1" i="1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Princípio responsabilidade </a:t>
            </a:r>
            <a:br>
              <a:rPr lang="pt-BR" sz="2800" b="1" i="1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</a:br>
            <a:r>
              <a:rPr lang="pt-BR" sz="2400" b="1" dirty="0">
                <a:solidFill>
                  <a:srgbClr val="0070C0"/>
                </a:solidFill>
              </a:rPr>
              <a:t>Causas e efeitos das ações humanas    </a:t>
            </a:r>
          </a:p>
        </p:txBody>
      </p:sp>
      <p:pic>
        <p:nvPicPr>
          <p:cNvPr id="4" name="Imagem 3" descr="Imagem relacionada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1643050"/>
            <a:ext cx="4191001" cy="4600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/>
          <p:nvPr/>
        </p:nvPicPr>
        <p:blipFill>
          <a:blip r:embed="rId3"/>
          <a:stretch/>
        </p:blipFill>
        <p:spPr>
          <a:xfrm>
            <a:off x="467640" y="252720"/>
            <a:ext cx="1569600" cy="28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NOSSA DISCUSSÃO   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/>
          </p:nvPr>
        </p:nvSpPr>
        <p:spPr>
          <a:xfrm>
            <a:off x="457200" y="1500174"/>
            <a:ext cx="7619760" cy="3571900"/>
          </a:xfrm>
        </p:spPr>
        <p:txBody>
          <a:bodyPr>
            <a:noAutofit/>
          </a:bodyPr>
          <a:lstStyle/>
          <a:p>
            <a:endParaRPr lang="pt-BR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400" b="1" dirty="0">
              <a:solidFill>
                <a:srgbClr val="0070C0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PENSAR A INTERSEÇÃO ENTRE ÉTICA E TECNOLOGIA </a:t>
            </a:r>
          </a:p>
          <a:p>
            <a:endParaRPr lang="pt-BR" sz="2400" dirty="0">
              <a:solidFill>
                <a:schemeClr val="tx1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r>
              <a:rPr lang="pt-BR" sz="2400" dirty="0">
                <a:solidFill>
                  <a:schemeClr val="tx1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Desde Prometeu, a técnica, concebida para possibilitar a felicidade humana, se converteu numa tecnologia moderna sob forma de ameaça ou esta se associou àquela de forma indissolúvel?</a:t>
            </a:r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pt-BR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pt-BR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endParaRPr lang="pt-BR" sz="32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/>
          <p:nvPr/>
        </p:nvPicPr>
        <p:blipFill>
          <a:blip r:embed="rId2"/>
          <a:stretch/>
        </p:blipFill>
        <p:spPr>
          <a:xfrm>
            <a:off x="467640" y="252720"/>
            <a:ext cx="1569600" cy="28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MARCOS HISTÓRICOS</a:t>
            </a:r>
            <a:endParaRPr lang="pt-BR" sz="2400" b="1" dirty="0">
              <a:solidFill>
                <a:srgbClr val="0070C0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/>
          </p:nvPr>
        </p:nvSpPr>
        <p:spPr>
          <a:xfrm>
            <a:off x="457200" y="1071546"/>
            <a:ext cx="7619760" cy="5357850"/>
          </a:xfrm>
        </p:spPr>
        <p:txBody>
          <a:bodyPr/>
          <a:lstStyle/>
          <a:p>
            <a:pPr algn="just"/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2000" b="1" dirty="0">
                <a:solidFill>
                  <a:srgbClr val="0070C0"/>
                </a:solidFill>
              </a:rPr>
              <a:t>RUPTURAS ÉTICAS</a:t>
            </a:r>
          </a:p>
          <a:p>
            <a:pPr algn="just"/>
            <a:endParaRPr lang="pt-BR" sz="2000" b="1" dirty="0">
              <a:solidFill>
                <a:srgbClr val="0070C0"/>
              </a:solidFill>
            </a:endParaRPr>
          </a:p>
          <a:p>
            <a:pPr algn="just"/>
            <a:r>
              <a:rPr lang="pt-BR" sz="20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RELIGIOSA </a:t>
            </a:r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KANT:</a:t>
            </a:r>
          </a:p>
          <a:p>
            <a:pPr algn="just"/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 “Age de tal maneira que tua ação se transforme numa lei universal” - JONAS, 2006,  p.18   </a:t>
            </a:r>
          </a:p>
          <a:p>
            <a:pPr algn="just"/>
            <a:endParaRPr lang="pt-BR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JONAS:</a:t>
            </a:r>
          </a:p>
          <a:p>
            <a:pPr algn="just"/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“Age de tal maneira que os efeitos de tua ação sejam compatíveis  com a permanência  de uma vida humana autêntica ou formulando negativamente, “ não ponhas em perigo a continuidade indefinida da humanidade na Terra”. JONAS, 2006,  p.18  </a:t>
            </a:r>
          </a:p>
          <a:p>
            <a:endParaRPr lang="pt-BR" dirty="0"/>
          </a:p>
        </p:txBody>
      </p:sp>
      <p:pic>
        <p:nvPicPr>
          <p:cNvPr id="4" name="Picture 2"/>
          <p:cNvPicPr/>
          <p:nvPr/>
        </p:nvPicPr>
        <p:blipFill>
          <a:blip r:embed="rId2"/>
          <a:stretch/>
        </p:blipFill>
        <p:spPr>
          <a:xfrm>
            <a:off x="467640" y="252720"/>
            <a:ext cx="1569600" cy="28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Para Kant, o princípio ético não considerava a natureza; ética do homem para o homem, da ação presente.</a:t>
            </a: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Para Jonas, o princípio responsabilidade se estende a todas as formas de vida do presente, visando a preservação, manutenção e garantia da diversidade de vida futura</a:t>
            </a:r>
            <a:r>
              <a:rPr lang="pt-BR" sz="2400" dirty="0"/>
              <a:t>.     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800" b="1" dirty="0">
                <a:solidFill>
                  <a:srgbClr val="0070C0"/>
                </a:solidFill>
              </a:rPr>
              <a:t>Princípio responsabilidade</a:t>
            </a:r>
            <a:br>
              <a:rPr lang="pt-BR" sz="2800" b="1" dirty="0">
                <a:solidFill>
                  <a:srgbClr val="0070C0"/>
                </a:solidFill>
              </a:rPr>
            </a:br>
            <a:r>
              <a:rPr lang="pt-BR" sz="2800" b="1" dirty="0">
                <a:solidFill>
                  <a:srgbClr val="0070C0"/>
                </a:solidFill>
              </a:rPr>
              <a:t> Mudança de foco </a:t>
            </a:r>
          </a:p>
        </p:txBody>
      </p:sp>
      <p:pic>
        <p:nvPicPr>
          <p:cNvPr id="4" name="Picture 2"/>
          <p:cNvPicPr/>
          <p:nvPr/>
        </p:nvPicPr>
        <p:blipFill>
          <a:blip r:embed="rId2"/>
          <a:stretch/>
        </p:blipFill>
        <p:spPr>
          <a:xfrm>
            <a:off x="467640" y="252720"/>
            <a:ext cx="1569600" cy="28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7619760" cy="3328998"/>
          </a:xfrm>
        </p:spPr>
        <p:txBody>
          <a:bodyPr/>
          <a:lstStyle/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1- Aponta para o perigo da possibilidade da morte essencial, resultado da </a:t>
            </a:r>
            <a:r>
              <a:rPr lang="pt-BR" sz="2400" dirty="0" err="1">
                <a:latin typeface="Times New Roman" pitchFamily="18" charset="0"/>
                <a:cs typeface="Times New Roman" pitchFamily="18" charset="0"/>
              </a:rPr>
              <a:t>des-construção</a:t>
            </a: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 e aleatoriedade da reconstrução tecnológica do homem e do ambiente (correção do projeto original de ambos)   </a:t>
            </a: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2- Garantia da vida física e digna da humanidade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 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71480"/>
            <a:ext cx="7619760" cy="1000132"/>
          </a:xfrm>
        </p:spPr>
        <p:txBody>
          <a:bodyPr/>
          <a:lstStyle/>
          <a:p>
            <a:pPr algn="ctr"/>
            <a:br>
              <a:rPr lang="pt-BR" sz="3200" b="1" dirty="0">
                <a:solidFill>
                  <a:srgbClr val="0070C0"/>
                </a:solidFill>
              </a:rPr>
            </a:br>
            <a:r>
              <a:rPr lang="pt-BR" sz="3200" b="1" dirty="0">
                <a:solidFill>
                  <a:srgbClr val="0070C0"/>
                </a:solidFill>
              </a:rPr>
              <a:t>Princípio responsabilidade </a:t>
            </a:r>
          </a:p>
        </p:txBody>
      </p:sp>
      <p:pic>
        <p:nvPicPr>
          <p:cNvPr id="4" name="Picture 2"/>
          <p:cNvPicPr/>
          <p:nvPr/>
        </p:nvPicPr>
        <p:blipFill>
          <a:blip r:embed="rId2"/>
          <a:stretch/>
        </p:blipFill>
        <p:spPr>
          <a:xfrm>
            <a:off x="467640" y="252720"/>
            <a:ext cx="1569600" cy="28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PRINCÍPIO RESPONSABILIDADE</a:t>
            </a:r>
            <a:endParaRPr lang="pt-B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pt-B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ROTEIRO DE JONAS:</a:t>
            </a:r>
          </a:p>
          <a:p>
            <a:pPr>
              <a:buFontTx/>
              <a:buChar char="-"/>
            </a:pPr>
            <a:endParaRPr lang="pt-BR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pt-B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pt-BR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 BEM, O DEVER E O SER- TEORIA DA RESPONSABILIDADE:</a:t>
            </a:r>
          </a:p>
          <a:p>
            <a:pPr>
              <a:buFontTx/>
              <a:buChar char="-"/>
            </a:pPr>
            <a:endParaRPr lang="pt-B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 algn="just"/>
            <a:endParaRPr lang="pt-B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Amplitude responsável do pensar e do agir com responsabilidade,       considerando a amplitude  das causas e efeitos de todos os seus atos diante do mundo (humanidade e natureza).  </a:t>
            </a:r>
          </a:p>
          <a:p>
            <a:pPr algn="just"/>
            <a:endParaRPr lang="pt-B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Responsabilidade do sujeito sobre o objeto (mundo), considerando a manutenção da integridade do objeto.  </a:t>
            </a:r>
          </a:p>
          <a:p>
            <a:pPr algn="just"/>
            <a:endParaRPr lang="pt-B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Responsabilidade do sujeito sobre o sujeito (outrem, humanidade),  considerando  a  manutenção de suas integridades.  </a:t>
            </a: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Tx/>
              <a:buChar char="-"/>
            </a:pPr>
            <a:endParaRPr lang="pt-BR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pt-BR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pt-B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pt-B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Picture 2"/>
          <p:cNvPicPr/>
          <p:nvPr/>
        </p:nvPicPr>
        <p:blipFill>
          <a:blip r:embed="rId2"/>
          <a:stretch/>
        </p:blipFill>
        <p:spPr>
          <a:xfrm>
            <a:off x="467640" y="252720"/>
            <a:ext cx="1569600" cy="28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PRINCÍPIO RESPONSABILIDADE</a:t>
            </a:r>
            <a:endParaRPr lang="pt-BR" sz="2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/>
          </p:nvPr>
        </p:nvSpPr>
        <p:spPr>
          <a:xfrm>
            <a:off x="457200" y="1643050"/>
            <a:ext cx="7619760" cy="4500594"/>
          </a:xfrm>
        </p:spPr>
        <p:txBody>
          <a:bodyPr/>
          <a:lstStyle/>
          <a:p>
            <a:endParaRPr lang="pt-BR" sz="2000" dirty="0">
              <a:latin typeface="Times New Roman" pitchFamily="18" charset="0"/>
              <a:cs typeface="Times New Roman" pitchFamily="18" charset="0"/>
            </a:endParaRPr>
          </a:p>
          <a:p>
            <a:endParaRPr lang="pt-BR" sz="2000" dirty="0">
              <a:latin typeface="Times New Roman" pitchFamily="18" charset="0"/>
              <a:cs typeface="Times New Roman" pitchFamily="18" charset="0"/>
            </a:endParaRPr>
          </a:p>
          <a:p>
            <a:endParaRPr lang="pt-B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NEUTRALIDADE DA CIÊNCIA:</a:t>
            </a:r>
          </a:p>
          <a:p>
            <a:endParaRPr lang="pt-B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“Progresso insano” – qual o valor, a necessidade e a justificativa ética  - Laércio Antônio </a:t>
            </a:r>
            <a:r>
              <a:rPr lang="pt-BR" sz="2000" dirty="0" err="1">
                <a:latin typeface="Times New Roman" pitchFamily="18" charset="0"/>
                <a:cs typeface="Times New Roman" pitchFamily="18" charset="0"/>
              </a:rPr>
              <a:t>Pilz</a:t>
            </a:r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, p.50. </a:t>
            </a:r>
            <a:r>
              <a:rPr lang="pt-BR" sz="2000" dirty="0" err="1">
                <a:latin typeface="Times New Roman" pitchFamily="18" charset="0"/>
                <a:cs typeface="Times New Roman" pitchFamily="18" charset="0"/>
              </a:rPr>
              <a:t>Unisinos</a:t>
            </a:r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, 2012.</a:t>
            </a:r>
          </a:p>
          <a:p>
            <a:endParaRPr lang="pt-BR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Os meios justificam os fins (progresso advindo de guerras, capitalismo desmedido, competição e outros)</a:t>
            </a:r>
          </a:p>
          <a:p>
            <a:pPr>
              <a:buFontTx/>
              <a:buChar char="-"/>
            </a:pPr>
            <a:endParaRPr lang="pt-BR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Noção e prática da neutralidade se estende ao </a:t>
            </a:r>
            <a:r>
              <a:rPr lang="pt-BR" sz="2000" dirty="0" err="1">
                <a:latin typeface="Times New Roman" pitchFamily="18" charset="0"/>
                <a:cs typeface="Times New Roman" pitchFamily="18" charset="0"/>
              </a:rPr>
              <a:t>negligenciamento</a:t>
            </a:r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 e ao </a:t>
            </a:r>
          </a:p>
          <a:p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esquecimento da reflexão ética sobre a eficiência e eficácia sem mensuração de valores morais e possíveis danos ambientais. </a:t>
            </a:r>
          </a:p>
          <a:p>
            <a:pPr>
              <a:buFontTx/>
              <a:buChar char="-"/>
            </a:pPr>
            <a:endParaRPr lang="pt-BR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pt-BR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pt-BR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pt-B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    </a:t>
            </a:r>
          </a:p>
        </p:txBody>
      </p:sp>
      <p:pic>
        <p:nvPicPr>
          <p:cNvPr id="4" name="Picture 2"/>
          <p:cNvPicPr/>
          <p:nvPr/>
        </p:nvPicPr>
        <p:blipFill>
          <a:blip r:embed="rId2"/>
          <a:stretch/>
        </p:blipFill>
        <p:spPr>
          <a:xfrm>
            <a:off x="467640" y="252720"/>
            <a:ext cx="1569600" cy="28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71480"/>
            <a:ext cx="7619760" cy="1285884"/>
          </a:xfrm>
        </p:spPr>
        <p:txBody>
          <a:bodyPr/>
          <a:lstStyle/>
          <a:p>
            <a:pPr algn="ctr"/>
            <a:b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pt-BR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PRINCÍPIO RESPONSABILIDADE</a:t>
            </a:r>
            <a:br>
              <a:rPr lang="pt-BR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pt-BR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Qual o projeto político/ético que sustenta o desenvolvimento das tecnologias?</a:t>
            </a:r>
            <a:br>
              <a:rPr lang="pt-BR" sz="2400" dirty="0">
                <a:latin typeface="Times New Roman" pitchFamily="18" charset="0"/>
                <a:cs typeface="Times New Roman" pitchFamily="18" charset="0"/>
              </a:rPr>
            </a:br>
            <a:endParaRPr lang="pt-BR" sz="24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/>
          </p:nvPr>
        </p:nvSpPr>
        <p:spPr>
          <a:xfrm>
            <a:off x="457200" y="1916832"/>
            <a:ext cx="7619760" cy="4483608"/>
          </a:xfrm>
        </p:spPr>
        <p:txBody>
          <a:bodyPr/>
          <a:lstStyle/>
          <a:p>
            <a:endParaRPr lang="pt-BR" sz="2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pt-BR" sz="2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pt-BR" sz="2200" dirty="0">
                <a:latin typeface="Times New Roman" pitchFamily="18" charset="0"/>
                <a:cs typeface="Times New Roman" pitchFamily="18" charset="0"/>
              </a:rPr>
              <a:t>Na economia -  atualização da Lei de Moore/1965- de aproximadamente 1,5 ano para 1 ano, segundo o futurista da computação, Ray </a:t>
            </a:r>
            <a:r>
              <a:rPr lang="pt-BR" dirty="0" err="1">
                <a:latin typeface="Times New Roman" pitchFamily="18" charset="0"/>
                <a:cs typeface="Times New Roman" pitchFamily="18" charset="0"/>
              </a:rPr>
              <a:t>Kurzweil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.  </a:t>
            </a:r>
            <a:r>
              <a:rPr lang="pt-BR" sz="2000" dirty="0">
                <a:latin typeface="Times New Roman" pitchFamily="18" charset="0"/>
                <a:cs typeface="Times New Roman" pitchFamily="18" charset="0"/>
                <a:hlinkClick r:id="rId2"/>
              </a:rPr>
              <a:t>https://www1.folha.uol.com.br/fsp/negocios/cn0411200703.htm</a:t>
            </a:r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pt-BR" sz="2200" dirty="0">
                <a:latin typeface="Times New Roman" pitchFamily="18" charset="0"/>
                <a:cs typeface="Times New Roman" pitchFamily="18" charset="0"/>
              </a:rPr>
              <a:t>Inovação </a:t>
            </a:r>
            <a:r>
              <a:rPr lang="pt-BR" sz="2200" dirty="0" err="1">
                <a:latin typeface="Times New Roman" pitchFamily="18" charset="0"/>
                <a:cs typeface="Times New Roman" pitchFamily="18" charset="0"/>
              </a:rPr>
              <a:t>disruptiva</a:t>
            </a:r>
            <a:r>
              <a:rPr lang="pt-BR" sz="2200" dirty="0">
                <a:latin typeface="Times New Roman" pitchFamily="18" charset="0"/>
                <a:cs typeface="Times New Roman" pitchFamily="18" charset="0"/>
              </a:rPr>
              <a:t> - destruição criativa. </a:t>
            </a:r>
          </a:p>
          <a:p>
            <a:r>
              <a:rPr lang="pt-BR" sz="2200" dirty="0">
                <a:latin typeface="Times New Roman" pitchFamily="18" charset="0"/>
                <a:cs typeface="Times New Roman" pitchFamily="18" charset="0"/>
              </a:rPr>
              <a:t>Medicina</a:t>
            </a:r>
          </a:p>
          <a:p>
            <a:r>
              <a:rPr lang="pt-BR" sz="2200" dirty="0">
                <a:latin typeface="Times New Roman" pitchFamily="18" charset="0"/>
                <a:cs typeface="Times New Roman" pitchFamily="18" charset="0"/>
              </a:rPr>
              <a:t>Bioengenharia, </a:t>
            </a:r>
            <a:r>
              <a:rPr lang="pt-BR" sz="2200" dirty="0" err="1">
                <a:latin typeface="Times New Roman" pitchFamily="18" charset="0"/>
                <a:cs typeface="Times New Roman" pitchFamily="18" charset="0"/>
              </a:rPr>
              <a:t>transhumanismo</a:t>
            </a:r>
            <a:r>
              <a:rPr lang="pt-BR" sz="22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pt-BR" sz="2200" dirty="0">
                <a:latin typeface="Times New Roman" pitchFamily="18" charset="0"/>
                <a:cs typeface="Times New Roman" pitchFamily="18" charset="0"/>
              </a:rPr>
              <a:t>Digital</a:t>
            </a:r>
          </a:p>
          <a:p>
            <a:r>
              <a:rPr lang="pt-BR" sz="2200" dirty="0">
                <a:latin typeface="Times New Roman" pitchFamily="18" charset="0"/>
                <a:cs typeface="Times New Roman" pitchFamily="18" charset="0"/>
              </a:rPr>
              <a:t>Ecológico</a:t>
            </a:r>
          </a:p>
          <a:p>
            <a:endParaRPr lang="pt-B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endParaRPr lang="pt-BR" dirty="0">
              <a:latin typeface="Times New Roman" pitchFamily="18" charset="0"/>
              <a:cs typeface="Times New Roman" pitchFamily="18" charset="0"/>
            </a:endParaRPr>
          </a:p>
          <a:p>
            <a:endParaRPr lang="pt-BR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dirty="0"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endParaRPr lang="pt-BR" dirty="0"/>
          </a:p>
          <a:p>
            <a:r>
              <a:rPr lang="pt-BR" dirty="0"/>
              <a:t> </a:t>
            </a:r>
          </a:p>
        </p:txBody>
      </p:sp>
      <p:pic>
        <p:nvPicPr>
          <p:cNvPr id="4" name="Picture 2"/>
          <p:cNvPicPr/>
          <p:nvPr/>
        </p:nvPicPr>
        <p:blipFill>
          <a:blip r:embed="rId3"/>
          <a:stretch/>
        </p:blipFill>
        <p:spPr>
          <a:xfrm>
            <a:off x="467640" y="252720"/>
            <a:ext cx="1569600" cy="28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14356"/>
            <a:ext cx="7619760" cy="1143008"/>
          </a:xfrm>
        </p:spPr>
        <p:txBody>
          <a:bodyPr/>
          <a:lstStyle/>
          <a:p>
            <a:pPr algn="ctr"/>
            <a:r>
              <a:rPr lang="pt-BR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PRINCÍPIO RESPONSABILIDADE</a:t>
            </a:r>
            <a:br>
              <a:rPr lang="pt-BR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pt-BR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Qual o projeto político/ético que sustenta o desenvolvimento das tecnologias?</a:t>
            </a:r>
            <a:endParaRPr lang="pt-BR" sz="2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/>
          </p:nvPr>
        </p:nvSpPr>
        <p:spPr>
          <a:xfrm>
            <a:off x="457200" y="2214554"/>
            <a:ext cx="7619760" cy="4185886"/>
          </a:xfrm>
        </p:spPr>
        <p:txBody>
          <a:bodyPr/>
          <a:lstStyle/>
          <a:p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pt-BR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ARA JONAS (2008)  PILZ (2012), MORIN E HARARI (2018)</a:t>
            </a:r>
          </a:p>
          <a:p>
            <a:r>
              <a:rPr lang="pt-BR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pt-BR" sz="2000" dirty="0" err="1">
                <a:latin typeface="Times New Roman" pitchFamily="18" charset="0"/>
                <a:cs typeface="Times New Roman" pitchFamily="18" charset="0"/>
              </a:rPr>
              <a:t>tecnociência</a:t>
            </a:r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  é, ainda, antropocêntrica</a:t>
            </a:r>
          </a:p>
          <a:p>
            <a:endParaRPr lang="pt-B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Porém, a complexidade da vida contemporânea, nos desafia a ultrapassar a lógica da </a:t>
            </a:r>
            <a:r>
              <a:rPr lang="pt-BR" sz="2000" dirty="0" err="1">
                <a:latin typeface="Times New Roman" pitchFamily="18" charset="0"/>
                <a:cs typeface="Times New Roman" pitchFamily="18" charset="0"/>
              </a:rPr>
              <a:t>autoconservação</a:t>
            </a:r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 que desconsidera o todo e seus fluxos. </a:t>
            </a:r>
          </a:p>
          <a:p>
            <a:endParaRPr lang="pt-B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A complexidade das relações </a:t>
            </a:r>
            <a:r>
              <a:rPr lang="pt-BR" sz="2000" dirty="0" err="1">
                <a:latin typeface="Times New Roman" pitchFamily="18" charset="0"/>
                <a:cs typeface="Times New Roman" pitchFamily="18" charset="0"/>
              </a:rPr>
              <a:t>intramundana</a:t>
            </a:r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 nos convoca a pensar e agir de   forma sistêmica. (MORIN, passagem do pensamento simplificador para o  sistêmico,como possibilidade de considerar a complexidade) </a:t>
            </a:r>
          </a:p>
          <a:p>
            <a:endParaRPr lang="pt-BR" sz="2000" dirty="0"/>
          </a:p>
        </p:txBody>
      </p:sp>
      <p:pic>
        <p:nvPicPr>
          <p:cNvPr id="4" name="Picture 2"/>
          <p:cNvPicPr/>
          <p:nvPr/>
        </p:nvPicPr>
        <p:blipFill>
          <a:blip r:embed="rId2"/>
          <a:stretch/>
        </p:blipFill>
        <p:spPr>
          <a:xfrm>
            <a:off x="467640" y="252720"/>
            <a:ext cx="1569600" cy="28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PRINCÍPIO RESPONSABILIDADE</a:t>
            </a:r>
            <a:br>
              <a:rPr lang="pt-BR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pt-BR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Qual o projeto político/ético que sustenta o desenvolvimento das tecnologias?</a:t>
            </a:r>
            <a:endParaRPr lang="pt-BR" sz="2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pt-BR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pt-BR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HARARI (2018)</a:t>
            </a:r>
          </a:p>
          <a:p>
            <a:endParaRPr lang="pt-B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pt-BR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Implementação de um modo para legitimar e exercitar os valores morais no século XXI, onde tudo está interconectado a um  gigantesco número de pessoas em todo o globo.</a:t>
            </a:r>
          </a:p>
          <a:p>
            <a:endParaRPr lang="pt-B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pt-BR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AÇÕES- Relação causa/efeito interconectados  planetariamente. </a:t>
            </a:r>
          </a:p>
          <a:p>
            <a:endParaRPr lang="pt-BR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pt-BR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“Num mundo no qual tudo é interconectado, o supremo imperativo moral torna-se o imperativo de saber”  (p. 281). </a:t>
            </a:r>
          </a:p>
          <a:p>
            <a:r>
              <a:rPr lang="pt-BR" sz="2000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Fake</a:t>
            </a:r>
            <a:r>
              <a:rPr lang="pt-BR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e verdade (fato) -  Cenário da ciência e das redes sociais           </a:t>
            </a:r>
            <a:endParaRPr lang="pt-BR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PRINCÍPIO RESPONSABILIDADE</a:t>
            </a:r>
            <a:br>
              <a:rPr lang="pt-BR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pt-BR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Qual o projeto político/ético que sustenta o desenvolvimento das tecnologias?</a:t>
            </a:r>
            <a:endParaRPr lang="pt-BR" sz="2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VEJA, 2019: </a:t>
            </a:r>
          </a:p>
          <a:p>
            <a:pPr algn="just"/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A NATUREZA SOB RISCO - relatório das Nações Unidas, fruto do trabalho de 145 cientistas de cinquenta países, conclui que uma em cada oito espécies pode ser extinta em poucas décadas. Jennifer </a:t>
            </a:r>
            <a:r>
              <a:rPr lang="pt-BR" sz="2000" dirty="0" err="1">
                <a:latin typeface="Times New Roman" pitchFamily="18" charset="0"/>
                <a:cs typeface="Times New Roman" pitchFamily="18" charset="0"/>
              </a:rPr>
              <a:t>Ahn</a:t>
            </a:r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 Thomas, 15 de maio.</a:t>
            </a:r>
          </a:p>
          <a:p>
            <a:pPr algn="just"/>
            <a:endParaRPr lang="pt-BR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NÃO COMERÁS COMO ANTES- as novas formas de produção de comida podem mudar- mais cedo do que se imagina- não apenas as refeições como também os pilares da industria de alimentos, a pecuária e o agronegócio. </a:t>
            </a:r>
            <a:r>
              <a:rPr lang="pt-BR" sz="2000" dirty="0" err="1">
                <a:latin typeface="Times New Roman" pitchFamily="18" charset="0"/>
                <a:cs typeface="Times New Roman" pitchFamily="18" charset="0"/>
              </a:rPr>
              <a:t>Lucilia</a:t>
            </a:r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 Diniz, 12 de junho.</a:t>
            </a:r>
          </a:p>
          <a:p>
            <a:endParaRPr lang="pt-BR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dirty="0"/>
              <a:t>  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PRINCÍPIO RESPONSABILIDADE</a:t>
            </a:r>
            <a:br>
              <a:rPr lang="pt-BR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pt-BR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Qual o projeto político/ético que sustenta o desenvolvimento das tecnologias?</a:t>
            </a:r>
            <a:endParaRPr lang="pt-BR" sz="2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VEJA, 2019: </a:t>
            </a:r>
          </a:p>
          <a:p>
            <a:pPr algn="just"/>
            <a:endParaRPr lang="pt-BR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NEYMAR VAI AO CHÃO- Denunciado de estupro, o jogador leva uma vida desregrada fora do campo, já perdeu patrocínio em função de contusões e pode ter sua imagem definitivamente arranhada com episodio. Alexandre salvador e João Batista Jr. , 12 de junho.  </a:t>
            </a:r>
          </a:p>
          <a:p>
            <a:pPr algn="just"/>
            <a:endParaRPr lang="pt-BR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NÃO TEM FOGO, MAS VICIA – os jovens brasileiros já compram em sites de venda virtual a nova versão do cigarro eletrônico, que é fenômeno nos EUA e preocupa as autoridades de saúde. Natalia </a:t>
            </a:r>
            <a:r>
              <a:rPr lang="pt-BR" sz="2000" dirty="0" err="1">
                <a:latin typeface="Times New Roman" pitchFamily="18" charset="0"/>
                <a:cs typeface="Times New Roman" pitchFamily="18" charset="0"/>
              </a:rPr>
              <a:t>Cuminale</a:t>
            </a:r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, 12 de junho.     </a:t>
            </a:r>
          </a:p>
          <a:p>
            <a:endParaRPr lang="pt-BR" dirty="0">
              <a:latin typeface="Times New Roman" pitchFamily="18" charset="0"/>
              <a:cs typeface="Times New Roman" pitchFamily="18" charset="0"/>
            </a:endParaRPr>
          </a:p>
          <a:p>
            <a:endParaRPr lang="pt-BR" dirty="0">
              <a:latin typeface="Times New Roman" pitchFamily="18" charset="0"/>
              <a:cs typeface="Times New Roman" pitchFamily="18" charset="0"/>
            </a:endParaRPr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PRINCÍPIO RESPONSABILIDADE</a:t>
            </a:r>
            <a:b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Qual o projeto político/ético que sustenta o desenvolvimento das tecnologias?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b="1" dirty="0">
              <a:solidFill>
                <a:srgbClr val="FF0000"/>
              </a:solidFill>
            </a:endParaRPr>
          </a:p>
          <a:p>
            <a:pPr algn="ctr"/>
            <a:r>
              <a:rPr lang="pt-BR" b="1" dirty="0">
                <a:solidFill>
                  <a:srgbClr val="FF0000"/>
                </a:solidFill>
              </a:rPr>
              <a:t>CIBERDEMOCRACIA: LEMOS E LÉVY , 2010. </a:t>
            </a:r>
          </a:p>
          <a:p>
            <a:pPr algn="ctr"/>
            <a:endParaRPr lang="pt-BR" b="1" dirty="0">
              <a:solidFill>
                <a:srgbClr val="FF0000"/>
              </a:solidFill>
            </a:endParaRPr>
          </a:p>
          <a:p>
            <a:pPr algn="ctr"/>
            <a:r>
              <a:rPr lang="pt-BR" sz="8000" b="1" dirty="0">
                <a:solidFill>
                  <a:srgbClr val="FF0000"/>
                </a:solidFill>
              </a:rPr>
              <a:t>?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algn="r"/>
            <a:r>
              <a:rPr lang="pt-BR" sz="2000" dirty="0"/>
              <a:t>“</a:t>
            </a:r>
          </a:p>
          <a:p>
            <a:pPr algn="r"/>
            <a:endParaRPr lang="pt-BR" sz="2000" dirty="0"/>
          </a:p>
          <a:p>
            <a:pPr algn="r"/>
            <a:endParaRPr lang="pt-BR" sz="2000" dirty="0"/>
          </a:p>
          <a:p>
            <a:pPr algn="r"/>
            <a:endParaRPr lang="pt-BR" sz="2000" dirty="0"/>
          </a:p>
          <a:p>
            <a:pPr algn="r"/>
            <a:endParaRPr lang="pt-BR" sz="2000" dirty="0"/>
          </a:p>
          <a:p>
            <a:pPr algn="r"/>
            <a:endParaRPr lang="pt-BR" sz="2000" dirty="0"/>
          </a:p>
          <a:p>
            <a:pPr algn="r"/>
            <a:endParaRPr lang="pt-BR" sz="2000" dirty="0"/>
          </a:p>
          <a:p>
            <a:pPr algn="r"/>
            <a:endParaRPr lang="pt-BR" sz="2000" dirty="0"/>
          </a:p>
          <a:p>
            <a:pPr algn="r"/>
            <a:endParaRPr lang="pt-BR" sz="2000" dirty="0"/>
          </a:p>
          <a:p>
            <a:pPr algn="r"/>
            <a:endParaRPr lang="pt-BR" sz="2000" dirty="0"/>
          </a:p>
          <a:p>
            <a:pPr algn="r"/>
            <a:endParaRPr lang="pt-BR" sz="2000" dirty="0"/>
          </a:p>
          <a:p>
            <a:pPr algn="r"/>
            <a:endParaRPr lang="pt-BR" sz="2000" dirty="0"/>
          </a:p>
          <a:p>
            <a:pPr algn="r"/>
            <a:endParaRPr lang="pt-BR" sz="2000" dirty="0"/>
          </a:p>
          <a:p>
            <a:pPr algn="r"/>
            <a:endParaRPr lang="pt-BR" sz="2000" dirty="0"/>
          </a:p>
          <a:p>
            <a:pPr algn="r"/>
            <a:endParaRPr lang="pt-BR" sz="2000" dirty="0"/>
          </a:p>
          <a:p>
            <a:pPr algn="r"/>
            <a:endParaRPr lang="pt-BR" sz="2000" dirty="0"/>
          </a:p>
          <a:p>
            <a:pPr algn="r"/>
            <a:endParaRPr lang="pt-BR" sz="2000" dirty="0"/>
          </a:p>
          <a:p>
            <a:pPr algn="r"/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“O impulso de saber, sem freios, é em si mesmo, em todos os tempos, tão bárbaro quanto o ódio ao saber, tanto que os gregos, por consideração à vida, refrearam seu impulso de saber, em si insaciável – porque aquilo que eles aprendiam queriam logo viver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 algn="r"/>
            <a:r>
              <a:rPr lang="pt-BR" dirty="0">
                <a:latin typeface="Times New Roman" pitchFamily="18" charset="0"/>
                <a:cs typeface="Times New Roman" pitchFamily="18" charset="0"/>
              </a:rPr>
              <a:t>NTZS, 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A filosofia na época trágica  dos gregos</a:t>
            </a:r>
          </a:p>
          <a:p>
            <a:pPr algn="r"/>
            <a:endParaRPr lang="pt-BR" i="1" dirty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pt-BR" i="1" dirty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pt-BR" dirty="0">
                <a:latin typeface="Times New Roman" pitchFamily="18" charset="0"/>
                <a:cs typeface="Times New Roman" pitchFamily="18" charset="0"/>
              </a:rPr>
              <a:t>“Silêncio não é neutralidade, é apoio ao 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status </a:t>
            </a:r>
            <a:r>
              <a:rPr lang="pt-BR" i="1" dirty="0" err="1">
                <a:latin typeface="Times New Roman" pitchFamily="18" charset="0"/>
                <a:cs typeface="Times New Roman" pitchFamily="18" charset="0"/>
              </a:rPr>
              <a:t>quo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r"/>
            <a:r>
              <a:rPr lang="pt-BR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dirty="0" err="1">
                <a:latin typeface="Times New Roman" pitchFamily="18" charset="0"/>
                <a:cs typeface="Times New Roman" pitchFamily="18" charset="0"/>
              </a:rPr>
              <a:t>Harari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, 2018.      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3200" b="1" dirty="0">
                <a:solidFill>
                  <a:srgbClr val="0070C0"/>
                </a:solidFill>
              </a:rPr>
              <a:t>Nietzsche </a:t>
            </a:r>
          </a:p>
        </p:txBody>
      </p:sp>
      <p:pic>
        <p:nvPicPr>
          <p:cNvPr id="4" name="Picture 2"/>
          <p:cNvPicPr/>
          <p:nvPr/>
        </p:nvPicPr>
        <p:blipFill>
          <a:blip r:embed="rId2"/>
          <a:stretch/>
        </p:blipFill>
        <p:spPr>
          <a:xfrm>
            <a:off x="467640" y="252720"/>
            <a:ext cx="1569600" cy="28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/>
          </p:nvPr>
        </p:nvSpPr>
        <p:spPr>
          <a:xfrm>
            <a:off x="457200" y="714356"/>
            <a:ext cx="7619760" cy="1285884"/>
          </a:xfrm>
        </p:spPr>
        <p:txBody>
          <a:bodyPr/>
          <a:lstStyle/>
          <a:p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b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pt-BR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400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Geovânia</a:t>
            </a:r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071546"/>
            <a:ext cx="7619760" cy="1000132"/>
          </a:xfrm>
        </p:spPr>
        <p:txBody>
          <a:bodyPr/>
          <a:lstStyle/>
          <a:p>
            <a:pPr algn="ctr"/>
            <a:br>
              <a:rPr lang="pt-BR" sz="3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pt-BR" sz="3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pt-BR" sz="3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pt-BR" sz="3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pt-BR" sz="3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pt-BR" sz="3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pt-BR" sz="3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pt-BR" sz="3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Obrigada mais uma vez!</a:t>
            </a:r>
            <a:br>
              <a:rPr lang="pt-BR" sz="3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pt-BR" sz="3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pt-BR" sz="3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pt-BR" sz="3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pt-BR" sz="3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pt-BR" sz="3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pt-BR" sz="3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pt-BR" sz="32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/>
          <p:nvPr/>
        </p:nvPicPr>
        <p:blipFill>
          <a:blip r:embed="rId2"/>
          <a:stretch/>
        </p:blipFill>
        <p:spPr>
          <a:xfrm>
            <a:off x="467640" y="354600"/>
            <a:ext cx="1295640" cy="237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2324</TotalTime>
  <Words>939</Words>
  <Application>Microsoft Office PowerPoint</Application>
  <PresentationFormat>Apresentação na tela (4:3)</PresentationFormat>
  <Paragraphs>320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Cambria</vt:lpstr>
      <vt:lpstr>Symbol</vt:lpstr>
      <vt:lpstr>Times New Roman</vt:lpstr>
      <vt:lpstr>Wingdings</vt:lpstr>
      <vt:lpstr>Office Theme</vt:lpstr>
      <vt:lpstr>Apresentação do PowerPoint</vt:lpstr>
      <vt:lpstr>Princípio responsabilidade  Causas e efeitos das ações humanas    </vt:lpstr>
      <vt:lpstr>NOSSA DISCUSSÃO    </vt:lpstr>
      <vt:lpstr>MARCOS HISTÓRICOS</vt:lpstr>
      <vt:lpstr>Princípio responsabilidade  Mudança de foco </vt:lpstr>
      <vt:lpstr> Princípio responsabilidade </vt:lpstr>
      <vt:lpstr>PRINCÍPIO RESPONSABILIDADE</vt:lpstr>
      <vt:lpstr>PRINCÍPIO RESPONSABILIDADE</vt:lpstr>
      <vt:lpstr> PRINCÍPIO RESPONSABILIDADE Qual o projeto político/ético que sustenta o desenvolvimento das tecnologias? </vt:lpstr>
      <vt:lpstr>PRINCÍPIO RESPONSABILIDADE Qual o projeto político/ético que sustenta o desenvolvimento das tecnologias?</vt:lpstr>
      <vt:lpstr>PRINCÍPIO RESPONSABILIDADE Qual o projeto político/ético que sustenta o desenvolvimento das tecnologias?</vt:lpstr>
      <vt:lpstr>PRINCÍPIO RESPONSABILIDADE Qual o projeto político/ético que sustenta o desenvolvimento das tecnologias?</vt:lpstr>
      <vt:lpstr>PRINCÍPIO RESPONSABILIDADE Qual o projeto político/ético que sustenta o desenvolvimento das tecnologias?</vt:lpstr>
      <vt:lpstr>PRINCÍPIO RESPONSABILIDADE Qual o projeto político/ético que sustenta o desenvolvimento das tecnologias?</vt:lpstr>
      <vt:lpstr>Nietzsche </vt:lpstr>
      <vt:lpstr>       Obrigada mais uma vez!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Geovânia Carvalho Linha de Pesquisa: Tecnologias e Humanidade</dc:title>
  <dc:creator>pc</dc:creator>
  <cp:lastModifiedBy>Henrique Nou Schneider</cp:lastModifiedBy>
  <cp:revision>323</cp:revision>
  <dcterms:created xsi:type="dcterms:W3CDTF">2016-07-27T14:04:39Z</dcterms:created>
  <dcterms:modified xsi:type="dcterms:W3CDTF">2019-07-01T14:25:20Z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3</vt:i4>
  </property>
  <property fmtid="{D5CDD505-2E9C-101B-9397-08002B2CF9AE}" pid="8" name="PresentationFormat">
    <vt:lpwstr>Apresentação na tela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17</vt:i4>
  </property>
</Properties>
</file>
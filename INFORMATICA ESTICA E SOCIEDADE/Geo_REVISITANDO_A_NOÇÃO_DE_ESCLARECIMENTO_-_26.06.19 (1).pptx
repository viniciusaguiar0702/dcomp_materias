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6"/>
  </p:notesMasterIdLst>
  <p:sldIdLst>
    <p:sldId id="256" r:id="rId3"/>
    <p:sldId id="272" r:id="rId4"/>
    <p:sldId id="258" r:id="rId5"/>
    <p:sldId id="259" r:id="rId6"/>
    <p:sldId id="261" r:id="rId7"/>
    <p:sldId id="274" r:id="rId8"/>
    <p:sldId id="276" r:id="rId9"/>
    <p:sldId id="277" r:id="rId10"/>
    <p:sldId id="278" r:id="rId11"/>
    <p:sldId id="279" r:id="rId12"/>
    <p:sldId id="262" r:id="rId13"/>
    <p:sldId id="280" r:id="rId14"/>
    <p:sldId id="282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2000" spc="-1">
                <a:latin typeface="Arial"/>
              </a:rPr>
              <a:t>Clique para editar o formato de notas</a:t>
            </a:r>
            <a:endParaRPr/>
          </a:p>
        </p:txBody>
      </p:sp>
      <p:sp>
        <p:nvSpPr>
          <p:cNvPr id="84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1400" spc="-1">
                <a:latin typeface="Times New Roman"/>
              </a:rPr>
              <a:t>&lt;cabeçalho&gt;</a:t>
            </a:r>
            <a:endParaRPr/>
          </a:p>
        </p:txBody>
      </p:sp>
      <p:sp>
        <p:nvSpPr>
          <p:cNvPr id="85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pt-BR" sz="1400" spc="-1">
                <a:latin typeface="Times New Roman"/>
              </a:rPr>
              <a:t>&lt;data/hora&gt;</a:t>
            </a:r>
            <a:endParaRPr/>
          </a:p>
        </p:txBody>
      </p:sp>
      <p:sp>
        <p:nvSpPr>
          <p:cNvPr id="86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pt-BR" sz="1400" spc="-1">
                <a:latin typeface="Times New Roman"/>
              </a:rPr>
              <a:t>&lt;rodapé&gt;</a:t>
            </a:r>
            <a:endParaRPr/>
          </a:p>
        </p:txBody>
      </p:sp>
      <p:sp>
        <p:nvSpPr>
          <p:cNvPr id="87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3D5F74A3-8A57-413B-B613-06CE19546CAA}" type="slidenum">
              <a:rPr lang="pt-BR" sz="1400" spc="-1">
                <a:latin typeface="Times New Roman"/>
              </a:rPr>
              <a:pPr algn="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103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0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2D1A82DB-A5EF-4310-BD9C-E8634278C11D}" type="slidenum">
              <a:rPr lang="pt-BR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r>
              <a:rPr lang="pt-BR" sz="2000" strike="noStrike" spc="-1">
                <a:uFill>
                  <a:solidFill>
                    <a:srgbClr val="FFFFFF"/>
                  </a:solidFill>
                </a:uFill>
                <a:latin typeface="Arial"/>
              </a:rPr>
              <a:t>Crime e castigo- 1866 </a:t>
            </a:r>
            <a:r>
              <a:rPr lang="pt-BR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Raskólnikov</a:t>
            </a:r>
            <a:endParaRPr/>
          </a:p>
        </p:txBody>
      </p:sp>
      <p:sp>
        <p:nvSpPr>
          <p:cNvPr id="142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572A846E-5C95-4BA2-AE59-903B683EEC04}" type="slidenum">
              <a:rPr lang="pt-BR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7619760" cy="48002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976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7180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361400" y="1600200"/>
            <a:ext cx="37180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761976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57200" y="41076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361400" y="1600200"/>
            <a:ext cx="37180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7180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614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361400" y="41076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3614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4107600"/>
            <a:ext cx="761976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976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7200" y="4107600"/>
            <a:ext cx="761976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3614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361400" y="41076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57200" y="41076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976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976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40" name="Imagem 39"/>
          <p:cNvPicPr/>
          <p:nvPr/>
        </p:nvPicPr>
        <p:blipFill>
          <a:blip r:embed="rId2"/>
          <a:stretch/>
        </p:blipFill>
        <p:spPr>
          <a:xfrm>
            <a:off x="1258920" y="1600200"/>
            <a:ext cx="6016320" cy="4800240"/>
          </a:xfrm>
          <a:prstGeom prst="rect">
            <a:avLst/>
          </a:prstGeom>
          <a:ln>
            <a:noFill/>
          </a:ln>
        </p:spPr>
      </p:pic>
      <p:pic>
        <p:nvPicPr>
          <p:cNvPr id="41" name="Imagem 40"/>
          <p:cNvPicPr/>
          <p:nvPr/>
        </p:nvPicPr>
        <p:blipFill>
          <a:blip r:embed="rId2"/>
          <a:stretch/>
        </p:blipFill>
        <p:spPr>
          <a:xfrm>
            <a:off x="1258920" y="1600200"/>
            <a:ext cx="6016320" cy="4800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7619760" cy="48002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976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7180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361400" y="1600200"/>
            <a:ext cx="37180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761976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57200" y="41076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361400" y="1600200"/>
            <a:ext cx="37180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7180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3614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361400" y="41076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3614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4107600"/>
            <a:ext cx="761976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976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57200" y="4107600"/>
            <a:ext cx="761976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361400" y="16002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361400" y="41076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457200" y="4107600"/>
            <a:ext cx="37180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976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976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pic>
        <p:nvPicPr>
          <p:cNvPr id="81" name="Imagem 80"/>
          <p:cNvPicPr/>
          <p:nvPr/>
        </p:nvPicPr>
        <p:blipFill>
          <a:blip r:embed="rId2"/>
          <a:stretch/>
        </p:blipFill>
        <p:spPr>
          <a:xfrm>
            <a:off x="1258920" y="1600200"/>
            <a:ext cx="6016320" cy="4800240"/>
          </a:xfrm>
          <a:prstGeom prst="rect">
            <a:avLst/>
          </a:prstGeom>
          <a:ln>
            <a:noFill/>
          </a:ln>
        </p:spPr>
      </p:pic>
      <p:pic>
        <p:nvPicPr>
          <p:cNvPr id="82" name="Imagem 81"/>
          <p:cNvPicPr/>
          <p:nvPr/>
        </p:nvPicPr>
        <p:blipFill>
          <a:blip r:embed="rId2"/>
          <a:stretch/>
        </p:blipFill>
        <p:spPr>
          <a:xfrm>
            <a:off x="1258920" y="1600200"/>
            <a:ext cx="6016320" cy="4800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9EDC2-6BFE-4F91-B8C0-D85A34469C1B}" type="datetimeFigureOut">
              <a:rPr lang="pt-BR" smtClean="0"/>
              <a:pPr/>
              <a:t>26/06/2019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B7C59-F8AD-4D51-A310-414F045E570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8458200" y="0"/>
            <a:ext cx="68544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CustomShape 2"/>
          <p:cNvSpPr/>
          <p:nvPr/>
        </p:nvSpPr>
        <p:spPr>
          <a:xfrm>
            <a:off x="8458200" y="5486400"/>
            <a:ext cx="685440" cy="685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PlaceHolder 3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9760" cy="11426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pt-BR" sz="4600" strike="noStrike" spc="-97">
                <a:solidFill>
                  <a:srgbClr val="1F497D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Clique para editar o título mestre</a:t>
            </a:r>
            <a:endParaRPr/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9760" cy="4800240"/>
          </a:xfrm>
          <a:prstGeom prst="rect">
            <a:avLst/>
          </a:prstGeom>
        </p:spPr>
        <p:txBody>
          <a:bodyPr/>
          <a:lstStyle/>
          <a:p>
            <a:pPr marL="432000" indent="-324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Clique para editar o formato do texto da estrutura de tópicos</a:t>
            </a:r>
            <a:endParaRPr/>
          </a:p>
          <a:p>
            <a:pPr marL="864000" lvl="1" indent="-324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2.º nível da estrutura de tópicos</a:t>
            </a:r>
            <a:endParaRPr/>
          </a:p>
          <a:p>
            <a:pPr marL="1296000" lvl="2" indent="-288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3.º nível da estrutura de tópicos</a:t>
            </a:r>
            <a:endParaRPr/>
          </a:p>
          <a:p>
            <a:pPr marL="1728000" lvl="3" indent="-216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4.º nível da estrutura de tópicos</a:t>
            </a:r>
            <a:endParaRPr/>
          </a:p>
          <a:p>
            <a:pPr marL="2160000" lvl="4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5.º nível da estrutura de tópicos</a:t>
            </a:r>
            <a:endParaRPr/>
          </a:p>
          <a:p>
            <a:pPr marL="2592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6.º nível da estrutura de tópicos</a:t>
            </a:r>
            <a:endParaRPr/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7.º nível da estrutura de tópicosClique para editar o texto mestre</a:t>
            </a:r>
            <a:endParaRPr/>
          </a:p>
          <a:p>
            <a:pPr marL="640080" lvl="1" indent="-228240">
              <a:lnSpc>
                <a:spcPct val="100000"/>
              </a:lnSpc>
              <a:buClr>
                <a:srgbClr val="C0504D"/>
              </a:buClr>
              <a:buFont typeface="Arial"/>
              <a:buChar char="•"/>
            </a:pPr>
            <a:r>
              <a:rPr lang="pt-BR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Segundo nível</a:t>
            </a:r>
            <a:endParaRPr/>
          </a:p>
          <a:p>
            <a:pPr marL="1005840" lvl="2" indent="-228240">
              <a:lnSpc>
                <a:spcPct val="100000"/>
              </a:lnSpc>
              <a:buClr>
                <a:srgbClr val="9BBB59"/>
              </a:buClr>
              <a:buFont typeface="Arial"/>
              <a:buChar char="•"/>
            </a:pPr>
            <a:r>
              <a:rPr lang="pt-BR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Terceiro nível</a:t>
            </a:r>
            <a:endParaRPr/>
          </a:p>
          <a:p>
            <a:pPr marL="1280160" lvl="3" indent="-228240">
              <a:lnSpc>
                <a:spcPct val="100000"/>
              </a:lnSpc>
              <a:buClr>
                <a:srgbClr val="8064A2"/>
              </a:buClr>
              <a:buFont typeface="Arial"/>
              <a:buChar char="•"/>
            </a:pPr>
            <a:r>
              <a:rPr lang="pt-BR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Quarto nível</a:t>
            </a:r>
            <a:endParaRPr/>
          </a:p>
          <a:p>
            <a:pPr marL="1554480" lvl="4" indent="-228240">
              <a:lnSpc>
                <a:spcPct val="100000"/>
              </a:lnSpc>
              <a:buClr>
                <a:srgbClr val="4BACC6"/>
              </a:buClr>
              <a:buFont typeface="Arial"/>
              <a:buChar char="•"/>
            </a:pPr>
            <a:r>
              <a:rPr lang="pt-BR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Quinto nível</a:t>
            </a:r>
            <a:endParaRPr/>
          </a:p>
        </p:txBody>
      </p:sp>
      <p:sp>
        <p:nvSpPr>
          <p:cNvPr id="46" name="PlaceHolder 5"/>
          <p:cNvSpPr>
            <a:spLocks noGrp="1"/>
          </p:cNvSpPr>
          <p:nvPr>
            <p:ph type="dt"/>
          </p:nvPr>
        </p:nvSpPr>
        <p:spPr>
          <a:xfrm rot="16200000">
            <a:off x="7551360" y="1646280"/>
            <a:ext cx="2437920" cy="36540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pt-BR" sz="1200" strike="noStrike" spc="-1">
                <a:solidFill>
                  <a:srgbClr val="EEECE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29/08/16</a:t>
            </a:r>
            <a:endParaRPr/>
          </a:p>
        </p:txBody>
      </p:sp>
      <p:sp>
        <p:nvSpPr>
          <p:cNvPr id="47" name="PlaceHolder 6"/>
          <p:cNvSpPr>
            <a:spLocks noGrp="1"/>
          </p:cNvSpPr>
          <p:nvPr>
            <p:ph type="ftr"/>
          </p:nvPr>
        </p:nvSpPr>
        <p:spPr>
          <a:xfrm rot="16200000">
            <a:off x="7587000" y="4048920"/>
            <a:ext cx="2367000" cy="36540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48" name="PlaceHolder 7"/>
          <p:cNvSpPr>
            <a:spLocks noGrp="1"/>
          </p:cNvSpPr>
          <p:nvPr>
            <p:ph type="sldNum"/>
          </p:nvPr>
        </p:nvSpPr>
        <p:spPr>
          <a:xfrm>
            <a:off x="8531640" y="5649120"/>
            <a:ext cx="548280" cy="396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fld id="{2571F600-D208-45D5-A42A-3FF857E66308}" type="slidenum">
              <a:rPr lang="pt-BR" sz="180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pPr algn="ctr">
                <a:lnSpc>
                  <a:spcPct val="100000"/>
                </a:lnSpc>
              </a:pPr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685800" y="1905120"/>
            <a:ext cx="7543440" cy="116352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pt-BR" sz="2000" b="1" strike="noStrike" spc="-97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Geovânia Carvalho
Linha de Pesquisa: Tecnologias </a:t>
            </a:r>
            <a:r>
              <a:rPr lang="pt-BR" sz="2000" b="1" strike="noStrike" spc="-97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e Humanidade  </a:t>
            </a:r>
            <a:endParaRPr/>
          </a:p>
        </p:txBody>
      </p:sp>
      <p:sp>
        <p:nvSpPr>
          <p:cNvPr id="89" name="TextShape 2"/>
          <p:cNvSpPr txBox="1"/>
          <p:nvPr/>
        </p:nvSpPr>
        <p:spPr>
          <a:xfrm>
            <a:off x="685800" y="3789000"/>
            <a:ext cx="6461280" cy="24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pt-BR" sz="18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Questão: Por que </a:t>
            </a:r>
            <a:r>
              <a:rPr lang="pt-BR" b="1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retomar o “esclarecimento” kantiano</a:t>
            </a:r>
            <a:r>
              <a:rPr lang="pt-BR" sz="18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?</a:t>
            </a:r>
            <a:endParaRPr/>
          </a:p>
          <a:p>
            <a:pPr>
              <a:lnSpc>
                <a:spcPct val="100000"/>
              </a:lnSpc>
            </a:pPr>
            <a:r>
              <a:rPr lang="pt-BR" sz="18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Guia para análise: Resposta a pergunta: Que é </a:t>
            </a:r>
            <a:r>
              <a:rPr lang="pt-BR" sz="1800" b="1" i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esclarecimento?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pt-BR" sz="16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KANT, </a:t>
            </a:r>
            <a:r>
              <a:rPr lang="pt-BR" sz="1600" strike="noStrike" spc="-1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Imamnuel</a:t>
            </a:r>
            <a:r>
              <a:rPr lang="pt-BR" sz="16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. </a:t>
            </a:r>
            <a:r>
              <a:rPr lang="pt-BR" sz="16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Resposta a pergunta: Que é </a:t>
            </a:r>
            <a:r>
              <a:rPr lang="pt-BR" sz="1600" b="1" i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esclarecimento</a:t>
            </a:r>
            <a:r>
              <a:rPr lang="pt-BR" sz="16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? </a:t>
            </a:r>
            <a:r>
              <a:rPr lang="pt-BR" sz="16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Textos Seletos. Trad. Floriano de Sousa Fernandes. 3 ed. Editora Vozes: Petrópolis, RJ. 2005. Pg. 63-71.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r>
              <a:rPr lang="pt-BR" sz="12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UFS, 26/06/2019 </a:t>
            </a:r>
            <a:endParaRPr/>
          </a:p>
        </p:txBody>
      </p:sp>
      <p:pic>
        <p:nvPicPr>
          <p:cNvPr id="90" name="Picture 2"/>
          <p:cNvPicPr/>
          <p:nvPr/>
        </p:nvPicPr>
        <p:blipFill>
          <a:blip r:embed="rId2"/>
          <a:stretch/>
        </p:blipFill>
        <p:spPr>
          <a:xfrm>
            <a:off x="2332800" y="908640"/>
            <a:ext cx="3531960" cy="935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Mundo contemporâneo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500034" y="285728"/>
            <a:ext cx="7619760" cy="1142640"/>
          </a:xfrm>
        </p:spPr>
        <p:txBody>
          <a:bodyPr>
            <a:normAutofit fontScale="25000" lnSpcReduction="20000"/>
          </a:bodyPr>
          <a:lstStyle/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7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7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7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7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7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7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7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7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7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7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8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8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pt-BR" sz="8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Considerando as práticas individuais e coletivas entre os séculos XVIII e XXI </a:t>
            </a:r>
          </a:p>
          <a:p>
            <a:endParaRPr lang="pt-BR" sz="8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pt-BR" sz="8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Dromocracia</a:t>
            </a:r>
            <a:r>
              <a:rPr lang="pt-BR" sz="8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pt-BR" sz="8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cibercultura</a:t>
            </a:r>
            <a:r>
              <a:rPr lang="pt-BR" sz="8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internet, </a:t>
            </a:r>
            <a:r>
              <a:rPr lang="pt-BR" sz="88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facebook</a:t>
            </a:r>
            <a:r>
              <a:rPr lang="pt-BR" sz="88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IA, terrorismo, fluidez, globalização</a:t>
            </a:r>
            <a:r>
              <a:rPr lang="pt-BR" sz="880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“blog” ... </a:t>
            </a:r>
            <a:endParaRPr lang="pt-BR" sz="8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pt-BR" sz="8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354600"/>
            <a:ext cx="1295640" cy="237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457200" y="500042"/>
            <a:ext cx="7619760" cy="91727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pt-BR" sz="28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
QUESTÃO INICIAL  </a:t>
            </a:r>
            <a:r>
              <a:rPr lang="pt-BR" sz="24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 </a:t>
            </a:r>
            <a:r>
              <a:rPr lang="pt-BR" sz="28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
</a:t>
            </a:r>
            <a:endParaRPr/>
          </a:p>
        </p:txBody>
      </p:sp>
      <p:sp>
        <p:nvSpPr>
          <p:cNvPr id="95" name="TextShape 2"/>
          <p:cNvSpPr txBox="1"/>
          <p:nvPr/>
        </p:nvSpPr>
        <p:spPr>
          <a:xfrm>
            <a:off x="457200" y="1600200"/>
            <a:ext cx="7619760" cy="48002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endParaRPr/>
          </a:p>
          <a:p>
            <a:pPr marL="114480">
              <a:lnSpc>
                <a:spcPct val="100000"/>
              </a:lnSpc>
            </a:pPr>
            <a:endParaRPr/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2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Por que visitar, pontualmente, o século XVIII para esboçar uma reflexão filosófica sobre a atualidade- século XXI? 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 marL="114480">
              <a:lnSpc>
                <a:spcPct val="100000"/>
              </a:lnSpc>
            </a:pPr>
            <a:r>
              <a:rPr lang="pt-BR" sz="22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</a:t>
            </a:r>
            <a:endParaRPr/>
          </a:p>
        </p:txBody>
      </p:sp>
      <p:pic>
        <p:nvPicPr>
          <p:cNvPr id="96" name="Picture 2"/>
          <p:cNvPicPr/>
          <p:nvPr/>
        </p:nvPicPr>
        <p:blipFill>
          <a:blip r:embed="rId2"/>
          <a:stretch/>
        </p:blipFill>
        <p:spPr>
          <a:xfrm>
            <a:off x="467640" y="11664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457200" y="714356"/>
            <a:ext cx="7619760" cy="135732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pt-BR" sz="36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 O século XVIII ... </a:t>
            </a:r>
            <a:endParaRPr/>
          </a:p>
        </p:txBody>
      </p:sp>
      <p:sp>
        <p:nvSpPr>
          <p:cNvPr id="98" name="TextShape 2"/>
          <p:cNvSpPr txBox="1"/>
          <p:nvPr/>
        </p:nvSpPr>
        <p:spPr>
          <a:xfrm>
            <a:off x="457200" y="1600200"/>
            <a:ext cx="7619760" cy="48002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2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Século da Pedagogia</a:t>
            </a:r>
            <a:endParaRPr/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2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Autenticidade sobre a permanência da questão – EDUCAÇÃO- questão filosófica</a:t>
            </a:r>
            <a:endParaRPr/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2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Possibilidade de reflexão universal </a:t>
            </a:r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2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Iluminismo </a:t>
            </a:r>
            <a:endParaRPr/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2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Projeto da modernidade: progresso, autonomia, felicidade </a:t>
            </a:r>
            <a:r>
              <a:rPr lang="pt-BR" sz="220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(em execução ou finalizado?) </a:t>
            </a:r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endParaRPr/>
          </a:p>
          <a:p>
            <a:pPr marL="114480">
              <a:lnSpc>
                <a:spcPct val="100000"/>
              </a:lnSpc>
            </a:pPr>
            <a:endParaRPr/>
          </a:p>
        </p:txBody>
      </p:sp>
      <p:pic>
        <p:nvPicPr>
          <p:cNvPr id="99" name="Picture 2"/>
          <p:cNvPicPr/>
          <p:nvPr/>
        </p:nvPicPr>
        <p:blipFill>
          <a:blip r:embed="rId3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0" y="285728"/>
            <a:ext cx="7619760" cy="14287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pt-BR" sz="3200" b="1" i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
      </a:t>
            </a:r>
            <a:r>
              <a:rPr lang="pt-BR" sz="3200" b="1" i="1" strike="noStrike" spc="-97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Aufklärung</a:t>
            </a:r>
            <a:r>
              <a:rPr lang="pt-BR" sz="3200" b="1" i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– </a:t>
            </a:r>
            <a:r>
              <a:rPr lang="pt-BR" sz="32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Esclarecimento</a:t>
            </a:r>
          </a:p>
          <a:p>
            <a:pPr algn="ctr">
              <a:lnSpc>
                <a:spcPct val="100000"/>
              </a:lnSpc>
            </a:pPr>
            <a:r>
              <a:rPr lang="pt-BR" sz="32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Kant, 1783</a:t>
            </a:r>
            <a:r>
              <a:rPr lang="pt-BR" sz="24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
</a:t>
            </a:r>
            <a:r>
              <a:rPr lang="pt-BR" sz="2400" b="1" i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
</a:t>
            </a:r>
            <a:endParaRPr/>
          </a:p>
        </p:txBody>
      </p:sp>
      <p:sp>
        <p:nvSpPr>
          <p:cNvPr id="104" name="TextShape 2"/>
          <p:cNvSpPr txBox="1"/>
          <p:nvPr/>
        </p:nvSpPr>
        <p:spPr>
          <a:xfrm>
            <a:off x="457200" y="1214422"/>
            <a:ext cx="7619760" cy="518601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endParaRPr lang="pt-BR" sz="220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endParaRPr lang="pt-BR" sz="2200" b="1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  <a:p>
            <a:pPr marL="343080" indent="-228240">
              <a:lnSpc>
                <a:spcPct val="100000"/>
              </a:lnSpc>
              <a:buClr>
                <a:srgbClr val="4F81BD"/>
              </a:buClr>
            </a:pPr>
            <a:endParaRPr lang="pt-BR" sz="2200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  <a:p>
            <a:pPr marL="343080" indent="-228240">
              <a:lnSpc>
                <a:spcPct val="100000"/>
              </a:lnSpc>
              <a:buClr>
                <a:srgbClr val="4F81BD"/>
              </a:buClr>
            </a:pPr>
            <a:r>
              <a:rPr lang="pt-BR" sz="2200" b="1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Contextualização: </a:t>
            </a:r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endParaRPr lang="pt-BR" sz="220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2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Dificuldade de tradução </a:t>
            </a:r>
            <a:endParaRPr/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2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Contexto histórico da questão – século XVIII – Iluminismo</a:t>
            </a:r>
          </a:p>
          <a:p>
            <a:pPr marL="343080" indent="-228240">
              <a:lnSpc>
                <a:spcPct val="100000"/>
              </a:lnSpc>
              <a:buClr>
                <a:srgbClr val="4F81BD"/>
              </a:buClr>
            </a:pPr>
            <a:r>
              <a:rPr lang="pt-BR" sz="22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  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 marL="114480">
              <a:lnSpc>
                <a:spcPct val="100000"/>
              </a:lnSpc>
            </a:pPr>
            <a:r>
              <a:rPr lang="pt-BR" sz="2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endParaRPr/>
          </a:p>
        </p:txBody>
      </p:sp>
      <p:pic>
        <p:nvPicPr>
          <p:cNvPr id="105" name="Picture 2"/>
          <p:cNvPicPr/>
          <p:nvPr/>
        </p:nvPicPr>
        <p:blipFill>
          <a:blip r:embed="rId3"/>
          <a:stretch/>
        </p:blipFill>
        <p:spPr>
          <a:xfrm>
            <a:off x="467640" y="354600"/>
            <a:ext cx="1295640" cy="237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pt-BR" sz="2800" b="1" i="1" strike="noStrike" spc="-97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Aufklärung</a:t>
            </a:r>
            <a:r>
              <a:rPr lang="pt-BR" sz="2800" b="1" i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– </a:t>
            </a:r>
            <a:r>
              <a:rPr lang="pt-BR" sz="28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Esclarecimento</a:t>
            </a:r>
            <a:br>
              <a:rPr lang="pt-BR" sz="28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</a:br>
            <a:r>
              <a:rPr lang="pt-BR" sz="28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Kant, 1783</a:t>
            </a:r>
            <a:endParaRPr lang="pt-BR" sz="2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457200" y="1857364"/>
            <a:ext cx="7619760" cy="3143272"/>
          </a:xfrm>
        </p:spPr>
        <p:txBody>
          <a:bodyPr/>
          <a:lstStyle/>
          <a:p>
            <a:r>
              <a:rPr lang="pt-BR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Crítica:</a:t>
            </a:r>
          </a:p>
          <a:p>
            <a:endParaRPr lang="pt-BR"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3080" indent="-228240" algn="just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0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 pitchFamily="18" charset="0"/>
                <a:cs typeface="Times New Roman" pitchFamily="18" charset="0"/>
              </a:rPr>
              <a:t>Pressuposto kantiano: LIBERDADE: </a:t>
            </a:r>
          </a:p>
          <a:p>
            <a:pPr marL="343080" indent="-228240" algn="just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0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 pitchFamily="18" charset="0"/>
                <a:cs typeface="Times New Roman" pitchFamily="18" charset="0"/>
              </a:rPr>
              <a:t>é o estado próprio da natureza humana – geral;</a:t>
            </a:r>
          </a:p>
          <a:p>
            <a:pPr marL="343080" indent="-228240" algn="just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0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 pitchFamily="18" charset="0"/>
                <a:cs typeface="Times New Roman" pitchFamily="18" charset="0"/>
              </a:rPr>
              <a:t>é a condição para a autonomia – particular; </a:t>
            </a:r>
          </a:p>
          <a:p>
            <a:pPr marL="343080" indent="-228240" algn="just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0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 pitchFamily="18" charset="0"/>
                <a:cs typeface="Times New Roman" pitchFamily="18" charset="0"/>
              </a:rPr>
              <a:t>é a condição de pensar ainda que nos seja retirada a liberdade de nos comunicar publicamente (coação civil)</a:t>
            </a:r>
          </a:p>
          <a:p>
            <a:pPr marL="343080" indent="-228240" algn="just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0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 pitchFamily="18" charset="0"/>
                <a:cs typeface="Times New Roman" pitchFamily="18" charset="0"/>
              </a:rPr>
              <a:t>coação moral – presença dos tutores, os </a:t>
            </a:r>
            <a:r>
              <a:rPr lang="pt-BR" sz="20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 pitchFamily="18" charset="0"/>
                <a:cs typeface="Times New Roman" pitchFamily="18" charset="0"/>
              </a:rPr>
              <a:t>guardiões</a:t>
            </a:r>
            <a:r>
              <a:rPr lang="pt-BR" sz="20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 pitchFamily="18" charset="0"/>
                <a:cs typeface="Times New Roman" pitchFamily="18" charset="0"/>
              </a:rPr>
              <a:t> dos</a:t>
            </a:r>
            <a:r>
              <a:rPr lang="pt-BR" sz="20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 pitchFamily="18" charset="0"/>
                <a:cs typeface="Times New Roman" pitchFamily="18" charset="0"/>
              </a:rPr>
              <a:t> domínios da ciência, religião e estado </a:t>
            </a:r>
          </a:p>
          <a:p>
            <a:pPr marL="343080" indent="-228240" algn="just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0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 pitchFamily="18" charset="0"/>
                <a:cs typeface="Times New Roman" pitchFamily="18" charset="0"/>
              </a:rPr>
              <a:t>pode-se adiar, mas não renunciar ao processo de esclarecimento.  </a:t>
            </a:r>
          </a:p>
          <a:p>
            <a:pPr marL="343080" indent="-228240">
              <a:buClr>
                <a:srgbClr val="4F81BD"/>
              </a:buClr>
              <a:buFont typeface="Arial"/>
              <a:buChar char="•"/>
            </a:pPr>
            <a:endParaRPr lang="pt-BR" sz="200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Times New Roman" pitchFamily="18" charset="0"/>
              <a:cs typeface="Times New Roman" pitchFamily="18" charset="0"/>
            </a:endParaRPr>
          </a:p>
          <a:p>
            <a:r>
              <a:rPr lang="pt-BR" dirty="0"/>
              <a:t> </a:t>
            </a:r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00000"/>
              </a:lnSpc>
            </a:pPr>
            <a:r>
              <a:rPr lang="pt-BR" sz="2800" b="1" i="1" strike="noStrike" spc="-97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Aufklärung</a:t>
            </a:r>
            <a:r>
              <a:rPr lang="pt-BR" sz="2800" b="1" i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– </a:t>
            </a:r>
            <a:r>
              <a:rPr lang="pt-BR" sz="28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Esclarecimento</a:t>
            </a:r>
            <a:br>
              <a:rPr lang="pt-BR" sz="28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</a:br>
            <a:r>
              <a:rPr lang="pt-BR" sz="28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Kant, 1783</a:t>
            </a:r>
            <a:endParaRPr lang="pt-BR" sz="2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457200" y="1857364"/>
            <a:ext cx="7619760" cy="3143272"/>
          </a:xfrm>
        </p:spPr>
        <p:txBody>
          <a:bodyPr/>
          <a:lstStyle/>
          <a:p>
            <a:r>
              <a:rPr lang="pt-BR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Crítica:</a:t>
            </a:r>
          </a:p>
          <a:p>
            <a:endParaRPr lang="pt-BR"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3080" indent="-228240">
              <a:buClr>
                <a:srgbClr val="4F81BD"/>
              </a:buClr>
              <a:buFont typeface="Arial"/>
              <a:buChar char="•"/>
            </a:pPr>
            <a:r>
              <a:rPr lang="pt-BR" sz="20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 pitchFamily="18" charset="0"/>
                <a:cs typeface="Times New Roman" pitchFamily="18" charset="0"/>
              </a:rPr>
              <a:t>PEDAGOGIA, educação </a:t>
            </a:r>
          </a:p>
          <a:p>
            <a:pPr marL="343080" indent="-228240">
              <a:buClr>
                <a:srgbClr val="4F81BD"/>
              </a:buClr>
              <a:buFont typeface="Arial"/>
              <a:buChar char="•"/>
            </a:pPr>
            <a:r>
              <a:rPr lang="pt-BR" sz="20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 pitchFamily="18" charset="0"/>
                <a:cs typeface="Times New Roman" pitchFamily="18" charset="0"/>
              </a:rPr>
              <a:t>Passagem da menoridade (covardia e preguiça) para a maioridade (pensar por si, coragem – esclarecimento). Dificuldades, naturalização, comodidade, </a:t>
            </a:r>
            <a:r>
              <a:rPr lang="pt-BR" sz="20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pt-BR" sz="20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 pitchFamily="18" charset="0"/>
                <a:cs typeface="Times New Roman" pitchFamily="18" charset="0"/>
              </a:rPr>
              <a:t>latão.  </a:t>
            </a:r>
          </a:p>
          <a:p>
            <a:pPr marL="343080" indent="-228240" algn="just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0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Progresso: história da liberdade humana, </a:t>
            </a:r>
            <a:r>
              <a:rPr lang="pt-BR" sz="2000" spc="-1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consequência</a:t>
            </a:r>
            <a:r>
              <a:rPr lang="pt-BR" sz="20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direta do esclarecimento pessoal e coletivo que culmina no princípio de responsabilidade pessoal e coletivo </a:t>
            </a:r>
          </a:p>
          <a:p>
            <a:pPr marL="343080" indent="-228240" algn="just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0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Progresso técnico (científico) não é progresso moral (evolução da civilização rumo –finalidade – para o melhor)  </a:t>
            </a:r>
          </a:p>
          <a:p>
            <a:pPr marL="343080" indent="-228240" algn="just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0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PROGRESSO= CIÊNCIA E MORAL </a:t>
            </a:r>
            <a:endParaRPr lang="pt-BR" sz="2000" dirty="0">
              <a:solidFill>
                <a:srgbClr val="FF0000"/>
              </a:solidFill>
            </a:endParaRPr>
          </a:p>
          <a:p>
            <a:pPr marL="343080" indent="-228240">
              <a:buClr>
                <a:srgbClr val="4F81BD"/>
              </a:buClr>
            </a:pPr>
            <a:r>
              <a:rPr lang="pt-BR" sz="2000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3080" indent="-228240">
              <a:buClr>
                <a:srgbClr val="4F81BD"/>
              </a:buClr>
              <a:buFont typeface="Arial"/>
              <a:buChar char="•"/>
            </a:pPr>
            <a:endParaRPr lang="pt-BR" sz="2000" strike="noStrike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Times New Roman" pitchFamily="18" charset="0"/>
              <a:cs typeface="Times New Roman" pitchFamily="18" charset="0"/>
            </a:endParaRPr>
          </a:p>
          <a:p>
            <a:r>
              <a:rPr lang="pt-BR" dirty="0"/>
              <a:t> </a:t>
            </a:r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000" b="1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PROGRESSO TÉCNICO NÃO É PROGRESSO MORAL- Kant </a:t>
            </a:r>
            <a:endParaRPr lang="pt-BR" sz="20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552893" y="1700808"/>
            <a:ext cx="7619760" cy="3600400"/>
          </a:xfrm>
        </p:spPr>
        <p:txBody>
          <a:bodyPr/>
          <a:lstStyle/>
          <a:p>
            <a:pPr algn="ctr"/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“ELES VIGIAM O SEU </a:t>
            </a:r>
            <a:r>
              <a:rPr lang="pt-BR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FACEBOOK”</a:t>
            </a:r>
          </a:p>
          <a:p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“VEJA visitou um dos </a:t>
            </a:r>
            <a:r>
              <a:rPr lang="pt-BR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QGs</a:t>
            </a:r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do gigante das redes socais onde um exército de funcionários trabalha para frear posts que incitam o ódio e a violência - </a:t>
            </a:r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 possam arruinar sua reputação</a:t>
            </a:r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”. (Filipe </a:t>
            </a:r>
            <a:r>
              <a:rPr lang="pt-BR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Vilicic</a:t>
            </a:r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-Barcelona. VEJA-Editora Abril, edição 2638, ano 52, nº24, 12 de junho de 2019) </a:t>
            </a:r>
          </a:p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“SEMPRE DÁ PARA VIGIAR MAIS” </a:t>
            </a:r>
          </a:p>
          <a:p>
            <a:pPr algn="ctr"/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Na Arábia Saudita, onde as mulheres não têm autonomia, um aplicativo avisa a pais e maridos quando elas vão viajar, cortando uma de suas raras chances de fuga </a:t>
            </a:r>
          </a:p>
          <a:p>
            <a:pPr algn="just"/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(Thais Navarro. VEJA. Editora Abril, edição 2638, ano 52, nº25, 19 de junho de 2019) </a:t>
            </a:r>
          </a:p>
          <a:p>
            <a:pPr algn="just"/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PROGRESSO TÉCNICO NÃO É PROGRESSO MORAL- Kant 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7619760" cy="3971940"/>
          </a:xfrm>
        </p:spPr>
        <p:txBody>
          <a:bodyPr/>
          <a:lstStyle/>
          <a:p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Para pensarmos: </a:t>
            </a:r>
          </a:p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É possível manter a distinção conceitual kantiana sobre a noção de progresso no século XXI?</a:t>
            </a:r>
          </a:p>
          <a:p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As tecnologias desenvolvem dispositivos técnicos (progresso técnico) sem definir e limitar seus usos. Como </a:t>
            </a:r>
            <a:r>
              <a:rPr lang="pt-BR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consequência</a:t>
            </a:r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da destituição </a:t>
            </a:r>
            <a:r>
              <a:rPr lang="pt-BR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finalística</a:t>
            </a:r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e ausência do critério  ético/moral (</a:t>
            </a:r>
            <a:r>
              <a:rPr lang="pt-BR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progresso moral)</a:t>
            </a:r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é obrigada a desenvolver outros dispositivos técnicos para corrigir e auto corrigir seus usos.   </a:t>
            </a:r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4400" b="1" dirty="0">
                <a:solidFill>
                  <a:srgbClr val="0070C0"/>
                </a:solidFill>
              </a:rPr>
              <a:t> ?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457200" y="1714488"/>
            <a:ext cx="7619760" cy="3000396"/>
          </a:xfrm>
        </p:spPr>
        <p:txBody>
          <a:bodyPr/>
          <a:lstStyle/>
          <a:p>
            <a:pPr algn="just"/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As tecnologias estão corrigindo nossas imperfeições e desvios?</a:t>
            </a:r>
            <a:r>
              <a:rPr lang="pt-BR" dirty="0"/>
              <a:t> </a:t>
            </a:r>
          </a:p>
          <a:p>
            <a:pPr algn="just"/>
            <a:endParaRPr lang="pt-BR" dirty="0"/>
          </a:p>
          <a:p>
            <a:pPr algn="just"/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Estamos abrindo mão da nossa condição humana?</a:t>
            </a:r>
          </a:p>
          <a:p>
            <a:pPr algn="just"/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É mais rápido e seguro permitir que uma IA decida por nós? Ex: </a:t>
            </a:r>
            <a:r>
              <a:rPr lang="pt-BR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app</a:t>
            </a:r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de relacionamentos, bancos, educação ...  </a:t>
            </a:r>
          </a:p>
          <a:p>
            <a:pPr algn="just"/>
            <a:endParaRPr lang="pt-BR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 uso recorrente das tecnologias tendem mais para o controle ou para o esclarecimento? </a:t>
            </a:r>
          </a:p>
          <a:p>
            <a:endParaRPr lang="pt-BR" dirty="0"/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252720"/>
            <a:ext cx="1569600" cy="287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457200" y="274680"/>
            <a:ext cx="761976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pt-BR" sz="2800" b="1" strike="noStrike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
Q</a:t>
            </a:r>
            <a:r>
              <a:rPr lang="pt-BR" sz="2800" b="1" spc="-97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uestões sobre a atualidade </a:t>
            </a:r>
            <a:endParaRPr/>
          </a:p>
        </p:txBody>
      </p:sp>
      <p:sp>
        <p:nvSpPr>
          <p:cNvPr id="107" name="TextShape 2"/>
          <p:cNvSpPr txBox="1"/>
          <p:nvPr/>
        </p:nvSpPr>
        <p:spPr>
          <a:xfrm>
            <a:off x="457200" y="1600200"/>
            <a:ext cx="7619760" cy="48002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2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Há um estado de tutela tecnológica sobre a sociedade e a educação? </a:t>
            </a:r>
            <a:endParaRPr/>
          </a:p>
          <a:p>
            <a:pPr marL="114480">
              <a:lnSpc>
                <a:spcPct val="100000"/>
              </a:lnSpc>
            </a:pPr>
            <a:r>
              <a:rPr lang="pt-BR" sz="22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  <a:endParaRPr/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2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Qual o projeto filosófico-político nacional para a educação?</a:t>
            </a:r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endParaRPr lang="pt-BR" sz="2200" spc="-1" dirty="0">
              <a:solidFill>
                <a:srgbClr val="0070C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  <a:p>
            <a:pPr marL="343080" indent="-228240">
              <a:lnSpc>
                <a:spcPct val="100000"/>
              </a:lnSpc>
              <a:buClr>
                <a:srgbClr val="4F81BD"/>
              </a:buClr>
              <a:buFont typeface="Arial"/>
              <a:buChar char="•"/>
            </a:pPr>
            <a:r>
              <a:rPr lang="pt-BR" sz="220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É possível uma sociedade atual esclarecida?  Quais seriam as condições?</a:t>
            </a:r>
            <a:endParaRPr/>
          </a:p>
        </p:txBody>
      </p:sp>
      <p:pic>
        <p:nvPicPr>
          <p:cNvPr id="108" name="Picture 2"/>
          <p:cNvPicPr/>
          <p:nvPr/>
        </p:nvPicPr>
        <p:blipFill>
          <a:blip r:embed="rId2"/>
          <a:stretch/>
        </p:blipFill>
        <p:spPr>
          <a:xfrm>
            <a:off x="467640" y="354600"/>
            <a:ext cx="1295640" cy="237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Condições para um possível esclarecimento atual </a:t>
            </a:r>
            <a:endParaRPr lang="pt-BR" sz="24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7619760" cy="3971940"/>
          </a:xfrm>
        </p:spPr>
        <p:txBody>
          <a:bodyPr/>
          <a:lstStyle/>
          <a:p>
            <a:pPr algn="just"/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1-Reforma do pensamento - Edgar </a:t>
            </a:r>
            <a:r>
              <a:rPr lang="pt-BR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Morin</a:t>
            </a:r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- compreensão sistêmica sobre os fenômenos naturais, científicos  e sociais. Conhecimento pertinente </a:t>
            </a:r>
          </a:p>
          <a:p>
            <a:pPr algn="just"/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2-Retomada das virtudes aristotélicas – </a:t>
            </a:r>
            <a:r>
              <a:rPr lang="pt-BR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Sponville</a:t>
            </a:r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; progresso moral </a:t>
            </a:r>
          </a:p>
          <a:p>
            <a:pPr algn="just"/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3-Princípio responsabilidade - Hans Jonas – compreensão sobre as escolhas individuais e coletivas ; futuro das gerações, garantia de continuidade da humanidade   </a:t>
            </a:r>
          </a:p>
          <a:p>
            <a: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pt-BR" dirty="0"/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354600"/>
            <a:ext cx="1295640" cy="237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Obrigada! </a:t>
            </a:r>
            <a:br>
              <a:rPr lang="pt-B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7619760" cy="3043246"/>
          </a:xfrm>
        </p:spPr>
        <p:txBody>
          <a:bodyPr/>
          <a:lstStyle/>
          <a:p>
            <a:pPr algn="ctr"/>
            <a:endParaRPr lang="pt-B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pt-BR" sz="3200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Geo</a:t>
            </a:r>
            <a:r>
              <a:rPr lang="pt-BR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pt-BR" dirty="0"/>
          </a:p>
        </p:txBody>
      </p:sp>
      <p:pic>
        <p:nvPicPr>
          <p:cNvPr id="4" name="Picture 2"/>
          <p:cNvPicPr/>
          <p:nvPr/>
        </p:nvPicPr>
        <p:blipFill>
          <a:blip r:embed="rId2"/>
          <a:stretch/>
        </p:blipFill>
        <p:spPr>
          <a:xfrm>
            <a:off x="467640" y="354600"/>
            <a:ext cx="1295640" cy="237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1872</TotalTime>
  <Words>661</Words>
  <Application>Microsoft Office PowerPoint</Application>
  <PresentationFormat>Apresentação na tela (4:3)</PresentationFormat>
  <Paragraphs>129</Paragraphs>
  <Slides>13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Cambria</vt:lpstr>
      <vt:lpstr>Symbol</vt:lpstr>
      <vt:lpstr>Times New Roman</vt:lpstr>
      <vt:lpstr>Wingdings</vt:lpstr>
      <vt:lpstr>Tema do Office</vt:lpstr>
      <vt:lpstr>Office Theme</vt:lpstr>
      <vt:lpstr>Apresentação do PowerPoint</vt:lpstr>
      <vt:lpstr>Mundo contemporâneo </vt:lpstr>
      <vt:lpstr>Apresentação do PowerPoint</vt:lpstr>
      <vt:lpstr>Apresentação do PowerPoint</vt:lpstr>
      <vt:lpstr>Apresentação do PowerPoint</vt:lpstr>
      <vt:lpstr>Aufklärung – Esclarecimento  Kant, 1783</vt:lpstr>
      <vt:lpstr>Aufklärung – Esclarecimento  Kant, 1783</vt:lpstr>
      <vt:lpstr>PROGRESSO TÉCNICO NÃO É PROGRESSO MORAL- Kant </vt:lpstr>
      <vt:lpstr>PROGRESSO TÉCNICO NÃO É PROGRESSO MORAL- Kant </vt:lpstr>
      <vt:lpstr> ?</vt:lpstr>
      <vt:lpstr>Apresentação do PowerPoint</vt:lpstr>
      <vt:lpstr>Condições para um possível esclarecimento atual </vt:lpstr>
      <vt:lpstr>Obrigada!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Geovânia Carvalho Linha de Pesquisa: Tecnologias e Humanidade</dc:title>
  <dc:creator>pc</dc:creator>
  <cp:lastModifiedBy>Henrique Nou Schneider</cp:lastModifiedBy>
  <cp:revision>168</cp:revision>
  <dcterms:created xsi:type="dcterms:W3CDTF">2016-07-27T14:04:39Z</dcterms:created>
  <dcterms:modified xsi:type="dcterms:W3CDTF">2019-06-26T14:11:00Z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3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17</vt:i4>
  </property>
</Properties>
</file>
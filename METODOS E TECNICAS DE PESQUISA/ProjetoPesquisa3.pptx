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94" r:id="rId3"/>
    <p:sldId id="257" r:id="rId4"/>
    <p:sldId id="258" r:id="rId5"/>
    <p:sldId id="268" r:id="rId6"/>
    <p:sldId id="269" r:id="rId7"/>
    <p:sldId id="270" r:id="rId8"/>
    <p:sldId id="271" r:id="rId9"/>
    <p:sldId id="272" r:id="rId10"/>
    <p:sldId id="259" r:id="rId11"/>
    <p:sldId id="273" r:id="rId12"/>
    <p:sldId id="274" r:id="rId13"/>
    <p:sldId id="276" r:id="rId14"/>
    <p:sldId id="275" r:id="rId15"/>
    <p:sldId id="260" r:id="rId16"/>
    <p:sldId id="292" r:id="rId17"/>
    <p:sldId id="261" r:id="rId18"/>
    <p:sldId id="277" r:id="rId19"/>
    <p:sldId id="279" r:id="rId20"/>
    <p:sldId id="280" r:id="rId21"/>
    <p:sldId id="281" r:id="rId22"/>
    <p:sldId id="282" r:id="rId23"/>
    <p:sldId id="283" r:id="rId24"/>
    <p:sldId id="284" r:id="rId25"/>
    <p:sldId id="262" r:id="rId26"/>
    <p:sldId id="285" r:id="rId27"/>
    <p:sldId id="286" r:id="rId28"/>
    <p:sldId id="263" r:id="rId29"/>
    <p:sldId id="288" r:id="rId30"/>
    <p:sldId id="289" r:id="rId31"/>
    <p:sldId id="264" r:id="rId32"/>
    <p:sldId id="290" r:id="rId33"/>
    <p:sldId id="265" r:id="rId34"/>
    <p:sldId id="293" r:id="rId35"/>
    <p:sldId id="266" r:id="rId36"/>
    <p:sldId id="287" r:id="rId37"/>
    <p:sldId id="267" r:id="rId38"/>
    <p:sldId id="291" r:id="rId3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-232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printerSettings" Target="printerSettings/printerSettings1.bin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22" name="Subtítulo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E700DB3-DBF0-4086-B675-117E7A9610B8}" type="datetimeFigureOut">
              <a:rPr lang="pt-BR" smtClean="0"/>
              <a:pPr/>
              <a:t>3/19/13</a:t>
            </a:fld>
            <a:endParaRPr lang="pt-BR"/>
          </a:p>
        </p:txBody>
      </p:sp>
      <p:sp>
        <p:nvSpPr>
          <p:cNvPr id="20" name="Espaço Reservado para Rodapé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Elipse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E700DB3-DBF0-4086-B675-117E7A9610B8}" type="datetimeFigureOut">
              <a:rPr lang="pt-BR" smtClean="0"/>
              <a:pPr/>
              <a:t>3/19/13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E700DB3-DBF0-4086-B675-117E7A9610B8}" type="datetimeFigureOut">
              <a:rPr lang="pt-BR" smtClean="0"/>
              <a:pPr/>
              <a:t>3/19/13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10" name="Retângulo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Elipse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Elipse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E700DB3-DBF0-4086-B675-117E7A9610B8}" type="datetimeFigureOut">
              <a:rPr lang="pt-BR" smtClean="0"/>
              <a:pPr/>
              <a:t>3/19/13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E700DB3-DBF0-4086-B675-117E7A9610B8}" type="datetimeFigureOut">
              <a:rPr lang="pt-BR" smtClean="0"/>
              <a:pPr/>
              <a:t>3/19/13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E700DB3-DBF0-4086-B675-117E7A9610B8}" type="datetimeFigureOut">
              <a:rPr lang="pt-BR" smtClean="0"/>
              <a:pPr/>
              <a:t>3/19/13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E700DB3-DBF0-4086-B675-117E7A9610B8}" type="datetimeFigureOut">
              <a:rPr lang="pt-BR" smtClean="0"/>
              <a:pPr/>
              <a:t>3/19/13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Retângulo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E700DB3-DBF0-4086-B675-117E7A9610B8}" type="datetimeFigureOut">
              <a:rPr lang="pt-BR" smtClean="0"/>
              <a:pPr/>
              <a:t>3/19/13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E700DB3-DBF0-4086-B675-117E7A9610B8}" type="datetimeFigureOut">
              <a:rPr lang="pt-BR" smtClean="0"/>
              <a:pPr/>
              <a:t>3/19/13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9" name="Fluxograma: Processo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uxograma: Processo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E700DB3-DBF0-4086-B675-117E7A9610B8}" type="datetimeFigureOut">
              <a:rPr lang="pt-BR" smtClean="0"/>
              <a:pPr/>
              <a:t>3/19/13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E700DB3-DBF0-4086-B675-117E7A9610B8}" type="datetimeFigureOut">
              <a:rPr lang="pt-BR" smtClean="0"/>
              <a:pPr/>
              <a:t>3/19/13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zza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Elipse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sca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Espaço Reservado para Título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24" name="Espaço Reservado para Data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2E700DB3-DBF0-4086-B675-117E7A9610B8}" type="datetimeFigureOut">
              <a:rPr lang="pt-BR" smtClean="0"/>
              <a:pPr/>
              <a:t>3/19/13</a:t>
            </a:fld>
            <a:endParaRPr lang="pt-BR"/>
          </a:p>
        </p:txBody>
      </p:sp>
      <p:sp>
        <p:nvSpPr>
          <p:cNvPr id="10" name="Espaço Reservado para Rodapé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pt-BR"/>
          </a:p>
        </p:txBody>
      </p:sp>
      <p:sp>
        <p:nvSpPr>
          <p:cNvPr id="22" name="Espaço Reservado para Número de Slide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15" name="Retângulo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e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e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e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eg"/><Relationship Id="rId3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Projeto de Pesquisa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Prof. Raul Sidnei Wazlawick</a:t>
            </a:r>
          </a:p>
          <a:p>
            <a:r>
              <a:rPr lang="pt-BR" dirty="0" smtClean="0"/>
              <a:t>UFSC-CTC-INE</a:t>
            </a:r>
          </a:p>
          <a:p>
            <a:r>
              <a:rPr lang="pt-BR" dirty="0" smtClean="0"/>
              <a:t>2012</a:t>
            </a: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é</a:t>
            </a:r>
            <a:r>
              <a:rPr lang="en-US" dirty="0" smtClean="0"/>
              <a:t> </a:t>
            </a:r>
            <a:r>
              <a:rPr lang="en-US" dirty="0" err="1" smtClean="0"/>
              <a:t>importante</a:t>
            </a:r>
            <a:r>
              <a:rPr lang="en-US" dirty="0" smtClean="0"/>
              <a:t> saber </a:t>
            </a:r>
            <a:r>
              <a:rPr lang="en-US" dirty="0" err="1" smtClean="0"/>
              <a:t>elaborar</a:t>
            </a:r>
            <a:r>
              <a:rPr lang="en-US" dirty="0" smtClean="0"/>
              <a:t> um </a:t>
            </a:r>
            <a:r>
              <a:rPr lang="en-US" dirty="0" err="1" smtClean="0"/>
              <a:t>projeto</a:t>
            </a:r>
            <a:r>
              <a:rPr lang="en-US" dirty="0" smtClean="0"/>
              <a:t> de </a:t>
            </a:r>
            <a:r>
              <a:rPr lang="en-US" dirty="0" err="1" smtClean="0"/>
              <a:t>pesquisa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Plano de </a:t>
            </a:r>
            <a:r>
              <a:rPr lang="en-US" dirty="0" err="1" smtClean="0"/>
              <a:t>mestrado</a:t>
            </a:r>
            <a:endParaRPr lang="en-US" dirty="0" smtClean="0"/>
          </a:p>
          <a:p>
            <a:r>
              <a:rPr lang="en-US" dirty="0" smtClean="0"/>
              <a:t>Plano de </a:t>
            </a:r>
            <a:r>
              <a:rPr lang="en-US" dirty="0" err="1" smtClean="0"/>
              <a:t>doutorado</a:t>
            </a:r>
            <a:endParaRPr lang="en-US" dirty="0" smtClean="0"/>
          </a:p>
          <a:p>
            <a:r>
              <a:rPr lang="en-US" dirty="0" err="1" smtClean="0"/>
              <a:t>Obter</a:t>
            </a:r>
            <a:r>
              <a:rPr lang="en-US" dirty="0" smtClean="0"/>
              <a:t> </a:t>
            </a:r>
            <a:r>
              <a:rPr lang="en-US" dirty="0" err="1" smtClean="0"/>
              <a:t>recursos</a:t>
            </a:r>
            <a:r>
              <a:rPr lang="en-US" dirty="0" smtClean="0"/>
              <a:t> </a:t>
            </a:r>
            <a:r>
              <a:rPr lang="en-US" dirty="0" err="1" smtClean="0"/>
              <a:t>financeiros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pesquisa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extens</a:t>
            </a:r>
            <a:r>
              <a:rPr lang="en-US" dirty="0" err="1" smtClean="0"/>
              <a:t>ão</a:t>
            </a:r>
            <a:endParaRPr lang="en-US" dirty="0" smtClean="0"/>
          </a:p>
          <a:p>
            <a:r>
              <a:rPr lang="en-US" dirty="0" err="1" smtClean="0"/>
              <a:t>Obter</a:t>
            </a:r>
            <a:r>
              <a:rPr lang="en-US" dirty="0" smtClean="0"/>
              <a:t> </a:t>
            </a:r>
            <a:r>
              <a:rPr lang="en-US" dirty="0" err="1" smtClean="0"/>
              <a:t>recursos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a </a:t>
            </a:r>
            <a:r>
              <a:rPr lang="en-US" dirty="0" err="1" smtClean="0"/>
              <a:t>empresa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177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314016" cy="1143000"/>
          </a:xfrm>
        </p:spPr>
        <p:txBody>
          <a:bodyPr/>
          <a:lstStyle/>
          <a:p>
            <a:r>
              <a:rPr lang="pt-BR" dirty="0" smtClean="0"/>
              <a:t>Projeto de Pesquisa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pt-BR" dirty="0" smtClean="0"/>
              <a:t>Tema</a:t>
            </a:r>
          </a:p>
          <a:p>
            <a:pPr lvl="0"/>
            <a:r>
              <a:rPr lang="pt-BR" dirty="0" smtClean="0"/>
              <a:t>Problema </a:t>
            </a:r>
          </a:p>
          <a:p>
            <a:pPr lvl="0"/>
            <a:r>
              <a:rPr lang="pt-BR" dirty="0" smtClean="0"/>
              <a:t>Trabalhos Correlatos</a:t>
            </a:r>
          </a:p>
          <a:p>
            <a:pPr lvl="0"/>
            <a:r>
              <a:rPr lang="pt-BR" dirty="0" smtClean="0"/>
              <a:t>Objetivo</a:t>
            </a:r>
          </a:p>
          <a:p>
            <a:pPr lvl="0"/>
            <a:r>
              <a:rPr lang="pt-BR" dirty="0" smtClean="0"/>
              <a:t>Objetivos Específicos</a:t>
            </a:r>
          </a:p>
          <a:p>
            <a:pPr lvl="0"/>
            <a:r>
              <a:rPr lang="pt-BR" dirty="0" smtClean="0"/>
              <a:t>Hipótese</a:t>
            </a:r>
          </a:p>
          <a:p>
            <a:pPr lvl="0"/>
            <a:r>
              <a:rPr lang="pt-BR" dirty="0" smtClean="0"/>
              <a:t>Justificativa da Hipótese</a:t>
            </a:r>
          </a:p>
          <a:p>
            <a:pPr lvl="0"/>
            <a:r>
              <a:rPr lang="pt-BR" dirty="0" smtClean="0"/>
              <a:t>Método</a:t>
            </a:r>
          </a:p>
          <a:p>
            <a:pPr lvl="0"/>
            <a:r>
              <a:rPr lang="pt-BR" dirty="0" smtClean="0"/>
              <a:t>Resultados Esperados</a:t>
            </a:r>
          </a:p>
          <a:p>
            <a:pPr lvl="0"/>
            <a:r>
              <a:rPr lang="pt-BR" dirty="0" smtClean="0"/>
              <a:t>Limitações</a:t>
            </a:r>
          </a:p>
        </p:txBody>
      </p:sp>
      <p:pic>
        <p:nvPicPr>
          <p:cNvPr id="34818" name="Picture 2" descr="https://encrypted-tbn2.google.com/images?q=tbn:ANd9GcTRAxDlzRILKWXx11eXrkmb6UaxX1qvEnfx2-xlDKBkoT4rR8Zta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7384"/>
            <a:ext cx="1634283" cy="122413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314016" cy="1143000"/>
          </a:xfrm>
        </p:spPr>
        <p:txBody>
          <a:bodyPr/>
          <a:lstStyle/>
          <a:p>
            <a:r>
              <a:rPr lang="pt-BR" dirty="0" smtClean="0"/>
              <a:t>Projeto de Pesquisa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pt-BR" dirty="0" smtClean="0"/>
              <a:t>Tema</a:t>
            </a:r>
          </a:p>
          <a:p>
            <a:pPr lvl="0"/>
            <a:r>
              <a:rPr lang="pt-BR" dirty="0" smtClean="0"/>
              <a:t>Problema </a:t>
            </a:r>
          </a:p>
          <a:p>
            <a:pPr lvl="0"/>
            <a:r>
              <a:rPr lang="pt-BR" dirty="0" smtClean="0"/>
              <a:t>Trabalhos Correlatos</a:t>
            </a:r>
          </a:p>
          <a:p>
            <a:pPr lvl="0"/>
            <a:r>
              <a:rPr lang="pt-BR" dirty="0" smtClean="0"/>
              <a:t>Objetivo</a:t>
            </a:r>
          </a:p>
          <a:p>
            <a:pPr lvl="0"/>
            <a:r>
              <a:rPr lang="pt-BR" dirty="0" smtClean="0"/>
              <a:t>Objetivos Específicos</a:t>
            </a:r>
          </a:p>
          <a:p>
            <a:pPr lvl="0"/>
            <a:r>
              <a:rPr lang="pt-BR" dirty="0" smtClean="0"/>
              <a:t>Hipótese</a:t>
            </a:r>
          </a:p>
          <a:p>
            <a:pPr lvl="0"/>
            <a:r>
              <a:rPr lang="pt-BR" dirty="0" smtClean="0"/>
              <a:t>Justificativa da Hipótese</a:t>
            </a:r>
          </a:p>
          <a:p>
            <a:pPr lvl="0"/>
            <a:r>
              <a:rPr lang="pt-BR" dirty="0" smtClean="0"/>
              <a:t>Método</a:t>
            </a:r>
          </a:p>
          <a:p>
            <a:pPr lvl="0"/>
            <a:r>
              <a:rPr lang="pt-BR" dirty="0" smtClean="0"/>
              <a:t>Resultados Esperados</a:t>
            </a:r>
          </a:p>
          <a:p>
            <a:pPr lvl="0"/>
            <a:r>
              <a:rPr lang="pt-BR" dirty="0" smtClean="0"/>
              <a:t>Limitações</a:t>
            </a:r>
          </a:p>
        </p:txBody>
      </p:sp>
      <p:pic>
        <p:nvPicPr>
          <p:cNvPr id="34818" name="Picture 2" descr="https://encrypted-tbn2.google.com/images?q=tbn:ANd9GcTRAxDlzRILKWXx11eXrkmb6UaxX1qvEnfx2-xlDKBkoT4rR8Zta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7384"/>
            <a:ext cx="1634283" cy="1224136"/>
          </a:xfrm>
          <a:prstGeom prst="rect">
            <a:avLst/>
          </a:prstGeom>
          <a:noFill/>
        </p:spPr>
      </p:pic>
      <p:sp>
        <p:nvSpPr>
          <p:cNvPr id="5" name="Retângulo 4"/>
          <p:cNvSpPr/>
          <p:nvPr/>
        </p:nvSpPr>
        <p:spPr>
          <a:xfrm>
            <a:off x="1403648" y="1443219"/>
            <a:ext cx="4608512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ítulo 1"/>
          <p:cNvSpPr>
            <a:spLocks noGrp="1"/>
          </p:cNvSpPr>
          <p:nvPr>
            <p:ph type="title"/>
          </p:nvPr>
        </p:nvSpPr>
        <p:spPr bwMode="auto">
          <a:xfrm>
            <a:off x="1475656" y="548680"/>
            <a:ext cx="7211144" cy="86895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pt-BR" dirty="0" smtClean="0"/>
              <a:t>Tema e Problema</a:t>
            </a:r>
          </a:p>
        </p:txBody>
      </p:sp>
      <p:sp>
        <p:nvSpPr>
          <p:cNvPr id="27651" name="Espaço Reservado para Conteúdo 2"/>
          <p:cNvSpPr>
            <a:spLocks noGrp="1"/>
          </p:cNvSpPr>
          <p:nvPr>
            <p:ph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dirty="0" smtClean="0"/>
              <a:t>Todo trabalho de pesquisa procura resolver um PROBLEMA.</a:t>
            </a:r>
          </a:p>
          <a:p>
            <a:r>
              <a:rPr lang="pt-BR" dirty="0" smtClean="0"/>
              <a:t>Um problema se coloca sempre dentro de um TEMA.</a:t>
            </a:r>
          </a:p>
        </p:txBody>
      </p:sp>
      <p:pic>
        <p:nvPicPr>
          <p:cNvPr id="33794" name="Picture 2" descr="https://encrypted-tbn2.google.com/images?q=tbn:ANd9GcTC43Vkg7AAuXVAus5LmUPfXH1P9er-KdtKcexDFANOBDNjQGiW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8144" y="3284983"/>
            <a:ext cx="2644130" cy="325934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03648" y="928688"/>
            <a:ext cx="7283152" cy="48895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pt-BR" smtClean="0"/>
              <a:t>Tema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03648" y="1928813"/>
            <a:ext cx="7283152" cy="419735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pt-BR" sz="2800" dirty="0" smtClean="0"/>
              <a:t>O tema da pesquisa frequentemente depende do interesse do aluno e do orientador. </a:t>
            </a:r>
          </a:p>
          <a:p>
            <a:pPr eaLnBrk="1" hangingPunct="1"/>
            <a:r>
              <a:rPr lang="pt-BR" sz="2800" dirty="0" smtClean="0"/>
              <a:t>Não se recomenda em hipótese alguma uma pesquisa cujo tema não seja compatível com os conhecimentos do orientador. </a:t>
            </a:r>
          </a:p>
          <a:p>
            <a:pPr eaLnBrk="1" hangingPunct="1"/>
            <a:r>
              <a:rPr lang="pt-BR" sz="2800" dirty="0" smtClean="0"/>
              <a:t>No caso do aluno recomenda-se que ao passar de um nível de formação a outro não mude drasticamente de tema.</a:t>
            </a:r>
          </a:p>
        </p:txBody>
      </p:sp>
      <p:pic>
        <p:nvPicPr>
          <p:cNvPr id="32770" name="Picture 2" descr="https://encrypted-tbn0.google.com/images?q=tbn:ANd9GcREMxulkfg7nOrCnW5BXW2Tlhjtsdw7vsW1GiR3vcMPC9PYWYJ8VQ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72200" y="404664"/>
            <a:ext cx="1446287" cy="131704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ítulo 1"/>
          <p:cNvSpPr>
            <a:spLocks noGrp="1"/>
          </p:cNvSpPr>
          <p:nvPr>
            <p:ph type="title"/>
          </p:nvPr>
        </p:nvSpPr>
        <p:spPr bwMode="auto">
          <a:xfrm>
            <a:off x="1187624" y="928688"/>
            <a:ext cx="7499176" cy="48895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pt-BR" dirty="0" smtClean="0"/>
              <a:t>Especialização do tema (exemplo)</a:t>
            </a:r>
          </a:p>
        </p:txBody>
      </p:sp>
      <p:sp>
        <p:nvSpPr>
          <p:cNvPr id="29699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187624" y="1772816"/>
            <a:ext cx="7499176" cy="435334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dirty="0" smtClean="0"/>
              <a:t>Ciência da Computação.</a:t>
            </a:r>
          </a:p>
          <a:p>
            <a:pPr lvl="1" eaLnBrk="1" hangingPunct="1"/>
            <a:r>
              <a:rPr lang="pt-BR" dirty="0" smtClean="0"/>
              <a:t>Inteligência Artificial.</a:t>
            </a:r>
          </a:p>
          <a:p>
            <a:pPr lvl="2" eaLnBrk="1" hangingPunct="1"/>
            <a:r>
              <a:rPr lang="pt-BR" dirty="0" smtClean="0"/>
              <a:t>Métodos de busca.</a:t>
            </a:r>
          </a:p>
          <a:p>
            <a:pPr lvl="3" eaLnBrk="1" hangingPunct="1"/>
            <a:r>
              <a:rPr lang="pt-BR" dirty="0" smtClean="0"/>
              <a:t>Busca heurística.</a:t>
            </a:r>
          </a:p>
          <a:p>
            <a:pPr lvl="4" eaLnBrk="1" hangingPunct="1"/>
            <a:r>
              <a:rPr lang="pt-BR" dirty="0" smtClean="0"/>
              <a:t>Algoritmo A*.</a:t>
            </a:r>
          </a:p>
          <a:p>
            <a:pPr eaLnBrk="1" hangingPunct="1"/>
            <a:endParaRPr lang="pt-BR" dirty="0" smtClean="0"/>
          </a:p>
        </p:txBody>
      </p:sp>
      <p:pic>
        <p:nvPicPr>
          <p:cNvPr id="31746" name="Picture 2" descr="https://encrypted-tbn2.google.com/images?q=tbn:ANd9GcQVO0fGB2bXUI77wTWCfHeYqrTNu6UKGQweF7tbcqlMQdVLikf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64088" y="2924944"/>
            <a:ext cx="3397780" cy="3600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2" name="Picture 12" descr="https://encrypted-tbn2.google.com/images?q=tbn:ANd9GcRckVbk-V7Hpn3ACu5-zEXpJDUxlvIk963qpDNRKAYUlJNPJhHQq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8144" y="4797152"/>
            <a:ext cx="2476500" cy="1847851"/>
          </a:xfrm>
          <a:prstGeom prst="rect">
            <a:avLst/>
          </a:prstGeom>
          <a:noFill/>
        </p:spPr>
      </p:pic>
      <p:sp>
        <p:nvSpPr>
          <p:cNvPr id="30722" name="Título 1"/>
          <p:cNvSpPr>
            <a:spLocks noGrp="1"/>
          </p:cNvSpPr>
          <p:nvPr>
            <p:ph type="title"/>
          </p:nvPr>
        </p:nvSpPr>
        <p:spPr bwMode="auto">
          <a:xfrm>
            <a:off x="1043608" y="476673"/>
            <a:ext cx="7643192" cy="940966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pt-BR" dirty="0" smtClean="0"/>
              <a:t>Tema e Aplicação</a:t>
            </a:r>
          </a:p>
        </p:txBody>
      </p:sp>
      <p:sp>
        <p:nvSpPr>
          <p:cNvPr id="30723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187624" y="1447800"/>
            <a:ext cx="7746064" cy="48006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sz="2400" dirty="0" smtClean="0"/>
              <a:t>Pode-se combinar um tema de pesquisa com uma área de aplicação. </a:t>
            </a:r>
          </a:p>
          <a:p>
            <a:pPr eaLnBrk="1" hangingPunct="1"/>
            <a:r>
              <a:rPr lang="pt-BR" sz="2400" dirty="0" smtClean="0"/>
              <a:t>O tema, possivelmente, será mais específico do que geral. </a:t>
            </a:r>
          </a:p>
          <a:p>
            <a:pPr eaLnBrk="1" hangingPunct="1"/>
            <a:r>
              <a:rPr lang="pt-BR" sz="2400" dirty="0" smtClean="0"/>
              <a:t>Não faz muito sentido, por exemplo, falar de “aplicação da Ciência da Computação no problema da pavimentação das estradas”. </a:t>
            </a:r>
          </a:p>
          <a:p>
            <a:pPr eaLnBrk="1" hangingPunct="1"/>
            <a:r>
              <a:rPr lang="pt-BR" sz="2400" dirty="0" smtClean="0"/>
              <a:t>Faria mais sentido um tema de pesquisa como “aplicação de busca heurística no problema do transporte de máquinas para pavimentação de estradas”. </a:t>
            </a:r>
          </a:p>
          <a:p>
            <a:pPr eaLnBrk="1" hangingPunct="1"/>
            <a:endParaRPr lang="pt-BR" sz="2400" dirty="0" smtClean="0"/>
          </a:p>
        </p:txBody>
      </p:sp>
      <p:sp>
        <p:nvSpPr>
          <p:cNvPr id="2" name="AutoShape 2" descr="data:image/jpeg;base64,/9j/4AAQSkZJRgABAQAAAQABAAD/2wCEAAkGBhQSEBQUEhQVFRQUFxQXGBUXFxcVFRgUFBUXFRQXGBQXHCcfGBkkGRQVHy8gIycpLCwsFR4xNTAqNSYrLCkBCQoKDgwOGg8PGikfHSQpKSwsKSksKSkpKSwsKSwsKSwsKSksKSksKSkpLCksKSksLCwpLCkpLCwpKSwsKSksKf/AABEIAMIBAwMBIgACEQEDEQH/xAAcAAABBQEBAQAAAAAAAAAAAAACAAEDBQYEBwj/xABGEAABAwIDBgMFBwEFBQkBAAABAAIRAyEEEjEFBiJBUWETcYEykaGx8AcUQlLB0eGSFiNicvEVNENT0jNjc4KEoqSy0yT/xAAZAQADAQEBAAAAAAAAAAAAAAAAAQIDBAX/xAAlEQACAgICAQUAAwEAAAAAAAAAAQIRAyESMRMEIkFRYRSBoSP/2gAMAwEAAhEDEQA/APUA1PCPKnAXo2cQACcBHlTgJWFA5UoRgJ8qVjAypZVIAlCVjAhLKjhPlSsAAEoUmVOAiwojLU0KQoMk9h05n9krCgGPnNaYI0B6dTb/AET36AeZn4Bc+0NqMw1Nz6py02hhzXNyS0NgXJ05Lnwm8+Gq1BTZWpuc4S1rXFxMAEzaBzU81dGnjbjyR3+H1J+XyTtpAaD91NCWVVZnRHCZSlqbKnYEcJQpMqWVFgRQmIUkJQnYmREJoUuVMWp2KiLKmLVLCbKnYURQmhSwhLU7AjIQwpSE0KrER5UykhJFgTAIgEQanhY2aUDCIBOGog1KwoEBPCKEoU2PiNlSyooTgJWOgMqeESUJWOgYTE+/onmdPf8AsEnENaSSABJJNhA1JKLCgcnX+PrujyrKbX+0GnRccrc7QLvzQB1OWCSB7+yn2rvqyhg6Vd7STXHAGcQg6PJ/Ldv9SXIfBnXvTR8XB1mNaHuhpA8jJjqQBKzO44w5qGsPDY5gLObXGpUAz8JMGwGg1cVz7J32LssE3dTBJiwEh4FujhczZX7tmUaTw4nwg/NcPNIZgQbkOFyJ/pXDLPU7aPVhh/5OFlwzbdEmMxHEWy5j2NzgwW53NyzNolWELNOGFLS01hldOZv3l0HN7UjPBmTKJuJoRAxH/wAl3/6LT+Wvo5l6N/f+GjhNCoNm4sNqObTqCoHRUPH4hBBDHSSSbjLz6rQrbHmU+jHLgeP9BhKEUJLWzCgcqbKjITJ2KiMtTZVIUxVWKiPKmyqQhNCdiojITEIyExCoVEZCYhGQmhOxUBCdOkmFEwRIQiCyLCATppThSykh4TpJKShJIWi3v58pMIgEgGlM4ge0R6kAT6oatUiIBdrYAz8FS7f2Q/FGmGvfRylwJLMzS1w4hBIh3DY99Emy1Gyv27vfVpV8tAUnsb/2gfLHtIMOv09B6rLbd32r4gnD1KdOnSqQeGX5mgh0ZzqJAkQJFlQ7ZxtXC4p7qha+m57hOaHQ12pHUe664MdvIyviWBrwQ0uaCDmLpuXEx2WDnL4OmGOFqzfbEY2u6o6o1rnw3iLWzEFsaaQAst9psjJSp2DAJAOmc9OkBquN3cb4dTimHAi17ghZ3e/ENxGMquYeCk1heSCMr2ZmRBu4zHs8gVzYnLy2zu9Qo+KkWzMEaIayBIF5ETIDrwe6vxvs5gAqMDmgaix6TDpErJ7HxzajCWOz5Tlc+XnM8gFzpffXyA05K+xFSkGmk4Oc2WuIn8WXM0yIPNOt7Iv2IvqO9GHrAEPfTg65GxPeAZC6qhNVhayrQqBwgyCx0f5mGR6BZbAeCHFrKZGYO10kMJBEknoohTUtpfBcNmxweCq0xwMpXAnjqnTpIK7G18V/3Q9X/wDQq/A4YeDSsJLG35nqlUpCGwOd4jlZTHLXRbwqfZdYevWjjyTNi0nTuCF0DEHmPr0WWq1S0ukAsB5CXAjlJ6qbDltRpiRy9x5W5rdZpVZg/TRujTfeeycVwVRsp3nKNBaBHdNWAF8oNxaBH1dC9SyX6OL6L4PB5hOqmnSY4A5WmewhdFPadJoyl2XLbtZb4c/N1Rx5vT+NWmdpTJmV2u0IKQd5LqRy0IoSE7nAalC54AmRHnZUSMVzY7HMpNDqjsrS5rJ5ZnmGz6rqZDmhwMgzp26rK/aDUIw7eIsAcHF8NLQQcrQ4O7um3RDlq0VRWYv7TclRzfBnKSAcxuOR06JLzypth4Jik3U8ied7zdJcnkmPiek7f3/g5cPpoXQDf/DBIjug2R9oeWG1wSLcQ1jmSOfJeftqmRlAbF4sbaxAT4XaBp1AZIIJaHTwwexEeifJ3dlcUe34LbVGq2WPHI3lpg9nQug41g1e0f8AmH7ryqhvCWBslsCY/LfmOnkOi1mExmFrGlkcWGDIIOabnWI627q1mix8DTM2jTES+zgYmQDGpBKbG7Yp09TJgm1wPMiQPVV+G3iwgEloAEwcoJkAE/pdU+0tr4epUJb4mZxMNDyGgNaGiG/hs6Y53UPLH4Go26NdiscKYEzJiLHm6ALLPbS37bTYXN8MkEDjcWNEkiSYJ5aR7lXYjazPFw1RzRp7AMBppVSbiTrIieazu32l9Rj2imALOaxuUXnKcsmTJ1S5NnQvTTcXKtI32wN5H1xmyAwBIpzUAzXbJkchOi7cdt8NLWOBY8wQHNGgnkXC1j7lmtm0MXh8IafhtqBz82VrjTe1pAN3AHMZAMNOhM6LOVq9Q1Kha9rgXNJZzYYOVhJPIN7n3pJ2/wBMmuOjjxlai/EF1QCoAXQCMzZJJktv1XfjtnMdRBbTpsc9oLYDRY3mQLW5d1jNqbvVnDM7/iAuALXXEySIJA1+S0excSamFw9vZYGHzYS39FlLGm+zshlaTTRE2hVpVGEublzAx0DrHla4aubEOGIpYkNHhuqzUe6zj/c8WQGBALrkzfor+pc+nLWQZHxCzOI2kzDPrl9+J4DQBLjUHsjkLGZ0HRTOLS9vZpFp7l0NuZh8uFMc3uPwaP0WlfXomCbmGzrqGx0Xnuzd4WNApva5rPzNqOJE6kgRPotR/sCk4A8TgRM+LUNv6k/G222ZPLFJJFwNp0wRDYMwDHUZRcoaWNaQJcAehIVBit0KThbMPJ7p+JK32xN1cK/AMDaDPZlzyBImQZfrmEfNJ40OOdplzsiqHYamRfhFxcWMajyVfi9vYbCvLa9ZrHOl4Dp0cewRbrVh92yt9ljnNHlYj5rz37UtiYnEYxrqVKrUptpNAIBLQ4ueXAHQHSfRYY4pypnTkk4xtGvqb8YEgtOIY6T+Wob+jZXTh978KeAOe4wDDKFYkDQGMkx36rx2luFjrEUHNOoJfTYR3u8QtDT3PxB2eWOqUG1/vAdLsQwvNI04jO1xjijh7rplBVpnIs07s9Hqb30Q4EMxAEEf7vVv01CgbvfRJkMxAOYTmouaLdA8j3rydm52LEH7xRb/AOpuPcrfB08VSEVMbhyBpOIcXeVm3ThhxPTYP1GRdI9i2XVD6LXMnKZiYBEG4IEripYSma7s7ouToJJ5gE+XwVB9mu9Br+JRfOZoDwTzE5XR/wC1dG36RGIddxbYjKKhiRJu1pGsrNQ8c2kOUnkgmbClgqTgaTTlbY8NjZxOsdVS7WqNw9XIOIBou5zZAIm4i4081X7M2yaDHQ+XugNDswdcgCJFwCDPmubb9R+JLXGLOcJa0kWiAY1IBi/VaPK0tHK4fBaY7aeenlMRYyIgebRHouKtjop5JJaA0wCI58vVceCwteXAUnPLoknMC0CDY6CR1nsi+4ueXBrRrOWxcLkazMefRCz5H0KGO+y4pbyNpUIZzkzEwZaLjSCJWP3m3xNUGjWGWmWk58p4jBsGgzyCtXbv1xcsN7ACOXUk39AsxvoDhwynUZxVJgPAu0W5cwTY9u6UZTfY3DVmNGI6acpaCb31KSvMBtHCNptbUpPzgXM6311HJJPy/hjsvsTug1jKYeRSfxAuDwWulwLZ7gFw9AuEbNZmca9Wp4WZzaeRjXZgJF3EwII6HXVWO82CbSxNVrAMocSI7nkemqrKeJc32XEfXdbRwtq0zd5I/MTa7M2FTGz2sD8QWVnumn4VKo/O0kBzDkF7ak6GeS69g7k0mtFbxK5dE5JYQCSCYMDN/JVbsPbVQ4KpmqZG0y82gEktBZfW7zFlwYXfSo2xqVG+TiR7iVHF21XRTruyTaOBfRqNZV4YmIkzTYON1+QHzVfgdv06pa59N1MNdwg5cxEgtD2H2SWkiL6qPe3e4vpZs5qODajbwCA8AOtzss7g3VKzWOz3DGl3CLu75dYtyMQphDijKUfg2OYuycBYHvDQ4galwED1gdpQ7boOwzA9wHtPbxQTNMZi4GIsY1F5XNs3BPfVpTVrOAqMPshsgOBIPDpa6n3gca2FqEhznjFYhwaRfLVAMD/DqFqqrZWL1eSEHjrX9nZR35bicMxhzk5wAMsZ3iSQIN+ZtCz+09vtpVPDALWucXEaQTwEkdbEKFuzmENp/wB4wh2cFgcSw5I1OipNvUj4jnCXZIEm86NBPr81Oo9EXzlf4XFXE4lzgxtSGjQZQSNG2M6QAs9hts4jZ9Z7XNL2Ek5XyAZPttI0lbP7PstbE0W1P+IxzT/ma0kfFnxV5vvu/SLTLWvAmDEx5EaK4xj3Q5SkYfD/AGj0ieOm9nWIeP0PwVJvNjRWrB7JyZWwTIk5WgmPQe5S/wBmKb8Q5oc5jcgcA0BxmSD7R0sEW3MFkoUCOZqX9QBfyaspSSlRtHk4tmbqOuvTNzN8MTiWCj4op+Aym1gZTYJY0ZZJOrrBefYLDgvOcQI52vyWr3boU6FWnVFiHsab2LH2dbn/AAnYqbVmu25h8XVoPb94qOmOA5WtIBuLDsqTdzamDFI08S+vSOZwdD6oYbnLIYSQYBmy9IGz9FX7Q3Lw9SS6iwk8w2DPmISlG1sUJuLsl2VjKBa4YVzXUy1plpLhNwZm4MALPbz7NFTEZiX+y0QHOA58gV07HwrcNUfSaIaJgf4TDxr/AJiPRduKZndm7D5LCEKZ1ZcnKCMt/Z9h1Dj5vf8A9SGlu3RaZFMTM6k39StMMKmOF7LWjmTKFuw6f/LZ/SFJ/stkRkaJt7IFvcrplBStw0or6Gzz7Y1Y7N2pSc4nwnOyydPCqcDp7tJ+C9U2/jazK7BTyhha7M/8YINg3ssdvnsDxcM4tHHT42xqY9oeo+ICvth419fDUn1M05YdmkEOENdr5A+qGuTUmVGXFNI4cdgpl5km+sa6ze08p7rn8MhoOYAybanNA1iy0xw0t6/FVGcOdxUqtiZIaYB0JkdlEoq7I4tlPiK2aA109SDAgC5mYWWFQlzspdB5+yYGnkOy1W8r/Be5ry1pAhjGiRB0JNoBBnTmsrSxOa5aBYCwjSFrFUS0J+JeHWfU/rd17FceNLqhl5c+ObiXHyBJNtV3PF5AEx5qJw59uS1FRVjCeaSu6eCkWcPef0CdRxQ6Ru9/8DlxTnnQsYSBER7JjvIlZKowjl66/Fel/aNsvNSa9rbskW5Nm8xyv8V5riBwjq2x62stsEtUZ5PsjNR2Utk5Ty5A24h0dbVRYXAGYbneTyJLj6J4SHZdKiuzO2NUwM3LZg8xp+yj+5RpbyOX5FdXjkniJJ68/fzTp8EybZxHZ4Ovxc4/qh/2Sz8rSu8pFo/0/ZLxofJledls/IPQLu2dQBc9tuJrAAdJD2hoPaYRZ+/wULW5vEDTBcCAejrOb8QubPD2muKXuFsfE+DXztsaVUkAcg5ot8SFcYajwgAxbkSJsFjHYlzTUzCHONwdQQIM95WwwVaWjuB5adFyTukdWKrZZ4YlhsSCBrlHWCCf0RMxTQ5rfDpmD+RoAMXNoQ0GCt/dGIqcFrHiBbpPKV57Wx2JpMqFmlN4pOOrqbmyG2/CHREkXgjzwim+zplKMVpG22jsCjiXOqOaWOGppljTaGyQWGTcCVBidzm1MLVdhRV8alDoe4VHPaQZDQ1ovYxbkutleWNeRfKORtmguEclc7tYstqFzYcHgsyg3zAB8x0ib91XJi4xNZssl1CkXtLXljC5pEEOyiQQdLyup8dAubxy6JbBaZHuj1S++G+mvror8zMv46vZU7R2OfFFUCQRlLRlmBJm7h+aLTohd4V89alRj/mVKTfcA8/FZ/eTcl2IxFSqalnEQC0mIaBlEn5BZrH/AGf0xOZzg64kNAA+F04tPdkyjJarR6hQ2QxzQ4Vmua4Atc2C1wOkOm6g2nQw+HpGrWquDAQOEZnEkwIa0ElYrY9I0qDKNJ7slOQXTEuc4udEaCXGwVrjKGajxDM3M2Z01ItK04/pnf4QV9/tm0vwYl/Tga0fFwXfuxvlgsYagYypTNODFSDLXWBGUnmDZQ4Pd+laWAcwMsGCT37fFd+ztjUaZcGMa0zmMNyy6dba9Fnzi3SNnilFcnR3bS2pSp0nltMPeASxrmGHOAkCY0mFicRvVjswNLBUAdRw1CJ8i8D4LXbdqGHEnggctDGv8Lj2RtUQGuIGp/piY6g3RNqKurCEXJ1dEG4+92Nrmt98oBjWZcjhTdTMzDm5XHiHOfS60p3gNxl+P11VRjcacxE/zouXxzDj2Kx29nRUY+3s5d693q2NcH0WNLmgNcJDbG7bm0x5LH/2SxjCQ6hUseURbvK9U3Z241hrSQ6SyIcOTYgTE+i0FPbNN0zTeO+QH5LeM9dnJkVydI8TxG7denTDn0qvsl3COk+0Y4dFyUqDqhBAD+IEsEAxOkSJ8l70doYc3MDzaQfko2UMGdBSHlA1Tbb+UZtL9PDWZgIa17R+UNkDyJvCS9yGyMOLDKByALY+SZTv8DjH9I95aIqUSzUkxqbSDBgXscui8d2lRNOuQSCXAOIFxf48ua9d26+p4TywmWDO0tFpY5rxfNewI9SvON9q4fUkMDSDM2kjSLR8lrjl7iZR9pnnOvED0ScmN0IevQiznY5TtqQgJQkqrJOkO+uSU+igD0QqosKJXG0kSFz4bFA1QPZDoF+ThpJPmpA6Lgrjx1IPB5HsNVM6kqCLadoqtvVh4z4dmExMkgwItPK0LQ7E2iHhgpVAHwwR7Lg4ZbX7g37rC7QeQYIM91ytruJF49Fwyjejojko9m2dVdTq5i3NkcHOA1gGCgx+CaMVVrYPK11TMbkh7i7idTqUXcNRhcBdpkSCNFgcHtZ9JrYq545Okj94Vvht86ZdlqtLDbiHEz4XHuKylhaN45kzSUzLAcuQEDhvLRE5Z7aei7t1cCW1w8k8RdL+hiwB8lWYHadJ5s8GZgtvyJuBcac+qn2XjntqODjDDUuw6gszNDiR5n0WbWqNk1dno2VvM37nsnY5oBg2/jqvKcRv/Uc52RwIkhpykkgWB9y4au8WJdJBqX6NDevXzULFIuWeJ6ltfatJgdmdcA2BvMW00WExe8rYMnUnnoCf5WYxWIrVPaBv+Z/PyC4m4Ejmwf1O+ZC0hjUTGedvo2VLeCmKbADeZ5ARJVvV3xw/hgToZgSdOell50MN1efQAfuk7DM5lzvNx/RaSaoxjNpm4/t9SaOZibgCSO8n9FxYn7RtfCDRPUgn4BZRtOmNGN90/NGMQBoAPIALNRSZrLNJqi2xm/GIqMygi/5WuOvc6qn+/wCJmRn9waPmnOO7qJ+0O61MLJ37Qxjvaqu/rA+SPCNNzVc5x5NzEg+ZPyXPh62a/JTgrSGNNbE8jTLintqwBaIAgaWCnpbbaNJb5SPks+HJStPHH6J8sjV0t4iPZrVB2zu+RMKcbwv/AOb6FrT8wsYXJmuUPDEpZmbgbxP/AD0/6R+6SxIeeqSXgRXmZ9FVG5g9un4B5lt/h8ivNaWCa5pFcGo9wyugOe8OIAm7RlAd0nzW/LCXZ3tcY/LDrX/CJn+VlNo7uvdUqlprEOqv4Gi2RwbUZJceGM/IHpZc8WW0eehuVxabFpIIOtjCFwVvvXs0Uq2ZplrrO0tUAuDlsDAmFWikCAczfiPfaF6EJWjlkqdEKEqWrRy82nyMqMlakASmlOUBCQBioo6hSlCUmM5cRhWvEH/RU2K2OW3bcK/c3ogWYyhZh5Et1HL9lBUYRBV7XwoN9D1FiuKvQcBDgHjqBxD4pNJqgWnZ17YpYVtKm/CvqCrYuaS4kS2/FAuD81U19t4h8A1XnQa3OguRcpMIMj3Tby8kwp5HS4QRoDrPJc3GtG7nezVYWuGMa0fhAHuCVXaNtVmX7V7hQux5dpJ8gU0iGy+q7Q7rmfj1VCnVdox3rA+aIbOqnk0es/JHELO520FE/aKjZsZ34qkdgP3XS3YDObnnzMBPgHI5XbQKhdtHurVuxabfwg+cldNOiGxDQPIBVwFZQeK86NefJpXZh9nOcJdI7Hp5q5aiVKKEyJjYAAFunIJ5U2UIfDWhJGSkj8NC5qYAtTSnhCUAg0lGQkgZ9E4Bro1E24RAEcz/AKQqHbmEL8aGZ3M/u6bw1skOIe5jgRItGWTOi1TMNe5gi3prBnnHNVG2sORiKLmODMwqUi7KHWgVRA68Dl5yVI6rtma3w2T/APzVGBwOUl4GXMbaRkBDByk9V51QqdV7BX2bkeXVK7qhIuCWtabQCWNEDQ9rLyXbDA3EPAiJ5WAnoJPzXThdaMcn2A9dDcEHNlrhm6EsaIAvq6Z9FzRIQLqMhyoyizXTFUIAoHKQoS1SwAKB7Z9fcpCEJCQyAiCmsVMWqN9M8lIzmq4Np1aJ+ua5KuyWG4EH3/BWIfyPvUg+v5UNDKqmGt/CB6Bd1Co0jSEbqf7+qjNM/X1oigJiLWhINXOasdh2/dS068oAMckeSEmunRFkToAQ0hHPkkAUTXgoQAwmhHlTGU6EObJBIOTqgY4Szdk0J5TECQD2QGj3UjnISAmAPgFJFB7pIA+lGtAtp62+Ko96pZRa8T/d1KVS1rB+V/pleeXJXzekLixuF8Zj6ZByva5s6RMiR85XAzdHDjdktqNJk2FjrETJBMzM6rFb07usdSdkaGubxAkFpNyCAeYJPwCu9k7ZqVKQc+eEua+c2XWHWBvDg4a8tF2fc6T2kVHAiSWxbgdEECdY+BKmMqZpJWeN0Xo3BTbc2ccPialO8BxLSRBLDdh9y52ukL0IytWcjBhCCicECoBOQlFmQoAYBJ9MjXn5JipKVVsjM2RfQwkwIYTFGSECkYD2g/WvoonyPrXyK6AE0JUBFTepMqF1L65pmkzfRSME0lA+ha316LtbySNMeadAcLHkADT4hdFKudDqpHUh2URp90gJm1JRQJXKHkI21E7G0dId0+P7JmvPNRsqI2lUtkhhwTlqHKlPqihCKUpZuqE3QARcnCjcEMpgSynUJemTA+mounLfKVX4WvDoJ189Z5yu37xeAJ+XLmvPUkzocWmYejgCcRiqPEMmI8QBpgFlWK176A5vIgK5wWz2NfJaTYAEh2SHARd+rjoYVTtmt4GPe7MWtr0BLTIGam5zJc/kw52yRJXJjKzn83OcHZ3MaHOMEBrXEtAyuAElpFgZvoo+TTdIrPtO2K/M3EC7IDDf2R+CJuZkrD0yvRN6aLn4Q5qYaxrJzG9QOsWlwAloHEIgCb6Lzek9dmJ6o55rZK5ijcuhoBFz7kIwxOgW1mZCmhTHDwPoKKU7AAlCUbkBQA0pJEJkgHRMA5mPjfkhlIhIY6kdhydL+ShKIPI0KVDI6rSD5Jm1Eea6FzOiVAEXJFt7KKYRNcmIRahLEcJQih2REJ2PPZGkG3QkKwx5ow5QG3qjDvr+FZJJKYhCCmzJ0AUppTByR5/FAChMmISRQz6BokAyZv628lYUcY144CDy10PmuXDva426iZ5k6R1t0UtLD5SSJHYTBNrmLSvJjro7pUyj3lpxXwjnMaQ6o6kXOkkeI2QBHUgK3dRYQWuZDRqQHBtomzdfWdFx7zjPhn2JNPLVbzvSPiQehLWkKdoZVaMrQQ5gOpAc10OjvIvF7T1VfpHxRmtobTw7w9oovPCZMggk3iM3Ugweull5O8Q4iI17XBvZevbdw3h03NY4NeeVOmIIvYNuGkiASAP28v23h3MfLySZLeLKHcMatBka89V0YmZTRDTd/Kc9ybKOlVk+f1+yfE4gNbfXS3NdJkC89LoZXA7afZHSxwdbQ91VEnUSmITzZDKBimEknISUAOAiDUBKQfCkBynTZ0iUDFzScUyaUAFkzcpQOZH1p5qalii32SQNbEhNUqF5mL/oEhkDSpGu+uaTqXP48kEJoRI2PVM43TSlm/RUITnJEpAJEjsnYhwO6UGOvzQyk190wHTF6Ym318kx66p0KxeIUkObySSphZ9D4e+vUf8A2VoPr4J0l5Eejvl2c7xJI5X+UfJU26v+4UP/AAh8HQPhZJJMRFt8e3/lH6rxzajyX3J+gEkltjM59HHQP6foufbXtjyTJLrRgVztEwSSWpCLqj7Ponbz+uaSSkoTU0JJIAYJD9UklIDhM3UJJIGOP0TM0+uiSSAGd+yNpukkgC92jTAoUiAASBJi54J1WfB1806SEAIFinfokkqEwZRkXSSQAzUJTpJoQKkr2qGOpSSVogheLpkkkwP/2Q=="/>
          <p:cNvSpPr>
            <a:spLocks noChangeAspect="1" noChangeArrowheads="1"/>
          </p:cNvSpPr>
          <p:nvPr/>
        </p:nvSpPr>
        <p:spPr bwMode="auto">
          <a:xfrm>
            <a:off x="155575" y="-884238"/>
            <a:ext cx="2466975" cy="18478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0724" name="AutoShape 4" descr="data:image/jpeg;base64,/9j/4AAQSkZJRgABAQAAAQABAAD/2wCEAAkGBhQSEBQUEhQVFRQUFxQXGBUXFxcVFRgUFBUXFRQXGBQXHCcfGBkkGRQVHy8gIycpLCwsFR4xNTAqNSYrLCkBCQoKDgwOGg8PGikfHSQpKSwsKSksKSkpKSwsKSwsKSwsKSksKSksKSkpLCksKSksLCwpLCkpLCwpKSwsKSksKf/AABEIAMIBAwMBIgACEQEDEQH/xAAcAAABBQEBAQAAAAAAAAAAAAACAAEDBQYEBwj/xABGEAABAwIDBgMFBwEFBQkBAAABAAIRAyEEEjEFBiJBUWETcYEykaGx8AcUQlLB0eGSFiNicvEVNENT0jNjc4KEoqSy0yT/xAAZAQADAQEBAAAAAAAAAAAAAAAAAQIDBAX/xAAlEQACAgICAQUAAwEAAAAAAAAAAQIRAyESMRMEIkFRYRSBoSP/2gAMAwEAAhEDEQA/APUA1PCPKnAXo2cQACcBHlTgJWFA5UoRgJ8qVjAypZVIAlCVjAhLKjhPlSsAAEoUmVOAiwojLU0KQoMk9h05n9krCgGPnNaYI0B6dTb/AET36AeZn4Bc+0NqMw1Nz6py02hhzXNyS0NgXJ05Lnwm8+Gq1BTZWpuc4S1rXFxMAEzaBzU81dGnjbjyR3+H1J+XyTtpAaD91NCWVVZnRHCZSlqbKnYEcJQpMqWVFgRQmIUkJQnYmREJoUuVMWp2KiLKmLVLCbKnYURQmhSwhLU7AjIQwpSE0KrER5UykhJFgTAIgEQanhY2aUDCIBOGog1KwoEBPCKEoU2PiNlSyooTgJWOgMqeESUJWOgYTE+/onmdPf8AsEnENaSSABJJNhA1JKLCgcnX+PrujyrKbX+0GnRccrc7QLvzQB1OWCSB7+yn2rvqyhg6Vd7STXHAGcQg6PJ/Ldv9SXIfBnXvTR8XB1mNaHuhpA8jJjqQBKzO44w5qGsPDY5gLObXGpUAz8JMGwGg1cVz7J32LssE3dTBJiwEh4FujhczZX7tmUaTw4nwg/NcPNIZgQbkOFyJ/pXDLPU7aPVhh/5OFlwzbdEmMxHEWy5j2NzgwW53NyzNolWELNOGFLS01hldOZv3l0HN7UjPBmTKJuJoRAxH/wAl3/6LT+Wvo5l6N/f+GjhNCoNm4sNqObTqCoHRUPH4hBBDHSSSbjLz6rQrbHmU+jHLgeP9BhKEUJLWzCgcqbKjITJ2KiMtTZVIUxVWKiPKmyqQhNCdiojITEIyExCoVEZCYhGQmhOxUBCdOkmFEwRIQiCyLCATppThSykh4TpJKShJIWi3v58pMIgEgGlM4ge0R6kAT6oatUiIBdrYAz8FS7f2Q/FGmGvfRylwJLMzS1w4hBIh3DY99Emy1Gyv27vfVpV8tAUnsb/2gfLHtIMOv09B6rLbd32r4gnD1KdOnSqQeGX5mgh0ZzqJAkQJFlQ7ZxtXC4p7qha+m57hOaHQ12pHUe664MdvIyviWBrwQ0uaCDmLpuXEx2WDnL4OmGOFqzfbEY2u6o6o1rnw3iLWzEFsaaQAst9psjJSp2DAJAOmc9OkBquN3cb4dTimHAi17ghZ3e/ENxGMquYeCk1heSCMr2ZmRBu4zHs8gVzYnLy2zu9Qo+KkWzMEaIayBIF5ETIDrwe6vxvs5gAqMDmgaix6TDpErJ7HxzajCWOz5Tlc+XnM8gFzpffXyA05K+xFSkGmk4Oc2WuIn8WXM0yIPNOt7Iv2IvqO9GHrAEPfTg65GxPeAZC6qhNVhayrQqBwgyCx0f5mGR6BZbAeCHFrKZGYO10kMJBEknoohTUtpfBcNmxweCq0xwMpXAnjqnTpIK7G18V/3Q9X/wDQq/A4YeDSsJLG35nqlUpCGwOd4jlZTHLXRbwqfZdYevWjjyTNi0nTuCF0DEHmPr0WWq1S0ukAsB5CXAjlJ6qbDltRpiRy9x5W5rdZpVZg/TRujTfeeycVwVRsp3nKNBaBHdNWAF8oNxaBH1dC9SyX6OL6L4PB5hOqmnSY4A5WmewhdFPadJoyl2XLbtZb4c/N1Rx5vT+NWmdpTJmV2u0IKQd5LqRy0IoSE7nAalC54AmRHnZUSMVzY7HMpNDqjsrS5rJ5ZnmGz6rqZDmhwMgzp26rK/aDUIw7eIsAcHF8NLQQcrQ4O7um3RDlq0VRWYv7TclRzfBnKSAcxuOR06JLzypth4Jik3U8ied7zdJcnkmPiek7f3/g5cPpoXQDf/DBIjug2R9oeWG1wSLcQ1jmSOfJeftqmRlAbF4sbaxAT4XaBp1AZIIJaHTwwexEeifJ3dlcUe34LbVGq2WPHI3lpg9nQug41g1e0f8AmH7ryqhvCWBslsCY/LfmOnkOi1mExmFrGlkcWGDIIOabnWI627q1mix8DTM2jTES+zgYmQDGpBKbG7Yp09TJgm1wPMiQPVV+G3iwgEloAEwcoJkAE/pdU+0tr4epUJb4mZxMNDyGgNaGiG/hs6Y53UPLH4Go26NdiscKYEzJiLHm6ALLPbS37bTYXN8MkEDjcWNEkiSYJ5aR7lXYjazPFw1RzRp7AMBppVSbiTrIieazu32l9Rj2imALOaxuUXnKcsmTJ1S5NnQvTTcXKtI32wN5H1xmyAwBIpzUAzXbJkchOi7cdt8NLWOBY8wQHNGgnkXC1j7lmtm0MXh8IafhtqBz82VrjTe1pAN3AHMZAMNOhM6LOVq9Q1Kha9rgXNJZzYYOVhJPIN7n3pJ2/wBMmuOjjxlai/EF1QCoAXQCMzZJJktv1XfjtnMdRBbTpsc9oLYDRY3mQLW5d1jNqbvVnDM7/iAuALXXEySIJA1+S0excSamFw9vZYGHzYS39FlLGm+zshlaTTRE2hVpVGEublzAx0DrHla4aubEOGIpYkNHhuqzUe6zj/c8WQGBALrkzfor+pc+nLWQZHxCzOI2kzDPrl9+J4DQBLjUHsjkLGZ0HRTOLS9vZpFp7l0NuZh8uFMc3uPwaP0WlfXomCbmGzrqGx0Xnuzd4WNApva5rPzNqOJE6kgRPotR/sCk4A8TgRM+LUNv6k/G222ZPLFJJFwNp0wRDYMwDHUZRcoaWNaQJcAehIVBit0KThbMPJ7p+JK32xN1cK/AMDaDPZlzyBImQZfrmEfNJ40OOdplzsiqHYamRfhFxcWMajyVfi9vYbCvLa9ZrHOl4Dp0cewRbrVh92yt9ljnNHlYj5rz37UtiYnEYxrqVKrUptpNAIBLQ4ueXAHQHSfRYY4pypnTkk4xtGvqb8YEgtOIY6T+Wob+jZXTh978KeAOe4wDDKFYkDQGMkx36rx2luFjrEUHNOoJfTYR3u8QtDT3PxB2eWOqUG1/vAdLsQwvNI04jO1xjijh7rplBVpnIs07s9Hqb30Q4EMxAEEf7vVv01CgbvfRJkMxAOYTmouaLdA8j3rydm52LEH7xRb/AOpuPcrfB08VSEVMbhyBpOIcXeVm3ThhxPTYP1GRdI9i2XVD6LXMnKZiYBEG4IEripYSma7s7ouToJJ5gE+XwVB9mu9Br+JRfOZoDwTzE5XR/wC1dG36RGIddxbYjKKhiRJu1pGsrNQ8c2kOUnkgmbClgqTgaTTlbY8NjZxOsdVS7WqNw9XIOIBou5zZAIm4i4081X7M2yaDHQ+XugNDswdcgCJFwCDPmubb9R+JLXGLOcJa0kWiAY1IBi/VaPK0tHK4fBaY7aeenlMRYyIgebRHouKtjop5JJaA0wCI58vVceCwteXAUnPLoknMC0CDY6CR1nsi+4ueXBrRrOWxcLkazMefRCz5H0KGO+y4pbyNpUIZzkzEwZaLjSCJWP3m3xNUGjWGWmWk58p4jBsGgzyCtXbv1xcsN7ACOXUk39AsxvoDhwynUZxVJgPAu0W5cwTY9u6UZTfY3DVmNGI6acpaCb31KSvMBtHCNptbUpPzgXM6311HJJPy/hjsvsTug1jKYeRSfxAuDwWulwLZ7gFw9AuEbNZmca9Wp4WZzaeRjXZgJF3EwII6HXVWO82CbSxNVrAMocSI7nkemqrKeJc32XEfXdbRwtq0zd5I/MTa7M2FTGz2sD8QWVnumn4VKo/O0kBzDkF7ak6GeS69g7k0mtFbxK5dE5JYQCSCYMDN/JVbsPbVQ4KpmqZG0y82gEktBZfW7zFlwYXfSo2xqVG+TiR7iVHF21XRTruyTaOBfRqNZV4YmIkzTYON1+QHzVfgdv06pa59N1MNdwg5cxEgtD2H2SWkiL6qPe3e4vpZs5qODajbwCA8AOtzss7g3VKzWOz3DGl3CLu75dYtyMQphDijKUfg2OYuycBYHvDQ4galwED1gdpQ7boOwzA9wHtPbxQTNMZi4GIsY1F5XNs3BPfVpTVrOAqMPshsgOBIPDpa6n3gca2FqEhznjFYhwaRfLVAMD/DqFqqrZWL1eSEHjrX9nZR35bicMxhzk5wAMsZ3iSQIN+ZtCz+09vtpVPDALWucXEaQTwEkdbEKFuzmENp/wB4wh2cFgcSw5I1OipNvUj4jnCXZIEm86NBPr81Oo9EXzlf4XFXE4lzgxtSGjQZQSNG2M6QAs9hts4jZ9Z7XNL2Ek5XyAZPttI0lbP7PstbE0W1P+IxzT/ma0kfFnxV5vvu/SLTLWvAmDEx5EaK4xj3Q5SkYfD/AGj0ieOm9nWIeP0PwVJvNjRWrB7JyZWwTIk5WgmPQe5S/wBmKb8Q5oc5jcgcA0BxmSD7R0sEW3MFkoUCOZqX9QBfyaspSSlRtHk4tmbqOuvTNzN8MTiWCj4op+Aym1gZTYJY0ZZJOrrBefYLDgvOcQI52vyWr3boU6FWnVFiHsab2LH2dbn/AAnYqbVmu25h8XVoPb94qOmOA5WtIBuLDsqTdzamDFI08S+vSOZwdD6oYbnLIYSQYBmy9IGz9FX7Q3Lw9SS6iwk8w2DPmISlG1sUJuLsl2VjKBa4YVzXUy1plpLhNwZm4MALPbz7NFTEZiX+y0QHOA58gV07HwrcNUfSaIaJgf4TDxr/AJiPRduKZndm7D5LCEKZ1ZcnKCMt/Z9h1Dj5vf8A9SGlu3RaZFMTM6k39StMMKmOF7LWjmTKFuw6f/LZ/SFJ/stkRkaJt7IFvcrplBStw0or6Gzz7Y1Y7N2pSc4nwnOyydPCqcDp7tJ+C9U2/jazK7BTyhha7M/8YINg3ssdvnsDxcM4tHHT42xqY9oeo+ICvth419fDUn1M05YdmkEOENdr5A+qGuTUmVGXFNI4cdgpl5km+sa6ze08p7rn8MhoOYAybanNA1iy0xw0t6/FVGcOdxUqtiZIaYB0JkdlEoq7I4tlPiK2aA109SDAgC5mYWWFQlzspdB5+yYGnkOy1W8r/Be5ry1pAhjGiRB0JNoBBnTmsrSxOa5aBYCwjSFrFUS0J+JeHWfU/rd17FceNLqhl5c+ObiXHyBJNtV3PF5AEx5qJw59uS1FRVjCeaSu6eCkWcPef0CdRxQ6Ru9/8DlxTnnQsYSBER7JjvIlZKowjl66/Fel/aNsvNSa9rbskW5Nm8xyv8V5riBwjq2x62stsEtUZ5PsjNR2Utk5Ty5A24h0dbVRYXAGYbneTyJLj6J4SHZdKiuzO2NUwM3LZg8xp+yj+5RpbyOX5FdXjkniJJ68/fzTp8EybZxHZ4Ovxc4/qh/2Sz8rSu8pFo/0/ZLxofJledls/IPQLu2dQBc9tuJrAAdJD2hoPaYRZ+/wULW5vEDTBcCAejrOb8QubPD2muKXuFsfE+DXztsaVUkAcg5ot8SFcYajwgAxbkSJsFjHYlzTUzCHONwdQQIM95WwwVaWjuB5adFyTukdWKrZZ4YlhsSCBrlHWCCf0RMxTQ5rfDpmD+RoAMXNoQ0GCt/dGIqcFrHiBbpPKV57Wx2JpMqFmlN4pOOrqbmyG2/CHREkXgjzwim+zplKMVpG22jsCjiXOqOaWOGppljTaGyQWGTcCVBidzm1MLVdhRV8alDoe4VHPaQZDQ1ovYxbkutleWNeRfKORtmguEclc7tYstqFzYcHgsyg3zAB8x0ib91XJi4xNZssl1CkXtLXljC5pEEOyiQQdLyup8dAubxy6JbBaZHuj1S++G+mvror8zMv46vZU7R2OfFFUCQRlLRlmBJm7h+aLTohd4V89alRj/mVKTfcA8/FZ/eTcl2IxFSqalnEQC0mIaBlEn5BZrH/AGf0xOZzg64kNAA+F04tPdkyjJarR6hQ2QxzQ4Vmua4Atc2C1wOkOm6g2nQw+HpGrWquDAQOEZnEkwIa0ElYrY9I0qDKNJ7slOQXTEuc4udEaCXGwVrjKGajxDM3M2Z01ItK04/pnf4QV9/tm0vwYl/Tga0fFwXfuxvlgsYagYypTNODFSDLXWBGUnmDZQ4Pd+laWAcwMsGCT37fFd+ztjUaZcGMa0zmMNyy6dba9Fnzi3SNnilFcnR3bS2pSp0nltMPeASxrmGHOAkCY0mFicRvVjswNLBUAdRw1CJ8i8D4LXbdqGHEnggctDGv8Lj2RtUQGuIGp/piY6g3RNqKurCEXJ1dEG4+92Nrmt98oBjWZcjhTdTMzDm5XHiHOfS60p3gNxl+P11VRjcacxE/zouXxzDj2Kx29nRUY+3s5d693q2NcH0WNLmgNcJDbG7bm0x5LH/2SxjCQ6hUseURbvK9U3Z241hrSQ6SyIcOTYgTE+i0FPbNN0zTeO+QH5LeM9dnJkVydI8TxG7denTDn0qvsl3COk+0Y4dFyUqDqhBAD+IEsEAxOkSJ8l70doYc3MDzaQfko2UMGdBSHlA1Tbb+UZtL9PDWZgIa17R+UNkDyJvCS9yGyMOLDKByALY+SZTv8DjH9I95aIqUSzUkxqbSDBgXscui8d2lRNOuQSCXAOIFxf48ua9d26+p4TywmWDO0tFpY5rxfNewI9SvON9q4fUkMDSDM2kjSLR8lrjl7iZR9pnnOvED0ScmN0IevQiznY5TtqQgJQkqrJOkO+uSU+igD0QqosKJXG0kSFz4bFA1QPZDoF+ThpJPmpA6Lgrjx1IPB5HsNVM6kqCLadoqtvVh4z4dmExMkgwItPK0LQ7E2iHhgpVAHwwR7Lg4ZbX7g37rC7QeQYIM91ytruJF49Fwyjejojko9m2dVdTq5i3NkcHOA1gGCgx+CaMVVrYPK11TMbkh7i7idTqUXcNRhcBdpkSCNFgcHtZ9JrYq545Okj94Vvht86ZdlqtLDbiHEz4XHuKylhaN45kzSUzLAcuQEDhvLRE5Z7aei7t1cCW1w8k8RdL+hiwB8lWYHadJ5s8GZgtvyJuBcac+qn2XjntqODjDDUuw6gszNDiR5n0WbWqNk1dno2VvM37nsnY5oBg2/jqvKcRv/Uc52RwIkhpykkgWB9y4au8WJdJBqX6NDevXzULFIuWeJ6ltfatJgdmdcA2BvMW00WExe8rYMnUnnoCf5WYxWIrVPaBv+Z/PyC4m4Ejmwf1O+ZC0hjUTGedvo2VLeCmKbADeZ5ARJVvV3xw/hgToZgSdOell50MN1efQAfuk7DM5lzvNx/RaSaoxjNpm4/t9SaOZibgCSO8n9FxYn7RtfCDRPUgn4BZRtOmNGN90/NGMQBoAPIALNRSZrLNJqi2xm/GIqMygi/5WuOvc6qn+/wCJmRn9waPmnOO7qJ+0O61MLJ37Qxjvaqu/rA+SPCNNzVc5x5NzEg+ZPyXPh62a/JTgrSGNNbE8jTLintqwBaIAgaWCnpbbaNJb5SPks+HJStPHH6J8sjV0t4iPZrVB2zu+RMKcbwv/AOb6FrT8wsYXJmuUPDEpZmbgbxP/AD0/6R+6SxIeeqSXgRXmZ9FVG5g9un4B5lt/h8ivNaWCa5pFcGo9wyugOe8OIAm7RlAd0nzW/LCXZ3tcY/LDrX/CJn+VlNo7uvdUqlprEOqv4Gi2RwbUZJceGM/IHpZc8WW0eehuVxabFpIIOtjCFwVvvXs0Uq2ZplrrO0tUAuDlsDAmFWikCAczfiPfaF6EJWjlkqdEKEqWrRy82nyMqMlakASmlOUBCQBioo6hSlCUmM5cRhWvEH/RU2K2OW3bcK/c3ogWYyhZh5Et1HL9lBUYRBV7XwoN9D1FiuKvQcBDgHjqBxD4pNJqgWnZ17YpYVtKm/CvqCrYuaS4kS2/FAuD81U19t4h8A1XnQa3OguRcpMIMj3Tby8kwp5HS4QRoDrPJc3GtG7nezVYWuGMa0fhAHuCVXaNtVmX7V7hQux5dpJ8gU0iGy+q7Q7rmfj1VCnVdox3rA+aIbOqnk0es/JHELO520FE/aKjZsZ34qkdgP3XS3YDObnnzMBPgHI5XbQKhdtHurVuxabfwg+cldNOiGxDQPIBVwFZQeK86NefJpXZh9nOcJdI7Hp5q5aiVKKEyJjYAAFunIJ5U2UIfDWhJGSkj8NC5qYAtTSnhCUAg0lGQkgZ9E4Bro1E24RAEcz/AKQqHbmEL8aGZ3M/u6bw1skOIe5jgRItGWTOi1TMNe5gi3prBnnHNVG2sORiKLmODMwqUi7KHWgVRA68Dl5yVI6rtma3w2T/APzVGBwOUl4GXMbaRkBDByk9V51QqdV7BX2bkeXVK7qhIuCWtabQCWNEDQ9rLyXbDA3EPAiJ5WAnoJPzXThdaMcn2A9dDcEHNlrhm6EsaIAvq6Z9FzRIQLqMhyoyizXTFUIAoHKQoS1SwAKB7Z9fcpCEJCQyAiCmsVMWqN9M8lIzmq4Np1aJ+ua5KuyWG4EH3/BWIfyPvUg+v5UNDKqmGt/CB6Bd1Co0jSEbqf7+qjNM/X1oigJiLWhINXOasdh2/dS068oAMckeSEmunRFkToAQ0hHPkkAUTXgoQAwmhHlTGU6EObJBIOTqgY4Szdk0J5TECQD2QGj3UjnISAmAPgFJFB7pIA+lGtAtp62+Ko96pZRa8T/d1KVS1rB+V/pleeXJXzekLixuF8Zj6ZByva5s6RMiR85XAzdHDjdktqNJk2FjrETJBMzM6rFb07usdSdkaGubxAkFpNyCAeYJPwCu9k7ZqVKQc+eEua+c2XWHWBvDg4a8tF2fc6T2kVHAiSWxbgdEECdY+BKmMqZpJWeN0Xo3BTbc2ccPialO8BxLSRBLDdh9y52ukL0IytWcjBhCCicECoBOQlFmQoAYBJ9MjXn5JipKVVsjM2RfQwkwIYTFGSECkYD2g/WvoonyPrXyK6AE0JUBFTepMqF1L65pmkzfRSME0lA+ha316LtbySNMeadAcLHkADT4hdFKudDqpHUh2URp90gJm1JRQJXKHkI21E7G0dId0+P7JmvPNRsqI2lUtkhhwTlqHKlPqihCKUpZuqE3QARcnCjcEMpgSynUJemTA+mounLfKVX4WvDoJ189Z5yu37xeAJ+XLmvPUkzocWmYejgCcRiqPEMmI8QBpgFlWK176A5vIgK5wWz2NfJaTYAEh2SHARd+rjoYVTtmt4GPe7MWtr0BLTIGam5zJc/kw52yRJXJjKzn83OcHZ3MaHOMEBrXEtAyuAElpFgZvoo+TTdIrPtO2K/M3EC7IDDf2R+CJuZkrD0yvRN6aLn4Q5qYaxrJzG9QOsWlwAloHEIgCb6Lzek9dmJ6o55rZK5ijcuhoBFz7kIwxOgW1mZCmhTHDwPoKKU7AAlCUbkBQA0pJEJkgHRMA5mPjfkhlIhIY6kdhydL+ShKIPI0KVDI6rSD5Jm1Eea6FzOiVAEXJFt7KKYRNcmIRahLEcJQih2REJ2PPZGkG3QkKwx5ow5QG3qjDvr+FZJJKYhCCmzJ0AUppTByR5/FAChMmISRQz6BokAyZv628lYUcY144CDy10PmuXDva426iZ5k6R1t0UtLD5SSJHYTBNrmLSvJjro7pUyj3lpxXwjnMaQ6o6kXOkkeI2QBHUgK3dRYQWuZDRqQHBtomzdfWdFx7zjPhn2JNPLVbzvSPiQehLWkKdoZVaMrQQ5gOpAc10OjvIvF7T1VfpHxRmtobTw7w9oovPCZMggk3iM3Ugweull5O8Q4iI17XBvZevbdw3h03NY4NeeVOmIIvYNuGkiASAP28v23h3MfLySZLeLKHcMatBka89V0YmZTRDTd/Kc9ybKOlVk+f1+yfE4gNbfXS3NdJkC89LoZXA7afZHSxwdbQ91VEnUSmITzZDKBimEknISUAOAiDUBKQfCkBynTZ0iUDFzScUyaUAFkzcpQOZH1p5qalii32SQNbEhNUqF5mL/oEhkDSpGu+uaTqXP48kEJoRI2PVM43TSlm/RUITnJEpAJEjsnYhwO6UGOvzQyk190wHTF6Ym318kx66p0KxeIUkObySSphZ9D4e+vUf8A2VoPr4J0l5Eejvl2c7xJI5X+UfJU26v+4UP/AAh8HQPhZJJMRFt8e3/lH6rxzajyX3J+gEkltjM59HHQP6foufbXtjyTJLrRgVztEwSSWpCLqj7Ponbz+uaSSkoTU0JJIAYJD9UklIDhM3UJJIGOP0TM0+uiSSAGd+yNpukkgC92jTAoUiAASBJi54J1WfB1806SEAIFinfokkqEwZRkXSSQAzUJTpJoQKkr2qGOpSSVogheLpkkkwP/2Q=="/>
          <p:cNvSpPr>
            <a:spLocks noChangeAspect="1" noChangeArrowheads="1"/>
          </p:cNvSpPr>
          <p:nvPr/>
        </p:nvSpPr>
        <p:spPr bwMode="auto">
          <a:xfrm>
            <a:off x="155575" y="-884238"/>
            <a:ext cx="2466975" cy="18478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0726" name="AutoShape 6" descr="data:image/jpeg;base64,/9j/4AAQSkZJRgABAQAAAQABAAD/2wCEAAkGBhQSERQUEhQVFBQUFRcYFBgXFRUVFBUXFxcXFxUUFBcXHCYeFxokGRcVHy8gIycpLCwsFh4xNTAqNSYrLCkBCQoKDgwOFw8PGiwkHBwpLCksLCwsKSksKSwsKS0sLCwpKSosLCkpLCkpLCwpKSktKi0sKSwpKSksLCksLCwsLP/AABEIAMIBAwMBIgACEQEDEQH/xAAcAAABBQEBAQAAAAAAAAAAAAACAAEDBAUGBwj/xABGEAABAwIDBAgEAwQIBAcAAAABAAIRAyEEEjEFQVFhBhMicYGRwfAyobHRB+HxQlKCohQVI0NicpKyM1NzwhYkNDVjg7P/xAAbAQACAgMBAAAAAAAAAAAAAAAAAQIDBAUGB//EADERAAICAQIEBQIDCQAAAAAAAAABAhEDBCEFEjFREyIyQWGRwXGx8AYjJDM0QnKB0f/aAAwDAQACEQMRAD8A6N5spaL5CCjkcPgA7i5v0KmbQbuL2+LXf7guEqLe0vqb3fsEHEXFiNOR3KwzauJkDrKZkN/uo1A/xd6hZQP748Weod6K1SdUg3BmIh53d4C3vDMsMMZKclua/V45TacUSs2tiZM9QQJ/YqNJgxrnP0VTbO06z6bQ6nTjrqZlr3l0tex3w5B9VaFR9td8mx1iBa537kG0GOc0BvFh+HQgtk3HJbeWpxuLakvqYUcMlJWi1/4lqB7WuoalgJFUWzlt4y3jMuhC5h9IkRLcxIgw2RHl/hUrcbidetpkf9MC8SB8fEK9StFdUzfxGGbUa5j2hzHAhzSJBB1BCw89TA2cXVcIP2yS+thhwfvq0h+98TRrIEpn7VxI06juIdOk7qi0tk491TOHhsscBLZggiQbk/VOxl2lUDmhzSHNcAWkEEEG4IIsQjhc/isM7BZq1ATh5L69AfsDV9bD8CLudT0NyINnb7HggEXBEjmDoUxUPCUJ0kWOhKDGUnuYRSdkdudlD48DZcb+KvS+tgqNIYchr6zngvgEtawNJDQ4ESS4XI0B4rzPHdL6uMp0xiMQ8OpyeyerBJOpDIDtBciRfigKPUsTgKgZi6jsXXljM3Y6ugHFlLMGuyMzC4jskarD/D7ZNPG03nEAvyuD3S+oc5eXOOYZ8puCSSJM3KPAbRp1dmYys1z3dXQc2Kj+sOZtINLy4iXHfJ49ys/hLUa2i/M8Bz3MDWlwBJAeYaDc/F8krGdfR6M4ZhlmHottBHVsg77iNefNXKeHa1oa0Q1vwgC7f8vK5VhVsTjWMMOd2okNALnxpIawF0TviE7ENjMcyjTdUquDGNEucT2QPdo3ptn7SpV6YqUXtqMMw5pkSNRyPIrgfxG6U0qtB2HoB9Wp1jM2WWtBa6SHgwSZ3QIMGbLf/D0MbhQxrs1Sc1UWs4gCxGrQGgTyVfix5lG9y96bIoc7To6iE0JwnVhQMkEkkgCkICkmQA0JoTpk7FQ0ISESYp2RojhJEQmRYqOJajDlGEYXmSe51BK1yfMo04cnzsKDSKYFOouQEtOsR+atUsQDaAJImSdwMb+aoyiWdpeIZtO/K7XZlGXBDJ16mm9lpiN2p0iLIWYMSSDUB4NqvaHRa4bYmOSqUq5HMKzRqg7zI/w93NdTpOJ4dRt0l2f2NXm0s8e63QO1MO7qaoD6wHVPtmBBlhlplkwj2RtLq6TatapVc1zGwCQQ3MCbAAaQljP+FU7J+Bx035DbTiuQ270kpUtn0WQRVrU6Ya02OVste+QLDhxWz/Axl8nbHprQIOQl5E2lguNxl1l5ftT8Wcc95DJpC0No0RUIGt6lQHMfAdyr7TwVPqqlZzMlSGw1oi7oAcBvBmbc1xuIq5msc7LcaOe8CQSLMb4eaqk5GRFRNfbPSbFYoAYg16jQZAqOZTY0wRmytAAME+av9Edh4esajcQBdrS0MqElpALnNJFpy5VyDnsab9UD/wBOo8/zlb2zNq9Q0FmU1XsLhlblytMhrjBhpDRIGsd4VWRS5dn+ZbCrPR+j3RyjQZWp0KzyK0ZmudaIcHQ1uUOBBi4OmqfZPRp2EosbSDHVGVqTyR2Q4McC4nfJA0lefdVWq0qlYEBlIFz2h4Ybt7LmAXJBvrNtbmKWE6UYqk4A1qxa0jrHBznGN5k7j6hQ8HK68113IrLDfbqe0VulOIAkta0R+7Md5BIWLiOkld2d9JzWlwEvDZyuyw2DoQQB2TbsyIN1zeB6VPrmiGuLs2YuLi6GQXMkBsZhYkgzqFps2k+oAxzmilmkMEAgtJa59S+YuMEy6/a4QovPOMXzdS2OCLdoxNp7CrUnND805nZHgGHWtDA0/OZuF334cYKu1jnVqLqQyw0kRnOYhxDT2h8IN41XnTcayvtGo8EPY6q7I4XJaDlAvuIykcl7J0S2V1NCc09a7OBAAYCAABGukknjyCMa86i1ut7M7U5Lwcyfq2rvRsJZkBrDMRN2gFw5OzQf5XeSiqY9jW5iYbBMmwgamTuWwNGWSVD/AEtkgZ2SdBmbJmwgTe4PkvPNq/ic2qX06FIObDi2q42PVzUD8hbpLBYn7Kn0C6R4ipiAHvD2PEvL7kFrHHsSZB4gCI4KPMI9UTKp/WDJjNooK+26LfiqMH8Q04jjuUgNEoSViVellEMc8Z3Bua4a6CW7g7TxVVnTeg4DtZSdxIkcQlY6OkJQysA9MaO5zT/G1X27WYYGYSflabz3oTFRfzJKidp0/wDmM/1BJMicsjahCILzOzpggE4CYIgo2AgE4CSUpdQHCIFOKp3nzAlPn9wE9l7iGlFKXWd3kEs3d5BSVdwJ2YixDmh0jfPoRK4bp70Vc9tGtSN6dEMeAHOl7GlzSBqM0Eaa5RvXaB3IJZhEEAzbfB7xv7lttLxTLi2k7XyY2TTQlukeT9HjUZmOIzbsrX5gRvkixG6Ady034jD6dVSsJH9myw8lt9NujrH0XVaQ6uo0NADTDCJDYI3ADhwXntbYGIcey5rRzcfQFbvHnjqvOpUU8nhKqPQtkPoVqNamabXEgCwbOX90SCL6eK8yY4OxLxmkXaDYTHZ7MWiBbluC6rolhThi91b+0ccuSCYbE5gRbMDI8keF2bSpOJp0wJMyZLvMkwOQRDI8UprrfQco8/Kyvs/AhjCwF5Y8AOaTIPDSDKqYTZmJfR6oU2y5xObM4PGYQ6mRmIg903K6jAtz1GtMjMdbfRdfhcMymIYMvE6k95VT1k8W73ZLwYS2R51h+iWMotpmmxocxrx/xW5hmMze07/dosLsKvRcCaNcugg5A1zSDYkkE6fbgvT3AexCtU8Mzq85tqO87jyRj1k8japdxSxRjTPPNibKYyqXVKFYCTAY0iC97w2SQRAYGExoTyXsezHTRpkAxlEZozab+a5F73XDGl7ocQ0FrZgTcuIAGl79yTXuAEy07xJMOgZhOjoJ1Cthq5RXiuO3QWSCmliT3W50subii4/A+lTZ/G11d8+RI8vDzbp3tJ721aTajwOtIcwtLQQHGGtdF26HXRdI/GVIltRwIFjP0lY20el9JlR7a0sdJOVzXOLmk2c3KC0g98rOwauGf09UYWTBKHU4zZmy3scc7Q0PpVo3mDQcbaxq0/xDkhzmgWlpc29nAkAOsN1pgH3p179p0q0xTd2WG8BvZiCxvanfFwsrEbLzAwwinaznh4FxoIEbxqe8q9spaJOje3pqhlWo54zAhwBJNpIE6DwXQ7WpMGXtsIdGXtS9kMI7YAAklwI4RzXD7PBpZoMFrHfsn9lruOnnuW3SrOdUqgvyZWuyktzCWOYwgdmxk5ZmJMmIQOKdFzaeGbckuYCJApshjgZFgXGPEzdUMPgmZ2k5i28zFN3AdrNAvHmnBqNbFjJtJeCXHUkuJHhAU2A2dVe6icrWuD3OaXA2LNbRM5SN15Clz0yXImrsjdgKdOQA48w18G5B+Im3MSrIqdSwOcS1xnLEEA2A7U3IIPK9uW27ChlJ05ptOc5g0CoXWaBckc1x228W8FriTlEBzoaABIANiOJUupBbEGJ2w1riMgJGpMyTFyQDAJ4JKvW2q3McoBG4lziSPBwCSr54is75EEKcLzWzpAwnQgp0rAIJ0wThJPcBU3SBzARqNhsO4I0PqA6dMiRYCSlMUhv97lJMDP6QO/sHaCYuTA+IancuQohhdaq10n4Q+mSwCL2hxuY7+C6vpTiAzC1HOMARJ1/aA3LzpvSGgCSCATqRTIJj94gSfFdNwn+TLy3uYOo9S3o3KghxA0BMc+aGVkDpLR/f/ld9kJ6U0P8Amfyu+yzfCnfpYuePc6jYZ/t6fefoV2S8t2Z0xw7K1NznmA65yOsOOk+S6c/idgB/evP/ANVX1asPUabNKSaiyyGWCXU6sq7RaXUw3dIjS5zGTx0sua2B0oo40PNEu/syA7MMp7QJECSYsVtMxDhYHSPv6qjFLwZtZU+hKa54rlKG0awY27spccjHBoeQ53ww02Nx6WlBs/Eh9MZXFwZLZIa24ABgNsAdbcVbcgUHmbx8ntZJQXNze4Jdp73LH6S4NtSmC5rSWlxB0LRkc4wRza2y1anIE/oVXrYPrhkvlcHBxFolpGpsPFXaJS8aLXQrztKDINnYRsmIu12ngm2jUaymGEy5wAHO44WQ4foo2n1jQXw9mWewY7TSI8kWG6HZXte2q6GuBgsF4OljC6WzV0ef4HbTnvDd7zA3TmtAB716Odmsph9XFNLGPdVDAT8THVQ+zWmRJA15rT2HsZuFnLBBmMwZLSbFwflzTAiOCs7Uo0aoDarKZp02AtHa4cQ68KFK9hoy6jKNOkW4bC9qoINUUmlzGkjMJc4OOhtmtwWZtnbpw1Wn1WQHtiKpMBrsnbcZzSSzidY1WltbpRh6DWsYc2Ut7LBmhs9rTfE75XlHSTHVMXXfUex7RZrAwQMrbAmSbnUjiSrIxfUPL7nS4jpxXqgtEEZc3ZBEFujbSSD9eCPGPoYlgaTUJgOgNDJPDNlMXnyXBsw7xuqtgR2Zvffoul6K7QykCq3QGJkG7nEi4vrO/VWuyNRW/uLEtAcQ2iQ0WEAxEbpBKS68YiluaI7gkoX8BSNhEEARArzI6AMJ0IKdRAMJwhCIJABhzLW9wUqjpCGjuUilLqwHTgoU4SAJKEwKdMDn/wAQP/b6/c3/APRi8Ucx25e3dOP/AENf/K3/AHtXj9QANceC7XgH9PL/AC+yNVrfWvwM4PINz8kAw7ibBWMKzMS4+C6TYOCBJed1hy4n6ea372VmCt3Rgf1BUy5jA5b1TxVLKcpEOAhw539IPiuux+2g1wZYC24TGon5LN6RYXNSZW3kkHuJJAPd6qCk/cm0av4T7SyYt1LdWZx/aZ2gf9Jf5r14lfPOwNodRiaNX9yo0n/LMO/lJX0IHTx01iJ8NQuf4tirIpr3RsNJK412GcVG4oqpO78lECd/sLT0ZpzfTesRSphrnNJqz2XFpIa10iQdJLVJ0A6RufVqUqri/s5ml1y0tIDmybxBmOR4rL6f4stNEDc2o4d8sAXHbAc5rnFpLZJE77i4XUcPh/Dpd7/M1Opf7xnvOM2oxrZJa0cyOMrnMb03pM7IcX6/CLd0krgSJuSSTrJlOGrYrEvcxXM38X03qusxrWDcT2nfZY2I2hVqfG9zp3E28BoFEhlWKCRBybGTF6TnKFzuCkIMvUuHbeVXaZNr8Vew1KZtooyY0aLKtklWLeCSqJndhEEARBeWnSBhOChBTykBIE6EFEgQND4fF3+4oyV5/wBL/wAQKuErmhSbTdDQS5wcSC4kgQHAHs5fNcpifxIxz9KoZP7lNg8iQSPNbrDwbUZkpqknvuzGnqYQdHtcqGvjWMEve1gGuZwbHmV4TW2xi63x16rgdQajgP8ASDHyT0NiVKlzJ4k3+ZWfD9nn/fP6IpetXsj2Kv00wbJnEUyRqGkvP8gKy8X+KeEZ8PW1L/ssA8e2QvOhsEtkZ2SQRBcBwOo8Fm4/Z9SmO2224i7fMeqzcfAdOvU2ymWsn7Udvt/8SGYmg+kyi5ofAzOcJADgfhA5cVxWKr9iO9UqVSyeq6Qtvp9Nj08eTGqXUxcmSWR3IuYR8NC6bAVsuFcecfO/y+i46lUsum2cDUwrmtEm/m05vmJHir59CEepm4xmYOcYzC8SSZPf5rRxo/8AIGR+03zBUezcMXnKWy2LmRp+7A5Wnde9lL0pqZKDKe9z83OGjXzhRfVEjlF710P2p1+CoPtOTK/jmZ2HHvJbPivBAVu7L6WYmhSNKg7Ixzi42DnAkQYLtNB5LF12meogkuqZbgyrG22ezbU2qyiGOfMEkSATuOu6OZ0WBT6e4VoqF9S/WPhoaXuLQGgHsyNx1K8vxVWtiDNZ76h/xOLvKdFJQ2QdbhYuPheNR873+C2WslflRsdIekrMZiQaYc1opFnaiScxdMAmBBjwU+DpgQBHZFyNJPPesijsIAzmdOtoHotjDsyiFtcWOONKMeiMOcnJtv3LMpsybMgdUV9lVB50D6ijlCXFKwoJzkLBPu57lK2jOvHwVilhzNpnebWUWyVA4fD7t/071cbSAsI52QtbFgL8fVGKf5lQbJCDCnSzlJIDuAiCEIgV5adIEnlCClmRQEgKWZCEnPgSbAXPcLkoSt0B4j0xqdZj8Qf/AJC3/QAz/tnxVPDYXkk6pne5x1c4uP8AESfVamGpNY3M6ST8IBI3amO8L07FDkhGPZJHPzdtslpUGUgC7tPOjeHN32T16rn/ABG24CwHcNFTrHLLiSTxOpP3VJ9Zzzy4fdWEDVptZx+c/RW/6AQ0lpEbwLjuIOoXPhj2748x89FfwG2HMd25vF9/5hJ37El8mdtPZ2XttECe03908R/h+iz5K7PajWlocBr8QGhHELJOBHAKUXZFqjBBW50b2sKbi1xgO0O4HnyIT/1c3gjbs1g/ZHim1aoE6OkqY2m0SIk6kRB8rlc1tJhrvzGYFmjgFZp0gNAPAQpY8FGMaG5WZlLZCu0cA0c1ZDFK0KRECnh43Qp20Ug6ExqJDDiE3WIMyYOTESEoPkip0idFZbSa2/xH35J2Igp0SeQ+akbRGg9VYY0uM/p4qRtHn4/ZRbHRHToe96sSBYD3zTNE6eaXVxokA7bWGpTVakCBrvuiztaOJUDYmSgAmsMapkUngkmB3UpwUITry5o6MJOEwTgoAMLN6TYvq8HiH6EUnAd7hlb8yFpArlfxHxeTAlo/vHsb4SXmeXY+YWTo8fiZ4R+UQyuoN/B5ngKMuG4b+QV19XM4nQDTkAquEdlY48bfdPVfDe/2V6OaAVKgaz4BgDedGt3uPvgpcVjm0+xRGmrjqT6dw+ahdiOrZAN3a9271PlwVUUyLxutwP3SGR1MY8Edqfp5KfNIPLWNL6ObyNvNO9smWARAMTr3XkhRuAD4BnshpMyJAEweEoH0NHCYwkBh00Hvz81PTMge9LLJkgg+K09nmWeJ+qlEiycNThqPwShTIiCIBM0J8yACARNQByUJASShD0TaZKkYwA3QMjZSJUzaQGt0Qvp5KahhpuZ4+CQAAE6fb6KxTwcRmgfL6oz2fh197khJg81GwCc60Dy080/UmJKMNbuBnmfQfSUTqR1J7gNBySGJtOO5IwLwOSF9SNd3DRVy8uMmw3BOgCcJMmEixIE6cU4EoEFfgUkDsQAUkAdyE4QhOvMDpAgiCGU6QBSvPvxWxVsPT5veeNsrR9XeS7+V5R+J2KzYxrZ+Ck0dxcXOPyLT4rb8Fx82qT7Jv7fcxdW6xswjUAa0DvPn8k1SpMd3v6KGq+zeSlDZFuB+hXcmnIqjpPyHhYK5hnOZaS0nlJOkRyMblQBlSsqkRnk2gQdBu+d1Fqxp0O+iRJnk6CBqTaEdHDHsnjfwJIH+0pYLCGo4icrQM1R25rRqTz3AbyQFuUMFcuIyhtyP3QAAGd4bAPN54FSFZjYmnBI4BX8C2Kbed/O6pYl0k8XG3d+v0Wg0xAG6ylEiyWUs6BGFIQ7SianDPe5SwG80AM2lP33Ims97kLKkjQ+KlDCRx5e96QxC+inbRJk3nefuSmZT4x3afoiNcAQLn5DmAkBICBr6gfmnOJ3BQ5Sdb/ruUraE2v4WKQBNd7Klafe5FTpjejDD7Ed0pAO0wgqYiE1arwtx/NVi3ef1RQBF5drpu9FIxk3/ACQMF1IHeQ+Z4pgCXz70Hqo/6WN0+UKV5VSo6TZCAY1CknFM80kwPQZRBACnleXnSBynBQJwUgCleJdMcVnx2IPCoWj+ABnoV7W9+W53X8rr58r1sz3O/ecXeZJ9V0vAMfnnPskv19DX65+VIsip2R78Vb2bVufks6i5S0qmUrqzWE+LoZHcjp74hFRoNME1I5Rf5laFBzXi8HkfdlYpbPp6wf5fskgZPstuaG0mw0GZiZcNHGQOseBMSA1usFXNrVAxnViwF3mZ42k3OpvvJJ3oP6xDGwwZeLjr81h4rFGqcrd58zxKAAodt+aIA0H0+S0Gt4JsLhABE+HqSr1KhynipiK7KJUraHvWEZEcvfFS0qcC/OI0AGveUWAAZqIn3ZPToXE35zZXDQI1Ed+p5eYUT64bMcd9yo2Ams36eXsJVHACdPX7qN4cdbW04b7++KTcIIM31/JMAWmbkwJ8+6fqpW07xvPdu3wo6GzgDMkzrN9x9+CvnDCQZNhYXtI3mb2hKwIwy6na4Jwzuj5JFwEE+ojvskMORzhRVsRwm3yQdXN5t80/Vc91hOt9b6IEQhpP2UzKPL3u+qNtM+/przSrVIs3xKYCc2IA0PxGfko3v+aDrdw08L/ko31kUAn1/H1ULGp9ykpMQBK1hj8/zTpFw3gzycI+YSSA7aU8qniMeymC57gxo1LiALd65raH4kUGSKYdVduPws8zf5LgMegzZPTE38ssY9WdkXLP2j0ioUBNWq1p4TLj3NF15jtTpria0jP1bTuZbzdqufc2bk3W4wcCvfLL/S/6Yk9al6Udz0i/EptRj6dCmYe0tL3mLEQS1ovx1K8/UvVJxQK3+m0uLTR5caMDJllkdyIw5StdKX9FKlZs1x3LJKgqVrgkFXGbRcP2vkPshobFcd/l91eobMaw3gkcTI3eCBlRpfVNpPM6ea0sFgGsFzffeJ98lK2huAtpyVhmE4kTa3P9dyQCYy3D5CPUqYUtJPr3WUlGjA7UDj6mxEd6J1ZrYgfxRJ05+9UWFBChHxQB334WH5b05rgaajfvHIcPzVI4qTb34ourd+XsWTruAfXF2nvcm6jWbnhF1JQsez+n5qVjCfZRYiMC35e40PkpmUzv8VNAGsHRRvM7+/cAErANlXh4+qJ5yjTXUH5T9fBVHVgNFHnk+/f6p0BZqVvz+yKmN59/ZRNZEHVSg8vD3qgAnGeQ3BOBxv70807XXOnrvsnc617cOKQwalaBAUD3ajX8kzjaRru1Mfqgz2k7vf3TEO1yiyp+9OYi3cmIemyTf3wVoARw4HffhzUdEeXP33IwfX0kcgkMEWt6j1SQdW43DUkAcDjMdUrOzVHuef8AEZju4eCiaxSNpqQMSSS2RJuwAxG2mp6dBWKWDOu73oN6BFVtGVO3CcfmFep9n4RfiYkdw0G5LNcl1zvvJm29AENOlGgvxU48PKPkPFSNpZr6e+On6qSlT7gfe9ADUgTa4B755TxU1Okd3xRGvEfPfZWGYMwXHsNsb6+A10BTnHtYIYLxGYxm8Bu3pX2HRLh8ARdzgD58Nw1N/wBUL8UBZgjmdTuJMc581TrYsu7/AHu8/NC2gZvPlHiiu4Ej8QSffyTiiTr79ynp0CNBMeOtr8PfjZYzlB+d/wBE7ENTwwGtuW88796lZTsDE85RCjFz7PP39FLSb+7c6xutxnd77lYxqeGAvp8vL8k76hixjwufspDTIF9d3vduVWpXiwHn9R4oW4BADf3xvjUlRV63nwHqoDUzG35q7h2gjtAaAbgNRJncfPVS6CKTWFx3+ittpQPt771LmDdPC+7n5fNRudOgEosKFlkyd246KcNIF/yJ9d6C0m8+U20DotNgizxc7tPrafBIAnuA1F9wHkDw3aqu98mToPdkg+TN48YJ9lA90ad48tPqmIZ5k3t7+tgo4M+iemYvx970JN5vHvemA7gRv98fMqWnTvNx+sISJ8vCOfz+fBGxmseN+AtaeCQBl0DnFuMRu46JOq6xv048ZQOduNzvnUTf1+ahPPX35/kgAw7u+v0KSEUufnEp0AcW7XwH0ClppJJDLYb8Pd6FTA2nfKSSAHns+KloD+zed4iDvCdJAyfDjT/L6BXtmMHaMCY136pJKMiSHrGXCb9ifHis5/xDv9UkkoikSj4fL6lTNH1H5pJKQizTFvfNNT0HckkkMtDTz+h+wU2E+FvMGecaSkkkwK2OPZB3z91mVD78Skkpx6CZaoj6H0Vhug7/AFCSSbEBiXERfcPVSUHad7vlonSSGHQOg4zPPXVDjRp4+iSSXuIiq6Dw9FXp/wDafoUklJCHpfCP8w+hQz9B6JJIAdx7J7vRWGntAbuG7Ubk6SBkVbT+I/QKA70kkICV5g+X0SSSQI//2Q=="/>
          <p:cNvSpPr>
            <a:spLocks noChangeAspect="1" noChangeArrowheads="1"/>
          </p:cNvSpPr>
          <p:nvPr/>
        </p:nvSpPr>
        <p:spPr bwMode="auto">
          <a:xfrm>
            <a:off x="155575" y="-884238"/>
            <a:ext cx="2466975" cy="18478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0728" name="AutoShape 8" descr="data:image/jpeg;base64,/9j/4AAQSkZJRgABAQAAAQABAAD/2wCEAAkGBhQSERQUEhQVFBQUFRcYFBgXFRUVFBUXFxcXFxUUFBcXHCYeFxokGRcVHy8gIycpLCwsFh4xNTAqNSYrLCkBCQoKDgwOFw8PGiwkHBwpLCksLCwsKSksKSwsKS0sLCwpKSosLCkpLCkpLCwpKSktKi0sKSwpKSksLCksLCwsLP/AABEIAMIBAwMBIgACEQEDEQH/xAAcAAABBQEBAQAAAAAAAAAAAAACAAEDBAUGBwj/xABGEAABAwIDBAgEAwQIBAcAAAABAAIRAyEEEjEFQVFhBhMicYGRwfAyobHRB+HxQlKCohQVI0NicpKyM1NzwhYkNDVjg7P/xAAbAQACAgMBAAAAAAAAAAAAAAAAAQIDBAUGB//EADERAAICAQIEBQIDCQAAAAAAAAABAhEDBCEFEjFREyIyQWGRwXGx8AYjJDM0QnKB0f/aAAwDAQACEQMRAD8A6N5spaL5CCjkcPgA7i5v0KmbQbuL2+LXf7guEqLe0vqb3fsEHEXFiNOR3KwzauJkDrKZkN/uo1A/xd6hZQP748Weod6K1SdUg3BmIh53d4C3vDMsMMZKclua/V45TacUSs2tiZM9QQJ/YqNJgxrnP0VTbO06z6bQ6nTjrqZlr3l0tex3w5B9VaFR9td8mx1iBa537kG0GOc0BvFh+HQgtk3HJbeWpxuLakvqYUcMlJWi1/4lqB7WuoalgJFUWzlt4y3jMuhC5h9IkRLcxIgw2RHl/hUrcbidetpkf9MC8SB8fEK9StFdUzfxGGbUa5j2hzHAhzSJBB1BCw89TA2cXVcIP2yS+thhwfvq0h+98TRrIEpn7VxI06juIdOk7qi0tk491TOHhsscBLZggiQbk/VOxl2lUDmhzSHNcAWkEEEG4IIsQjhc/isM7BZq1ATh5L69AfsDV9bD8CLudT0NyINnb7HggEXBEjmDoUxUPCUJ0kWOhKDGUnuYRSdkdudlD48DZcb+KvS+tgqNIYchr6zngvgEtawNJDQ4ESS4XI0B4rzPHdL6uMp0xiMQ8OpyeyerBJOpDIDtBciRfigKPUsTgKgZi6jsXXljM3Y6ugHFlLMGuyMzC4jskarD/D7ZNPG03nEAvyuD3S+oc5eXOOYZ8puCSSJM3KPAbRp1dmYys1z3dXQc2Kj+sOZtINLy4iXHfJ49ys/hLUa2i/M8Bz3MDWlwBJAeYaDc/F8krGdfR6M4ZhlmHottBHVsg77iNefNXKeHa1oa0Q1vwgC7f8vK5VhVsTjWMMOd2okNALnxpIawF0TviE7ENjMcyjTdUquDGNEucT2QPdo3ptn7SpV6YqUXtqMMw5pkSNRyPIrgfxG6U0qtB2HoB9Wp1jM2WWtBa6SHgwSZ3QIMGbLf/D0MbhQxrs1Sc1UWs4gCxGrQGgTyVfix5lG9y96bIoc7To6iE0JwnVhQMkEkkgCkICkmQA0JoTpk7FQ0ISESYp2RojhJEQmRYqOJajDlGEYXmSe51BK1yfMo04cnzsKDSKYFOouQEtOsR+atUsQDaAJImSdwMb+aoyiWdpeIZtO/K7XZlGXBDJ16mm9lpiN2p0iLIWYMSSDUB4NqvaHRa4bYmOSqUq5HMKzRqg7zI/w93NdTpOJ4dRt0l2f2NXm0s8e63QO1MO7qaoD6wHVPtmBBlhlplkwj2RtLq6TatapVc1zGwCQQ3MCbAAaQljP+FU7J+Bx035DbTiuQ270kpUtn0WQRVrU6Ya02OVste+QLDhxWz/Axl8nbHprQIOQl5E2lguNxl1l5ftT8Wcc95DJpC0No0RUIGt6lQHMfAdyr7TwVPqqlZzMlSGw1oi7oAcBvBmbc1xuIq5msc7LcaOe8CQSLMb4eaqk5GRFRNfbPSbFYoAYg16jQZAqOZTY0wRmytAAME+av9Edh4esajcQBdrS0MqElpALnNJFpy5VyDnsab9UD/wBOo8/zlb2zNq9Q0FmU1XsLhlblytMhrjBhpDRIGsd4VWRS5dn+ZbCrPR+j3RyjQZWp0KzyK0ZmudaIcHQ1uUOBBi4OmqfZPRp2EosbSDHVGVqTyR2Q4McC4nfJA0lefdVWq0qlYEBlIFz2h4Ybt7LmAXJBvrNtbmKWE6UYqk4A1qxa0jrHBznGN5k7j6hQ8HK68113IrLDfbqe0VulOIAkta0R+7Md5BIWLiOkld2d9JzWlwEvDZyuyw2DoQQB2TbsyIN1zeB6VPrmiGuLs2YuLi6GQXMkBsZhYkgzqFps2k+oAxzmilmkMEAgtJa59S+YuMEy6/a4QovPOMXzdS2OCLdoxNp7CrUnND805nZHgGHWtDA0/OZuF334cYKu1jnVqLqQyw0kRnOYhxDT2h8IN41XnTcayvtGo8EPY6q7I4XJaDlAvuIykcl7J0S2V1NCc09a7OBAAYCAABGukknjyCMa86i1ut7M7U5Lwcyfq2rvRsJZkBrDMRN2gFw5OzQf5XeSiqY9jW5iYbBMmwgamTuWwNGWSVD/AEtkgZ2SdBmbJmwgTe4PkvPNq/ic2qX06FIObDi2q42PVzUD8hbpLBYn7Kn0C6R4ipiAHvD2PEvL7kFrHHsSZB4gCI4KPMI9UTKp/WDJjNooK+26LfiqMH8Q04jjuUgNEoSViVellEMc8Z3Bua4a6CW7g7TxVVnTeg4DtZSdxIkcQlY6OkJQysA9MaO5zT/G1X27WYYGYSflabz3oTFRfzJKidp0/wDmM/1BJMicsjahCILzOzpggE4CYIgo2AgE4CSUpdQHCIFOKp3nzAlPn9wE9l7iGlFKXWd3kEs3d5BSVdwJ2YixDmh0jfPoRK4bp70Vc9tGtSN6dEMeAHOl7GlzSBqM0Eaa5RvXaB3IJZhEEAzbfB7xv7lttLxTLi2k7XyY2TTQlukeT9HjUZmOIzbsrX5gRvkixG6Ady034jD6dVSsJH9myw8lt9NujrH0XVaQ6uo0NADTDCJDYI3ADhwXntbYGIcey5rRzcfQFbvHnjqvOpUU8nhKqPQtkPoVqNamabXEgCwbOX90SCL6eK8yY4OxLxmkXaDYTHZ7MWiBbluC6rolhThi91b+0ccuSCYbE5gRbMDI8keF2bSpOJp0wJMyZLvMkwOQRDI8UprrfQco8/Kyvs/AhjCwF5Y8AOaTIPDSDKqYTZmJfR6oU2y5xObM4PGYQ6mRmIg903K6jAtz1GtMjMdbfRdfhcMymIYMvE6k95VT1k8W73ZLwYS2R51h+iWMotpmmxocxrx/xW5hmMze07/dosLsKvRcCaNcugg5A1zSDYkkE6fbgvT3AexCtU8Mzq85tqO87jyRj1k8japdxSxRjTPPNibKYyqXVKFYCTAY0iC97w2SQRAYGExoTyXsezHTRpkAxlEZozab+a5F73XDGl7ocQ0FrZgTcuIAGl79yTXuAEy07xJMOgZhOjoJ1Cthq5RXiuO3QWSCmliT3W50subii4/A+lTZ/G11d8+RI8vDzbp3tJ721aTajwOtIcwtLQQHGGtdF26HXRdI/GVIltRwIFjP0lY20el9JlR7a0sdJOVzXOLmk2c3KC0g98rOwauGf09UYWTBKHU4zZmy3scc7Q0PpVo3mDQcbaxq0/xDkhzmgWlpc29nAkAOsN1pgH3p179p0q0xTd2WG8BvZiCxvanfFwsrEbLzAwwinaznh4FxoIEbxqe8q9spaJOje3pqhlWo54zAhwBJNpIE6DwXQ7WpMGXtsIdGXtS9kMI7YAAklwI4RzXD7PBpZoMFrHfsn9lruOnnuW3SrOdUqgvyZWuyktzCWOYwgdmxk5ZmJMmIQOKdFzaeGbckuYCJApshjgZFgXGPEzdUMPgmZ2k5i28zFN3AdrNAvHmnBqNbFjJtJeCXHUkuJHhAU2A2dVe6icrWuD3OaXA2LNbRM5SN15Clz0yXImrsjdgKdOQA48w18G5B+Im3MSrIqdSwOcS1xnLEEA2A7U3IIPK9uW27ChlJ05ptOc5g0CoXWaBckc1x228W8FriTlEBzoaABIANiOJUupBbEGJ2w1riMgJGpMyTFyQDAJ4JKvW2q3McoBG4lziSPBwCSr54is75EEKcLzWzpAwnQgp0rAIJ0wThJPcBU3SBzARqNhsO4I0PqA6dMiRYCSlMUhv97lJMDP6QO/sHaCYuTA+IancuQohhdaq10n4Q+mSwCL2hxuY7+C6vpTiAzC1HOMARJ1/aA3LzpvSGgCSCATqRTIJj94gSfFdNwn+TLy3uYOo9S3o3KghxA0BMc+aGVkDpLR/f/ld9kJ6U0P8Amfyu+yzfCnfpYuePc6jYZ/t6fefoV2S8t2Z0xw7K1NznmA65yOsOOk+S6c/idgB/evP/ANVX1asPUabNKSaiyyGWCXU6sq7RaXUw3dIjS5zGTx0sua2B0oo40PNEu/syA7MMp7QJECSYsVtMxDhYHSPv6qjFLwZtZU+hKa54rlKG0awY27spccjHBoeQ53ww02Nx6WlBs/Eh9MZXFwZLZIa24ABgNsAdbcVbcgUHmbx8ntZJQXNze4Jdp73LH6S4NtSmC5rSWlxB0LRkc4wRza2y1anIE/oVXrYPrhkvlcHBxFolpGpsPFXaJS8aLXQrztKDINnYRsmIu12ngm2jUaymGEy5wAHO44WQ4foo2n1jQXw9mWewY7TSI8kWG6HZXte2q6GuBgsF4OljC6WzV0ef4HbTnvDd7zA3TmtAB716Odmsph9XFNLGPdVDAT8THVQ+zWmRJA15rT2HsZuFnLBBmMwZLSbFwflzTAiOCs7Uo0aoDarKZp02AtHa4cQ68KFK9hoy6jKNOkW4bC9qoINUUmlzGkjMJc4OOhtmtwWZtnbpw1Wn1WQHtiKpMBrsnbcZzSSzidY1WltbpRh6DWsYc2Ut7LBmhs9rTfE75XlHSTHVMXXfUex7RZrAwQMrbAmSbnUjiSrIxfUPL7nS4jpxXqgtEEZc3ZBEFujbSSD9eCPGPoYlgaTUJgOgNDJPDNlMXnyXBsw7xuqtgR2Zvffoul6K7QykCq3QGJkG7nEi4vrO/VWuyNRW/uLEtAcQ2iQ0WEAxEbpBKS68YiluaI7gkoX8BSNhEEARArzI6AMJ0IKdRAMJwhCIJABhzLW9wUqjpCGjuUilLqwHTgoU4SAJKEwKdMDn/wAQP/b6/c3/APRi8Ucx25e3dOP/AENf/K3/AHtXj9QANceC7XgH9PL/AC+yNVrfWvwM4PINz8kAw7ibBWMKzMS4+C6TYOCBJed1hy4n6ea372VmCt3Rgf1BUy5jA5b1TxVLKcpEOAhw539IPiuux+2g1wZYC24TGon5LN6RYXNSZW3kkHuJJAPd6qCk/cm0av4T7SyYt1LdWZx/aZ2gf9Jf5r14lfPOwNodRiaNX9yo0n/LMO/lJX0IHTx01iJ8NQuf4tirIpr3RsNJK412GcVG4oqpO78lECd/sLT0ZpzfTesRSphrnNJqz2XFpIa10iQdJLVJ0A6RufVqUqri/s5ml1y0tIDmybxBmOR4rL6f4stNEDc2o4d8sAXHbAc5rnFpLZJE77i4XUcPh/Dpd7/M1Opf7xnvOM2oxrZJa0cyOMrnMb03pM7IcX6/CLd0krgSJuSSTrJlOGrYrEvcxXM38X03qusxrWDcT2nfZY2I2hVqfG9zp3E28BoFEhlWKCRBybGTF6TnKFzuCkIMvUuHbeVXaZNr8Vew1KZtooyY0aLKtklWLeCSqJndhEEARBeWnSBhOChBTykBIE6EFEgQND4fF3+4oyV5/wBL/wAQKuErmhSbTdDQS5wcSC4kgQHAHs5fNcpifxIxz9KoZP7lNg8iQSPNbrDwbUZkpqknvuzGnqYQdHtcqGvjWMEve1gGuZwbHmV4TW2xi63x16rgdQajgP8ASDHyT0NiVKlzJ4k3+ZWfD9nn/fP6IpetXsj2Kv00wbJnEUyRqGkvP8gKy8X+KeEZ8PW1L/ssA8e2QvOhsEtkZ2SQRBcBwOo8Fm4/Z9SmO2224i7fMeqzcfAdOvU2ymWsn7Udvt/8SGYmg+kyi5ofAzOcJADgfhA5cVxWKr9iO9UqVSyeq6Qtvp9Nj08eTGqXUxcmSWR3IuYR8NC6bAVsuFcecfO/y+i46lUsum2cDUwrmtEm/m05vmJHir59CEepm4xmYOcYzC8SSZPf5rRxo/8AIGR+03zBUezcMXnKWy2LmRp+7A5Wnde9lL0pqZKDKe9z83OGjXzhRfVEjlF710P2p1+CoPtOTK/jmZ2HHvJbPivBAVu7L6WYmhSNKg7Ixzi42DnAkQYLtNB5LF12meogkuqZbgyrG22ezbU2qyiGOfMEkSATuOu6OZ0WBT6e4VoqF9S/WPhoaXuLQGgHsyNx1K8vxVWtiDNZ76h/xOLvKdFJQ2QdbhYuPheNR873+C2WslflRsdIekrMZiQaYc1opFnaiScxdMAmBBjwU+DpgQBHZFyNJPPesijsIAzmdOtoHotjDsyiFtcWOONKMeiMOcnJtv3LMpsybMgdUV9lVB50D6ijlCXFKwoJzkLBPu57lK2jOvHwVilhzNpnebWUWyVA4fD7t/071cbSAsI52QtbFgL8fVGKf5lQbJCDCnSzlJIDuAiCEIgV5adIEnlCClmRQEgKWZCEnPgSbAXPcLkoSt0B4j0xqdZj8Qf/AJC3/QAz/tnxVPDYXkk6pne5x1c4uP8AESfVamGpNY3M6ST8IBI3amO8L07FDkhGPZJHPzdtslpUGUgC7tPOjeHN32T16rn/ABG24CwHcNFTrHLLiSTxOpP3VJ9Zzzy4fdWEDVptZx+c/RW/6AQ0lpEbwLjuIOoXPhj2748x89FfwG2HMd25vF9/5hJ37El8mdtPZ2XttECe03908R/h+iz5K7PajWlocBr8QGhHELJOBHAKUXZFqjBBW50b2sKbi1xgO0O4HnyIT/1c3gjbs1g/ZHim1aoE6OkqY2m0SIk6kRB8rlc1tJhrvzGYFmjgFZp0gNAPAQpY8FGMaG5WZlLZCu0cA0c1ZDFK0KRECnh43Qp20Ug6ExqJDDiE3WIMyYOTESEoPkip0idFZbSa2/xH35J2Igp0SeQ+akbRGg9VYY0uM/p4qRtHn4/ZRbHRHToe96sSBYD3zTNE6eaXVxokA7bWGpTVakCBrvuiztaOJUDYmSgAmsMapkUngkmB3UpwUITry5o6MJOEwTgoAMLN6TYvq8HiH6EUnAd7hlb8yFpArlfxHxeTAlo/vHsb4SXmeXY+YWTo8fiZ4R+UQyuoN/B5ngKMuG4b+QV19XM4nQDTkAquEdlY48bfdPVfDe/2V6OaAVKgaz4BgDedGt3uPvgpcVjm0+xRGmrjqT6dw+ahdiOrZAN3a9271PlwVUUyLxutwP3SGR1MY8Edqfp5KfNIPLWNL6ObyNvNO9smWARAMTr3XkhRuAD4BnshpMyJAEweEoH0NHCYwkBh00Hvz81PTMge9LLJkgg+K09nmWeJ+qlEiycNThqPwShTIiCIBM0J8yACARNQByUJASShD0TaZKkYwA3QMjZSJUzaQGt0Qvp5KahhpuZ4+CQAAE6fb6KxTwcRmgfL6oz2fh197khJg81GwCc60Dy080/UmJKMNbuBnmfQfSUTqR1J7gNBySGJtOO5IwLwOSF9SNd3DRVy8uMmw3BOgCcJMmEixIE6cU4EoEFfgUkDsQAUkAdyE4QhOvMDpAgiCGU6QBSvPvxWxVsPT5veeNsrR9XeS7+V5R+J2KzYxrZ+Ck0dxcXOPyLT4rb8Fx82qT7Jv7fcxdW6xswjUAa0DvPn8k1SpMd3v6KGq+zeSlDZFuB+hXcmnIqjpPyHhYK5hnOZaS0nlJOkRyMblQBlSsqkRnk2gQdBu+d1Fqxp0O+iRJnk6CBqTaEdHDHsnjfwJIH+0pYLCGo4icrQM1R25rRqTz3AbyQFuUMFcuIyhtyP3QAAGd4bAPN54FSFZjYmnBI4BX8C2Kbed/O6pYl0k8XG3d+v0Wg0xAG6ylEiyWUs6BGFIQ7SianDPe5SwG80AM2lP33Ims97kLKkjQ+KlDCRx5e96QxC+inbRJk3nefuSmZT4x3afoiNcAQLn5DmAkBICBr6gfmnOJ3BQ5Sdb/ruUraE2v4WKQBNd7Klafe5FTpjejDD7Ed0pAO0wgqYiE1arwtx/NVi3ef1RQBF5drpu9FIxk3/ACQMF1IHeQ+Z4pgCXz70Hqo/6WN0+UKV5VSo6TZCAY1CknFM80kwPQZRBACnleXnSBynBQJwUgCleJdMcVnx2IPCoWj+ABnoV7W9+W53X8rr58r1sz3O/ecXeZJ9V0vAMfnnPskv19DX65+VIsip2R78Vb2bVufks6i5S0qmUrqzWE+LoZHcjp74hFRoNME1I5Rf5laFBzXi8HkfdlYpbPp6wf5fskgZPstuaG0mw0GZiZcNHGQOseBMSA1usFXNrVAxnViwF3mZ42k3OpvvJJ3oP6xDGwwZeLjr81h4rFGqcrd58zxKAAodt+aIA0H0+S0Gt4JsLhABE+HqSr1KhynipiK7KJUraHvWEZEcvfFS0qcC/OI0AGveUWAAZqIn3ZPToXE35zZXDQI1Ed+p5eYUT64bMcd9yo2Ams36eXsJVHACdPX7qN4cdbW04b7++KTcIIM31/JMAWmbkwJ8+6fqpW07xvPdu3wo6GzgDMkzrN9x9+CvnDCQZNhYXtI3mb2hKwIwy6na4Jwzuj5JFwEE+ojvskMORzhRVsRwm3yQdXN5t80/Vc91hOt9b6IEQhpP2UzKPL3u+qNtM+/przSrVIs3xKYCc2IA0PxGfko3v+aDrdw08L/ko31kUAn1/H1ULGp9ykpMQBK1hj8/zTpFw3gzycI+YSSA7aU8qniMeymC57gxo1LiALd65raH4kUGSKYdVduPws8zf5LgMegzZPTE38ssY9WdkXLP2j0ioUBNWq1p4TLj3NF15jtTpria0jP1bTuZbzdqufc2bk3W4wcCvfLL/S/6Yk9al6Udz0i/EptRj6dCmYe0tL3mLEQS1ovx1K8/UvVJxQK3+m0uLTR5caMDJllkdyIw5StdKX9FKlZs1x3LJKgqVrgkFXGbRcP2vkPshobFcd/l91eobMaw3gkcTI3eCBlRpfVNpPM6ea0sFgGsFzffeJ98lK2huAtpyVhmE4kTa3P9dyQCYy3D5CPUqYUtJPr3WUlGjA7UDj6mxEd6J1ZrYgfxRJ05+9UWFBChHxQB334WH5b05rgaajfvHIcPzVI4qTb34ourd+XsWTruAfXF2nvcm6jWbnhF1JQsez+n5qVjCfZRYiMC35e40PkpmUzv8VNAGsHRRvM7+/cAErANlXh4+qJ5yjTXUH5T9fBVHVgNFHnk+/f6p0BZqVvz+yKmN59/ZRNZEHVSg8vD3qgAnGeQ3BOBxv70807XXOnrvsnc617cOKQwalaBAUD3ajX8kzjaRru1Mfqgz2k7vf3TEO1yiyp+9OYi3cmIemyTf3wVoARw4HffhzUdEeXP33IwfX0kcgkMEWt6j1SQdW43DUkAcDjMdUrOzVHuef8AEZju4eCiaxSNpqQMSSS2RJuwAxG2mp6dBWKWDOu73oN6BFVtGVO3CcfmFep9n4RfiYkdw0G5LNcl1zvvJm29AENOlGgvxU48PKPkPFSNpZr6e+On6qSlT7gfe9ADUgTa4B755TxU1Okd3xRGvEfPfZWGYMwXHsNsb6+A10BTnHtYIYLxGYxm8Bu3pX2HRLh8ARdzgD58Nw1N/wBUL8UBZgjmdTuJMc581TrYsu7/AHu8/NC2gZvPlHiiu4Ej8QSffyTiiTr79ynp0CNBMeOtr8PfjZYzlB+d/wBE7ENTwwGtuW88796lZTsDE85RCjFz7PP39FLSb+7c6xutxnd77lYxqeGAvp8vL8k76hixjwufspDTIF9d3vduVWpXiwHn9R4oW4BADf3xvjUlRV63nwHqoDUzG35q7h2gjtAaAbgNRJncfPVS6CKTWFx3+ittpQPt771LmDdPC+7n5fNRudOgEosKFlkyd246KcNIF/yJ9d6C0m8+U20DotNgizxc7tPrafBIAnuA1F9wHkDw3aqu98mToPdkg+TN48YJ9lA90ad48tPqmIZ5k3t7+tgo4M+iemYvx970JN5vHvemA7gRv98fMqWnTvNx+sISJ8vCOfz+fBGxmseN+AtaeCQBl0DnFuMRu46JOq6xv048ZQOduNzvnUTf1+ahPPX35/kgAw7u+v0KSEUufnEp0AcW7XwH0ClppJJDLYb8Pd6FTA2nfKSSAHns+KloD+zed4iDvCdJAyfDjT/L6BXtmMHaMCY136pJKMiSHrGXCb9ifHis5/xDv9UkkoikSj4fL6lTNH1H5pJKQizTFvfNNT0HckkkMtDTz+h+wU2E+FvMGecaSkkkwK2OPZB3z91mVD78Skkpx6CZaoj6H0Vhug7/AFCSSbEBiXERfcPVSUHad7vlonSSGHQOg4zPPXVDjRp4+iSSXuIiq6Dw9FXp/wDafoUklJCHpfCP8w+hQz9B6JJIAdx7J7vRWGntAbuG7Ubk6SBkVbT+I/QKA70kkICV5g+X0SSSQI//2Q=="/>
          <p:cNvSpPr>
            <a:spLocks noChangeAspect="1" noChangeArrowheads="1"/>
          </p:cNvSpPr>
          <p:nvPr/>
        </p:nvSpPr>
        <p:spPr bwMode="auto">
          <a:xfrm>
            <a:off x="155575" y="-884238"/>
            <a:ext cx="2466975" cy="18478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0730" name="AutoShape 10" descr="data:image/jpeg;base64,/9j/4AAQSkZJRgABAQAAAQABAAD/2wCEAAkGBhQSERQUEhQVFBQUFRcYFBgXFRUVFBUXFxcXFxUUFBcXHCYeFxokGRcVHy8gIycpLCwsFh4xNTAqNSYrLCkBCQoKDgwOFw8PGiwkHBwpLCksLCwsKSksKSwsKS0sLCwpKSosLCkpLCkpLCwpKSktKi0sKSwpKSksLCksLCwsLP/AABEIAMIBAwMBIgACEQEDEQH/xAAcAAABBQEBAQAAAAAAAAAAAAACAAEDBAUGBwj/xABGEAABAwIDBAgEAwQIBAcAAAABAAIRAyEEEjEFQVFhBhMicYGRwfAyobHRB+HxQlKCohQVI0NicpKyM1NzwhYkNDVjg7P/xAAbAQACAgMBAAAAAAAAAAAAAAAAAQIDBAUGB//EADERAAICAQIEBQIDCQAAAAAAAAABAhEDBCEFEjFREyIyQWGRwXGx8AYjJDM0QnKB0f/aAAwDAQACEQMRAD8A6N5spaL5CCjkcPgA7i5v0KmbQbuL2+LXf7guEqLe0vqb3fsEHEXFiNOR3KwzauJkDrKZkN/uo1A/xd6hZQP748Weod6K1SdUg3BmIh53d4C3vDMsMMZKclua/V45TacUSs2tiZM9QQJ/YqNJgxrnP0VTbO06z6bQ6nTjrqZlr3l0tex3w5B9VaFR9td8mx1iBa537kG0GOc0BvFh+HQgtk3HJbeWpxuLakvqYUcMlJWi1/4lqB7WuoalgJFUWzlt4y3jMuhC5h9IkRLcxIgw2RHl/hUrcbidetpkf9MC8SB8fEK9StFdUzfxGGbUa5j2hzHAhzSJBB1BCw89TA2cXVcIP2yS+thhwfvq0h+98TRrIEpn7VxI06juIdOk7qi0tk491TOHhsscBLZggiQbk/VOxl2lUDmhzSHNcAWkEEEG4IIsQjhc/isM7BZq1ATh5L69AfsDV9bD8CLudT0NyINnb7HggEXBEjmDoUxUPCUJ0kWOhKDGUnuYRSdkdudlD48DZcb+KvS+tgqNIYchr6zngvgEtawNJDQ4ESS4XI0B4rzPHdL6uMp0xiMQ8OpyeyerBJOpDIDtBciRfigKPUsTgKgZi6jsXXljM3Y6ugHFlLMGuyMzC4jskarD/D7ZNPG03nEAvyuD3S+oc5eXOOYZ8puCSSJM3KPAbRp1dmYys1z3dXQc2Kj+sOZtINLy4iXHfJ49ys/hLUa2i/M8Bz3MDWlwBJAeYaDc/F8krGdfR6M4ZhlmHottBHVsg77iNefNXKeHa1oa0Q1vwgC7f8vK5VhVsTjWMMOd2okNALnxpIawF0TviE7ENjMcyjTdUquDGNEucT2QPdo3ptn7SpV6YqUXtqMMw5pkSNRyPIrgfxG6U0qtB2HoB9Wp1jM2WWtBa6SHgwSZ3QIMGbLf/D0MbhQxrs1Sc1UWs4gCxGrQGgTyVfix5lG9y96bIoc7To6iE0JwnVhQMkEkkgCkICkmQA0JoTpk7FQ0ISESYp2RojhJEQmRYqOJajDlGEYXmSe51BK1yfMo04cnzsKDSKYFOouQEtOsR+atUsQDaAJImSdwMb+aoyiWdpeIZtO/K7XZlGXBDJ16mm9lpiN2p0iLIWYMSSDUB4NqvaHRa4bYmOSqUq5HMKzRqg7zI/w93NdTpOJ4dRt0l2f2NXm0s8e63QO1MO7qaoD6wHVPtmBBlhlplkwj2RtLq6TatapVc1zGwCQQ3MCbAAaQljP+FU7J+Bx035DbTiuQ270kpUtn0WQRVrU6Ya02OVste+QLDhxWz/Axl8nbHprQIOQl5E2lguNxl1l5ftT8Wcc95DJpC0No0RUIGt6lQHMfAdyr7TwVPqqlZzMlSGw1oi7oAcBvBmbc1xuIq5msc7LcaOe8CQSLMb4eaqk5GRFRNfbPSbFYoAYg16jQZAqOZTY0wRmytAAME+av9Edh4esajcQBdrS0MqElpALnNJFpy5VyDnsab9UD/wBOo8/zlb2zNq9Q0FmU1XsLhlblytMhrjBhpDRIGsd4VWRS5dn+ZbCrPR+j3RyjQZWp0KzyK0ZmudaIcHQ1uUOBBi4OmqfZPRp2EosbSDHVGVqTyR2Q4McC4nfJA0lefdVWq0qlYEBlIFz2h4Ybt7LmAXJBvrNtbmKWE6UYqk4A1qxa0jrHBznGN5k7j6hQ8HK68113IrLDfbqe0VulOIAkta0R+7Md5BIWLiOkld2d9JzWlwEvDZyuyw2DoQQB2TbsyIN1zeB6VPrmiGuLs2YuLi6GQXMkBsZhYkgzqFps2k+oAxzmilmkMEAgtJa59S+YuMEy6/a4QovPOMXzdS2OCLdoxNp7CrUnND805nZHgGHWtDA0/OZuF334cYKu1jnVqLqQyw0kRnOYhxDT2h8IN41XnTcayvtGo8EPY6q7I4XJaDlAvuIykcl7J0S2V1NCc09a7OBAAYCAABGukknjyCMa86i1ut7M7U5Lwcyfq2rvRsJZkBrDMRN2gFw5OzQf5XeSiqY9jW5iYbBMmwgamTuWwNGWSVD/AEtkgZ2SdBmbJmwgTe4PkvPNq/ic2qX06FIObDi2q42PVzUD8hbpLBYn7Kn0C6R4ipiAHvD2PEvL7kFrHHsSZB4gCI4KPMI9UTKp/WDJjNooK+26LfiqMH8Q04jjuUgNEoSViVellEMc8Z3Bua4a6CW7g7TxVVnTeg4DtZSdxIkcQlY6OkJQysA9MaO5zT/G1X27WYYGYSflabz3oTFRfzJKidp0/wDmM/1BJMicsjahCILzOzpggE4CYIgo2AgE4CSUpdQHCIFOKp3nzAlPn9wE9l7iGlFKXWd3kEs3d5BSVdwJ2YixDmh0jfPoRK4bp70Vc9tGtSN6dEMeAHOl7GlzSBqM0Eaa5RvXaB3IJZhEEAzbfB7xv7lttLxTLi2k7XyY2TTQlukeT9HjUZmOIzbsrX5gRvkixG6Ady034jD6dVSsJH9myw8lt9NujrH0XVaQ6uo0NADTDCJDYI3ADhwXntbYGIcey5rRzcfQFbvHnjqvOpUU8nhKqPQtkPoVqNamabXEgCwbOX90SCL6eK8yY4OxLxmkXaDYTHZ7MWiBbluC6rolhThi91b+0ccuSCYbE5gRbMDI8keF2bSpOJp0wJMyZLvMkwOQRDI8UprrfQco8/Kyvs/AhjCwF5Y8AOaTIPDSDKqYTZmJfR6oU2y5xObM4PGYQ6mRmIg903K6jAtz1GtMjMdbfRdfhcMymIYMvE6k95VT1k8W73ZLwYS2R51h+iWMotpmmxocxrx/xW5hmMze07/dosLsKvRcCaNcugg5A1zSDYkkE6fbgvT3AexCtU8Mzq85tqO87jyRj1k8japdxSxRjTPPNibKYyqXVKFYCTAY0iC97w2SQRAYGExoTyXsezHTRpkAxlEZozab+a5F73XDGl7ocQ0FrZgTcuIAGl79yTXuAEy07xJMOgZhOjoJ1Cthq5RXiuO3QWSCmliT3W50subii4/A+lTZ/G11d8+RI8vDzbp3tJ721aTajwOtIcwtLQQHGGtdF26HXRdI/GVIltRwIFjP0lY20el9JlR7a0sdJOVzXOLmk2c3KC0g98rOwauGf09UYWTBKHU4zZmy3scc7Q0PpVo3mDQcbaxq0/xDkhzmgWlpc29nAkAOsN1pgH3p179p0q0xTd2WG8BvZiCxvanfFwsrEbLzAwwinaznh4FxoIEbxqe8q9spaJOje3pqhlWo54zAhwBJNpIE6DwXQ7WpMGXtsIdGXtS9kMI7YAAklwI4RzXD7PBpZoMFrHfsn9lruOnnuW3SrOdUqgvyZWuyktzCWOYwgdmxk5ZmJMmIQOKdFzaeGbckuYCJApshjgZFgXGPEzdUMPgmZ2k5i28zFN3AdrNAvHmnBqNbFjJtJeCXHUkuJHhAU2A2dVe6icrWuD3OaXA2LNbRM5SN15Clz0yXImrsjdgKdOQA48w18G5B+Im3MSrIqdSwOcS1xnLEEA2A7U3IIPK9uW27ChlJ05ptOc5g0CoXWaBckc1x228W8FriTlEBzoaABIANiOJUupBbEGJ2w1riMgJGpMyTFyQDAJ4JKvW2q3McoBG4lziSPBwCSr54is75EEKcLzWzpAwnQgp0rAIJ0wThJPcBU3SBzARqNhsO4I0PqA6dMiRYCSlMUhv97lJMDP6QO/sHaCYuTA+IancuQohhdaq10n4Q+mSwCL2hxuY7+C6vpTiAzC1HOMARJ1/aA3LzpvSGgCSCATqRTIJj94gSfFdNwn+TLy3uYOo9S3o3KghxA0BMc+aGVkDpLR/f/ld9kJ6U0P8Amfyu+yzfCnfpYuePc6jYZ/t6fefoV2S8t2Z0xw7K1NznmA65yOsOOk+S6c/idgB/evP/ANVX1asPUabNKSaiyyGWCXU6sq7RaXUw3dIjS5zGTx0sua2B0oo40PNEu/syA7MMp7QJECSYsVtMxDhYHSPv6qjFLwZtZU+hKa54rlKG0awY27spccjHBoeQ53ww02Nx6WlBs/Eh9MZXFwZLZIa24ABgNsAdbcVbcgUHmbx8ntZJQXNze4Jdp73LH6S4NtSmC5rSWlxB0LRkc4wRza2y1anIE/oVXrYPrhkvlcHBxFolpGpsPFXaJS8aLXQrztKDINnYRsmIu12ngm2jUaymGEy5wAHO44WQ4foo2n1jQXw9mWewY7TSI8kWG6HZXte2q6GuBgsF4OljC6WzV0ef4HbTnvDd7zA3TmtAB716Odmsph9XFNLGPdVDAT8THVQ+zWmRJA15rT2HsZuFnLBBmMwZLSbFwflzTAiOCs7Uo0aoDarKZp02AtHa4cQ68KFK9hoy6jKNOkW4bC9qoINUUmlzGkjMJc4OOhtmtwWZtnbpw1Wn1WQHtiKpMBrsnbcZzSSzidY1WltbpRh6DWsYc2Ut7LBmhs9rTfE75XlHSTHVMXXfUex7RZrAwQMrbAmSbnUjiSrIxfUPL7nS4jpxXqgtEEZc3ZBEFujbSSD9eCPGPoYlgaTUJgOgNDJPDNlMXnyXBsw7xuqtgR2Zvffoul6K7QykCq3QGJkG7nEi4vrO/VWuyNRW/uLEtAcQ2iQ0WEAxEbpBKS68YiluaI7gkoX8BSNhEEARArzI6AMJ0IKdRAMJwhCIJABhzLW9wUqjpCGjuUilLqwHTgoU4SAJKEwKdMDn/wAQP/b6/c3/APRi8Ucx25e3dOP/AENf/K3/AHtXj9QANceC7XgH9PL/AC+yNVrfWvwM4PINz8kAw7ibBWMKzMS4+C6TYOCBJed1hy4n6ea372VmCt3Rgf1BUy5jA5b1TxVLKcpEOAhw539IPiuux+2g1wZYC24TGon5LN6RYXNSZW3kkHuJJAPd6qCk/cm0av4T7SyYt1LdWZx/aZ2gf9Jf5r14lfPOwNodRiaNX9yo0n/LMO/lJX0IHTx01iJ8NQuf4tirIpr3RsNJK412GcVG4oqpO78lECd/sLT0ZpzfTesRSphrnNJqz2XFpIa10iQdJLVJ0A6RufVqUqri/s5ml1y0tIDmybxBmOR4rL6f4stNEDc2o4d8sAXHbAc5rnFpLZJE77i4XUcPh/Dpd7/M1Opf7xnvOM2oxrZJa0cyOMrnMb03pM7IcX6/CLd0krgSJuSSTrJlOGrYrEvcxXM38X03qusxrWDcT2nfZY2I2hVqfG9zp3E28BoFEhlWKCRBybGTF6TnKFzuCkIMvUuHbeVXaZNr8Vew1KZtooyY0aLKtklWLeCSqJndhEEARBeWnSBhOChBTykBIE6EFEgQND4fF3+4oyV5/wBL/wAQKuErmhSbTdDQS5wcSC4kgQHAHs5fNcpifxIxz9KoZP7lNg8iQSPNbrDwbUZkpqknvuzGnqYQdHtcqGvjWMEve1gGuZwbHmV4TW2xi63x16rgdQajgP8ASDHyT0NiVKlzJ4k3+ZWfD9nn/fP6IpetXsj2Kv00wbJnEUyRqGkvP8gKy8X+KeEZ8PW1L/ssA8e2QvOhsEtkZ2SQRBcBwOo8Fm4/Z9SmO2224i7fMeqzcfAdOvU2ymWsn7Udvt/8SGYmg+kyi5ofAzOcJADgfhA5cVxWKr9iO9UqVSyeq6Qtvp9Nj08eTGqXUxcmSWR3IuYR8NC6bAVsuFcecfO/y+i46lUsum2cDUwrmtEm/m05vmJHir59CEepm4xmYOcYzC8SSZPf5rRxo/8AIGR+03zBUezcMXnKWy2LmRp+7A5Wnde9lL0pqZKDKe9z83OGjXzhRfVEjlF710P2p1+CoPtOTK/jmZ2HHvJbPivBAVu7L6WYmhSNKg7Ixzi42DnAkQYLtNB5LF12meogkuqZbgyrG22ezbU2qyiGOfMEkSATuOu6OZ0WBT6e4VoqF9S/WPhoaXuLQGgHsyNx1K8vxVWtiDNZ76h/xOLvKdFJQ2QdbhYuPheNR873+C2WslflRsdIekrMZiQaYc1opFnaiScxdMAmBBjwU+DpgQBHZFyNJPPesijsIAzmdOtoHotjDsyiFtcWOONKMeiMOcnJtv3LMpsybMgdUV9lVB50D6ijlCXFKwoJzkLBPu57lK2jOvHwVilhzNpnebWUWyVA4fD7t/071cbSAsI52QtbFgL8fVGKf5lQbJCDCnSzlJIDuAiCEIgV5adIEnlCClmRQEgKWZCEnPgSbAXPcLkoSt0B4j0xqdZj8Qf/AJC3/QAz/tnxVPDYXkk6pne5x1c4uP8AESfVamGpNY3M6ST8IBI3amO8L07FDkhGPZJHPzdtslpUGUgC7tPOjeHN32T16rn/ABG24CwHcNFTrHLLiSTxOpP3VJ9Zzzy4fdWEDVptZx+c/RW/6AQ0lpEbwLjuIOoXPhj2748x89FfwG2HMd25vF9/5hJ37El8mdtPZ2XttECe03908R/h+iz5K7PajWlocBr8QGhHELJOBHAKUXZFqjBBW50b2sKbi1xgO0O4HnyIT/1c3gjbs1g/ZHim1aoE6OkqY2m0SIk6kRB8rlc1tJhrvzGYFmjgFZp0gNAPAQpY8FGMaG5WZlLZCu0cA0c1ZDFK0KRECnh43Qp20Ug6ExqJDDiE3WIMyYOTESEoPkip0idFZbSa2/xH35J2Igp0SeQ+akbRGg9VYY0uM/p4qRtHn4/ZRbHRHToe96sSBYD3zTNE6eaXVxokA7bWGpTVakCBrvuiztaOJUDYmSgAmsMapkUngkmB3UpwUITry5o6MJOEwTgoAMLN6TYvq8HiH6EUnAd7hlb8yFpArlfxHxeTAlo/vHsb4SXmeXY+YWTo8fiZ4R+UQyuoN/B5ngKMuG4b+QV19XM4nQDTkAquEdlY48bfdPVfDe/2V6OaAVKgaz4BgDedGt3uPvgpcVjm0+xRGmrjqT6dw+ahdiOrZAN3a9271PlwVUUyLxutwP3SGR1MY8Edqfp5KfNIPLWNL6ObyNvNO9smWARAMTr3XkhRuAD4BnshpMyJAEweEoH0NHCYwkBh00Hvz81PTMge9LLJkgg+K09nmWeJ+qlEiycNThqPwShTIiCIBM0J8yACARNQByUJASShD0TaZKkYwA3QMjZSJUzaQGt0Qvp5KahhpuZ4+CQAAE6fb6KxTwcRmgfL6oz2fh197khJg81GwCc60Dy080/UmJKMNbuBnmfQfSUTqR1J7gNBySGJtOO5IwLwOSF9SNd3DRVy8uMmw3BOgCcJMmEixIE6cU4EoEFfgUkDsQAUkAdyE4QhOvMDpAgiCGU6QBSvPvxWxVsPT5veeNsrR9XeS7+V5R+J2KzYxrZ+Ck0dxcXOPyLT4rb8Fx82qT7Jv7fcxdW6xswjUAa0DvPn8k1SpMd3v6KGq+zeSlDZFuB+hXcmnIqjpPyHhYK5hnOZaS0nlJOkRyMblQBlSsqkRnk2gQdBu+d1Fqxp0O+iRJnk6CBqTaEdHDHsnjfwJIH+0pYLCGo4icrQM1R25rRqTz3AbyQFuUMFcuIyhtyP3QAAGd4bAPN54FSFZjYmnBI4BX8C2Kbed/O6pYl0k8XG3d+v0Wg0xAG6ylEiyWUs6BGFIQ7SianDPe5SwG80AM2lP33Ims97kLKkjQ+KlDCRx5e96QxC+inbRJk3nefuSmZT4x3afoiNcAQLn5DmAkBICBr6gfmnOJ3BQ5Sdb/ruUraE2v4WKQBNd7Klafe5FTpjejDD7Ed0pAO0wgqYiE1arwtx/NVi3ef1RQBF5drpu9FIxk3/ACQMF1IHeQ+Z4pgCXz70Hqo/6WN0+UKV5VSo6TZCAY1CknFM80kwPQZRBACnleXnSBynBQJwUgCleJdMcVnx2IPCoWj+ABnoV7W9+W53X8rr58r1sz3O/ecXeZJ9V0vAMfnnPskv19DX65+VIsip2R78Vb2bVufks6i5S0qmUrqzWE+LoZHcjp74hFRoNME1I5Rf5laFBzXi8HkfdlYpbPp6wf5fskgZPstuaG0mw0GZiZcNHGQOseBMSA1usFXNrVAxnViwF3mZ42k3OpvvJJ3oP6xDGwwZeLjr81h4rFGqcrd58zxKAAodt+aIA0H0+S0Gt4JsLhABE+HqSr1KhynipiK7KJUraHvWEZEcvfFS0qcC/OI0AGveUWAAZqIn3ZPToXE35zZXDQI1Ed+p5eYUT64bMcd9yo2Ams36eXsJVHACdPX7qN4cdbW04b7++KTcIIM31/JMAWmbkwJ8+6fqpW07xvPdu3wo6GzgDMkzrN9x9+CvnDCQZNhYXtI3mb2hKwIwy6na4Jwzuj5JFwEE+ojvskMORzhRVsRwm3yQdXN5t80/Vc91hOt9b6IEQhpP2UzKPL3u+qNtM+/przSrVIs3xKYCc2IA0PxGfko3v+aDrdw08L/ko31kUAn1/H1ULGp9ykpMQBK1hj8/zTpFw3gzycI+YSSA7aU8qniMeymC57gxo1LiALd65raH4kUGSKYdVduPws8zf5LgMegzZPTE38ssY9WdkXLP2j0ioUBNWq1p4TLj3NF15jtTpria0jP1bTuZbzdqufc2bk3W4wcCvfLL/S/6Yk9al6Udz0i/EptRj6dCmYe0tL3mLEQS1ovx1K8/UvVJxQK3+m0uLTR5caMDJllkdyIw5StdKX9FKlZs1x3LJKgqVrgkFXGbRcP2vkPshobFcd/l91eobMaw3gkcTI3eCBlRpfVNpPM6ea0sFgGsFzffeJ98lK2huAtpyVhmE4kTa3P9dyQCYy3D5CPUqYUtJPr3WUlGjA7UDj6mxEd6J1ZrYgfxRJ05+9UWFBChHxQB334WH5b05rgaajfvHIcPzVI4qTb34ourd+XsWTruAfXF2nvcm6jWbnhF1JQsez+n5qVjCfZRYiMC35e40PkpmUzv8VNAGsHRRvM7+/cAErANlXh4+qJ5yjTXUH5T9fBVHVgNFHnk+/f6p0BZqVvz+yKmN59/ZRNZEHVSg8vD3qgAnGeQ3BOBxv70807XXOnrvsnc617cOKQwalaBAUD3ajX8kzjaRru1Mfqgz2k7vf3TEO1yiyp+9OYi3cmIemyTf3wVoARw4HffhzUdEeXP33IwfX0kcgkMEWt6j1SQdW43DUkAcDjMdUrOzVHuef8AEZju4eCiaxSNpqQMSSS2RJuwAxG2mp6dBWKWDOu73oN6BFVtGVO3CcfmFep9n4RfiYkdw0G5LNcl1zvvJm29AENOlGgvxU48PKPkPFSNpZr6e+On6qSlT7gfe9ADUgTa4B755TxU1Okd3xRGvEfPfZWGYMwXHsNsb6+A10BTnHtYIYLxGYxm8Bu3pX2HRLh8ARdzgD58Nw1N/wBUL8UBZgjmdTuJMc581TrYsu7/AHu8/NC2gZvPlHiiu4Ej8QSffyTiiTr79ynp0CNBMeOtr8PfjZYzlB+d/wBE7ENTwwGtuW88796lZTsDE85RCjFz7PP39FLSb+7c6xutxnd77lYxqeGAvp8vL8k76hixjwufspDTIF9d3vduVWpXiwHn9R4oW4BADf3xvjUlRV63nwHqoDUzG35q7h2gjtAaAbgNRJncfPVS6CKTWFx3+ittpQPt771LmDdPC+7n5fNRudOgEosKFlkyd246KcNIF/yJ9d6C0m8+U20DotNgizxc7tPrafBIAnuA1F9wHkDw3aqu98mToPdkg+TN48YJ9lA90ad48tPqmIZ5k3t7+tgo4M+iemYvx970JN5vHvemA7gRv98fMqWnTvNx+sISJ8vCOfz+fBGxmseN+AtaeCQBl0DnFuMRu46JOq6xv048ZQOduNzvnUTf1+ahPPX35/kgAw7u+v0KSEUufnEp0AcW7XwH0ClppJJDLYb8Pd6FTA2nfKSSAHns+KloD+zed4iDvCdJAyfDjT/L6BXtmMHaMCY136pJKMiSHrGXCb9ifHis5/xDv9UkkoikSj4fL6lTNH1H5pJKQizTFvfNNT0HckkkMtDTz+h+wU2E+FvMGecaSkkkwK2OPZB3z91mVD78Skkpx6CZaoj6H0Vhug7/AFCSSbEBiXERfcPVSUHad7vlonSSGHQOg4zPPXVDjRp4+iSSXuIiq6Dw9FXp/wDafoUklJCHpfCP8w+hQz9B6JJIAdx7J7vRWGntAbuG7Ubk6SBkVbT+I/QKA70kkICV5g+X0SSSQI//2Q=="/>
          <p:cNvSpPr>
            <a:spLocks noChangeAspect="1" noChangeArrowheads="1"/>
          </p:cNvSpPr>
          <p:nvPr/>
        </p:nvSpPr>
        <p:spPr bwMode="auto">
          <a:xfrm>
            <a:off x="155575" y="-884238"/>
            <a:ext cx="2466975" cy="18478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ítulo 1"/>
          <p:cNvSpPr>
            <a:spLocks noGrp="1"/>
          </p:cNvSpPr>
          <p:nvPr>
            <p:ph type="title"/>
          </p:nvPr>
        </p:nvSpPr>
        <p:spPr bwMode="auto">
          <a:xfrm>
            <a:off x="1187624" y="692696"/>
            <a:ext cx="7499176" cy="72494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pt-BR" sz="3600" smtClean="0"/>
              <a:t>O tema principal deve ser computação</a:t>
            </a:r>
          </a:p>
        </p:txBody>
      </p:sp>
      <p:sp>
        <p:nvSpPr>
          <p:cNvPr id="31747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187624" y="1556791"/>
            <a:ext cx="7499176" cy="4569371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sz="2400" dirty="0" smtClean="0"/>
              <a:t>O aluno de computação deve evitar a tentação de </a:t>
            </a:r>
            <a:r>
              <a:rPr lang="pt-BR" sz="2400" i="1" dirty="0" smtClean="0"/>
              <a:t>contribuir</a:t>
            </a:r>
            <a:r>
              <a:rPr lang="pt-BR" sz="2400" dirty="0" smtClean="0"/>
              <a:t> para uma área (de aplicação) que ele não conhece ou que conhece muito pouco. </a:t>
            </a:r>
          </a:p>
          <a:p>
            <a:pPr eaLnBrk="1" hangingPunct="1"/>
            <a:r>
              <a:rPr lang="pt-BR" sz="2400" dirty="0" smtClean="0"/>
              <a:t>Por exemplo, uma monografia sobre Informática aplicada à Medicina deve apresentar contribuições em relação às ferramentas de Computação aplicada à Medicina e às melhorias que podem ser obtidas. </a:t>
            </a:r>
          </a:p>
          <a:p>
            <a:pPr eaLnBrk="1" hangingPunct="1"/>
            <a:r>
              <a:rPr lang="pt-BR" sz="2400" dirty="0" smtClean="0"/>
              <a:t>Dificilmente o aluno de Computação irá propor e defender uma nova técnica cirúrgica. </a:t>
            </a:r>
          </a:p>
          <a:p>
            <a:pPr eaLnBrk="1" hangingPunct="1"/>
            <a:endParaRPr lang="pt-BR" sz="2400" dirty="0" smtClean="0"/>
          </a:p>
        </p:txBody>
      </p:sp>
      <p:pic>
        <p:nvPicPr>
          <p:cNvPr id="29698" name="Picture 2" descr="https://encrypted-tbn3.google.com/images?q=tbn:ANd9GcSygHvs4uP0f5cGCg7rJ6owlC_0kQzEGEvEggycypBfiITlZYoOhQ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32240" y="4797152"/>
            <a:ext cx="1905000" cy="1905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314016" cy="1143000"/>
          </a:xfrm>
        </p:spPr>
        <p:txBody>
          <a:bodyPr/>
          <a:lstStyle/>
          <a:p>
            <a:r>
              <a:rPr lang="pt-BR" dirty="0" smtClean="0"/>
              <a:t>Projeto de Pesquisa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pt-BR" dirty="0" smtClean="0"/>
              <a:t>Tema</a:t>
            </a:r>
          </a:p>
          <a:p>
            <a:pPr lvl="0"/>
            <a:r>
              <a:rPr lang="pt-BR" dirty="0" smtClean="0"/>
              <a:t>Problema </a:t>
            </a:r>
          </a:p>
          <a:p>
            <a:pPr lvl="0"/>
            <a:r>
              <a:rPr lang="pt-BR" dirty="0" smtClean="0"/>
              <a:t>Trabalhos Correlatos</a:t>
            </a:r>
          </a:p>
          <a:p>
            <a:pPr lvl="0"/>
            <a:r>
              <a:rPr lang="pt-BR" dirty="0" smtClean="0"/>
              <a:t>Objetivo</a:t>
            </a:r>
          </a:p>
          <a:p>
            <a:pPr lvl="0"/>
            <a:r>
              <a:rPr lang="pt-BR" dirty="0" smtClean="0"/>
              <a:t>Objetivos Específicos</a:t>
            </a:r>
          </a:p>
          <a:p>
            <a:pPr lvl="0"/>
            <a:r>
              <a:rPr lang="pt-BR" dirty="0" smtClean="0"/>
              <a:t>Hipótese</a:t>
            </a:r>
          </a:p>
          <a:p>
            <a:pPr lvl="0"/>
            <a:r>
              <a:rPr lang="pt-BR" dirty="0" smtClean="0"/>
              <a:t>Justificativa da Hipótese</a:t>
            </a:r>
          </a:p>
          <a:p>
            <a:pPr lvl="0"/>
            <a:r>
              <a:rPr lang="pt-BR" dirty="0" smtClean="0"/>
              <a:t>Método</a:t>
            </a:r>
          </a:p>
          <a:p>
            <a:pPr lvl="0"/>
            <a:r>
              <a:rPr lang="pt-BR" dirty="0" smtClean="0"/>
              <a:t>Resultados Esperados</a:t>
            </a:r>
          </a:p>
          <a:p>
            <a:pPr lvl="0"/>
            <a:r>
              <a:rPr lang="pt-BR" dirty="0" smtClean="0"/>
              <a:t>Limitações</a:t>
            </a:r>
          </a:p>
        </p:txBody>
      </p:sp>
      <p:pic>
        <p:nvPicPr>
          <p:cNvPr id="34818" name="Picture 2" descr="https://encrypted-tbn2.google.com/images?q=tbn:ANd9GcTRAxDlzRILKWXx11eXrkmb6UaxX1qvEnfx2-xlDKBkoT4rR8Zta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7384"/>
            <a:ext cx="1634283" cy="1224136"/>
          </a:xfrm>
          <a:prstGeom prst="rect">
            <a:avLst/>
          </a:prstGeom>
          <a:noFill/>
        </p:spPr>
      </p:pic>
      <p:sp>
        <p:nvSpPr>
          <p:cNvPr id="5" name="Retângulo 4"/>
          <p:cNvSpPr/>
          <p:nvPr/>
        </p:nvSpPr>
        <p:spPr>
          <a:xfrm>
            <a:off x="1403648" y="1872534"/>
            <a:ext cx="4608512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ítulo 1"/>
          <p:cNvSpPr>
            <a:spLocks noGrp="1"/>
          </p:cNvSpPr>
          <p:nvPr>
            <p:ph type="title"/>
          </p:nvPr>
        </p:nvSpPr>
        <p:spPr bwMode="auto">
          <a:xfrm>
            <a:off x="1187624" y="404665"/>
            <a:ext cx="7499176" cy="1012974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pt-BR" b="1" dirty="0" smtClean="0"/>
              <a:t>O Problema</a:t>
            </a:r>
            <a:endParaRPr lang="pt-BR" dirty="0" smtClean="0"/>
          </a:p>
        </p:txBody>
      </p:sp>
      <p:sp>
        <p:nvSpPr>
          <p:cNvPr id="32771" name="Espaço Reservado para Conteúdo 2"/>
          <p:cNvSpPr>
            <a:spLocks noGrp="1"/>
          </p:cNvSpPr>
          <p:nvPr>
            <p:ph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sz="2400" dirty="0" smtClean="0"/>
              <a:t>Uma dissertação deve apresentar uma solução para um </a:t>
            </a:r>
            <a:r>
              <a:rPr lang="pt-BR" sz="2400" dirty="0" smtClean="0">
                <a:solidFill>
                  <a:srgbClr val="C00000"/>
                </a:solidFill>
              </a:rPr>
              <a:t>problema</a:t>
            </a:r>
            <a:r>
              <a:rPr lang="pt-BR" sz="2400" dirty="0" smtClean="0"/>
              <a:t>.</a:t>
            </a:r>
          </a:p>
          <a:p>
            <a:pPr eaLnBrk="1" hangingPunct="1"/>
            <a:r>
              <a:rPr lang="pt-BR" sz="2400" dirty="0" smtClean="0"/>
              <a:t>Seria errado iniciar a dissertação simplesmente resolvendo criar um </a:t>
            </a:r>
            <a:r>
              <a:rPr lang="pt-BR" sz="2400" i="1" dirty="0" smtClean="0">
                <a:solidFill>
                  <a:srgbClr val="0070C0"/>
                </a:solidFill>
              </a:rPr>
              <a:t>novo</a:t>
            </a:r>
            <a:r>
              <a:rPr lang="pt-BR" sz="2400" dirty="0" smtClean="0"/>
              <a:t> método para isso ou aquilo.  </a:t>
            </a:r>
          </a:p>
          <a:p>
            <a:pPr eaLnBrk="1" hangingPunct="1"/>
            <a:r>
              <a:rPr lang="pt-BR" sz="2400" dirty="0" smtClean="0"/>
              <a:t>Se o autor não consegue estabelecer claramente qual é o problema tratado em sua monografia, vai ser muito difícil para outras pessoas especularem sobre os possíveis usos dela. </a:t>
            </a:r>
          </a:p>
          <a:p>
            <a:pPr eaLnBrk="1" hangingPunct="1"/>
            <a:r>
              <a:rPr lang="pt-BR" sz="2400" dirty="0" smtClean="0"/>
              <a:t>Também será difícil avaliar se ela </a:t>
            </a:r>
            <a:br>
              <a:rPr lang="pt-BR" sz="2400" dirty="0" smtClean="0"/>
            </a:br>
            <a:r>
              <a:rPr lang="pt-BR" sz="2400" dirty="0" smtClean="0"/>
              <a:t>obteve sucesso.</a:t>
            </a:r>
          </a:p>
          <a:p>
            <a:pPr eaLnBrk="1" hangingPunct="1"/>
            <a:endParaRPr lang="pt-BR" sz="2400" dirty="0" smtClean="0"/>
          </a:p>
        </p:txBody>
      </p:sp>
      <p:pic>
        <p:nvPicPr>
          <p:cNvPr id="27650" name="Picture 2" descr="https://encrypted-tbn3.google.com/images?q=tbn:ANd9GcS0KarTfE9Jk_FJTL_3x0kxh4BqSfiSe6TW08KGf9gOvvNGkFa98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00192" y="4365104"/>
            <a:ext cx="2000250" cy="22860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ítulo 1"/>
          <p:cNvSpPr>
            <a:spLocks noGrp="1"/>
          </p:cNvSpPr>
          <p:nvPr>
            <p:ph type="title"/>
          </p:nvPr>
        </p:nvSpPr>
        <p:spPr bwMode="auto">
          <a:xfrm>
            <a:off x="1115616" y="785813"/>
            <a:ext cx="7571184" cy="6318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pt-BR" smtClean="0"/>
              <a:t>O problema tem três partes</a:t>
            </a:r>
          </a:p>
        </p:txBody>
      </p:sp>
      <p:sp>
        <p:nvSpPr>
          <p:cNvPr id="3379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115616" y="2000250"/>
            <a:ext cx="7571184" cy="412591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/>
            <a:r>
              <a:rPr lang="pt-BR" dirty="0" smtClean="0"/>
              <a:t>Um </a:t>
            </a:r>
            <a:r>
              <a:rPr lang="pt-BR" dirty="0" smtClean="0">
                <a:solidFill>
                  <a:srgbClr val="FF0000"/>
                </a:solidFill>
              </a:rPr>
              <a:t>enunciado</a:t>
            </a:r>
            <a:r>
              <a:rPr lang="pt-BR" dirty="0" smtClean="0"/>
              <a:t> preciso da questão ou problema que a dissertação trata.</a:t>
            </a:r>
          </a:p>
          <a:p>
            <a:pPr eaLnBrk="1" hangingPunct="1"/>
            <a:r>
              <a:rPr lang="pt-BR" dirty="0" smtClean="0"/>
              <a:t>Uma </a:t>
            </a:r>
            <a:r>
              <a:rPr lang="pt-BR" dirty="0" smtClean="0">
                <a:solidFill>
                  <a:srgbClr val="00B050"/>
                </a:solidFill>
              </a:rPr>
              <a:t>explicação</a:t>
            </a:r>
            <a:r>
              <a:rPr lang="pt-BR" dirty="0" smtClean="0"/>
              <a:t> por referência direta à bibliografia de que esta questão de pesquisa ainda não foi tratada.</a:t>
            </a:r>
          </a:p>
          <a:p>
            <a:pPr eaLnBrk="1" hangingPunct="1"/>
            <a:r>
              <a:rPr lang="pt-BR" dirty="0" smtClean="0"/>
              <a:t>Uma </a:t>
            </a:r>
            <a:r>
              <a:rPr lang="pt-BR" dirty="0" smtClean="0">
                <a:solidFill>
                  <a:srgbClr val="0070C0"/>
                </a:solidFill>
              </a:rPr>
              <a:t>justificativa </a:t>
            </a:r>
            <a:r>
              <a:rPr lang="pt-BR" dirty="0" smtClean="0"/>
              <a:t>sobre porque é importante tratar essa questão de pesquisa.</a:t>
            </a:r>
          </a:p>
          <a:p>
            <a:pPr eaLnBrk="1" hangingPunct="1"/>
            <a:endParaRPr lang="pt-BR" dirty="0" smtClean="0"/>
          </a:p>
        </p:txBody>
      </p:sp>
      <p:pic>
        <p:nvPicPr>
          <p:cNvPr id="26626" name="Picture 2" descr="https://encrypted-tbn1.google.com/images?q=tbn:ANd9GcSQLn0ts9EgYUMHOxCT5GzwucXU-q1JeGi_Tw_Gf8Q4mxfKFeb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92280" y="332656"/>
            <a:ext cx="1462725" cy="136815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ítulo 1"/>
          <p:cNvSpPr>
            <a:spLocks noGrp="1"/>
          </p:cNvSpPr>
          <p:nvPr>
            <p:ph type="title"/>
          </p:nvPr>
        </p:nvSpPr>
        <p:spPr bwMode="auto">
          <a:xfrm>
            <a:off x="1331640" y="332656"/>
            <a:ext cx="7355160" cy="108498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pt-BR" dirty="0" smtClean="0"/>
              <a:t>O que um avaliador </a:t>
            </a:r>
            <a:br>
              <a:rPr lang="pt-BR" dirty="0" smtClean="0"/>
            </a:br>
            <a:r>
              <a:rPr lang="pt-BR" dirty="0" smtClean="0"/>
              <a:t>procura numa </a:t>
            </a:r>
            <a:br>
              <a:rPr lang="pt-BR" dirty="0" smtClean="0"/>
            </a:br>
            <a:r>
              <a:rPr lang="pt-BR" dirty="0" smtClean="0"/>
              <a:t>dissertação?</a:t>
            </a:r>
          </a:p>
        </p:txBody>
      </p:sp>
      <p:sp>
        <p:nvSpPr>
          <p:cNvPr id="19459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331640" y="2286000"/>
            <a:ext cx="7355160" cy="3840163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pt-BR" sz="2800" dirty="0" smtClean="0"/>
              <a:t>Qual é o </a:t>
            </a:r>
            <a:r>
              <a:rPr lang="pt-BR" sz="28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problema de pesquisa </a:t>
            </a:r>
            <a:r>
              <a:rPr lang="pt-BR" sz="2800" dirty="0" smtClean="0"/>
              <a:t>que o aluno propôs?</a:t>
            </a:r>
          </a:p>
          <a:p>
            <a:pPr eaLnBrk="1" hangingPunct="1">
              <a:defRPr/>
            </a:pPr>
            <a:r>
              <a:rPr lang="pt-BR" sz="2800" dirty="0" smtClean="0"/>
              <a:t>É um </a:t>
            </a:r>
            <a:r>
              <a:rPr lang="pt-BR" sz="2800" dirty="0" smtClean="0">
                <a:solidFill>
                  <a:srgbClr val="33CC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bom </a:t>
            </a:r>
            <a:r>
              <a:rPr lang="pt-BR" sz="2800" dirty="0" smtClean="0"/>
              <a:t>problema? (Já foi resolvido alguma vez? Vale a pena resolvê-lo?)</a:t>
            </a:r>
          </a:p>
          <a:p>
            <a:pPr eaLnBrk="1" hangingPunct="1">
              <a:defRPr/>
            </a:pPr>
            <a:r>
              <a:rPr lang="pt-BR" sz="2800" dirty="0" smtClean="0"/>
              <a:t>O aluno conseguiu </a:t>
            </a:r>
            <a:r>
              <a:rPr lang="pt-BR" sz="2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convencer</a:t>
            </a:r>
            <a:r>
              <a:rPr lang="pt-BR" sz="2800" dirty="0" smtClean="0"/>
              <a:t> que o problema foi resolvido adequadamente?</a:t>
            </a:r>
          </a:p>
          <a:p>
            <a:pPr eaLnBrk="1" hangingPunct="1">
              <a:defRPr/>
            </a:pPr>
            <a:r>
              <a:rPr lang="pt-BR" sz="2800" dirty="0" smtClean="0"/>
              <a:t>O aluno fez uma contribuição </a:t>
            </a:r>
            <a:r>
              <a:rPr lang="pt-BR" sz="2800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adequada</a:t>
            </a:r>
            <a:r>
              <a:rPr lang="pt-BR" sz="2800" dirty="0" smtClean="0"/>
              <a:t> ao conhecimento?</a:t>
            </a:r>
          </a:p>
          <a:p>
            <a:pPr eaLnBrk="1" hangingPunct="1">
              <a:defRPr/>
            </a:pPr>
            <a:endParaRPr lang="pt-BR" sz="2800" dirty="0" smtClean="0"/>
          </a:p>
        </p:txBody>
      </p:sp>
      <p:pic>
        <p:nvPicPr>
          <p:cNvPr id="24578" name="Picture 2" descr="https://encrypted-tbn3.google.com/images?q=tbn:ANd9GcS5B9XLySwDvKz1oGOdKxZVsPVKyMnCaF6mte3sk_qQBLvdQk9r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2160" y="260648"/>
            <a:ext cx="2466975" cy="184785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ítulo 1"/>
          <p:cNvSpPr>
            <a:spLocks noGrp="1"/>
          </p:cNvSpPr>
          <p:nvPr>
            <p:ph type="title"/>
          </p:nvPr>
        </p:nvSpPr>
        <p:spPr bwMode="auto">
          <a:xfrm>
            <a:off x="1115616" y="785813"/>
            <a:ext cx="7571184" cy="6318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pt-BR" smtClean="0"/>
              <a:t>A questão ainda não foi tratada?</a:t>
            </a:r>
          </a:p>
        </p:txBody>
      </p:sp>
      <p:sp>
        <p:nvSpPr>
          <p:cNvPr id="34819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115616" y="1772816"/>
            <a:ext cx="7571184" cy="435334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dirty="0" smtClean="0"/>
              <a:t>Uma boa revisão bibliográfica é necessária para apresentar tal justificativa com suficiente autoridade. </a:t>
            </a:r>
          </a:p>
          <a:p>
            <a:pPr eaLnBrk="1" hangingPunct="1"/>
            <a:r>
              <a:rPr lang="pt-BR" dirty="0" smtClean="0"/>
              <a:t>Afirmações do tipo “não encontrei nada parecido” devem ser evitadas. </a:t>
            </a:r>
          </a:p>
        </p:txBody>
      </p:sp>
      <p:pic>
        <p:nvPicPr>
          <p:cNvPr id="25602" name="Picture 2" descr="https://encrypted-tbn2.google.com/images?q=tbn:ANd9GcRgdC89EwQn26-eyGIqh73yJ0VGcxE4DT03dPdhrOjnD2UYAxf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0152" y="4509120"/>
            <a:ext cx="2276475" cy="20097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314016" cy="1143000"/>
          </a:xfrm>
        </p:spPr>
        <p:txBody>
          <a:bodyPr/>
          <a:lstStyle/>
          <a:p>
            <a:r>
              <a:rPr lang="pt-BR" dirty="0" smtClean="0"/>
              <a:t>Projeto de Pesquisa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pt-BR" dirty="0" smtClean="0"/>
              <a:t>Tema</a:t>
            </a:r>
          </a:p>
          <a:p>
            <a:pPr lvl="0"/>
            <a:r>
              <a:rPr lang="pt-BR" dirty="0" smtClean="0"/>
              <a:t>Problema </a:t>
            </a:r>
          </a:p>
          <a:p>
            <a:pPr lvl="0"/>
            <a:r>
              <a:rPr lang="pt-BR" dirty="0" smtClean="0"/>
              <a:t>Trabalhos Correlatos</a:t>
            </a:r>
          </a:p>
          <a:p>
            <a:pPr lvl="0"/>
            <a:r>
              <a:rPr lang="pt-BR" dirty="0" smtClean="0"/>
              <a:t>Objetivo</a:t>
            </a:r>
          </a:p>
          <a:p>
            <a:pPr lvl="0"/>
            <a:r>
              <a:rPr lang="pt-BR" dirty="0" smtClean="0"/>
              <a:t>Objetivos Específicos</a:t>
            </a:r>
          </a:p>
          <a:p>
            <a:pPr lvl="0"/>
            <a:r>
              <a:rPr lang="pt-BR" dirty="0" smtClean="0"/>
              <a:t>Hipótese</a:t>
            </a:r>
          </a:p>
          <a:p>
            <a:pPr lvl="0"/>
            <a:r>
              <a:rPr lang="pt-BR" dirty="0" smtClean="0"/>
              <a:t>Justificativa da Hipótese</a:t>
            </a:r>
          </a:p>
          <a:p>
            <a:pPr lvl="0"/>
            <a:r>
              <a:rPr lang="pt-BR" dirty="0" smtClean="0"/>
              <a:t>Método</a:t>
            </a:r>
          </a:p>
          <a:p>
            <a:pPr lvl="0"/>
            <a:r>
              <a:rPr lang="pt-BR" dirty="0" smtClean="0"/>
              <a:t>Resultados Esperados</a:t>
            </a:r>
          </a:p>
          <a:p>
            <a:pPr lvl="0"/>
            <a:r>
              <a:rPr lang="pt-BR" dirty="0" smtClean="0"/>
              <a:t>Limitações</a:t>
            </a:r>
          </a:p>
        </p:txBody>
      </p:sp>
      <p:pic>
        <p:nvPicPr>
          <p:cNvPr id="34818" name="Picture 2" descr="https://encrypted-tbn2.google.com/images?q=tbn:ANd9GcTRAxDlzRILKWXx11eXrkmb6UaxX1qvEnfx2-xlDKBkoT4rR8Zta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7384"/>
            <a:ext cx="1634283" cy="1224136"/>
          </a:xfrm>
          <a:prstGeom prst="rect">
            <a:avLst/>
          </a:prstGeom>
          <a:noFill/>
        </p:spPr>
      </p:pic>
      <p:sp>
        <p:nvSpPr>
          <p:cNvPr id="5" name="Retângulo 4"/>
          <p:cNvSpPr/>
          <p:nvPr/>
        </p:nvSpPr>
        <p:spPr>
          <a:xfrm>
            <a:off x="1403648" y="2321170"/>
            <a:ext cx="4608512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Trabalhos Correlatos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Dificilmente um trabalho será totalmente inédito a ponto de não haver absolutamente nada relacionado a ele.</a:t>
            </a:r>
          </a:p>
          <a:p>
            <a:r>
              <a:rPr lang="pt-BR" dirty="0" smtClean="0"/>
              <a:t>Devem SEMPRE ser citados os trabalhos que já tentaram resolver o problema e deve ser dito porque a solução apresentada por eles ainda não é satisfatória.</a:t>
            </a:r>
            <a:endParaRPr lang="pt-B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314016" cy="1143000"/>
          </a:xfrm>
        </p:spPr>
        <p:txBody>
          <a:bodyPr/>
          <a:lstStyle/>
          <a:p>
            <a:r>
              <a:rPr lang="pt-BR" dirty="0" smtClean="0"/>
              <a:t>Projeto de Pesquisa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pt-BR" dirty="0" smtClean="0"/>
              <a:t>Tema</a:t>
            </a:r>
          </a:p>
          <a:p>
            <a:pPr lvl="0"/>
            <a:r>
              <a:rPr lang="pt-BR" dirty="0" smtClean="0"/>
              <a:t>Problema </a:t>
            </a:r>
          </a:p>
          <a:p>
            <a:pPr lvl="0"/>
            <a:r>
              <a:rPr lang="pt-BR" dirty="0" smtClean="0"/>
              <a:t>Trabalhos Correlatos</a:t>
            </a:r>
          </a:p>
          <a:p>
            <a:pPr lvl="0"/>
            <a:r>
              <a:rPr lang="pt-BR" dirty="0" smtClean="0"/>
              <a:t>Objetivo</a:t>
            </a:r>
          </a:p>
          <a:p>
            <a:pPr lvl="0"/>
            <a:r>
              <a:rPr lang="pt-BR" dirty="0" smtClean="0"/>
              <a:t>Objetivos Específicos</a:t>
            </a:r>
          </a:p>
          <a:p>
            <a:pPr lvl="0"/>
            <a:r>
              <a:rPr lang="pt-BR" dirty="0" smtClean="0"/>
              <a:t>Hipótese</a:t>
            </a:r>
          </a:p>
          <a:p>
            <a:pPr lvl="0"/>
            <a:r>
              <a:rPr lang="pt-BR" dirty="0" smtClean="0"/>
              <a:t>Justificativa da Hipótese</a:t>
            </a:r>
          </a:p>
          <a:p>
            <a:pPr lvl="0"/>
            <a:r>
              <a:rPr lang="pt-BR" dirty="0" smtClean="0"/>
              <a:t>Método</a:t>
            </a:r>
          </a:p>
          <a:p>
            <a:pPr lvl="0"/>
            <a:r>
              <a:rPr lang="pt-BR" dirty="0" smtClean="0"/>
              <a:t>Resultados Esperados</a:t>
            </a:r>
          </a:p>
          <a:p>
            <a:pPr lvl="0"/>
            <a:r>
              <a:rPr lang="pt-BR" dirty="0" smtClean="0"/>
              <a:t>Limitações</a:t>
            </a:r>
          </a:p>
        </p:txBody>
      </p:sp>
      <p:pic>
        <p:nvPicPr>
          <p:cNvPr id="34818" name="Picture 2" descr="https://encrypted-tbn2.google.com/images?q=tbn:ANd9GcTRAxDlzRILKWXx11eXrkmb6UaxX1qvEnfx2-xlDKBkoT4rR8Zta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7384"/>
            <a:ext cx="1634283" cy="1224136"/>
          </a:xfrm>
          <a:prstGeom prst="rect">
            <a:avLst/>
          </a:prstGeom>
          <a:noFill/>
        </p:spPr>
      </p:pic>
      <p:sp>
        <p:nvSpPr>
          <p:cNvPr id="5" name="Retângulo 4"/>
          <p:cNvSpPr/>
          <p:nvPr/>
        </p:nvSpPr>
        <p:spPr>
          <a:xfrm>
            <a:off x="1403648" y="2780928"/>
            <a:ext cx="4608512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https://encrypted-tbn3.google.com/images?q=tbn:ANd9GcS9tJPlMHpEcBNiMP6ZCryUjFl-9WGnT3KS0nE9VNSMpWjOjCsV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2146" y="0"/>
            <a:ext cx="1591854" cy="1556792"/>
          </a:xfrm>
          <a:prstGeom prst="rect">
            <a:avLst/>
          </a:prstGeom>
          <a:noFill/>
        </p:spPr>
      </p:pic>
      <p:sp>
        <p:nvSpPr>
          <p:cNvPr id="37890" name="Título 1"/>
          <p:cNvSpPr>
            <a:spLocks noGrp="1"/>
          </p:cNvSpPr>
          <p:nvPr>
            <p:ph type="title"/>
          </p:nvPr>
        </p:nvSpPr>
        <p:spPr bwMode="auto">
          <a:xfrm>
            <a:off x="1259632" y="476672"/>
            <a:ext cx="7427168" cy="940966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pt-BR" dirty="0" smtClean="0"/>
              <a:t>Objetivo</a:t>
            </a:r>
          </a:p>
        </p:txBody>
      </p:sp>
      <p:sp>
        <p:nvSpPr>
          <p:cNvPr id="37891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435608" y="1447800"/>
            <a:ext cx="6592776" cy="48006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/>
            <a:r>
              <a:rPr lang="pt-BR" sz="2200" dirty="0" smtClean="0"/>
              <a:t>O segredo de um trabalho de pesquisa de sucesso consiste em ter um bom objetivo.</a:t>
            </a:r>
          </a:p>
          <a:p>
            <a:pPr eaLnBrk="1" hangingPunct="1"/>
            <a:r>
              <a:rPr lang="pt-BR" sz="2200" dirty="0" smtClean="0"/>
              <a:t>Uma vez definido o objetivo do trabalho tudo o mais gravita em redor dele. </a:t>
            </a:r>
          </a:p>
          <a:p>
            <a:pPr eaLnBrk="1" hangingPunct="1"/>
            <a:r>
              <a:rPr lang="pt-BR" sz="2200" dirty="0" smtClean="0"/>
              <a:t>A justificativa vai dizer por que vale a pena buscar este objetivo. </a:t>
            </a:r>
          </a:p>
          <a:p>
            <a:pPr eaLnBrk="1" hangingPunct="1"/>
            <a:r>
              <a:rPr lang="pt-BR" sz="2200" dirty="0" smtClean="0"/>
              <a:t>O método vai dizer como o objetivo pode ser alcançado.</a:t>
            </a:r>
          </a:p>
          <a:p>
            <a:pPr eaLnBrk="1" hangingPunct="1"/>
            <a:r>
              <a:rPr lang="pt-BR" sz="2200" dirty="0" smtClean="0"/>
              <a:t>Os resultados esperados vão dizer o que muda no mundo após o objetivo ser atingido. </a:t>
            </a:r>
          </a:p>
          <a:p>
            <a:pPr eaLnBrk="1" hangingPunct="1"/>
            <a:r>
              <a:rPr lang="pt-BR" sz="2200" dirty="0" smtClean="0"/>
              <a:t>O capítulo de revisão bibliográfica vai apresentar os conceitos necessários para a compreensão do objetivo e os trabalhos relacionados ao objetivo.</a:t>
            </a:r>
          </a:p>
          <a:p>
            <a:pPr eaLnBrk="1" hangingPunct="1"/>
            <a:endParaRPr lang="pt-BR" sz="2000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ítulo 1"/>
          <p:cNvSpPr>
            <a:spLocks noGrp="1"/>
          </p:cNvSpPr>
          <p:nvPr>
            <p:ph type="title"/>
          </p:nvPr>
        </p:nvSpPr>
        <p:spPr bwMode="auto">
          <a:xfrm>
            <a:off x="1331640" y="857250"/>
            <a:ext cx="7355160" cy="56038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pt-BR" smtClean="0"/>
              <a:t>Objetivos inadequados</a:t>
            </a:r>
          </a:p>
        </p:txBody>
      </p:sp>
      <p:sp>
        <p:nvSpPr>
          <p:cNvPr id="39939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331640" y="2143125"/>
            <a:ext cx="7355160" cy="398303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dirty="0" smtClean="0"/>
              <a:t>“o objetivo deste trabalho é aumentar os meus conhecimentos na área de estudo”</a:t>
            </a:r>
          </a:p>
          <a:p>
            <a:pPr eaLnBrk="1" hangingPunct="1"/>
            <a:r>
              <a:rPr lang="pt-BR" dirty="0" smtClean="0"/>
              <a:t>“fazer um estudo sobre...”</a:t>
            </a:r>
          </a:p>
          <a:p>
            <a:pPr eaLnBrk="1" hangingPunct="1"/>
            <a:r>
              <a:rPr lang="pt-BR" dirty="0" smtClean="0"/>
              <a:t>“produzir uma dissertação sobre...”</a:t>
            </a:r>
          </a:p>
          <a:p>
            <a:pPr eaLnBrk="1" hangingPunct="1"/>
            <a:r>
              <a:rPr lang="pt-BR" dirty="0" smtClean="0"/>
              <a:t>Etc.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ítulo 1"/>
          <p:cNvSpPr>
            <a:spLocks noGrp="1"/>
          </p:cNvSpPr>
          <p:nvPr>
            <p:ph type="title"/>
          </p:nvPr>
        </p:nvSpPr>
        <p:spPr bwMode="auto">
          <a:xfrm>
            <a:off x="1331640" y="857250"/>
            <a:ext cx="7355160" cy="56038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pt-BR" smtClean="0"/>
              <a:t>“PROPOR”</a:t>
            </a:r>
          </a:p>
        </p:txBody>
      </p:sp>
      <p:sp>
        <p:nvSpPr>
          <p:cNvPr id="40963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331640" y="2143125"/>
            <a:ext cx="7355160" cy="398303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dirty="0" smtClean="0"/>
              <a:t>Toda dissertação propõe algo. A questão é O QUE?</a:t>
            </a:r>
          </a:p>
          <a:p>
            <a:pPr eaLnBrk="1" hangingPunct="1"/>
            <a:r>
              <a:rPr lang="pt-BR" dirty="0" smtClean="0"/>
              <a:t>É necessário que o objetivo diga que aquilo que está sendo proposto é melhor do que alguma outra coisa ou que resolve algum problema que antes não podia ser resolvido.</a:t>
            </a:r>
          </a:p>
          <a:p>
            <a:pPr eaLnBrk="1" hangingPunct="1"/>
            <a:endParaRPr lang="pt-BR" dirty="0" smtClean="0"/>
          </a:p>
        </p:txBody>
      </p:sp>
      <p:pic>
        <p:nvPicPr>
          <p:cNvPr id="18434" name="Picture 2" descr="https://encrypted-tbn3.google.com/images?q=tbn:ANd9GcS4VG3S-FiQoc7b2zVvYQUay1stUcFdxko8G1unsC9ta2gauDNTh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4048" y="0"/>
            <a:ext cx="2314575" cy="19812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ta em curva para a direita 4"/>
          <p:cNvSpPr/>
          <p:nvPr/>
        </p:nvSpPr>
        <p:spPr>
          <a:xfrm flipV="1">
            <a:off x="395536" y="2636912"/>
            <a:ext cx="1500188" cy="2786063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chemeClr val="tx1"/>
              </a:solidFill>
            </a:endParaRPr>
          </a:p>
        </p:txBody>
      </p:sp>
      <p:sp>
        <p:nvSpPr>
          <p:cNvPr id="41987" name="Título 1"/>
          <p:cNvSpPr>
            <a:spLocks noGrp="1"/>
          </p:cNvSpPr>
          <p:nvPr>
            <p:ph type="title"/>
          </p:nvPr>
        </p:nvSpPr>
        <p:spPr bwMode="auto">
          <a:xfrm>
            <a:off x="1259632" y="404665"/>
            <a:ext cx="7427168" cy="1012974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pt-BR" dirty="0" smtClean="0"/>
              <a:t>O Caminho para a Escolha de um Objetivo de Pesquisa</a:t>
            </a:r>
          </a:p>
        </p:txBody>
      </p:sp>
      <p:sp>
        <p:nvSpPr>
          <p:cNvPr id="41988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571625" y="1988840"/>
            <a:ext cx="7115175" cy="413732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sz="2000" dirty="0" smtClean="0"/>
              <a:t>Escolher um </a:t>
            </a:r>
            <a:r>
              <a:rPr lang="pt-BR" sz="2000" i="1" dirty="0" smtClean="0"/>
              <a:t>tema </a:t>
            </a:r>
            <a:r>
              <a:rPr lang="pt-BR" sz="2000" dirty="0" smtClean="0"/>
              <a:t>de pesquisa, ou seja, uma área de conhecimento na qual se vai trabalhar.</a:t>
            </a:r>
          </a:p>
          <a:p>
            <a:pPr eaLnBrk="1" hangingPunct="1"/>
            <a:r>
              <a:rPr lang="pt-BR" sz="2000" dirty="0" smtClean="0"/>
              <a:t>Realizar a </a:t>
            </a:r>
            <a:r>
              <a:rPr lang="pt-BR" sz="2000" i="1" dirty="0" smtClean="0"/>
              <a:t>revisão bibliográfica</a:t>
            </a:r>
            <a:r>
              <a:rPr lang="pt-BR" sz="2000" dirty="0" smtClean="0"/>
              <a:t>. A não ser que o autor já seja especialista na área escolhida ele vai precisar ler muitos trabalhos já publicados nesta área para saber o que está sendo feito (estado da arte), e o que ainda precisa ser feito (problemas em aberto).</a:t>
            </a:r>
          </a:p>
          <a:p>
            <a:pPr eaLnBrk="1" hangingPunct="1"/>
            <a:r>
              <a:rPr lang="pt-BR" sz="2000" dirty="0" smtClean="0"/>
              <a:t>Definir o </a:t>
            </a:r>
            <a:r>
              <a:rPr lang="pt-BR" sz="2000" i="1" dirty="0" smtClean="0"/>
              <a:t>objetivo </a:t>
            </a:r>
            <a:r>
              <a:rPr lang="pt-BR" sz="2000" dirty="0" smtClean="0"/>
              <a:t>de pesquisa. Uma vez feita a revisão bibliográfica, o objetivo de pesquisa possivelmente será fortemente relacionado com um dos problemas em aberto verificados no passo anterior. </a:t>
            </a:r>
          </a:p>
          <a:p>
            <a:pPr eaLnBrk="1" hangingPunct="1"/>
            <a:endParaRPr lang="pt-BR" sz="2000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ítulo 1"/>
          <p:cNvSpPr>
            <a:spLocks noGrp="1"/>
          </p:cNvSpPr>
          <p:nvPr>
            <p:ph type="title"/>
          </p:nvPr>
        </p:nvSpPr>
        <p:spPr bwMode="auto">
          <a:xfrm>
            <a:off x="1259632" y="1000125"/>
            <a:ext cx="7427168" cy="78581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pt-BR" dirty="0" smtClean="0"/>
              <a:t>Objetivo </a:t>
            </a:r>
            <a:r>
              <a:rPr lang="pt-BR" dirty="0" err="1" smtClean="0"/>
              <a:t>Objetivo</a:t>
            </a:r>
            <a:r>
              <a:rPr lang="pt-BR" dirty="0" smtClean="0"/>
              <a:t/>
            </a:r>
            <a:br>
              <a:rPr lang="pt-BR" dirty="0" smtClean="0"/>
            </a:br>
            <a:endParaRPr lang="pt-BR" dirty="0" smtClean="0"/>
          </a:p>
        </p:txBody>
      </p:sp>
      <p:sp>
        <p:nvSpPr>
          <p:cNvPr id="43011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259632" y="2000250"/>
            <a:ext cx="7427168" cy="412591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dirty="0" smtClean="0"/>
              <a:t>O objetivo da pesquisa deve ser diretamente verificável ao final do trabalho. </a:t>
            </a:r>
          </a:p>
          <a:p>
            <a:pPr eaLnBrk="1" hangingPunct="1"/>
            <a:r>
              <a:rPr lang="pt-BR" dirty="0" smtClean="0"/>
              <a:t>Um bom objetivo de pesquisa possivelmente irá demonstrar que alguma hipótese sendo testada é ou não verdadeira.</a:t>
            </a:r>
          </a:p>
          <a:p>
            <a:pPr eaLnBrk="1" hangingPunct="1"/>
            <a:endParaRPr lang="pt-BR" dirty="0" smtClean="0"/>
          </a:p>
        </p:txBody>
      </p:sp>
      <p:pic>
        <p:nvPicPr>
          <p:cNvPr id="16386" name="Picture 2" descr="https://encrypted-tbn2.google.com/images?q=tbn:ANd9GcT71d9frroDWZQMCWAWh3s-WLw-wGdx2rWEl8jq9ACxvaMhh_4Wcw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60232" y="0"/>
            <a:ext cx="2171700" cy="210502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ítulo 1"/>
          <p:cNvSpPr>
            <a:spLocks noGrp="1"/>
          </p:cNvSpPr>
          <p:nvPr>
            <p:ph type="title"/>
          </p:nvPr>
        </p:nvSpPr>
        <p:spPr bwMode="auto">
          <a:xfrm>
            <a:off x="1043608" y="857250"/>
            <a:ext cx="7643192" cy="56038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pt-BR" b="1" smtClean="0"/>
              <a:t>A Extensão do Objetivo de Pesquisa</a:t>
            </a:r>
            <a:endParaRPr lang="pt-BR" smtClean="0"/>
          </a:p>
        </p:txBody>
      </p:sp>
      <p:sp>
        <p:nvSpPr>
          <p:cNvPr id="4403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043608" y="2214563"/>
            <a:ext cx="7643192" cy="39116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/>
            <a:r>
              <a:rPr lang="pt-BR" sz="2400" dirty="0" smtClean="0"/>
              <a:t>O objetivo deve ser atingido dentro do tempo regulamentar.</a:t>
            </a:r>
          </a:p>
          <a:p>
            <a:pPr eaLnBrk="1" hangingPunct="1"/>
            <a:r>
              <a:rPr lang="pt-BR" sz="2400" dirty="0" smtClean="0"/>
              <a:t>A complexidade deste deve ser consistente com o tempo disponível. </a:t>
            </a:r>
          </a:p>
          <a:p>
            <a:pPr eaLnBrk="1" hangingPunct="1"/>
            <a:r>
              <a:rPr lang="pt-BR" sz="2400" dirty="0" smtClean="0"/>
              <a:t>Não basta, para a obtenção de um grau, apresentar uma ideia complexa que não pode ser demonstrada ou concluída no tempo disponível. </a:t>
            </a:r>
          </a:p>
          <a:p>
            <a:pPr eaLnBrk="1" hangingPunct="1"/>
            <a:r>
              <a:rPr lang="pt-BR" sz="2400" dirty="0" smtClean="0"/>
              <a:t>Alegar para a banca que não houve </a:t>
            </a:r>
            <a:br>
              <a:rPr lang="pt-BR" sz="2400" dirty="0" smtClean="0"/>
            </a:br>
            <a:r>
              <a:rPr lang="pt-BR" sz="2400" dirty="0" smtClean="0"/>
              <a:t>tempo para concluir o trabalho </a:t>
            </a:r>
            <a:br>
              <a:rPr lang="pt-BR" sz="2400" dirty="0" smtClean="0"/>
            </a:br>
            <a:r>
              <a:rPr lang="pt-BR" sz="2400" dirty="0" smtClean="0"/>
              <a:t>dificilmente é uma boa desculpa.</a:t>
            </a:r>
          </a:p>
          <a:p>
            <a:pPr eaLnBrk="1" hangingPunct="1"/>
            <a:endParaRPr lang="pt-BR" sz="2400" dirty="0" smtClean="0"/>
          </a:p>
        </p:txBody>
      </p:sp>
      <p:pic>
        <p:nvPicPr>
          <p:cNvPr id="15362" name="Picture 2" descr="https://encrypted-tbn3.google.com/images?q=tbn:ANd9GcTjLUgupyDcQdkQRf-PIXgM4tX83qPZRzSgJrd7sdkLYCYwTm3hkQ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34125" y="5229224"/>
            <a:ext cx="2809875" cy="16287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 bwMode="auto">
          <a:xfrm>
            <a:off x="1115616" y="785813"/>
            <a:ext cx="7471172" cy="114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pt-BR" b="1" smtClean="0"/>
              <a:t>Objetivo de Pesquisa </a:t>
            </a:r>
            <a:r>
              <a:rPr lang="pt-BR" b="1" i="1" smtClean="0"/>
              <a:t>versus</a:t>
            </a:r>
            <a:r>
              <a:rPr lang="pt-BR" b="1" smtClean="0"/>
              <a:t> Objetivo Técnico</a:t>
            </a:r>
            <a:endParaRPr lang="pt-BR" smtClean="0"/>
          </a:p>
        </p:txBody>
      </p:sp>
      <p:sp>
        <p:nvSpPr>
          <p:cNvPr id="45059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215628" y="2357439"/>
            <a:ext cx="7471172" cy="2871761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/>
            <a:r>
              <a:rPr lang="pt-BR" sz="2800" dirty="0" smtClean="0"/>
              <a:t>Se o simples desenvolvimento de um sistema ou de um protótipo fosse suficiente para outorgar um grau acadêmico, então as universidades deveriam estar conferindo título de mestre a todos os programadores ou analistas que diariamente desenvolvem sistemas, muitas vezes complexos, nas suas empresas. </a:t>
            </a:r>
          </a:p>
        </p:txBody>
      </p:sp>
      <p:pic>
        <p:nvPicPr>
          <p:cNvPr id="14338" name="Picture 2" descr="https://encrypted-tbn2.google.com/images?q=tbn:ANd9GcRDWmINXLe2xmIBj8lIyFiISnIr9bmfNu9v9MtpZnCgjGt0Zc9q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7864" y="5248274"/>
            <a:ext cx="2838450" cy="160972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314016" cy="1143000"/>
          </a:xfrm>
        </p:spPr>
        <p:txBody>
          <a:bodyPr/>
          <a:lstStyle/>
          <a:p>
            <a:r>
              <a:rPr lang="pt-BR" dirty="0" smtClean="0"/>
              <a:t>Projeto de Pesquisa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pt-BR" dirty="0" smtClean="0"/>
              <a:t>Tema</a:t>
            </a:r>
          </a:p>
          <a:p>
            <a:pPr lvl="0"/>
            <a:r>
              <a:rPr lang="pt-BR" dirty="0" smtClean="0"/>
              <a:t>Problema </a:t>
            </a:r>
          </a:p>
          <a:p>
            <a:pPr lvl="0"/>
            <a:r>
              <a:rPr lang="pt-BR" dirty="0" smtClean="0"/>
              <a:t>Trabalhos Correlatos</a:t>
            </a:r>
          </a:p>
          <a:p>
            <a:pPr lvl="0"/>
            <a:r>
              <a:rPr lang="pt-BR" dirty="0" smtClean="0"/>
              <a:t>Objetivo</a:t>
            </a:r>
          </a:p>
          <a:p>
            <a:pPr lvl="0"/>
            <a:r>
              <a:rPr lang="pt-BR" dirty="0" smtClean="0"/>
              <a:t>Objetivos Específicos</a:t>
            </a:r>
          </a:p>
          <a:p>
            <a:pPr lvl="0"/>
            <a:r>
              <a:rPr lang="pt-BR" dirty="0" smtClean="0"/>
              <a:t>Hipótese</a:t>
            </a:r>
          </a:p>
          <a:p>
            <a:pPr lvl="0"/>
            <a:r>
              <a:rPr lang="pt-BR" dirty="0" smtClean="0"/>
              <a:t>Justificativa da Hipótese</a:t>
            </a:r>
          </a:p>
          <a:p>
            <a:pPr lvl="0"/>
            <a:r>
              <a:rPr lang="pt-BR" dirty="0" smtClean="0"/>
              <a:t>Método</a:t>
            </a:r>
          </a:p>
          <a:p>
            <a:pPr lvl="0"/>
            <a:r>
              <a:rPr lang="pt-BR" dirty="0" smtClean="0"/>
              <a:t>Resultados Esperados</a:t>
            </a:r>
          </a:p>
          <a:p>
            <a:pPr lvl="0"/>
            <a:r>
              <a:rPr lang="pt-BR" dirty="0" smtClean="0"/>
              <a:t>Limitações</a:t>
            </a:r>
          </a:p>
        </p:txBody>
      </p:sp>
      <p:pic>
        <p:nvPicPr>
          <p:cNvPr id="34818" name="Picture 2" descr="https://encrypted-tbn2.google.com/images?q=tbn:ANd9GcTRAxDlzRILKWXx11eXrkmb6UaxX1qvEnfx2-xlDKBkoT4rR8Zta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7384"/>
            <a:ext cx="1634283" cy="1224136"/>
          </a:xfrm>
          <a:prstGeom prst="rect">
            <a:avLst/>
          </a:prstGeom>
          <a:noFill/>
        </p:spPr>
      </p:pic>
      <p:sp>
        <p:nvSpPr>
          <p:cNvPr id="5" name="Retângulo 4"/>
          <p:cNvSpPr/>
          <p:nvPr/>
        </p:nvSpPr>
        <p:spPr>
          <a:xfrm>
            <a:off x="1403648" y="3212976"/>
            <a:ext cx="4608512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https://encrypted-tbn1.google.com/images?q=tbn:ANd9GcQDd6q6rvKICwoI-7s8Z0GD3NyttOArQ8QoWo0CGDdwR2_dsj7M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84168" y="4638674"/>
            <a:ext cx="2057400" cy="2219326"/>
          </a:xfrm>
          <a:prstGeom prst="rect">
            <a:avLst/>
          </a:prstGeom>
          <a:noFill/>
        </p:spPr>
      </p:pic>
      <p:sp>
        <p:nvSpPr>
          <p:cNvPr id="46082" name="Título 1"/>
          <p:cNvSpPr>
            <a:spLocks noGrp="1"/>
          </p:cNvSpPr>
          <p:nvPr>
            <p:ph type="title"/>
          </p:nvPr>
        </p:nvSpPr>
        <p:spPr bwMode="auto">
          <a:xfrm>
            <a:off x="1403648" y="548681"/>
            <a:ext cx="7283152" cy="86895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pt-BR" b="1" dirty="0" smtClean="0"/>
              <a:t>Os Objetivos Específicos</a:t>
            </a:r>
            <a:br>
              <a:rPr lang="pt-BR" b="1" dirty="0" smtClean="0"/>
            </a:br>
            <a:endParaRPr lang="pt-BR" dirty="0" smtClean="0"/>
          </a:p>
        </p:txBody>
      </p:sp>
      <p:sp>
        <p:nvSpPr>
          <p:cNvPr id="22531" name="Espaço Reservado para Conteúdo 2"/>
          <p:cNvSpPr>
            <a:spLocks noGrp="1"/>
          </p:cNvSpPr>
          <p:nvPr>
            <p:ph idx="1"/>
          </p:nvPr>
        </p:nvSpPr>
        <p:spPr bwMode="auto"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pt-BR" sz="2800" dirty="0" smtClean="0"/>
              <a:t>Os objetivos específicos devem ser escolhidos da mesma forma que o objetivo geral, ou seja, devem ser não triviais e verificáveis ao final do trabalho. </a:t>
            </a:r>
          </a:p>
          <a:p>
            <a:pPr eaLnBrk="1" hangingPunct="1">
              <a:defRPr/>
            </a:pPr>
            <a:r>
              <a:rPr lang="pt-BR" sz="2800" dirty="0" smtClean="0"/>
              <a:t>Normalmente, os objetivos específicos </a:t>
            </a:r>
            <a:r>
              <a:rPr lang="pt-BR" sz="2800" b="1" dirty="0" smtClean="0"/>
              <a:t>não</a:t>
            </a:r>
            <a:r>
              <a:rPr lang="pt-BR" sz="2800" dirty="0" smtClean="0"/>
              <a:t> são etapas do trabalho, mas </a:t>
            </a:r>
            <a:r>
              <a:rPr lang="pt-BR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subprodutos</a:t>
            </a:r>
            <a:r>
              <a:rPr lang="pt-BR" sz="2800" dirty="0" smtClean="0"/>
              <a:t>. </a:t>
            </a:r>
          </a:p>
          <a:p>
            <a:pPr eaLnBrk="1" hangingPunct="1">
              <a:defRPr/>
            </a:pPr>
            <a:r>
              <a:rPr lang="pt-BR" sz="2800" dirty="0" smtClean="0"/>
              <a:t>Deve-se tomar cuidado para não confundir os objetivos específicos com os passos do método de pesquisa.</a:t>
            </a:r>
          </a:p>
          <a:p>
            <a:pPr eaLnBrk="1" hangingPunct="1">
              <a:defRPr/>
            </a:pPr>
            <a:endParaRPr lang="pt-BR" sz="2800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ítulo 1"/>
          <p:cNvSpPr>
            <a:spLocks noGrp="1"/>
          </p:cNvSpPr>
          <p:nvPr>
            <p:ph type="title"/>
          </p:nvPr>
        </p:nvSpPr>
        <p:spPr bwMode="auto">
          <a:xfrm>
            <a:off x="1115616" y="857250"/>
            <a:ext cx="7571184" cy="56038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pt-BR" smtClean="0"/>
              <a:t>Objetivos Específicos</a:t>
            </a:r>
          </a:p>
        </p:txBody>
      </p:sp>
      <p:sp>
        <p:nvSpPr>
          <p:cNvPr id="47107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115616" y="2071688"/>
            <a:ext cx="7571184" cy="40544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dirty="0" smtClean="0"/>
              <a:t>A implementação de um protótipo ou a coleta de dados empíricos possivelmente serão etapas dentro de um trabalho e, portanto, parte do método de trabalho. </a:t>
            </a:r>
          </a:p>
          <a:p>
            <a:pPr eaLnBrk="1" hangingPunct="1"/>
            <a:r>
              <a:rPr lang="pt-BR" dirty="0" smtClean="0"/>
              <a:t>Estes passos </a:t>
            </a:r>
            <a:r>
              <a:rPr lang="pt-BR" b="1" dirty="0" smtClean="0"/>
              <a:t>não</a:t>
            </a:r>
            <a:r>
              <a:rPr lang="pt-BR" dirty="0" smtClean="0"/>
              <a:t> são, assim, objetivos específicos.</a:t>
            </a:r>
          </a:p>
          <a:p>
            <a:pPr eaLnBrk="1" hangingPunct="1"/>
            <a:endParaRPr lang="pt-BR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314016" cy="1143000"/>
          </a:xfrm>
        </p:spPr>
        <p:txBody>
          <a:bodyPr/>
          <a:lstStyle/>
          <a:p>
            <a:r>
              <a:rPr lang="pt-BR" dirty="0" smtClean="0"/>
              <a:t>Projeto de Pesquisa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pt-BR" dirty="0" smtClean="0"/>
              <a:t>Tema</a:t>
            </a:r>
          </a:p>
          <a:p>
            <a:pPr lvl="0"/>
            <a:r>
              <a:rPr lang="pt-BR" dirty="0" smtClean="0"/>
              <a:t>Problema </a:t>
            </a:r>
          </a:p>
          <a:p>
            <a:pPr lvl="0"/>
            <a:r>
              <a:rPr lang="pt-BR" dirty="0" smtClean="0"/>
              <a:t>Trabalhos Correlatos</a:t>
            </a:r>
          </a:p>
          <a:p>
            <a:pPr lvl="0"/>
            <a:r>
              <a:rPr lang="pt-BR" dirty="0" smtClean="0"/>
              <a:t>Objetivo</a:t>
            </a:r>
          </a:p>
          <a:p>
            <a:pPr lvl="0"/>
            <a:r>
              <a:rPr lang="pt-BR" dirty="0" smtClean="0"/>
              <a:t>Objetivos Específicos</a:t>
            </a:r>
          </a:p>
          <a:p>
            <a:pPr lvl="0"/>
            <a:r>
              <a:rPr lang="pt-BR" dirty="0" smtClean="0"/>
              <a:t>Hipótese</a:t>
            </a:r>
          </a:p>
          <a:p>
            <a:pPr lvl="0"/>
            <a:r>
              <a:rPr lang="pt-BR" dirty="0" smtClean="0"/>
              <a:t>Justificativa da Hipótese</a:t>
            </a:r>
          </a:p>
          <a:p>
            <a:pPr lvl="0"/>
            <a:r>
              <a:rPr lang="pt-BR" dirty="0" smtClean="0"/>
              <a:t>Método</a:t>
            </a:r>
          </a:p>
          <a:p>
            <a:pPr lvl="0"/>
            <a:r>
              <a:rPr lang="pt-BR" dirty="0" smtClean="0"/>
              <a:t>Resultados Esperados</a:t>
            </a:r>
          </a:p>
          <a:p>
            <a:pPr lvl="0"/>
            <a:r>
              <a:rPr lang="pt-BR" dirty="0" smtClean="0"/>
              <a:t>Limitações</a:t>
            </a:r>
          </a:p>
        </p:txBody>
      </p:sp>
      <p:pic>
        <p:nvPicPr>
          <p:cNvPr id="34818" name="Picture 2" descr="https://encrypted-tbn2.google.com/images?q=tbn:ANd9GcTRAxDlzRILKWXx11eXrkmb6UaxX1qvEnfx2-xlDKBkoT4rR8Zta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7384"/>
            <a:ext cx="1634283" cy="1224136"/>
          </a:xfrm>
          <a:prstGeom prst="rect">
            <a:avLst/>
          </a:prstGeom>
          <a:noFill/>
        </p:spPr>
      </p:pic>
      <p:sp>
        <p:nvSpPr>
          <p:cNvPr id="5" name="Retângulo 4"/>
          <p:cNvSpPr/>
          <p:nvPr/>
        </p:nvSpPr>
        <p:spPr>
          <a:xfrm>
            <a:off x="1403648" y="3658879"/>
            <a:ext cx="4608512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ítulo 1"/>
          <p:cNvSpPr>
            <a:spLocks noGrp="1"/>
          </p:cNvSpPr>
          <p:nvPr>
            <p:ph type="title"/>
          </p:nvPr>
        </p:nvSpPr>
        <p:spPr bwMode="auto">
          <a:xfrm>
            <a:off x="971600" y="476673"/>
            <a:ext cx="7715200" cy="940966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pt-BR" b="1" dirty="0" smtClean="0"/>
              <a:t>A Hipótese de Pesquisa</a:t>
            </a:r>
            <a:endParaRPr lang="pt-BR" dirty="0" smtClean="0"/>
          </a:p>
        </p:txBody>
      </p:sp>
      <p:sp>
        <p:nvSpPr>
          <p:cNvPr id="49155" name="Espaço Reservado para Conteúdo 2"/>
          <p:cNvSpPr>
            <a:spLocks noGrp="1"/>
          </p:cNvSpPr>
          <p:nvPr>
            <p:ph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smtClean="0"/>
              <a:t>Um aspecto que diferencia o trabalho científico do trabalho técnico é a existência de uma hipótese de pesquisa. </a:t>
            </a:r>
          </a:p>
          <a:p>
            <a:pPr eaLnBrk="1" hangingPunct="1"/>
            <a:r>
              <a:rPr lang="pt-BR" smtClean="0"/>
              <a:t>A </a:t>
            </a:r>
            <a:r>
              <a:rPr lang="pt-BR" i="1" smtClean="0"/>
              <a:t>hipótese</a:t>
            </a:r>
            <a:r>
              <a:rPr lang="pt-BR" smtClean="0"/>
              <a:t> é uma afirmação da qual não se sabe a princípio se é verdadeira ou falsa. </a:t>
            </a:r>
          </a:p>
          <a:p>
            <a:pPr eaLnBrk="1" hangingPunct="1"/>
            <a:r>
              <a:rPr lang="pt-BR" smtClean="0"/>
              <a:t>O trabalho de pesquisa consiste justamente em tentar provar a veracidade ou falsidade da hipótese.</a:t>
            </a:r>
          </a:p>
          <a:p>
            <a:pPr eaLnBrk="1" hangingPunct="1"/>
            <a:endParaRPr lang="pt-BR" smtClean="0"/>
          </a:p>
        </p:txBody>
      </p:sp>
      <p:sp>
        <p:nvSpPr>
          <p:cNvPr id="9218" name="AutoShape 2" descr="data:image/jpeg;base64,/9j/4AAQSkZJRgABAQAAAQABAAD/2wCEAAkGBhQSEBUUEhQWFBUUFxQUFBQXFRUXFBYUFxQVFxQUFRYXGyYfGBkkGRUVHy8gJCcpLCwsFR4xNTAqNSYrLCkBCQoKDgwOFA8PFykcHBwpKSkpKSkpKSkpKSkpKSkpKSkpLCkpKSkpKSkpKSkpKTUpKSkpNiksLCwrKSkpLCkpKf/AABEIANQA7QMBIgACEQEDEQH/xAAbAAABBQEBAAAAAAAAAAAAAAACAAEDBQYEB//EAEMQAAEDAQQGBwUGBQMEAwAAAAEAAhEDBBIhMQUGQVFhkRMiUnGBodEVMpKx8BQWQlPB4QdiotLxIySyM3KTwhdDgv/EABkBAQEBAQEBAAAAAAAAAAAAAAEAAgMEBf/EACsRAQABAwIGAgEDBQAAAAAAAAABAgMRE1ESFCExU6EEUkFDkeEiIzIzcf/aAAwDAQACEQMRAD8AztGsTlulSU6hM7xGG3OP1XMad09Uzxj9DxRUHFpkbiOe3vXCaZOXZTJMRtJaMdoGKJt4xF7E3fHcuUWh2HDhmdpPFOLY8RjlwznA3hkVnhk5hJXrlp96eOMcYlA22HE7vUD9VPSv1iGin0jjDQIOWJhoGWJ8le2TU6lSpl1rrNaJEsaetAkQN5kjZsTFMjMMv9rO9OLQ7itRV9lsEBlR5GcF0GdxJH1vTsraNe0NNN7TgASXADDMkHKdkbVrhlZZhpJ2+fCSo3VIEzMz5LTWjVJsdNQq9MwSS0CXwJkRtO/gsy4AtEzIJyiDMcskYlZgmVSTAKZr3OMNlx3ASUDGxsnAjdmu3RemH2d0sY0z2pI+eKcLLrpas2tw/wCi7IHGBn3rjtuja1H/AKlNzfDx8F3P1otVYw52ZEgYNju7vJdll1tqMIp1or08PezA3ztP7KiFln7PVLjgdoHPL5qYVnATxA7id/NW2t+hmUX06lABrKkOu7iIcMQccxyWea5wAE4AzGzMH5gKmmVmHa61kGDmDCnp13EwMcJ+uSqqrXHHMkrrptLiA0G/sIAnKI7oRwysw6adtcTE7QPEmB5lOLU6J2TE8/RW1h1RbSZftdQsBghoxPVMiTBnLZvU1N+jgboD856Q9IOsdsAyIk/WTwycwpPtTpid23ach4qL2gd6v7dqwx1PprPU6Rodeuz1icMCfLHGPPJGhjO9HDIy7hpDilUt2JEnBcdGiJEiRtRWmzQ5wO8/NWFl0fbRvKA27iuXoE/QJ4Rl0fbeKjNu4lI2UYknCfEjMgDlzTOsV7hALoxgDYO/1Vg5D9t71G618ULrJjAnCPkhZYycpKuFZWha3HOdmHzTUwJE5SMABMJ20cJGUx4/XzS6Nd3IEKx0PoB9pMMLQJgknLAn9FxXUVIkTBLfGPDihNPbtKssTTRs101Ih9XA5jHxmY3BZavWL3FzjJP14JxSnnHj/lMwDaCoooShTil1o4wh6KRI3jAcZP6KwFlq1pR1KsGg9WoQ1zcIO7PLFBrJYhTrm6Ia8X2jcCcsPrFT6B0M+o+m4A3WkOcdgAcOan1rtzalQwQ64C28MbxN0l07TenHvUWcQEKezsxnsgu5ZeajrUYOBnAGe8+qkAPIyMb1qtHauBoFotEMY0NeGkgFxA2zxjITjsXLqlocOqGrUwZT/wCRBh3cCFDrFpU2mpMhobAY3YGi9GA25KINYNNG01JAhjZDB5k81WXEBqEDERB3bc8VPa3QY/7uV4x5KAQ1WGhNJdBUvgA4RjGHkVVCqpj7l4ceG7LfmpOnSVtfVfeqOLtwxgDcBsUFAgEkgHDaJxUVarjy+SAV1LLR6t6Tu2qLou1HARliDgfX6C59ZQ5lpc0hpAxGEe8Z8Ny7tXdHdGPtNfqNaLzAfxESMRyw2rP6S0ma1Z9QiLxmNw2BGDlLQqB1RoLRicTh5zsA+Sitbg55I2meeKjoVziGiXOF0QJMHMAcRh3SrVmrFpecKRyGZAOQ2c+SsLPRT3U0K0terlop50ycJwIOGOUHHJVL3wYIiM0gb3YAd/mfRCXnfmozUQmopFUdt3pBxCdokHhw8lLY7I6rMYRE+P8AhSdQflwM849EdSpJyM/QQUmSfAk9wzSBg47vmMFpk7XR4jkjqPBxxk57lHUEAHf6D9017AcTCiOlWunz5YjzAUVOsRkeCZxR2eiXmBwHiTACgmsdjq1nQxpcRiTsAG0nYtBS1Xp0mXrTWaAPwtOIdjg7aduwKbTVYWOz06NOBUMl7hxGOY2zGHZ55am9xN68Zwxkk4ugjmorzSutgLBSs7ejpjAHJ3h58/FZhxRkYJnsjDbh8pQgmsZJ3z55hDUrk7dgHgFJTsxdlvjugSUujLiDAAJidiks9HafuWd1FzLwdMGcp2c4VTacx3D5LU6FsVjfZz0zrrxsOBO4jHL6wWd0sRTcbgkEYTj1bxj5Ino1EZct3iU7hK46VSs6bo8vFS2W0OJAeI481zi5EzhubVWMprqcHvwyxyWh0dq7QfTv1LQ2ntu4Yd8lSaU1NdTaX0XiswCTHvCInL3ti6OeGZWk1W0OwzaKxAp05gH8RAJmNwgd5wVKaMtkdojkJWk1i/0bDQpCBfAc7DrHAOMnvA5JSp0/pw2h+5gwa3uyJwzy5KphSUKN4ngJ/ZCxskeJjgMT5ShNLqhRbTZUtDo6g6pIxkTl35c8lXWzWW0Ocf8AWeBJgAgDkFa2ulc0c0DMuxM9p2O3gVk6j8SeJUlpZNZK7DPSFwJBc12LXRvCvLtn0gzqsFKu0Z5z/cJ25i9yxl5T6OtppVWVB+Eg+GRHKVINqsxpvLHi65pgj62KAwtJrtYg19N7QQHtAkxJI3wdgIH0Vmk4RwAkAk2MZHdw9UVKoBm0O3YkICxpvzEZgjzB/RCak5jZAjDKApOlhroJzw2Hx4J34OIONwDDeQBI5nyK6BC98gDdP7fqhnAcCcduKa/JxQuchCe+Tl9d67tB0y60UmgxL2nkD+64SJcBO4TxK79X3f7qnBjrYHwOKpTt10r3rTB/C1uOOI2Zqns1U9URkQSeF6SrTXDC2P8A/wAzxN0YhVdLE+DT4lwH6qKLpjdjCM+KRtDvEQZgThliumxWY1XBrRJc4AYgZ7uK0FTRdjs0iu81KmAgA9UkYy3PLYULDJteZz3+Yg+SUmIkwr7WLQdNjG1rNJpOGO2DO/xVJTZI44+UAfNSRuJ3kqa1MIug5Fg5mT+qVn6xjgNkQMAfIlHpOvLJAPutI7x+y53HW33HQt7KbIgY/JVlrtIfgBECfNUtqtTnHDbEfXNSPrlt07/kFx4I7vRNczGF7StJLQNw8PrFazUd9Sajy4imBDwZgu3kDaACslo4TSaTkc95gYLXaRiz2BrGOANYm8MCbpHPhxXens81XdmrZaGue4tkMvOc0bgTnwwWj1qcTQoOnHEECDmAZ+s1mKYEQYzdM/yiR81Ka1Q3WuJusIO2Gicyd2a2w5yf3SmT370dVovZxJE8JAP6p3NDWCCCb36CBznkoEa7iQHExIdE4TvXO4KZx6+O9QqRrqa6iJCvdXNXTWIq1OrRbmZAJjdOQmMePeouvWcTY6HbBF4bRLcO/wDz4Zb7K7CYxE7MonGOCtdY9MCu9oZIZTENGyciRyEdyqg3dvhCDUoOaAXfiEgYTG9NToF2WxPUbGBOUjPKDEIW1oyJHcUp2h/VIGUgnvj90qzSXE5naeJ9ceRUVM597fn6wrHRukhRqhzm3gxxcBsvfhPHd4rTJ7Jq9XqC82mY4kN39qNy47VZXU3Q8Fp4qy0nrVaKrp6UtaDLWtwu7pwx9MFb2v8A3WjukMX6ZJLgIxBEiANxnggsgT9bUVOo5rgRgQjaReB/lk/9waTHyXRo2xdPVZTBDb7g2T3CT34pGHJaK7nuLnGSdqOhWxjfmZ3YwBsxAV7rJquLLUaAS5roGIjExnwieSohZTIwEE9oHDbMZYFBWmpdSLU2Scj5cOa4NYKn+6rHe8nbkcRge9BY7SaVdrhHUOWUwIInZKsKtA222NADWl5DXBu5okuAH8vdkorF1cjRUvMFxlowxBeYgZwsjfPnMrRfxF0myndYCIogMujAkmIF3zXmtp0k9xMugbhgFiasNRTlqDaoOLsThmJhNX06xjOjcQQciMS0wsU6rikHLE1ZbinC0oW5gc8EyYMcsIUdXSLSROURG7aCq16BwWWstZZ9ZKQuNLoGBJAMZ44habWfWejaH020HAta3uxMfoAvLQjZOxairDM05bYvV3S1jDbN0YpgOIIvYkGQQTicDjCy2gLdeEPPujH+YbB8lZNc3GTIkHjkZ/TkukTnq5TGAXpUjWYkfiGzuzCVJzQcQTiI7uMKS01rwe4HN5vEdk+6O448khCKklKm0uMNBcTkAJKjacfrvWssAZYLP0rherVIujYARI2c+8KJ7Bq9SszRVtzhObaWckTgYkE5YcVWad1qdX6jR0dIYBgwkAD3juwyyHiqi2W19Vxc8yfIDcBsCgUj3100ba1pZLbwbjtkumRjOWDeS5IShQGWtiZxjbOJkz5QlTqADFsoAmvKTuZTkwnFIny5nYnZV60nDPHaO7js8Um1MBwK1gBLYz+ty1dWn9l0fdcevVM3DOF5uJy2C7z4qn0PSFW1UwReBfLhvGB55rr1x0hftLg4H/TAYBO7E/Py7lGFA2kd2WaKlULSC04tMg8UVGtECcJaT4IWP2DLE+Ibh5/JCd2kNNVq92+6bgwgRkM+KryITteGuBJETj3Tj9cUNSoAYM5NPHFs/MqQarpcTvJ+avdTg0WmXECGkjvEefHvVKKtPcc9/fjlw81NZ7VTBxv5HKJnCCFFVa/1prHGZqOOzLCDA5LKVqklWutFqbUtDy0Q0ANA7gJ81SSuE9Zdo6QNOmanKCRchTuKZKM8omuURKdxwQlvq/WHTQ4kAgjDPAE+cR4rSvssOOwYx4T/AIWIoVLpadxlbMtLiTjj1t2Bx+gulHZzrhPRoTMOGBHjM5DwQVxAddyLi09wgtHME+CgCcvwjeZPfjHzK6Obo0VRvVmAmJIE95A/VXevT4rMYMmUwI2ZmDyhVGhKzWVmOf7ocJxjD6Cm1mtjatoc9pkQBOMYd+KCrQwwkKZ+gUwOHFGxpOAEkkAbTjkAFA3Qu3KNaGhqNanMD7oEiWgkSR6qjtVFzXEObdIwI2gjOeKiAZIxS4jz9EIYUYqOGRI8SoOljJMYeKFzYUprmZAA4Cc5mf0TVKszuM+eeS2HTonSHQVL8TgW8cc4UFtquqOdUJkuJJxxxOGansFRr6kPcGNIz4jIKGvUDXOaDebPvR72IOKC5gEIGBO7Pxw/VSdNBlojP5+iZ9pBDsIvR5OB/RSw5npnvkydwHIQELkgFmUcFOXYE7kQondtIy3f5XPbawbTcTujxOAV+CzLql6TxK5muxIRtyMd6hpu6/guEO6RqMpgERapI0znKRrEnU0pFCF5U1xQO97wUk4W1stS9SbOPUZzAACxodgtFoa33mXTm2OWxaonqxXDvIQ3UV9MXro5O/QuiDaH9GHAEkROZ7gurWbVo2N7WF14kEkwQMDGE+KqKVQtLXDMGR4R+67NLadqWlwdVdN0XWjGAOCi4QxdejrUaTw9vvDHKR9YrkvhN0ig0WjNK1qtspl1RxvPi7JIF7Ai7tQa7UQLW67gCAT1buJ3CO7zXTqLYg+q+q4C7RaXY5TdMnwGPgqHS2kzWrPeSTeJiezsHJRcpdCQcd6ic9O36xUHUZQklWrtGkbEvZrty0lSAkZVn7MduPIpn6PIOIPI+iui6qyFG5Wh0a7snkfRB7Ldu8ihKsuTXyrU6JcMx5IRok7vJBcDLS4bd/nmqfTGkDUNzABgAw2755q104TQYDGLiQJG7M/JZ2kySTvC51z+HSiPy5iYUNBvXJXfZ7A6tWDGgkuzgEwB7zsNwXNTpgOdGIBI81hs5CUpOKEKQgiKjLkrykZ7ly1X9YKVz8YUNZm1MKVi1uEotHWgsqA7zB7jmo7E/qye5C8bch5o7SZ6w1rkxUmgKDqlBriC4yQSATkcMlZDRLuy74Su/d55VTiYHj8ygIKuxoRxyafHD5qJ2iH9l2HApwFQkSrX2Q7snkUDtDv7LuRQXRo3WAUbLVpQb1ScdmIjHw+tqo7ytfZXVxa6dnVPoom6Ldsa74Soq8FOAu32W7snkfRIaNd2TyKA9ZOu1MZU3/0+qb78M/Lf/SrH2LS7KY6FpdleXNzd6sUbKx2vLPy382+qhfrrT/Kfzb6q1doSl2Vz1NA0uz5ombm5jhV334aMqb+bU336b+XU5t9V2O1eo9k81GdXqO480cVzc4pcrtem/l1ObfVQWv8AiNTptvOZUA7257s11v0HQGwk8D6rzT+JFFzazWhhbRuyw4m878RJ3jKOKoqrz3U0RjOHFrlrg631WyLrKd4MZmRJEucdpMBZ+buE+CjGGea32pv8ODVIrWtpazNlI4Oduc/c3hmdsBdHNW6E0qLBYazw0/aLQDTpvw6jHCMNskXj4NWOs/uHvXpH8WtE06VCi5gIJqObnhFyTh4Bedtpw2FRM46qe6IFOgpyCQjvLSwF7cCdyBzsFKRIK53gwEAzQnIwTtCdKWWrllbUdUY8Ok0yaZEdWoC2CQc2kSD3ygtNkcx0PEEbPRaz+Dtia+21bwkNonA8ajMfmt1r7qQLRZ71FoFalLmjtt/Ezvwkd0bVmc5ajs8s1T1mqWG0tqtJu5VKYJAew5jdIzB3r16l/EhjmhzWVSCJBluXNeDtEr0r+Gbnik8VKV6lM03HAyfeDZGI+RRVMxHSTTTmezWv19pnOlUPeWoW69UxlSePFn6KzpWWi4TdA2YgZ+EqcaLpbGjyWYquT+WpoiO8KY6/DsVPiah+/Y7FTm1XR0XT7I5JvZtPsjkEZr3GKVK7Xgdip8TUw12HYqcwrg6PZ2RyCE2JnZHIIzXuf6VQdcWnOm8+LUm63U/ynf0q2+xM7I5BL7GzsjkE5r3GKdl2ao7XmE3TDtDmF427Wuj/AD/D+6E600f5/h/deLnbvin93q5W393uLrc26ReblH4VX3x2hzC8e+9VH+b4f3THWqj/AD/CPVPO3fF7/gcrR5HsDnN7Q5j1UNWlTObv64XkZ1qpbn/CPVCdZ6W5/wAI9UT8u7P6XtqmxTT1i49aqWakfxf1hcOlND2esy4+HjOC/bzXmX3opbn/AAj1THWiluf8I9Uc1c8XtqbVM97jb0dR7Cx4cKbJaQ4EvJgjEZu3rRB7O2PjC8mOtFLsv+EeqYa0U+y/kPVa5u94vbHLW/u9K01oqz2hjW1rlQNMgFwwMROe5U7tSLB+XS+P91jDrRT7L+Q9U33mp9l3IequbveP2uXt/dsHakWH8un8Q9UD9RLEfwM+Ij/2WTGszOy7kPVL70U+y7kPVXN3vH7XLW/u0zv4e2Gfdb/5Hf3J/wD4+sI/A3/yO/uWWOtVPsu5D1TfepnZf5eqebveP2OXt/drRqDYR/8AWz4j/cpPuRYuxTPiPVY462s7L+TfVIa2U+y/k31VzV7x+1y9v7vRNCaEs9meXUujplwuktIBIBmCVcG0t/NHxheS/exnZfyb6pvvUzsP5D1Rzd7x+1y9v7+mz+5limejp7/ejHwK0Fmp0Wsa0OaA2AAH5AbM15X96mdl/l6pjrSzsv8AL1RzN6e9v21FqintW9X6Gjfv3m3ogw9onvjPxUzKtMZPb8Y9V5CNaGdl/l6qQa1s7L/L1VzF2P0/Zm3RPet659qZ+Y34h6pG0M7bfiC8i+9lPs1P6fVL72U+y/y9U81e8ftjQt/d62bQztt+Ieq420Ca4d0zOjMSy9GyMwd68wGtlPsv5D1RnW5nZfyb6rdPzL9Of7ftmfjW5xmt6zWo0RBbcnbNZ0f8iq/S1lc670NWnTib0vLpyjMFebO1vp9l/JvqmOt7Oy/k31WqfnX4j/VlV/Gt1T/nj/jpOrI4ITq2OC1DmILq+Nq1bvpaVOzNDVnuRHVkLSghMWq1a91pU7M23Vtu4JHVsbhyWihPCtWrdaVOzNjVwbgjGrrdw5LQFhTBiNWrdadOyg+7zdwTewG7hyV+aYS6FWpVudOnZRDQLNwS9gt3BXf2fgmuI1Ktxp07KX2Czd5I3ausjLyVxdRbExdq3WnSoBq+wDIclH7CbuC0IAImEhTRN2rcxbp2Z52r7dw5JN0A3cOQV89ijuKi9XuNOnZUDQDdwTnQTeyOSt+jSgq1at1p07Kf2I3cOSIaDbtaOSti9OHBOpVutOnZUew6fZCIaDp9kKzlEGK1Kt1wU7Kr2CzshO3QLNzeQVoaadjFalW606dlUdBM7LeSb2G3sjkri6lCdSrdadOynGhGdkckvY7OyOStykjVq3WnS7yEkaBzlydSuBC6miDkLnjepAAUgYEHSJ2uUjmmgCkKjLkI0YphUxTkIejTlJbyFwUbinajKK6gqHBSyo65w3JwkVHJSFy5mgxkpWjcucmBFADindICiFpG3DyWoEp7iRaueraITsqkpwE/RqN9JGwpyqDhEGogiIThqsgBKbpVLCEN3qQQ9P0ie4nFNKCSmJhSXE1w/UqDqPeo3A70V/emMfQRLRBiItSB+oTmqpAulNdR30nOQQglKULnwmNRMgcpQojWTGsEITkryj6aU14oQjU+go6lXDd3epwScw7VGaE7ZXSJZkTBht5omqFg6pUrMliYaiRFqgqWGV0tICRqhUJyusYkQIOcpmzkfrvXTfQlbzlkzSQia8oWlEwygpGlOUKNBAXpg/FSBgTmmE4CO+kKqLogkaIUjtenvILsJYb1AF8qRtQpklqUTnHf5oWuSSWSYvIUl5MkqQamZzUppDjzSSWZMBdSCG4BsSSVDSNrsUc4pJJEud7+tH+fNR9MZzSSXWIYkqNSQFPCSSzJgihckksyRtQPckktQBNCZpSSRUivlS0nkpJLENJEJCSS0JM4pgUkkgBeiDEkkJ//2Q=="/>
          <p:cNvSpPr>
            <a:spLocks noChangeAspect="1" noChangeArrowheads="1"/>
          </p:cNvSpPr>
          <p:nvPr/>
        </p:nvSpPr>
        <p:spPr bwMode="auto">
          <a:xfrm>
            <a:off x="155575" y="-966788"/>
            <a:ext cx="2257425" cy="20193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220" name="AutoShape 4" descr="data:image/jpeg;base64,/9j/4AAQSkZJRgABAQAAAQABAAD/2wCEAAkGBhQSEBUUEhQWFBUUFxQUFBQXFRUXFBYUFxQVFxQUFRYXGyYfGBkkGRUVHy8gJCcpLCwsFR4xNTAqNSYrLCkBCQoKDgwOFA8PFykcHBwpKSkpKSkpKSkpKSkpKSkpKSkpLCkpKSkpKSkpKSkpKTUpKSkpNiksLCwrKSkpLCkpKf/AABEIANQA7QMBIgACEQEDEQH/xAAbAAABBQEBAAAAAAAAAAAAAAACAAEDBQYEB//EAEMQAAEDAQQGBwUGBQMEAwAAAAEAAhEDBBIhMQUGQVFhkRMiUnGBodEVMpKx8BQWQlPB4QdiotLxIySyM3KTwhdDgv/EABkBAQEBAQEBAAAAAAAAAAAAAAEAAgMEBf/EACsRAQABAwIGAgEDBQAAAAAAAAABAgMRE1ESFCExU6EEUkFDkeEiIzIzcf/aAAwDAQACEQMRAD8AztGsTlulSU6hM7xGG3OP1XMad09Uzxj9DxRUHFpkbiOe3vXCaZOXZTJMRtJaMdoGKJt4xF7E3fHcuUWh2HDhmdpPFOLY8RjlwznA3hkVnhk5hJXrlp96eOMcYlA22HE7vUD9VPSv1iGin0jjDQIOWJhoGWJ8le2TU6lSpl1rrNaJEsaetAkQN5kjZsTFMjMMv9rO9OLQ7itRV9lsEBlR5GcF0GdxJH1vTsraNe0NNN7TgASXADDMkHKdkbVrhlZZhpJ2+fCSo3VIEzMz5LTWjVJsdNQq9MwSS0CXwJkRtO/gsy4AtEzIJyiDMcskYlZgmVSTAKZr3OMNlx3ASUDGxsnAjdmu3RemH2d0sY0z2pI+eKcLLrpas2tw/wCi7IHGBn3rjtuja1H/AKlNzfDx8F3P1otVYw52ZEgYNju7vJdll1tqMIp1or08PezA3ztP7KiFln7PVLjgdoHPL5qYVnATxA7id/NW2t+hmUX06lABrKkOu7iIcMQccxyWea5wAE4AzGzMH5gKmmVmHa61kGDmDCnp13EwMcJ+uSqqrXHHMkrrptLiA0G/sIAnKI7oRwysw6adtcTE7QPEmB5lOLU6J2TE8/RW1h1RbSZftdQsBghoxPVMiTBnLZvU1N+jgboD856Q9IOsdsAyIk/WTwycwpPtTpid23ach4qL2gd6v7dqwx1PprPU6Rodeuz1icMCfLHGPPJGhjO9HDIy7hpDilUt2JEnBcdGiJEiRtRWmzQ5wO8/NWFl0fbRvKA27iuXoE/QJ4Rl0fbeKjNu4lI2UYknCfEjMgDlzTOsV7hALoxgDYO/1Vg5D9t71G618ULrJjAnCPkhZYycpKuFZWha3HOdmHzTUwJE5SMABMJ20cJGUx4/XzS6Nd3IEKx0PoB9pMMLQJgknLAn9FxXUVIkTBLfGPDihNPbtKssTTRs101Ih9XA5jHxmY3BZavWL3FzjJP14JxSnnHj/lMwDaCoooShTil1o4wh6KRI3jAcZP6KwFlq1pR1KsGg9WoQ1zcIO7PLFBrJYhTrm6Ia8X2jcCcsPrFT6B0M+o+m4A3WkOcdgAcOan1rtzalQwQ64C28MbxN0l07TenHvUWcQEKezsxnsgu5ZeajrUYOBnAGe8+qkAPIyMb1qtHauBoFotEMY0NeGkgFxA2zxjITjsXLqlocOqGrUwZT/wCRBh3cCFDrFpU2mpMhobAY3YGi9GA25KINYNNG01JAhjZDB5k81WXEBqEDERB3bc8VPa3QY/7uV4x5KAQ1WGhNJdBUvgA4RjGHkVVCqpj7l4ceG7LfmpOnSVtfVfeqOLtwxgDcBsUFAgEkgHDaJxUVarjy+SAV1LLR6t6Tu2qLou1HARliDgfX6C59ZQ5lpc0hpAxGEe8Z8Ny7tXdHdGPtNfqNaLzAfxESMRyw2rP6S0ma1Z9QiLxmNw2BGDlLQqB1RoLRicTh5zsA+Sitbg55I2meeKjoVziGiXOF0QJMHMAcRh3SrVmrFpecKRyGZAOQ2c+SsLPRT3U0K0terlop50ycJwIOGOUHHJVL3wYIiM0gb3YAd/mfRCXnfmozUQmopFUdt3pBxCdokHhw8lLY7I6rMYRE+P8AhSdQflwM849EdSpJyM/QQUmSfAk9wzSBg47vmMFpk7XR4jkjqPBxxk57lHUEAHf6D9017AcTCiOlWunz5YjzAUVOsRkeCZxR2eiXmBwHiTACgmsdjq1nQxpcRiTsAG0nYtBS1Xp0mXrTWaAPwtOIdjg7aduwKbTVYWOz06NOBUMl7hxGOY2zGHZ55am9xN68Zwxkk4ugjmorzSutgLBSs7ejpjAHJ3h58/FZhxRkYJnsjDbh8pQgmsZJ3z55hDUrk7dgHgFJTsxdlvjugSUujLiDAAJidiks9HafuWd1FzLwdMGcp2c4VTacx3D5LU6FsVjfZz0zrrxsOBO4jHL6wWd0sRTcbgkEYTj1bxj5Ino1EZct3iU7hK46VSs6bo8vFS2W0OJAeI481zi5EzhubVWMprqcHvwyxyWh0dq7QfTv1LQ2ntu4Yd8lSaU1NdTaX0XiswCTHvCInL3ti6OeGZWk1W0OwzaKxAp05gH8RAJmNwgd5wVKaMtkdojkJWk1i/0bDQpCBfAc7DrHAOMnvA5JSp0/pw2h+5gwa3uyJwzy5KphSUKN4ngJ/ZCxskeJjgMT5ShNLqhRbTZUtDo6g6pIxkTl35c8lXWzWW0Ocf8AWeBJgAgDkFa2ulc0c0DMuxM9p2O3gVk6j8SeJUlpZNZK7DPSFwJBc12LXRvCvLtn0gzqsFKu0Z5z/cJ25i9yxl5T6OtppVWVB+Eg+GRHKVINqsxpvLHi65pgj62KAwtJrtYg19N7QQHtAkxJI3wdgIH0Vmk4RwAkAk2MZHdw9UVKoBm0O3YkICxpvzEZgjzB/RCak5jZAjDKApOlhroJzw2Hx4J34OIONwDDeQBI5nyK6BC98gDdP7fqhnAcCcduKa/JxQuchCe+Tl9d67tB0y60UmgxL2nkD+64SJcBO4TxK79X3f7qnBjrYHwOKpTt10r3rTB/C1uOOI2Zqns1U9URkQSeF6SrTXDC2P8A/wAzxN0YhVdLE+DT4lwH6qKLpjdjCM+KRtDvEQZgThliumxWY1XBrRJc4AYgZ7uK0FTRdjs0iu81KmAgA9UkYy3PLYULDJteZz3+Yg+SUmIkwr7WLQdNjG1rNJpOGO2DO/xVJTZI44+UAfNSRuJ3kqa1MIug5Fg5mT+qVn6xjgNkQMAfIlHpOvLJAPutI7x+y53HW33HQt7KbIgY/JVlrtIfgBECfNUtqtTnHDbEfXNSPrlt07/kFx4I7vRNczGF7StJLQNw8PrFazUd9Sajy4imBDwZgu3kDaACslo4TSaTkc95gYLXaRiz2BrGOANYm8MCbpHPhxXens81XdmrZaGue4tkMvOc0bgTnwwWj1qcTQoOnHEECDmAZ+s1mKYEQYzdM/yiR81Ka1Q3WuJusIO2Gicyd2a2w5yf3SmT370dVovZxJE8JAP6p3NDWCCCb36CBznkoEa7iQHExIdE4TvXO4KZx6+O9QqRrqa6iJCvdXNXTWIq1OrRbmZAJjdOQmMePeouvWcTY6HbBF4bRLcO/wDz4Zb7K7CYxE7MonGOCtdY9MCu9oZIZTENGyciRyEdyqg3dvhCDUoOaAXfiEgYTG9NToF2WxPUbGBOUjPKDEIW1oyJHcUp2h/VIGUgnvj90qzSXE5naeJ9ceRUVM597fn6wrHRukhRqhzm3gxxcBsvfhPHd4rTJ7Jq9XqC82mY4kN39qNy47VZXU3Q8Fp4qy0nrVaKrp6UtaDLWtwu7pwx9MFb2v8A3WjukMX6ZJLgIxBEiANxnggsgT9bUVOo5rgRgQjaReB/lk/9waTHyXRo2xdPVZTBDb7g2T3CT34pGHJaK7nuLnGSdqOhWxjfmZ3YwBsxAV7rJquLLUaAS5roGIjExnwieSohZTIwEE9oHDbMZYFBWmpdSLU2Scj5cOa4NYKn+6rHe8nbkcRge9BY7SaVdrhHUOWUwIInZKsKtA222NADWl5DXBu5okuAH8vdkorF1cjRUvMFxlowxBeYgZwsjfPnMrRfxF0myndYCIogMujAkmIF3zXmtp0k9xMugbhgFiasNRTlqDaoOLsThmJhNX06xjOjcQQciMS0wsU6rikHLE1ZbinC0oW5gc8EyYMcsIUdXSLSROURG7aCq16BwWWstZZ9ZKQuNLoGBJAMZ44habWfWejaH020HAta3uxMfoAvLQjZOxairDM05bYvV3S1jDbN0YpgOIIvYkGQQTicDjCy2gLdeEPPujH+YbB8lZNc3GTIkHjkZ/TkukTnq5TGAXpUjWYkfiGzuzCVJzQcQTiI7uMKS01rwe4HN5vEdk+6O448khCKklKm0uMNBcTkAJKjacfrvWssAZYLP0rherVIujYARI2c+8KJ7Bq9SszRVtzhObaWckTgYkE5YcVWad1qdX6jR0dIYBgwkAD3juwyyHiqi2W19Vxc8yfIDcBsCgUj3100ba1pZLbwbjtkumRjOWDeS5IShQGWtiZxjbOJkz5QlTqADFsoAmvKTuZTkwnFIny5nYnZV60nDPHaO7js8Um1MBwK1gBLYz+ty1dWn9l0fdcevVM3DOF5uJy2C7z4qn0PSFW1UwReBfLhvGB55rr1x0hftLg4H/TAYBO7E/Py7lGFA2kd2WaKlULSC04tMg8UVGtECcJaT4IWP2DLE+Ibh5/JCd2kNNVq92+6bgwgRkM+KryITteGuBJETj3Tj9cUNSoAYM5NPHFs/MqQarpcTvJ+avdTg0WmXECGkjvEefHvVKKtPcc9/fjlw81NZ7VTBxv5HKJnCCFFVa/1prHGZqOOzLCDA5LKVqklWutFqbUtDy0Q0ANA7gJ81SSuE9Zdo6QNOmanKCRchTuKZKM8omuURKdxwQlvq/WHTQ4kAgjDPAE+cR4rSvssOOwYx4T/AIWIoVLpadxlbMtLiTjj1t2Bx+gulHZzrhPRoTMOGBHjM5DwQVxAddyLi09wgtHME+CgCcvwjeZPfjHzK6Obo0VRvVmAmJIE95A/VXevT4rMYMmUwI2ZmDyhVGhKzWVmOf7ocJxjD6Cm1mtjatoc9pkQBOMYd+KCrQwwkKZ+gUwOHFGxpOAEkkAbTjkAFA3Qu3KNaGhqNanMD7oEiWgkSR6qjtVFzXEObdIwI2gjOeKiAZIxS4jz9EIYUYqOGRI8SoOljJMYeKFzYUprmZAA4Cc5mf0TVKszuM+eeS2HTonSHQVL8TgW8cc4UFtquqOdUJkuJJxxxOGansFRr6kPcGNIz4jIKGvUDXOaDebPvR72IOKC5gEIGBO7Pxw/VSdNBlojP5+iZ9pBDsIvR5OB/RSw5npnvkydwHIQELkgFmUcFOXYE7kQondtIy3f5XPbawbTcTujxOAV+CzLql6TxK5muxIRtyMd6hpu6/guEO6RqMpgERapI0znKRrEnU0pFCF5U1xQO97wUk4W1stS9SbOPUZzAACxodgtFoa33mXTm2OWxaonqxXDvIQ3UV9MXro5O/QuiDaH9GHAEkROZ7gurWbVo2N7WF14kEkwQMDGE+KqKVQtLXDMGR4R+67NLadqWlwdVdN0XWjGAOCi4QxdejrUaTw9vvDHKR9YrkvhN0ig0WjNK1qtspl1RxvPi7JIF7Ai7tQa7UQLW67gCAT1buJ3CO7zXTqLYg+q+q4C7RaXY5TdMnwGPgqHS2kzWrPeSTeJiezsHJRcpdCQcd6ic9O36xUHUZQklWrtGkbEvZrty0lSAkZVn7MduPIpn6PIOIPI+iui6qyFG5Wh0a7snkfRB7Ldu8ihKsuTXyrU6JcMx5IRok7vJBcDLS4bd/nmqfTGkDUNzABgAw2755q104TQYDGLiQJG7M/JZ2kySTvC51z+HSiPy5iYUNBvXJXfZ7A6tWDGgkuzgEwB7zsNwXNTpgOdGIBI81hs5CUpOKEKQgiKjLkrykZ7ly1X9YKVz8YUNZm1MKVi1uEotHWgsqA7zB7jmo7E/qye5C8bch5o7SZ6w1rkxUmgKDqlBriC4yQSATkcMlZDRLuy74Su/d55VTiYHj8ygIKuxoRxyafHD5qJ2iH9l2HApwFQkSrX2Q7snkUDtDv7LuRQXRo3WAUbLVpQb1ScdmIjHw+tqo7ytfZXVxa6dnVPoom6Ldsa74Soq8FOAu32W7snkfRIaNd2TyKA9ZOu1MZU3/0+qb78M/Lf/SrH2LS7KY6FpdleXNzd6sUbKx2vLPy382+qhfrrT/Kfzb6q1doSl2Vz1NA0uz5ombm5jhV334aMqb+bU336b+XU5t9V2O1eo9k81GdXqO480cVzc4pcrtem/l1ObfVQWv8AiNTptvOZUA7257s11v0HQGwk8D6rzT+JFFzazWhhbRuyw4m878RJ3jKOKoqrz3U0RjOHFrlrg631WyLrKd4MZmRJEucdpMBZ+buE+CjGGea32pv8ODVIrWtpazNlI4Oduc/c3hmdsBdHNW6E0qLBYazw0/aLQDTpvw6jHCMNskXj4NWOs/uHvXpH8WtE06VCi5gIJqObnhFyTh4Bedtpw2FRM46qe6IFOgpyCQjvLSwF7cCdyBzsFKRIK53gwEAzQnIwTtCdKWWrllbUdUY8Ok0yaZEdWoC2CQc2kSD3ygtNkcx0PEEbPRaz+Dtia+21bwkNonA8ajMfmt1r7qQLRZ71FoFalLmjtt/Ezvwkd0bVmc5ajs8s1T1mqWG0tqtJu5VKYJAew5jdIzB3r16l/EhjmhzWVSCJBluXNeDtEr0r+Gbnik8VKV6lM03HAyfeDZGI+RRVMxHSTTTmezWv19pnOlUPeWoW69UxlSePFn6KzpWWi4TdA2YgZ+EqcaLpbGjyWYquT+WpoiO8KY6/DsVPiah+/Y7FTm1XR0XT7I5JvZtPsjkEZr3GKVK7Xgdip8TUw12HYqcwrg6PZ2RyCE2JnZHIIzXuf6VQdcWnOm8+LUm63U/ynf0q2+xM7I5BL7GzsjkE5r3GKdl2ao7XmE3TDtDmF427Wuj/AD/D+6E600f5/h/deLnbvin93q5W393uLrc26ReblH4VX3x2hzC8e+9VH+b4f3THWqj/AD/CPVPO3fF7/gcrR5HsDnN7Q5j1UNWlTObv64XkZ1qpbn/CPVCdZ6W5/wAI9UT8u7P6XtqmxTT1i49aqWakfxf1hcOlND2esy4+HjOC/bzXmX3opbn/AAj1THWiluf8I9Uc1c8XtqbVM97jb0dR7Cx4cKbJaQ4EvJgjEZu3rRB7O2PjC8mOtFLsv+EeqYa0U+y/kPVa5u94vbHLW/u9K01oqz2hjW1rlQNMgFwwMROe5U7tSLB+XS+P91jDrRT7L+Q9U33mp9l3IequbveP2uXt/dsHakWH8un8Q9UD9RLEfwM+Ij/2WTGszOy7kPVL70U+y7kPVXN3vH7XLW/u0zv4e2Gfdb/5Hf3J/wD4+sI/A3/yO/uWWOtVPsu5D1TfepnZf5eqebveP2OXt/drRqDYR/8AWz4j/cpPuRYuxTPiPVY462s7L+TfVIa2U+y/k31VzV7x+1y9v7vRNCaEs9meXUujplwuktIBIBmCVcG0t/NHxheS/exnZfyb6pvvUzsP5D1Rzd7x+1y9v7+mz+5limejp7/ejHwK0Fmp0Wsa0OaA2AAH5AbM15X96mdl/l6pjrSzsv8AL1RzN6e9v21FqintW9X6Gjfv3m3ogw9onvjPxUzKtMZPb8Y9V5CNaGdl/l6qQa1s7L/L1VzF2P0/Zm3RPet659qZ+Y34h6pG0M7bfiC8i+9lPs1P6fVL72U+y/y9U81e8ftjQt/d62bQztt+Ieq420Ca4d0zOjMSy9GyMwd68wGtlPsv5D1RnW5nZfyb6rdPzL9Of7ftmfjW5xmt6zWo0RBbcnbNZ0f8iq/S1lc670NWnTib0vLpyjMFebO1vp9l/JvqmOt7Oy/k31WqfnX4j/VlV/Gt1T/nj/jpOrI4ITq2OC1DmILq+Nq1bvpaVOzNDVnuRHVkLSghMWq1a91pU7M23Vtu4JHVsbhyWihPCtWrdaVOzNjVwbgjGrrdw5LQFhTBiNWrdadOyg+7zdwTewG7hyV+aYS6FWpVudOnZRDQLNwS9gt3BXf2fgmuI1Ktxp07KX2Czd5I3ausjLyVxdRbExdq3WnSoBq+wDIclH7CbuC0IAImEhTRN2rcxbp2Z52r7dw5JN0A3cOQV89ijuKi9XuNOnZUDQDdwTnQTeyOSt+jSgq1at1p07Kf2I3cOSIaDbtaOSti9OHBOpVutOnZUew6fZCIaDp9kKzlEGK1Kt1wU7Kr2CzshO3QLNzeQVoaadjFalW606dlUdBM7LeSb2G3sjkri6lCdSrdadOynGhGdkckvY7OyOStykjVq3WnS7yEkaBzlydSuBC6miDkLnjepAAUgYEHSJ2uUjmmgCkKjLkI0YphUxTkIejTlJbyFwUbinajKK6gqHBSyo65w3JwkVHJSFy5mgxkpWjcucmBFADindICiFpG3DyWoEp7iRaueraITsqkpwE/RqN9JGwpyqDhEGogiIThqsgBKbpVLCEN3qQQ9P0ie4nFNKCSmJhSXE1w/UqDqPeo3A70V/emMfQRLRBiItSB+oTmqpAulNdR30nOQQglKULnwmNRMgcpQojWTGsEITkryj6aU14oQjU+go6lXDd3epwScw7VGaE7ZXSJZkTBht5omqFg6pUrMliYaiRFqgqWGV0tICRqhUJyusYkQIOcpmzkfrvXTfQlbzlkzSQia8oWlEwygpGlOUKNBAXpg/FSBgTmmE4CO+kKqLogkaIUjtenvILsJYb1AF8qRtQpklqUTnHf5oWuSSWSYvIUl5MkqQamZzUppDjzSSWZMBdSCG4BsSSVDSNrsUc4pJJEud7+tH+fNR9MZzSSXWIYkqNSQFPCSSzJgihckksyRtQPckktQBNCZpSSRUivlS0nkpJLENJEJCSS0JM4pgUkkgBeiDEkkJ//2Q=="/>
          <p:cNvSpPr>
            <a:spLocks noChangeAspect="1" noChangeArrowheads="1"/>
          </p:cNvSpPr>
          <p:nvPr/>
        </p:nvSpPr>
        <p:spPr bwMode="auto">
          <a:xfrm>
            <a:off x="155575" y="-966788"/>
            <a:ext cx="2257425" cy="20193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9222" name="Picture 6" descr="https://encrypted-tbn3.google.com/images?q=tbn:ANd9GcSXkKAfRWY4P7KrKcDqi1qyTp98y57xltw3uKAv1iBw62i_ir-L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00192" y="5086349"/>
            <a:ext cx="2571750" cy="177165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ítulo 1"/>
          <p:cNvSpPr>
            <a:spLocks noGrp="1"/>
          </p:cNvSpPr>
          <p:nvPr>
            <p:ph type="title"/>
          </p:nvPr>
        </p:nvSpPr>
        <p:spPr bwMode="auto">
          <a:xfrm>
            <a:off x="1691680" y="620688"/>
            <a:ext cx="6995120" cy="79695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pt-BR" dirty="0" smtClean="0"/>
              <a:t>Hipótese</a:t>
            </a:r>
          </a:p>
        </p:txBody>
      </p:sp>
      <p:sp>
        <p:nvSpPr>
          <p:cNvPr id="50179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187623" y="1916832"/>
            <a:ext cx="7832551" cy="4209331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lang="pt-BR" sz="2400" dirty="0" smtClean="0"/>
              <a:t>Um problema de pesquisa, então, usualmente vai perguntar como é que duas ou mais variáveis se relacionam. </a:t>
            </a:r>
          </a:p>
          <a:p>
            <a:pPr eaLnBrk="1" hangingPunct="1"/>
            <a:r>
              <a:rPr lang="pt-BR" sz="2400" dirty="0" smtClean="0"/>
              <a:t>O problema de pesquisa usualmente vai perguntar se existe correlação positiva ou negativa entre os valores das variáveis. </a:t>
            </a:r>
          </a:p>
          <a:p>
            <a:pPr eaLnBrk="1" hangingPunct="1"/>
            <a:r>
              <a:rPr lang="pt-BR" sz="2400" dirty="0" smtClean="0"/>
              <a:t>A existência dessas correlações, porém, ainda não prova causas. </a:t>
            </a:r>
          </a:p>
          <a:p>
            <a:pPr eaLnBrk="1" hangingPunct="1"/>
            <a:r>
              <a:rPr lang="pt-BR" sz="2400" dirty="0" smtClean="0"/>
              <a:t>Uma teoria consistente que explique causa e efeito precisa também ser elaborada, além da validação empírica. </a:t>
            </a:r>
          </a:p>
          <a:p>
            <a:pPr eaLnBrk="1" hangingPunct="1"/>
            <a:r>
              <a:rPr lang="pt-BR" sz="2400" dirty="0" smtClean="0"/>
              <a:t>Isso acontece porque algumas vezes duas variáveis até se correlacionam com alto índice, mas as causas envolvidas podem não ser tão diretas.</a:t>
            </a:r>
          </a:p>
          <a:p>
            <a:pPr eaLnBrk="1" hangingPunct="1"/>
            <a:endParaRPr lang="pt-BR" sz="2400" dirty="0" smtClean="0"/>
          </a:p>
        </p:txBody>
      </p:sp>
      <p:pic>
        <p:nvPicPr>
          <p:cNvPr id="8194" name="Picture 2" descr="https://encrypted-tbn2.google.com/images?q=tbn:ANd9GcT3Igwqf156v9JNg8gHj9tq8ZKz4htx4XuTQafyA4p57Zzpg8J2l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24128" y="188640"/>
            <a:ext cx="3095625" cy="14763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314016" cy="1143000"/>
          </a:xfrm>
        </p:spPr>
        <p:txBody>
          <a:bodyPr/>
          <a:lstStyle/>
          <a:p>
            <a:r>
              <a:rPr lang="pt-BR" dirty="0" smtClean="0"/>
              <a:t>Projeto de Pesquisa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pt-BR" dirty="0" smtClean="0"/>
              <a:t>Tema</a:t>
            </a:r>
          </a:p>
          <a:p>
            <a:pPr lvl="0"/>
            <a:r>
              <a:rPr lang="pt-BR" dirty="0" smtClean="0"/>
              <a:t>Problema </a:t>
            </a:r>
          </a:p>
          <a:p>
            <a:pPr lvl="0"/>
            <a:r>
              <a:rPr lang="pt-BR" dirty="0" smtClean="0"/>
              <a:t>Trabalhos Correlatos</a:t>
            </a:r>
          </a:p>
          <a:p>
            <a:pPr lvl="0"/>
            <a:r>
              <a:rPr lang="pt-BR" dirty="0" smtClean="0"/>
              <a:t>Objetivo</a:t>
            </a:r>
          </a:p>
          <a:p>
            <a:pPr lvl="0"/>
            <a:r>
              <a:rPr lang="pt-BR" dirty="0" smtClean="0"/>
              <a:t>Objetivos Específicos</a:t>
            </a:r>
          </a:p>
          <a:p>
            <a:pPr lvl="0"/>
            <a:r>
              <a:rPr lang="pt-BR" dirty="0" smtClean="0"/>
              <a:t>Hipótese</a:t>
            </a:r>
          </a:p>
          <a:p>
            <a:pPr lvl="0"/>
            <a:r>
              <a:rPr lang="pt-BR" dirty="0" smtClean="0"/>
              <a:t>Justificativa da Hipótese</a:t>
            </a:r>
          </a:p>
          <a:p>
            <a:pPr lvl="0"/>
            <a:r>
              <a:rPr lang="pt-BR" dirty="0" smtClean="0"/>
              <a:t>Método</a:t>
            </a:r>
          </a:p>
          <a:p>
            <a:pPr lvl="0"/>
            <a:r>
              <a:rPr lang="pt-BR" dirty="0" smtClean="0"/>
              <a:t>Resultados Esperados</a:t>
            </a:r>
          </a:p>
          <a:p>
            <a:pPr lvl="0"/>
            <a:r>
              <a:rPr lang="pt-BR" dirty="0" smtClean="0"/>
              <a:t>Limitações</a:t>
            </a:r>
          </a:p>
        </p:txBody>
      </p:sp>
      <p:pic>
        <p:nvPicPr>
          <p:cNvPr id="34818" name="Picture 2" descr="https://encrypted-tbn2.google.com/images?q=tbn:ANd9GcTRAxDlzRILKWXx11eXrkmb6UaxX1qvEnfx2-xlDKBkoT4rR8Zta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7384"/>
            <a:ext cx="1634283" cy="1224136"/>
          </a:xfrm>
          <a:prstGeom prst="rect">
            <a:avLst/>
          </a:prstGeom>
          <a:noFill/>
        </p:spPr>
      </p:pic>
      <p:sp>
        <p:nvSpPr>
          <p:cNvPr id="5" name="Retângulo 4"/>
          <p:cNvSpPr/>
          <p:nvPr/>
        </p:nvSpPr>
        <p:spPr>
          <a:xfrm>
            <a:off x="1403648" y="4104782"/>
            <a:ext cx="4608512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ítulo 1"/>
          <p:cNvSpPr>
            <a:spLocks noGrp="1"/>
          </p:cNvSpPr>
          <p:nvPr>
            <p:ph type="title"/>
          </p:nvPr>
        </p:nvSpPr>
        <p:spPr bwMode="auto">
          <a:xfrm>
            <a:off x="1403648" y="857250"/>
            <a:ext cx="7283152" cy="56038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pt-BR" dirty="0" smtClean="0"/>
              <a:t>Justificativa da hipótese</a:t>
            </a:r>
            <a:br>
              <a:rPr lang="pt-BR" dirty="0" smtClean="0"/>
            </a:br>
            <a:endParaRPr lang="pt-BR" dirty="0" smtClean="0"/>
          </a:p>
        </p:txBody>
      </p:sp>
      <p:sp>
        <p:nvSpPr>
          <p:cNvPr id="51203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403648" y="1844824"/>
            <a:ext cx="7283152" cy="4281339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dirty="0" smtClean="0"/>
              <a:t>Um projeto de pesquisa tem duas justificativas:</a:t>
            </a:r>
          </a:p>
          <a:p>
            <a:pPr lvl="1"/>
            <a:r>
              <a:rPr lang="pt-BR" dirty="0" smtClean="0"/>
              <a:t>Justificativa do problema (porque vale a pena resolver o problema)</a:t>
            </a:r>
          </a:p>
          <a:p>
            <a:pPr lvl="1"/>
            <a:r>
              <a:rPr lang="pt-BR" dirty="0" smtClean="0"/>
              <a:t>Justificativa da hipótese (porque a hipótese escolhida é promissora)</a:t>
            </a:r>
          </a:p>
        </p:txBody>
      </p:sp>
      <p:pic>
        <p:nvPicPr>
          <p:cNvPr id="6146" name="Picture 2" descr="https://encrypted-tbn3.google.com/images?q=tbn:ANd9GcQIqNJrJklhMmbR2qw_cY5OtAhCT2L4To1Wm8O3zu07OAYO0UU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84168" y="4437112"/>
            <a:ext cx="2143125" cy="21431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314016" cy="1143000"/>
          </a:xfrm>
        </p:spPr>
        <p:txBody>
          <a:bodyPr/>
          <a:lstStyle/>
          <a:p>
            <a:r>
              <a:rPr lang="pt-BR" dirty="0" smtClean="0"/>
              <a:t>Projeto de Pesquisa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pt-BR" dirty="0" smtClean="0"/>
              <a:t>Tema</a:t>
            </a:r>
          </a:p>
          <a:p>
            <a:pPr lvl="0"/>
            <a:r>
              <a:rPr lang="pt-BR" dirty="0" smtClean="0"/>
              <a:t>Problema </a:t>
            </a:r>
          </a:p>
          <a:p>
            <a:pPr lvl="0"/>
            <a:r>
              <a:rPr lang="pt-BR" dirty="0" smtClean="0"/>
              <a:t>Trabalhos Correlatos</a:t>
            </a:r>
          </a:p>
          <a:p>
            <a:pPr lvl="0"/>
            <a:r>
              <a:rPr lang="pt-BR" dirty="0" smtClean="0"/>
              <a:t>Objetivo</a:t>
            </a:r>
          </a:p>
          <a:p>
            <a:pPr lvl="0"/>
            <a:r>
              <a:rPr lang="pt-BR" dirty="0" smtClean="0"/>
              <a:t>Objetivos Específicos</a:t>
            </a:r>
          </a:p>
          <a:p>
            <a:pPr lvl="0"/>
            <a:r>
              <a:rPr lang="pt-BR" dirty="0" smtClean="0"/>
              <a:t>Hipótese</a:t>
            </a:r>
          </a:p>
          <a:p>
            <a:pPr lvl="0"/>
            <a:r>
              <a:rPr lang="pt-BR" dirty="0" smtClean="0"/>
              <a:t>Justificativa da Hipótese</a:t>
            </a:r>
          </a:p>
          <a:p>
            <a:pPr lvl="0"/>
            <a:r>
              <a:rPr lang="pt-BR" dirty="0" smtClean="0"/>
              <a:t>Método</a:t>
            </a:r>
          </a:p>
          <a:p>
            <a:pPr lvl="0"/>
            <a:r>
              <a:rPr lang="pt-BR" dirty="0" smtClean="0"/>
              <a:t>Resultados Esperados</a:t>
            </a:r>
          </a:p>
          <a:p>
            <a:pPr lvl="0"/>
            <a:r>
              <a:rPr lang="pt-BR" dirty="0" smtClean="0"/>
              <a:t>Limitações</a:t>
            </a:r>
          </a:p>
        </p:txBody>
      </p:sp>
      <p:pic>
        <p:nvPicPr>
          <p:cNvPr id="34818" name="Picture 2" descr="https://encrypted-tbn2.google.com/images?q=tbn:ANd9GcTRAxDlzRILKWXx11eXrkmb6UaxX1qvEnfx2-xlDKBkoT4rR8Zta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7384"/>
            <a:ext cx="1634283" cy="1224136"/>
          </a:xfrm>
          <a:prstGeom prst="rect">
            <a:avLst/>
          </a:prstGeom>
          <a:noFill/>
        </p:spPr>
      </p:pic>
      <p:sp>
        <p:nvSpPr>
          <p:cNvPr id="5" name="Retângulo 4"/>
          <p:cNvSpPr/>
          <p:nvPr/>
        </p:nvSpPr>
        <p:spPr>
          <a:xfrm>
            <a:off x="1403648" y="4536830"/>
            <a:ext cx="4608512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Método de Pesquisa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Metodologia: estudo dos métodos</a:t>
            </a:r>
          </a:p>
          <a:p>
            <a:r>
              <a:rPr lang="pt-BR" dirty="0" smtClean="0">
                <a:solidFill>
                  <a:srgbClr val="FF0000"/>
                </a:solidFill>
              </a:rPr>
              <a:t>Método</a:t>
            </a:r>
            <a:r>
              <a:rPr lang="pt-BR" dirty="0" smtClean="0"/>
              <a:t>: conjunto de procedimentos a serem executados de forma a demonstrar que a hipótese de pesquisa é verdadeira. </a:t>
            </a:r>
            <a:endParaRPr lang="pt-BR" dirty="0"/>
          </a:p>
        </p:txBody>
      </p:sp>
      <p:pic>
        <p:nvPicPr>
          <p:cNvPr id="51202" name="Picture 2" descr="https://encrypted-tbn1.google.com/images?q=tbn:ANd9GcThAxBrKpZubotvMHtgpkVUWSnT7JNe1aog70jhIDiXnNoRAU9x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9992" y="3861048"/>
            <a:ext cx="3456384" cy="276786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314016" cy="1143000"/>
          </a:xfrm>
        </p:spPr>
        <p:txBody>
          <a:bodyPr/>
          <a:lstStyle/>
          <a:p>
            <a:r>
              <a:rPr lang="pt-BR" dirty="0" smtClean="0"/>
              <a:t>Projeto de Pesquisa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pt-BR" dirty="0" smtClean="0"/>
              <a:t>Tema</a:t>
            </a:r>
          </a:p>
          <a:p>
            <a:pPr lvl="0"/>
            <a:r>
              <a:rPr lang="pt-BR" dirty="0" smtClean="0"/>
              <a:t>Problema </a:t>
            </a:r>
          </a:p>
          <a:p>
            <a:pPr lvl="0"/>
            <a:r>
              <a:rPr lang="pt-BR" dirty="0" smtClean="0"/>
              <a:t>Trabalhos Correlatos</a:t>
            </a:r>
          </a:p>
          <a:p>
            <a:pPr lvl="0"/>
            <a:r>
              <a:rPr lang="pt-BR" dirty="0" smtClean="0"/>
              <a:t>Objetivo</a:t>
            </a:r>
          </a:p>
          <a:p>
            <a:pPr lvl="0"/>
            <a:r>
              <a:rPr lang="pt-BR" dirty="0" smtClean="0"/>
              <a:t>Objetivos Específicos</a:t>
            </a:r>
          </a:p>
          <a:p>
            <a:pPr lvl="0"/>
            <a:r>
              <a:rPr lang="pt-BR" dirty="0" smtClean="0"/>
              <a:t>Hipótese</a:t>
            </a:r>
          </a:p>
          <a:p>
            <a:pPr lvl="0"/>
            <a:r>
              <a:rPr lang="pt-BR" dirty="0" smtClean="0"/>
              <a:t>Justificativa da Hipótese</a:t>
            </a:r>
          </a:p>
          <a:p>
            <a:pPr lvl="0"/>
            <a:r>
              <a:rPr lang="pt-BR" dirty="0" smtClean="0"/>
              <a:t>Método</a:t>
            </a:r>
          </a:p>
          <a:p>
            <a:pPr lvl="0"/>
            <a:r>
              <a:rPr lang="pt-BR" dirty="0" smtClean="0"/>
              <a:t>Resultados Esperados</a:t>
            </a:r>
          </a:p>
          <a:p>
            <a:pPr lvl="0"/>
            <a:r>
              <a:rPr lang="pt-BR" dirty="0" smtClean="0"/>
              <a:t>Limitações</a:t>
            </a:r>
          </a:p>
        </p:txBody>
      </p:sp>
      <p:pic>
        <p:nvPicPr>
          <p:cNvPr id="34818" name="Picture 2" descr="https://encrypted-tbn2.google.com/images?q=tbn:ANd9GcTRAxDlzRILKWXx11eXrkmb6UaxX1qvEnfx2-xlDKBkoT4rR8Zta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7384"/>
            <a:ext cx="1634283" cy="1224136"/>
          </a:xfrm>
          <a:prstGeom prst="rect">
            <a:avLst/>
          </a:prstGeom>
          <a:noFill/>
        </p:spPr>
      </p:pic>
      <p:sp>
        <p:nvSpPr>
          <p:cNvPr id="5" name="Retângulo 4"/>
          <p:cNvSpPr/>
          <p:nvPr/>
        </p:nvSpPr>
        <p:spPr>
          <a:xfrm>
            <a:off x="1403648" y="4941168"/>
            <a:ext cx="4608512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ítulo 1"/>
          <p:cNvSpPr>
            <a:spLocks noGrp="1"/>
          </p:cNvSpPr>
          <p:nvPr>
            <p:ph type="title"/>
          </p:nvPr>
        </p:nvSpPr>
        <p:spPr bwMode="auto">
          <a:xfrm>
            <a:off x="1043608" y="476673"/>
            <a:ext cx="7643192" cy="940966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pt-BR" dirty="0" smtClean="0"/>
              <a:t>Resultados Esperados</a:t>
            </a:r>
            <a:br>
              <a:rPr lang="pt-BR" dirty="0" smtClean="0"/>
            </a:br>
            <a:endParaRPr lang="pt-BR" dirty="0" smtClean="0"/>
          </a:p>
        </p:txBody>
      </p:sp>
      <p:sp>
        <p:nvSpPr>
          <p:cNvPr id="48131" name="Espaço Reservado para Conteúdo 2"/>
          <p:cNvSpPr>
            <a:spLocks noGrp="1"/>
          </p:cNvSpPr>
          <p:nvPr>
            <p:ph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dirty="0" smtClean="0"/>
              <a:t>Os resultados esperados, </a:t>
            </a:r>
            <a:br>
              <a:rPr lang="pt-BR" dirty="0" smtClean="0"/>
            </a:br>
            <a:r>
              <a:rPr lang="pt-BR" dirty="0" smtClean="0"/>
              <a:t>usualmente, são situações que o autor de um trabalho espera que ocorram, caso seus objetivos sejam atingidos. </a:t>
            </a:r>
          </a:p>
          <a:p>
            <a:pPr eaLnBrk="1" hangingPunct="1"/>
            <a:r>
              <a:rPr lang="pt-BR" dirty="0" smtClean="0"/>
              <a:t>Os resultados esperados, normalmente fogem ao escopo do trabalho. </a:t>
            </a:r>
          </a:p>
          <a:p>
            <a:pPr eaLnBrk="1" hangingPunct="1"/>
            <a:r>
              <a:rPr lang="pt-BR" dirty="0" smtClean="0"/>
              <a:t>O autor da pesquisa não tentará obter os resultados esperados ao final da pesquisa. Eles são posteriores. </a:t>
            </a:r>
          </a:p>
          <a:p>
            <a:pPr eaLnBrk="1" hangingPunct="1"/>
            <a:endParaRPr lang="pt-BR" dirty="0" smtClean="0"/>
          </a:p>
        </p:txBody>
      </p:sp>
      <p:pic>
        <p:nvPicPr>
          <p:cNvPr id="3074" name="Picture 2" descr="https://encrypted-tbn2.google.com/images?q=tbn:ANd9GcRZjsrkQt74HIfgKjrSl5DFHtKJZCot54Kvy-5yqGuygNnHmKr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34225" y="0"/>
            <a:ext cx="2009775" cy="20193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314016" cy="1143000"/>
          </a:xfrm>
        </p:spPr>
        <p:txBody>
          <a:bodyPr/>
          <a:lstStyle/>
          <a:p>
            <a:r>
              <a:rPr lang="pt-BR" dirty="0" smtClean="0"/>
              <a:t>Projeto de Pesquisa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pt-BR" dirty="0" smtClean="0"/>
              <a:t>Tema</a:t>
            </a:r>
          </a:p>
          <a:p>
            <a:pPr lvl="0"/>
            <a:r>
              <a:rPr lang="pt-BR" dirty="0" smtClean="0"/>
              <a:t>Problema </a:t>
            </a:r>
          </a:p>
          <a:p>
            <a:pPr lvl="0"/>
            <a:r>
              <a:rPr lang="pt-BR" dirty="0" smtClean="0"/>
              <a:t>Trabalhos Correlatos</a:t>
            </a:r>
          </a:p>
          <a:p>
            <a:pPr lvl="0"/>
            <a:r>
              <a:rPr lang="pt-BR" dirty="0" smtClean="0"/>
              <a:t>Objetivo</a:t>
            </a:r>
          </a:p>
          <a:p>
            <a:pPr lvl="0"/>
            <a:r>
              <a:rPr lang="pt-BR" dirty="0" smtClean="0"/>
              <a:t>Objetivos Específicos</a:t>
            </a:r>
          </a:p>
          <a:p>
            <a:pPr lvl="0"/>
            <a:r>
              <a:rPr lang="pt-BR" dirty="0" smtClean="0"/>
              <a:t>Hipótese</a:t>
            </a:r>
          </a:p>
          <a:p>
            <a:pPr lvl="0"/>
            <a:r>
              <a:rPr lang="pt-BR" dirty="0" smtClean="0"/>
              <a:t>Justificativa da Hipótese</a:t>
            </a:r>
          </a:p>
          <a:p>
            <a:pPr lvl="0"/>
            <a:r>
              <a:rPr lang="pt-BR" dirty="0" smtClean="0"/>
              <a:t>Método</a:t>
            </a:r>
          </a:p>
          <a:p>
            <a:pPr lvl="0"/>
            <a:r>
              <a:rPr lang="pt-BR" dirty="0" smtClean="0"/>
              <a:t>Resultados Esperados</a:t>
            </a:r>
          </a:p>
          <a:p>
            <a:pPr lvl="0"/>
            <a:r>
              <a:rPr lang="pt-BR" dirty="0" smtClean="0"/>
              <a:t>Limitações</a:t>
            </a:r>
          </a:p>
        </p:txBody>
      </p:sp>
      <p:pic>
        <p:nvPicPr>
          <p:cNvPr id="34818" name="Picture 2" descr="https://encrypted-tbn2.google.com/images?q=tbn:ANd9GcTRAxDlzRILKWXx11eXrkmb6UaxX1qvEnfx2-xlDKBkoT4rR8Zta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7384"/>
            <a:ext cx="1634283" cy="1224136"/>
          </a:xfrm>
          <a:prstGeom prst="rect">
            <a:avLst/>
          </a:prstGeom>
          <a:noFill/>
        </p:spPr>
      </p:pic>
      <p:sp>
        <p:nvSpPr>
          <p:cNvPr id="5" name="Retângulo 4"/>
          <p:cNvSpPr/>
          <p:nvPr/>
        </p:nvSpPr>
        <p:spPr>
          <a:xfrm>
            <a:off x="1403648" y="5400926"/>
            <a:ext cx="4608512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https://encrypted-tbn3.google.com/images?q=tbn:ANd9GcSLXL-DcCnjjR30cfRN8r3Sj_7P6lC76for5tkIZsjL_EoKoXG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010149"/>
            <a:ext cx="2466975" cy="1847851"/>
          </a:xfrm>
          <a:prstGeom prst="rect">
            <a:avLst/>
          </a:prstGeom>
          <a:noFill/>
        </p:spPr>
      </p:pic>
      <p:sp>
        <p:nvSpPr>
          <p:cNvPr id="52226" name="Título 1"/>
          <p:cNvSpPr>
            <a:spLocks noGrp="1"/>
          </p:cNvSpPr>
          <p:nvPr>
            <p:ph type="title"/>
          </p:nvPr>
        </p:nvSpPr>
        <p:spPr bwMode="auto">
          <a:xfrm>
            <a:off x="1331640" y="692697"/>
            <a:ext cx="7355160" cy="72494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pt-BR" dirty="0" smtClean="0"/>
              <a:t>Limitações do Trabalho</a:t>
            </a:r>
            <a:br>
              <a:rPr lang="pt-BR" dirty="0" smtClean="0"/>
            </a:br>
            <a:endParaRPr lang="pt-BR" dirty="0" smtClean="0"/>
          </a:p>
        </p:txBody>
      </p:sp>
      <p:sp>
        <p:nvSpPr>
          <p:cNvPr id="52227" name="Espaço Reservado para Conteúdo 2"/>
          <p:cNvSpPr>
            <a:spLocks noGrp="1"/>
          </p:cNvSpPr>
          <p:nvPr>
            <p:ph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/>
            <a:r>
              <a:rPr lang="pt-BR" sz="2400" dirty="0" smtClean="0"/>
              <a:t>As limitações são aspectos do trabalho </a:t>
            </a:r>
            <a:br>
              <a:rPr lang="pt-BR" sz="2400" dirty="0" smtClean="0"/>
            </a:br>
            <a:r>
              <a:rPr lang="pt-BR" sz="2400" dirty="0" smtClean="0"/>
              <a:t>dos quais o autor tem consciência e </a:t>
            </a:r>
            <a:br>
              <a:rPr lang="pt-BR" sz="2400" dirty="0" smtClean="0"/>
            </a:br>
            <a:r>
              <a:rPr lang="pt-BR" sz="2400" dirty="0" smtClean="0"/>
              <a:t>reconhece a importância, mas não tem </a:t>
            </a:r>
            <a:br>
              <a:rPr lang="pt-BR" sz="2400" dirty="0" smtClean="0"/>
            </a:br>
            <a:r>
              <a:rPr lang="pt-BR" sz="2400" dirty="0" smtClean="0"/>
              <a:t>condições de abordar no tempo disponível.</a:t>
            </a:r>
          </a:p>
          <a:p>
            <a:pPr eaLnBrk="1" hangingPunct="1"/>
            <a:r>
              <a:rPr lang="pt-BR" sz="2400" dirty="0" smtClean="0"/>
              <a:t>É importante, em trabalhos de pesquisa, que as limitações conhecidas sejam claramente identificadas pelo autor desde o início. </a:t>
            </a:r>
          </a:p>
          <a:p>
            <a:pPr eaLnBrk="1" hangingPunct="1"/>
            <a:r>
              <a:rPr lang="pt-BR" sz="2400" dirty="0" smtClean="0"/>
              <a:t>Isso evitará que o próprio autor muitas vezes se perca em divagações ou buscando aspectos que extrapolam os objetivos iniciais. </a:t>
            </a:r>
          </a:p>
          <a:p>
            <a:pPr eaLnBrk="1" hangingPunct="1"/>
            <a:r>
              <a:rPr lang="pt-BR" sz="2400" dirty="0" smtClean="0"/>
              <a:t>Isso evita também que o leitor crie expectativas demasiadamente amplas sobre o trabalho, que serão depois frustradas.</a:t>
            </a:r>
          </a:p>
          <a:p>
            <a:pPr eaLnBrk="1" hangingPunct="1"/>
            <a:endParaRPr lang="pt-BR" sz="2400" dirty="0" smtClean="0"/>
          </a:p>
          <a:p>
            <a:pPr eaLnBrk="1" hangingPunct="1"/>
            <a:endParaRPr lang="pt-BR" sz="2400" dirty="0" smtClean="0"/>
          </a:p>
        </p:txBody>
      </p:sp>
      <p:pic>
        <p:nvPicPr>
          <p:cNvPr id="1026" name="Picture 2" descr="https://encrypted-tbn1.google.com/images?q=tbn:ANd9GcSPXN3cThHrQiybL1z03ZaHCT_APTEda1e9fDz5-9BxvJUVCMlsf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29450" y="0"/>
            <a:ext cx="2114550" cy="2162176"/>
          </a:xfrm>
          <a:prstGeom prst="rect">
            <a:avLst/>
          </a:prstGeom>
          <a:noFill/>
        </p:spPr>
      </p:pic>
      <p:sp>
        <p:nvSpPr>
          <p:cNvPr id="1028" name="AutoShape 4" descr="data:image/jpeg;base64,/9j/4AAQSkZJRgABAQAAAQABAAD/2wBDAAkGBwgHBgkIBwgKCgkLDRYPDQwMDRsUFRAWIB0iIiAdHx8kKDQsJCYxJx8fLT0tMTU3Ojo6Iys/RD84QzQ5Ojf/2wBDAQoKCg0MDRoPDxo3JR8lNzc3Nzc3Nzc3Nzc3Nzc3Nzc3Nzc3Nzc3Nzc3Nzc3Nzc3Nzc3Nzc3Nzc3Nzc3Nzc3Nzf/wAARCACjATUDASIAAhEBAxEB/8QAHAABAQACAwEBAAAAAAAAAAAAAAgGBwEEBQID/8QAOxABAAEDAgIGBwUGBwAAAAAAAAECAwQFEQYHEhMUIUFRCDFhgZGhwRVTcZLCIjIzQnKxNFJigqOy0f/EABQBAQAAAAAAAAAAAAAAAAAAAAD/xAAUEQEAAAAAAAAAAAAAAAAAAAAA/9oADAMBAAIRAxEAPwDeIAAAAAAAAAAAAAAADztc13S9AxO16znWcSzvtFVyrvqnypiO+Z9kQ7ebk2sLDv5eRV0bNi3VcuVeVNMbzPwhIHGfFGdxZrl/Us6urozMxYs7702bfhTH1nxnvBQUc5+C5v8AV9tyYp326zstfR/tv8maaNrWm65hxmaRmWcuxM7dO1VvtPlMeuJ9korZHwJxXmcIa9Zz8auubE1RTlWInuvW/GNvOPXE+E+8FgD4sXaL9m3etVRVbuUxVTVHjExvEvsAAAAAAAAAAAAAAAAAAAAAAAAAAAAAAAAAAGO8xYrngPiDq52n7PvfDozv8t0fz61ncU4/a+GdWxtt+uwr1HxomEYyDgHMAsjgqK44P0KLk71xp2P0p9vV07vadTSbHZdLw8fbbqrFFHwpiHbAAAAAAAAAAAAAAAAAAAAAAAAAAAAAAAAAAB83KIuW6qKo3pqjaY9kojyrNWPk3bFf71uuaJ/GJ2W9KN+N8fsnGOuY+20UZ96I/Dpzt8geI7ui43bdYwcX7/It2/zVRH1dJkvLXFnM490G1tvtm27kx7KZ6U/9QV8EeoAAAAAAAAAAAAAAAAAAAAAAAAAAAAAAAAAAAlKPOTG7NzI1mmI2iuui5H+63TP991XJq9ITFixx3RdiP8RhW65nzmJqp/TANYs/5G405HMfT69t4sW712fZ+xMR86oYA2z6OOP0+LdQyJjutYE0++quj/yQUUAAAAAAAAAAAAAAAAAAAAAAAAAAAAAAAAAAAA0H6SmL0dV0TL+8x7tv8tUT+tvxpr0lMeatH0XJ2/h5Ny3v/VTE/oBoFvP0acb9nXsqY8bFuJ/PM/RoxRfo5Y3V8IZ+RMd97Pqjfzimij6zINsAAAAAAAAAAAAAAAAAAAAAAAAAAAAAAAAAAAANY+kLj9dwHRc+4zrVfxprp/U2cwbnXj9o5battG9Vvqrke67Tv8twSqqPkXj9Ry4wa9u+/dvXP+Saf0pc8Vdcr8bsvL7Qbe22+JTc/NvV9QZSAAAAAAAAAAAAAAAAAAAAAAAAAAAAAAAAAAAAxvmRY7RwHr9vbfbBu17f009L6MkdHXcSrUNE1DCpiJqyMa5aiJ8ZqpmPqCK/FZ/DON2PhzS8X7nDs2/hREfRN9vk7xr1lPT0y1FO8bz2u16vzKht0xRRTRTG0UxtAPoAAAAAAAAAAAAAAAAAAAAAAAAAAAAAAAAAAAADcAcbxvt4uQAAAAAAAAAAAAAAAAAAAAAAAAAAAAAAAAAAAAfF27RZtV3btdNFuimaqqqp2imI9czKbuYvNrVNbzLuHoGTdwdLomaaa7UzRdv/AOqavXET4Ux79/Db3ObMu4XLnV67EzTVcpt2ZmP8tddNNXxiZj3pTkH7RmZUXetjJvRc336cXJ33/Fs/ltzc1HSs21p/EuVczNMuTFHaLs9K5j+U7+uqnzid58vKdUuYBcNNVNdMVUzE0zG8TE90w5YjynzLufy80S9fmZrixNvefGKKqqI+VMMuAAAAAAAAAAAAAAAAAAAAAAAAAAAAAAAAAAB4nGmhxxJwvqOkTVFNWTa2t1VeqmuJiqmZ9nSiEgajhZOnZt7CzrNVnJsVzRct1x30zC2mKcZ8vtB4wiLmo2K7WZTT0acvHmKbm3lPdMVR+MfhsCR3b0nTcvV9Rx9P0+zVeysiuKLdunxn6RHrmfCG7o9H/F6/eeIr/U7/ALsYlPS+PS2+TYXBvAeh8H2qvsuxVXk109G5lX5iq5VHlvttEeyIgHp8LaPRoHD2n6Tbq6UYtim3NUfzVfzT75mZ971QAAAAAAAAAAAAAAAAAAAAAAAAAAAAAAAAAAAAAAAAAAAAAAAAAAAAAAAAAAB//9k="/>
          <p:cNvSpPr>
            <a:spLocks noChangeAspect="1" noChangeArrowheads="1"/>
          </p:cNvSpPr>
          <p:nvPr/>
        </p:nvSpPr>
        <p:spPr bwMode="auto">
          <a:xfrm>
            <a:off x="155575" y="-738188"/>
            <a:ext cx="2943225" cy="155257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íci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Solstício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ício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1740</TotalTime>
  <Words>1512</Words>
  <Application>Microsoft Macintosh PowerPoint</Application>
  <PresentationFormat>On-screen Show (4:3)</PresentationFormat>
  <Paragraphs>234</Paragraphs>
  <Slides>38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Solstício</vt:lpstr>
      <vt:lpstr>Projeto de Pesquisa</vt:lpstr>
      <vt:lpstr>Por que é importante saber elaborar um projeto de pesquisa?</vt:lpstr>
      <vt:lpstr>Projeto de Pesquisa</vt:lpstr>
      <vt:lpstr>Projeto de Pesquisa</vt:lpstr>
      <vt:lpstr>Tema e Problema</vt:lpstr>
      <vt:lpstr>Tema</vt:lpstr>
      <vt:lpstr>Especialização do tema (exemplo)</vt:lpstr>
      <vt:lpstr>Tema e Aplicação</vt:lpstr>
      <vt:lpstr>O tema principal deve ser computação</vt:lpstr>
      <vt:lpstr>Projeto de Pesquisa</vt:lpstr>
      <vt:lpstr>O Problema</vt:lpstr>
      <vt:lpstr>O problema tem três partes</vt:lpstr>
      <vt:lpstr>O que um avaliador  procura numa  dissertação?</vt:lpstr>
      <vt:lpstr>A questão ainda não foi tratada?</vt:lpstr>
      <vt:lpstr>Projeto de Pesquisa</vt:lpstr>
      <vt:lpstr>Trabalhos Correlatos</vt:lpstr>
      <vt:lpstr>Projeto de Pesquisa</vt:lpstr>
      <vt:lpstr>Objetivo</vt:lpstr>
      <vt:lpstr>Objetivos inadequados</vt:lpstr>
      <vt:lpstr>“PROPOR”</vt:lpstr>
      <vt:lpstr>O Caminho para a Escolha de um Objetivo de Pesquisa</vt:lpstr>
      <vt:lpstr>Objetivo Objetivo </vt:lpstr>
      <vt:lpstr>A Extensão do Objetivo de Pesquisa</vt:lpstr>
      <vt:lpstr>Objetivo de Pesquisa versus Objetivo Técnico</vt:lpstr>
      <vt:lpstr>Projeto de Pesquisa</vt:lpstr>
      <vt:lpstr>Os Objetivos Específicos </vt:lpstr>
      <vt:lpstr>Objetivos Específicos</vt:lpstr>
      <vt:lpstr>Projeto de Pesquisa</vt:lpstr>
      <vt:lpstr>A Hipótese de Pesquisa</vt:lpstr>
      <vt:lpstr>Hipótese</vt:lpstr>
      <vt:lpstr>Projeto de Pesquisa</vt:lpstr>
      <vt:lpstr>Justificativa da hipótese </vt:lpstr>
      <vt:lpstr>Projeto de Pesquisa</vt:lpstr>
      <vt:lpstr>Método de Pesquisa</vt:lpstr>
      <vt:lpstr>Projeto de Pesquisa</vt:lpstr>
      <vt:lpstr>Resultados Esperados </vt:lpstr>
      <vt:lpstr>Projeto de Pesquisa</vt:lpstr>
      <vt:lpstr>Limitações do Trabalho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Ciência</dc:title>
  <cp:lastModifiedBy>Vania Bogorny</cp:lastModifiedBy>
  <cp:revision>47</cp:revision>
  <dcterms:modified xsi:type="dcterms:W3CDTF">2013-03-19T22:57:44Z</dcterms:modified>
</cp:coreProperties>
</file>
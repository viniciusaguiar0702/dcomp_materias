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7" r:id="rId3"/>
    <p:sldId id="257" r:id="rId4"/>
    <p:sldId id="258" r:id="rId5"/>
    <p:sldId id="268" r:id="rId6"/>
    <p:sldId id="270" r:id="rId7"/>
    <p:sldId id="280" r:id="rId8"/>
    <p:sldId id="283" r:id="rId9"/>
    <p:sldId id="284" r:id="rId10"/>
    <p:sldId id="285" r:id="rId11"/>
    <p:sldId id="333" r:id="rId12"/>
    <p:sldId id="286" r:id="rId13"/>
    <p:sldId id="287" r:id="rId14"/>
    <p:sldId id="288" r:id="rId15"/>
    <p:sldId id="293" r:id="rId16"/>
    <p:sldId id="259" r:id="rId17"/>
    <p:sldId id="271" r:id="rId18"/>
    <p:sldId id="260" r:id="rId19"/>
    <p:sldId id="272" r:id="rId20"/>
    <p:sldId id="273" r:id="rId21"/>
    <p:sldId id="274" r:id="rId22"/>
    <p:sldId id="275" r:id="rId23"/>
    <p:sldId id="261" r:id="rId24"/>
    <p:sldId id="276" r:id="rId25"/>
    <p:sldId id="262" r:id="rId26"/>
    <p:sldId id="277" r:id="rId27"/>
    <p:sldId id="263" r:id="rId28"/>
    <p:sldId id="331" r:id="rId29"/>
    <p:sldId id="332" r:id="rId30"/>
    <p:sldId id="264" r:id="rId31"/>
    <p:sldId id="281" r:id="rId32"/>
    <p:sldId id="282" r:id="rId33"/>
    <p:sldId id="265" r:id="rId34"/>
    <p:sldId id="297" r:id="rId35"/>
    <p:sldId id="298" r:id="rId36"/>
    <p:sldId id="299" r:id="rId37"/>
    <p:sldId id="300" r:id="rId38"/>
    <p:sldId id="266" r:id="rId39"/>
    <p:sldId id="301" r:id="rId40"/>
    <p:sldId id="302" r:id="rId41"/>
    <p:sldId id="303" r:id="rId42"/>
    <p:sldId id="304" r:id="rId43"/>
    <p:sldId id="305" r:id="rId44"/>
    <p:sldId id="308" r:id="rId45"/>
    <p:sldId id="306" r:id="rId46"/>
    <p:sldId id="307" r:id="rId4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2" autoAdjust="0"/>
    <p:restoredTop sz="94660"/>
  </p:normalViewPr>
  <p:slideViewPr>
    <p:cSldViewPr>
      <p:cViewPr varScale="1">
        <p:scale>
          <a:sx n="126" d="100"/>
          <a:sy n="126" d="100"/>
        </p:scale>
        <p:origin x="-28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pPr/>
              <a:t>10/04/2013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riodicos.capes.gov.br/portugues/index.jsp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Prof. Raul Sidnei Wazlawick</a:t>
            </a:r>
          </a:p>
          <a:p>
            <a:r>
              <a:rPr lang="pt-BR" dirty="0" smtClean="0"/>
              <a:t>UFSC-CTC-INE</a:t>
            </a:r>
          </a:p>
          <a:p>
            <a:r>
              <a:rPr lang="pt-BR" dirty="0" smtClean="0"/>
              <a:t>2012</a:t>
            </a:r>
            <a:endParaRPr lang="pt-BR" dirty="0"/>
          </a:p>
        </p:txBody>
      </p:sp>
      <p:pic>
        <p:nvPicPr>
          <p:cNvPr id="76802" name="Picture 2" descr="https://encrypted-tbn2.google.com/images?q=tbn:ANd9GcT1jjF2H-OqI7LCwxd50n83SMCj3i8ao_9Y2hHl0YcnWaLtlM1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3212976"/>
            <a:ext cx="5228550" cy="29523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 bwMode="auto">
          <a:xfrm>
            <a:off x="1187623" y="620688"/>
            <a:ext cx="7542039" cy="736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i="1" dirty="0" smtClean="0"/>
              <a:t>Atenção!</a:t>
            </a:r>
            <a:endParaRPr lang="pt-BR" dirty="0" smtClean="0"/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971600" y="2071688"/>
            <a:ext cx="7715200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A revisão bibliográfica </a:t>
            </a:r>
            <a:r>
              <a:rPr lang="pt-BR" dirty="0" smtClean="0">
                <a:solidFill>
                  <a:srgbClr val="0070C0"/>
                </a:solidFill>
              </a:rPr>
              <a:t>não produz conhecimento novo</a:t>
            </a:r>
            <a:r>
              <a:rPr lang="pt-BR" dirty="0" smtClean="0"/>
              <a:t>.</a:t>
            </a:r>
          </a:p>
          <a:p>
            <a:pPr eaLnBrk="1" hangingPunct="1"/>
            <a:r>
              <a:rPr lang="pt-BR" dirty="0" smtClean="0"/>
              <a:t>Apenas supre as </a:t>
            </a:r>
            <a:br>
              <a:rPr lang="pt-BR" dirty="0" smtClean="0"/>
            </a:br>
            <a:r>
              <a:rPr lang="pt-BR" dirty="0" smtClean="0"/>
              <a:t>deficiências de </a:t>
            </a:r>
            <a:br>
              <a:rPr lang="pt-BR" dirty="0" smtClean="0"/>
            </a:br>
            <a:r>
              <a:rPr lang="pt-BR" dirty="0" smtClean="0"/>
              <a:t>conhecimento que o </a:t>
            </a:r>
            <a:br>
              <a:rPr lang="pt-BR" dirty="0" smtClean="0"/>
            </a:br>
            <a:r>
              <a:rPr lang="pt-BR" dirty="0" smtClean="0"/>
              <a:t>pesquisador tem em uma </a:t>
            </a:r>
            <a:br>
              <a:rPr lang="pt-BR" dirty="0" smtClean="0"/>
            </a:br>
            <a:r>
              <a:rPr lang="pt-BR" dirty="0" smtClean="0"/>
              <a:t>determinada área.</a:t>
            </a:r>
          </a:p>
        </p:txBody>
      </p:sp>
      <p:pic>
        <p:nvPicPr>
          <p:cNvPr id="67586" name="Picture 2" descr="http://1.bp.blogspot.com/_S89X5SAMhpQ/Sr1XFA7RLCI/AAAAAAAAAIk/Xj40_TUkG2o/s400/leito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6446" y="2915362"/>
            <a:ext cx="3071814" cy="3266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514488" y="1484784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 bwMode="auto">
          <a:xfrm>
            <a:off x="1187624" y="764705"/>
            <a:ext cx="7499176" cy="65293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Como iniciar a pesquisa bibliográfica</a:t>
            </a:r>
          </a:p>
        </p:txBody>
      </p:sp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772816"/>
            <a:ext cx="7499176" cy="435334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dirty="0" smtClean="0"/>
              <a:t>Qual o seu grau de conhecimento do assunto?</a:t>
            </a:r>
          </a:p>
          <a:p>
            <a:r>
              <a:rPr lang="pt-BR" sz="2800" dirty="0" smtClean="0"/>
              <a:t>Aborde:</a:t>
            </a:r>
          </a:p>
          <a:p>
            <a:pPr lvl="1"/>
            <a:r>
              <a:rPr lang="pt-BR" sz="2400" i="1" dirty="0" err="1" smtClean="0">
                <a:solidFill>
                  <a:srgbClr val="FF0000"/>
                </a:solidFill>
              </a:rPr>
              <a:t>Surveys</a:t>
            </a:r>
            <a:r>
              <a:rPr lang="pt-BR" sz="2400" dirty="0" smtClean="0"/>
              <a:t> (resumo da área) – caso não conheça bem a área.</a:t>
            </a:r>
          </a:p>
          <a:p>
            <a:pPr lvl="1"/>
            <a:r>
              <a:rPr lang="pt-BR" sz="2400" dirty="0" smtClean="0"/>
              <a:t>Trabalhos </a:t>
            </a:r>
            <a:r>
              <a:rPr lang="pt-BR" sz="2400" dirty="0" smtClean="0">
                <a:solidFill>
                  <a:srgbClr val="33CC33"/>
                </a:solidFill>
              </a:rPr>
              <a:t>clássicos</a:t>
            </a:r>
            <a:r>
              <a:rPr lang="pt-BR" sz="2400" dirty="0" smtClean="0"/>
              <a:t> – caso não esteja familiarizado.</a:t>
            </a:r>
          </a:p>
          <a:p>
            <a:pPr lvl="1"/>
            <a:r>
              <a:rPr lang="pt-BR" sz="2400" dirty="0" smtClean="0"/>
              <a:t>Trabalhos mais </a:t>
            </a:r>
            <a:r>
              <a:rPr lang="pt-BR" sz="2400" dirty="0" smtClean="0">
                <a:solidFill>
                  <a:srgbClr val="00B0F0"/>
                </a:solidFill>
              </a:rPr>
              <a:t>recentes</a:t>
            </a:r>
            <a:r>
              <a:rPr lang="pt-BR" sz="2400" dirty="0" smtClean="0"/>
              <a:t> (estado da arte) – sempre, sempre e sempre.</a:t>
            </a:r>
          </a:p>
        </p:txBody>
      </p:sp>
      <p:pic>
        <p:nvPicPr>
          <p:cNvPr id="72706" name="Picture 2" descr="https://encrypted-tbn1.google.com/images?q=tbn:ANd9GcR8t5aquj0FF3VeWCEvXKNqel_Lp-9G6Tf0UBjW7p_VV5k0AP4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4752974"/>
            <a:ext cx="2171700" cy="21050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 bwMode="auto">
          <a:xfrm>
            <a:off x="1115616" y="692697"/>
            <a:ext cx="7571184" cy="72494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Inicie com um </a:t>
            </a:r>
            <a:r>
              <a:rPr lang="pt-BR" dirty="0" err="1" smtClean="0"/>
              <a:t>Survey</a:t>
            </a:r>
            <a:endParaRPr lang="pt-BR" dirty="0" smtClean="0"/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1643050"/>
            <a:ext cx="7643192" cy="44831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800" dirty="0" smtClean="0"/>
              <a:t>Não é difícil encontrar artigos ou mesmo livros que abordem toda uma área de conhecimento na forma de </a:t>
            </a:r>
            <a:r>
              <a:rPr lang="pt-BR" sz="2800" i="1" dirty="0" err="1" smtClean="0"/>
              <a:t>survey</a:t>
            </a:r>
            <a:r>
              <a:rPr lang="pt-BR" sz="2800" dirty="0" smtClean="0"/>
              <a:t>. </a:t>
            </a:r>
          </a:p>
          <a:p>
            <a:pPr eaLnBrk="1" hangingPunct="1"/>
            <a:r>
              <a:rPr lang="pt-BR" sz="2800" dirty="0" smtClean="0"/>
              <a:t>Os livros servem exatamente a este propósito.</a:t>
            </a:r>
          </a:p>
          <a:p>
            <a:pPr eaLnBrk="1" hangingPunct="1"/>
            <a:r>
              <a:rPr lang="pt-BR" sz="2800" dirty="0" smtClean="0"/>
              <a:t>Pode-se iniciar a pesquisa com uma leitura de trabalhos mais abrangentes que dêem uma visão do todo para depois ir se aprofundando cada vez mais em temas cada vez mais específicos.</a:t>
            </a:r>
          </a:p>
          <a:p>
            <a:pPr eaLnBrk="1" hangingPunct="1"/>
            <a:r>
              <a:rPr lang="pt-BR" sz="2800" dirty="0" smtClean="0"/>
              <a:t>Mas não faça do </a:t>
            </a:r>
            <a:r>
              <a:rPr lang="pt-BR" sz="2800" i="1" dirty="0" err="1" smtClean="0"/>
              <a:t>survey</a:t>
            </a:r>
            <a:r>
              <a:rPr lang="pt-BR" sz="2800" dirty="0" smtClean="0"/>
              <a:t>  sua única fonte.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http://plato.if.usp.br/1-2003/fmt0405d/helen/plata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357430"/>
            <a:ext cx="2485933" cy="3578237"/>
          </a:xfrm>
          <a:prstGeom prst="rect">
            <a:avLst/>
          </a:prstGeom>
          <a:noFill/>
        </p:spPr>
      </p:pic>
      <p:sp>
        <p:nvSpPr>
          <p:cNvPr id="19458" name="Título 1"/>
          <p:cNvSpPr>
            <a:spLocks noGrp="1"/>
          </p:cNvSpPr>
          <p:nvPr>
            <p:ph type="title"/>
          </p:nvPr>
        </p:nvSpPr>
        <p:spPr bwMode="auto">
          <a:xfrm>
            <a:off x="428596" y="1071546"/>
            <a:ext cx="8229600" cy="7032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Clássicos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2357422" y="2071688"/>
            <a:ext cx="6329378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dirty="0" smtClean="0"/>
              <a:t>Um conceito sempre deve ser creditado a quem o definiu primeiro, não a quem o usou apenas.</a:t>
            </a:r>
          </a:p>
          <a:p>
            <a:r>
              <a:rPr lang="pt-BR" sz="2800" dirty="0" smtClean="0"/>
              <a:t>Portanto, evite “</a:t>
            </a:r>
            <a:r>
              <a:rPr lang="pt-BR" sz="2800" i="1" dirty="0" smtClean="0"/>
              <a:t>apud</a:t>
            </a:r>
            <a:r>
              <a:rPr lang="pt-BR" sz="2800" dirty="0" smtClean="0"/>
              <a:t>” (citar um autor citado por outro autor).</a:t>
            </a:r>
          </a:p>
          <a:p>
            <a:r>
              <a:rPr lang="pt-BR" sz="2800" dirty="0" smtClean="0"/>
              <a:t>Cite sempre o trabalho mais antigo que defina o conceito sendo usado.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 bwMode="auto">
          <a:xfrm>
            <a:off x="1259632" y="548681"/>
            <a:ext cx="7427168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sz="3600" dirty="0" smtClean="0"/>
              <a:t>Tipos de Fontes Bibliográficas</a:t>
            </a:r>
          </a:p>
        </p:txBody>
      </p:sp>
      <p:sp>
        <p:nvSpPr>
          <p:cNvPr id="2253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1643050"/>
            <a:ext cx="7643192" cy="44831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800" dirty="0" smtClean="0"/>
              <a:t>Os </a:t>
            </a:r>
            <a:r>
              <a:rPr lang="pt-BR" sz="2800" i="1" dirty="0" smtClean="0">
                <a:solidFill>
                  <a:srgbClr val="00B050"/>
                </a:solidFill>
              </a:rPr>
              <a:t>livros</a:t>
            </a:r>
            <a:r>
              <a:rPr lang="pt-BR" sz="2800" dirty="0" smtClean="0"/>
              <a:t> normalmente contêm informação mais completa, didática e bem amadurecida.</a:t>
            </a:r>
          </a:p>
          <a:p>
            <a:pPr eaLnBrk="1" hangingPunct="1"/>
            <a:r>
              <a:rPr lang="pt-BR" sz="2800" dirty="0" smtClean="0"/>
              <a:t>Os artigos em </a:t>
            </a:r>
            <a:r>
              <a:rPr lang="pt-BR" sz="2800" dirty="0" smtClean="0">
                <a:solidFill>
                  <a:srgbClr val="0070C0"/>
                </a:solidFill>
              </a:rPr>
              <a:t>eventos</a:t>
            </a:r>
            <a:r>
              <a:rPr lang="pt-BR" sz="2800" dirty="0" smtClean="0"/>
              <a:t> terão informações mais atuais, mas poderão variar bastante em termos de qualidade.</a:t>
            </a:r>
          </a:p>
          <a:p>
            <a:pPr eaLnBrk="1" hangingPunct="1"/>
            <a:r>
              <a:rPr lang="pt-BR" sz="2800" dirty="0" smtClean="0"/>
              <a:t>Os artigos em </a:t>
            </a:r>
            <a:r>
              <a:rPr lang="pt-BR" sz="2800" dirty="0" smtClean="0">
                <a:solidFill>
                  <a:srgbClr val="FF0000"/>
                </a:solidFill>
              </a:rPr>
              <a:t>periódicos</a:t>
            </a:r>
            <a:r>
              <a:rPr lang="pt-BR" sz="2800" dirty="0" smtClean="0"/>
              <a:t> terão sido arduamente revisados e lapidados ao longo de iterações entre autores e revisores, mas quando publicados talvez já não sejam mais tão atuais quanto os artigos em eventos.</a:t>
            </a:r>
          </a:p>
          <a:p>
            <a:pPr eaLnBrk="1" hangingPunct="1"/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 bwMode="auto">
          <a:xfrm>
            <a:off x="1115616" y="548681"/>
            <a:ext cx="7571184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Outras Fontes</a:t>
            </a:r>
          </a:p>
        </p:txBody>
      </p:sp>
      <p:sp>
        <p:nvSpPr>
          <p:cNvPr id="2355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1500174"/>
            <a:ext cx="7643192" cy="462598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dirty="0" smtClean="0">
                <a:solidFill>
                  <a:srgbClr val="33CC33"/>
                </a:solidFill>
              </a:rPr>
              <a:t>Dissertações</a:t>
            </a:r>
            <a:r>
              <a:rPr lang="pt-BR" sz="2800" dirty="0" smtClean="0"/>
              <a:t>, teses e monografias (são trabalhos semelhantes ao seu – qualidade varia muito).</a:t>
            </a:r>
          </a:p>
          <a:p>
            <a:r>
              <a:rPr lang="pt-BR" sz="2800" dirty="0" smtClean="0">
                <a:solidFill>
                  <a:srgbClr val="D60093"/>
                </a:solidFill>
              </a:rPr>
              <a:t>Páginas web </a:t>
            </a:r>
            <a:r>
              <a:rPr lang="pt-BR" sz="2800" dirty="0" smtClean="0"/>
              <a:t>(nem sempre são confiáveis).</a:t>
            </a:r>
          </a:p>
          <a:p>
            <a:r>
              <a:rPr lang="pt-BR" sz="2800" dirty="0" smtClean="0">
                <a:solidFill>
                  <a:srgbClr val="0070C0"/>
                </a:solidFill>
              </a:rPr>
              <a:t>Jornais e revistas de banca </a:t>
            </a:r>
            <a:r>
              <a:rPr lang="pt-BR" sz="2800" dirty="0" smtClean="0"/>
              <a:t>(normalmente são fontes secundárias).</a:t>
            </a:r>
          </a:p>
          <a:p>
            <a:r>
              <a:rPr lang="pt-BR" sz="2800" dirty="0" smtClean="0">
                <a:solidFill>
                  <a:srgbClr val="C00000"/>
                </a:solidFill>
              </a:rPr>
              <a:t>Relatórios de pesquisa </a:t>
            </a:r>
            <a:r>
              <a:rPr lang="pt-BR" sz="2800" dirty="0" smtClean="0"/>
              <a:t>(alguns artigos importantes podem estar detalhados em </a:t>
            </a:r>
            <a:r>
              <a:rPr lang="pt-BR" sz="2800" i="1" dirty="0" err="1" smtClean="0"/>
              <a:t>research</a:t>
            </a:r>
            <a:r>
              <a:rPr lang="pt-BR" sz="2800" i="1" dirty="0" smtClean="0"/>
              <a:t> </a:t>
            </a:r>
            <a:r>
              <a:rPr lang="pt-BR" sz="2800" i="1" dirty="0" err="1" smtClean="0"/>
              <a:t>reports</a:t>
            </a:r>
            <a:r>
              <a:rPr lang="pt-BR" sz="2800" i="1" dirty="0" smtClean="0"/>
              <a:t> </a:t>
            </a:r>
            <a:r>
              <a:rPr lang="pt-BR" sz="2800" dirty="0" smtClean="0"/>
              <a:t>– procure na universidade dos autores ou em sua </a:t>
            </a:r>
            <a:r>
              <a:rPr lang="pt-BR" sz="2800" i="1" dirty="0" err="1" smtClean="0"/>
              <a:t>home-page</a:t>
            </a:r>
            <a:r>
              <a:rPr lang="pt-BR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 bwMode="auto">
          <a:xfrm>
            <a:off x="1115616" y="548680"/>
            <a:ext cx="7571184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4000" dirty="0" smtClean="0"/>
              <a:t>Especificidade de Veículos </a:t>
            </a:r>
            <a:br>
              <a:rPr lang="pt-BR" sz="4000" dirty="0" smtClean="0"/>
            </a:br>
            <a:r>
              <a:rPr lang="pt-BR" sz="4000" dirty="0" smtClean="0"/>
              <a:t>a uma Área</a:t>
            </a:r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2060848"/>
            <a:ext cx="7355160" cy="406531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>
                <a:solidFill>
                  <a:srgbClr val="33CC33"/>
                </a:solidFill>
              </a:rPr>
              <a:t>Genéricos</a:t>
            </a:r>
            <a:r>
              <a:rPr lang="pt-BR" dirty="0" smtClean="0"/>
              <a:t> – ex. </a:t>
            </a:r>
            <a:r>
              <a:rPr lang="pt-BR" dirty="0" err="1" smtClean="0"/>
              <a:t>Journal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the</a:t>
            </a:r>
            <a:r>
              <a:rPr lang="pt-BR" dirty="0" smtClean="0"/>
              <a:t> </a:t>
            </a:r>
            <a:r>
              <a:rPr lang="pt-BR" dirty="0" err="1" smtClean="0"/>
              <a:t>Brazilian</a:t>
            </a:r>
            <a:r>
              <a:rPr lang="pt-BR" dirty="0" smtClean="0"/>
              <a:t> </a:t>
            </a:r>
            <a:r>
              <a:rPr lang="pt-BR" dirty="0" err="1" smtClean="0"/>
              <a:t>Computer</a:t>
            </a:r>
            <a:r>
              <a:rPr lang="pt-BR" dirty="0" smtClean="0"/>
              <a:t> </a:t>
            </a:r>
            <a:r>
              <a:rPr lang="pt-BR" dirty="0" err="1" smtClean="0"/>
              <a:t>Society</a:t>
            </a:r>
            <a:endParaRPr lang="pt-BR" dirty="0" smtClean="0"/>
          </a:p>
          <a:p>
            <a:r>
              <a:rPr lang="pt-BR" dirty="0" smtClean="0">
                <a:solidFill>
                  <a:srgbClr val="CCCC00"/>
                </a:solidFill>
              </a:rPr>
              <a:t>Específicos</a:t>
            </a:r>
            <a:r>
              <a:rPr lang="pt-BR" dirty="0" smtClean="0"/>
              <a:t> – ex. Simpósio Brasileiro de Engenharia de Software</a:t>
            </a:r>
          </a:p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Muito específicos </a:t>
            </a:r>
            <a:r>
              <a:rPr lang="pt-BR" dirty="0" smtClean="0"/>
              <a:t>– ex. Workshop Brasileiro de Desenvolvimento de Software Orientado a Aspectos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 bwMode="auto">
          <a:xfrm>
            <a:off x="1115616" y="548680"/>
            <a:ext cx="7571184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4000" dirty="0" smtClean="0"/>
              <a:t>Especificidade de Veículos </a:t>
            </a:r>
            <a:br>
              <a:rPr lang="pt-BR" sz="4000" dirty="0" smtClean="0"/>
            </a:br>
            <a:r>
              <a:rPr lang="pt-BR" sz="4000" dirty="0" smtClean="0"/>
              <a:t>a uma Área</a:t>
            </a:r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2060848"/>
            <a:ext cx="7355160" cy="406531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>
                <a:solidFill>
                  <a:srgbClr val="33CC33"/>
                </a:solidFill>
              </a:rPr>
              <a:t>Genéricos</a:t>
            </a:r>
            <a:r>
              <a:rPr lang="pt-BR" dirty="0" smtClean="0"/>
              <a:t> – ex. </a:t>
            </a:r>
            <a:r>
              <a:rPr lang="pt-BR" dirty="0" err="1" smtClean="0"/>
              <a:t>Journal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the</a:t>
            </a:r>
            <a:r>
              <a:rPr lang="pt-BR" dirty="0" smtClean="0"/>
              <a:t> </a:t>
            </a:r>
            <a:r>
              <a:rPr lang="pt-BR" dirty="0" err="1" smtClean="0"/>
              <a:t>Brazilian</a:t>
            </a:r>
            <a:r>
              <a:rPr lang="pt-BR" dirty="0" smtClean="0"/>
              <a:t> </a:t>
            </a:r>
            <a:r>
              <a:rPr lang="pt-BR" dirty="0" err="1" smtClean="0"/>
              <a:t>Computer</a:t>
            </a:r>
            <a:r>
              <a:rPr lang="pt-BR" dirty="0" smtClean="0"/>
              <a:t> </a:t>
            </a:r>
            <a:r>
              <a:rPr lang="pt-BR" dirty="0" err="1" smtClean="0"/>
              <a:t>Society</a:t>
            </a:r>
            <a:endParaRPr lang="pt-BR" dirty="0" smtClean="0"/>
          </a:p>
          <a:p>
            <a:r>
              <a:rPr lang="pt-BR" dirty="0" smtClean="0">
                <a:solidFill>
                  <a:srgbClr val="CCCC00"/>
                </a:solidFill>
              </a:rPr>
              <a:t>Específicos</a:t>
            </a:r>
            <a:r>
              <a:rPr lang="pt-BR" dirty="0" smtClean="0"/>
              <a:t> – ex. Simpósio Brasileiro de </a:t>
            </a:r>
            <a:r>
              <a:rPr lang="pt-BR" dirty="0" smtClean="0"/>
              <a:t>Inteligência Artificial</a:t>
            </a:r>
            <a:endParaRPr lang="pt-BR" dirty="0" smtClean="0"/>
          </a:p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Muito específicos </a:t>
            </a:r>
            <a:r>
              <a:rPr lang="pt-BR" dirty="0" smtClean="0"/>
              <a:t>– ex. </a:t>
            </a:r>
            <a:r>
              <a:rPr lang="pt-BR" dirty="0" smtClean="0"/>
              <a:t>Simpósio Brasileiro de Redes Neurais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 bwMode="auto">
          <a:xfrm>
            <a:off x="1115616" y="857250"/>
            <a:ext cx="7571184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4000" smtClean="0"/>
              <a:t>Tipo de Veículo e Abrangência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15616" y="1928813"/>
            <a:ext cx="7571184" cy="419735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pt-BR" dirty="0" smtClean="0"/>
              <a:t>Periódicos</a:t>
            </a:r>
          </a:p>
          <a:p>
            <a:pPr>
              <a:defRPr/>
            </a:pPr>
            <a:r>
              <a:rPr lang="pt-BR" dirty="0" smtClean="0"/>
              <a:t>Conferências</a:t>
            </a:r>
          </a:p>
          <a:p>
            <a:pPr>
              <a:defRPr/>
            </a:pPr>
            <a:r>
              <a:rPr lang="pt-BR" dirty="0" smtClean="0"/>
              <a:t>Workshops ou seminários</a:t>
            </a:r>
          </a:p>
          <a:p>
            <a:pPr>
              <a:defRPr/>
            </a:pPr>
            <a:r>
              <a:rPr lang="pt-BR" dirty="0" smtClean="0"/>
              <a:t>Livros e capítulos de livros</a:t>
            </a:r>
          </a:p>
          <a:p>
            <a:pPr>
              <a:defRPr/>
            </a:pPr>
            <a:endParaRPr lang="pt-BR" dirty="0" smtClean="0"/>
          </a:p>
          <a:p>
            <a:pPr>
              <a:defRPr/>
            </a:pPr>
            <a:r>
              <a:rPr lang="pt-BR" dirty="0" smtClean="0"/>
              <a:t>Internacional</a:t>
            </a:r>
          </a:p>
          <a:p>
            <a:pPr>
              <a:defRPr/>
            </a:pPr>
            <a:r>
              <a:rPr lang="pt-BR" dirty="0" smtClean="0"/>
              <a:t>Nacional</a:t>
            </a:r>
          </a:p>
          <a:p>
            <a:pPr>
              <a:defRPr/>
            </a:pPr>
            <a:r>
              <a:rPr lang="pt-BR" dirty="0" smtClean="0"/>
              <a:t>Regional</a:t>
            </a:r>
          </a:p>
          <a:p>
            <a:pPr>
              <a:defRPr/>
            </a:pPr>
            <a:r>
              <a:rPr lang="pt-BR" dirty="0" smtClean="0"/>
              <a:t>Local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 bwMode="auto">
          <a:xfrm>
            <a:off x="1331640" y="548681"/>
            <a:ext cx="7355160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O que é o </a:t>
            </a:r>
            <a:r>
              <a:rPr lang="pt-BR" dirty="0" err="1" smtClean="0"/>
              <a:t>Qualis</a:t>
            </a:r>
            <a:endParaRPr lang="pt-BR" dirty="0" smtClean="0"/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1643050"/>
            <a:ext cx="7571184" cy="44831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Conjunto de procedimentos utilizados pela Capes para estratificação da qualidade da produção intelectual dos programas de pós-graduação.</a:t>
            </a:r>
          </a:p>
          <a:p>
            <a:r>
              <a:rPr lang="pt-BR" dirty="0" smtClean="0"/>
              <a:t>Lista com a classificação dos veículos utilizados pelos programas de pós-graduação para a divulgação da sua produção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788024" y="5517232"/>
            <a:ext cx="3857652" cy="1046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pt-BR" sz="4400" dirty="0" err="1">
                <a:solidFill>
                  <a:srgbClr val="00B050"/>
                </a:solidFill>
              </a:rPr>
              <a:t>Qualis</a:t>
            </a:r>
            <a:r>
              <a:rPr lang="pt-BR" sz="4400" dirty="0">
                <a:solidFill>
                  <a:srgbClr val="00B050"/>
                </a:solidFill>
              </a:rPr>
              <a:t>-CC</a:t>
            </a:r>
          </a:p>
          <a:p>
            <a:pPr>
              <a:defRPr/>
            </a:pPr>
            <a:r>
              <a:rPr lang="pt-BR" dirty="0">
                <a:solidFill>
                  <a:srgbClr val="00B050"/>
                </a:solidFill>
              </a:rPr>
              <a:t>www.capes.gov.br/avaliacao/qualis/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 bwMode="auto">
          <a:xfrm>
            <a:off x="1331640" y="476673"/>
            <a:ext cx="7355160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Estratos de Qualidade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643050"/>
            <a:ext cx="7499176" cy="44831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pt-BR" dirty="0" smtClean="0"/>
              <a:t>A1, o mais elevado</a:t>
            </a:r>
          </a:p>
          <a:p>
            <a:r>
              <a:rPr lang="pt-BR" dirty="0" smtClean="0"/>
              <a:t>A2</a:t>
            </a:r>
          </a:p>
          <a:p>
            <a:r>
              <a:rPr lang="pt-BR" dirty="0" smtClean="0"/>
              <a:t>B1</a:t>
            </a:r>
          </a:p>
          <a:p>
            <a:r>
              <a:rPr lang="pt-BR" dirty="0" smtClean="0"/>
              <a:t>B2</a:t>
            </a:r>
          </a:p>
          <a:p>
            <a:r>
              <a:rPr lang="pt-BR" dirty="0" smtClean="0"/>
              <a:t>B3</a:t>
            </a:r>
          </a:p>
          <a:p>
            <a:r>
              <a:rPr lang="pt-BR" dirty="0" smtClean="0"/>
              <a:t>B4</a:t>
            </a:r>
          </a:p>
          <a:p>
            <a:r>
              <a:rPr lang="pt-BR" dirty="0" smtClean="0"/>
              <a:t>B5</a:t>
            </a:r>
          </a:p>
          <a:p>
            <a:r>
              <a:rPr lang="pt-BR" dirty="0" smtClean="0"/>
              <a:t>C - com peso zero</a:t>
            </a:r>
          </a:p>
        </p:txBody>
      </p:sp>
      <p:sp>
        <p:nvSpPr>
          <p:cNvPr id="46082" name="AutoShape 2" descr="http://www.arcoweb.com.br/tecnologia/fotos/51/edificio_terra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6084" name="AutoShape 4" descr="http://www.arcoweb.com.br/tecnologia/fotos/51/edificio_terra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3570" y="1500174"/>
            <a:ext cx="3048000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 bwMode="auto">
          <a:xfrm>
            <a:off x="1115616" y="548681"/>
            <a:ext cx="7571184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Conferências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59632" y="2132856"/>
            <a:ext cx="7427168" cy="399330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A área de computação também considera tão importantes quanto os periódicos os anais de conferências tradicionais que:</a:t>
            </a:r>
          </a:p>
          <a:p>
            <a:pPr lvl="1"/>
            <a:r>
              <a:rPr lang="pt-BR" dirty="0" smtClean="0"/>
              <a:t>Aceitam artigos completos </a:t>
            </a:r>
          </a:p>
          <a:p>
            <a:pPr lvl="1"/>
            <a:r>
              <a:rPr lang="pt-BR" dirty="0" smtClean="0"/>
              <a:t>São realizadas regularmente</a:t>
            </a:r>
          </a:p>
          <a:p>
            <a:pPr lvl="1"/>
            <a:r>
              <a:rPr lang="pt-BR" dirty="0" smtClean="0"/>
              <a:t>Contam com comitê de programa e rigoroso processo de avaliação por pares</a:t>
            </a:r>
          </a:p>
        </p:txBody>
      </p:sp>
      <p:pic>
        <p:nvPicPr>
          <p:cNvPr id="56322" name="Picture 2" descr="https://encrypted-tbn2.google.com/images?q=tbn:ANd9GcQ9CtdAEaR-9bx3gGhfZQoHWg0CVlbWEhDv50PcBOw7Q8X8lysCY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7025" y="0"/>
            <a:ext cx="2466975" cy="1847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514488" y="1974985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Leitura Crítica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1785926"/>
            <a:ext cx="7571184" cy="43402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800" dirty="0" smtClean="0"/>
              <a:t>A leitura de trabalhos científicos não deve ser encarada </a:t>
            </a:r>
            <a:r>
              <a:rPr lang="pt-BR" sz="2800" dirty="0" smtClean="0">
                <a:solidFill>
                  <a:srgbClr val="00B050"/>
                </a:solidFill>
              </a:rPr>
              <a:t>apenas</a:t>
            </a:r>
            <a:r>
              <a:rPr lang="pt-BR" sz="2800" dirty="0" smtClean="0"/>
              <a:t> como um aprendizado. </a:t>
            </a:r>
          </a:p>
          <a:p>
            <a:pPr eaLnBrk="1" hangingPunct="1"/>
            <a:r>
              <a:rPr lang="pt-BR" sz="2800" dirty="0" smtClean="0"/>
              <a:t>O pesquisador deve exercer, antes de tudo, o </a:t>
            </a:r>
            <a:r>
              <a:rPr lang="pt-BR" sz="2800" dirty="0" smtClean="0">
                <a:solidFill>
                  <a:srgbClr val="00B0F0"/>
                </a:solidFill>
              </a:rPr>
              <a:t>espírito crítico</a:t>
            </a:r>
            <a:r>
              <a:rPr lang="pt-BR" sz="2800" dirty="0" smtClean="0"/>
              <a:t>, para questionar a validade de todas as informações registradas nos textos que estão sendo lidos. </a:t>
            </a:r>
          </a:p>
          <a:p>
            <a:pPr eaLnBrk="1" hangingPunct="1"/>
            <a:r>
              <a:rPr lang="pt-BR" sz="2800" dirty="0" smtClean="0"/>
              <a:t>A aceitação passiva de tudo aquilo </a:t>
            </a:r>
            <a:br>
              <a:rPr lang="pt-BR" sz="2800" dirty="0" smtClean="0"/>
            </a:br>
            <a:r>
              <a:rPr lang="pt-BR" sz="2800" dirty="0" smtClean="0"/>
              <a:t>que é lido não gera no pesquisador o </a:t>
            </a:r>
            <a:br>
              <a:rPr lang="pt-BR" sz="2800" dirty="0" smtClean="0"/>
            </a:br>
            <a:r>
              <a:rPr lang="pt-BR" sz="2800" dirty="0" smtClean="0"/>
              <a:t>espírito de busca por </a:t>
            </a:r>
            <a:r>
              <a:rPr lang="pt-BR" sz="2800" dirty="0" smtClean="0">
                <a:solidFill>
                  <a:srgbClr val="FF0000"/>
                </a:solidFill>
              </a:rPr>
              <a:t>novas </a:t>
            </a:r>
            <a:br>
              <a:rPr lang="pt-BR" sz="2800" dirty="0" smtClean="0">
                <a:solidFill>
                  <a:srgbClr val="FF0000"/>
                </a:solidFill>
              </a:rPr>
            </a:br>
            <a:r>
              <a:rPr lang="pt-BR" sz="2800" dirty="0" smtClean="0">
                <a:solidFill>
                  <a:srgbClr val="FF0000"/>
                </a:solidFill>
              </a:rPr>
              <a:t>informações</a:t>
            </a:r>
            <a:r>
              <a:rPr lang="pt-BR" sz="2800" dirty="0" smtClean="0"/>
              <a:t>.</a:t>
            </a:r>
          </a:p>
          <a:p>
            <a:pPr eaLnBrk="1" hangingPunct="1"/>
            <a:endParaRPr lang="pt-BR" sz="2800" dirty="0" smtClean="0"/>
          </a:p>
        </p:txBody>
      </p:sp>
      <p:pic>
        <p:nvPicPr>
          <p:cNvPr id="63490" name="Picture 2" descr="http://www.slinestorsantos.seed.pr.gov.br/redeescola/escolas/11/2590/17/arquivos/Image/paulo_franci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30" y="4108008"/>
            <a:ext cx="1852598" cy="21583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514488" y="2492896"/>
            <a:ext cx="723397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 bwMode="auto">
          <a:xfrm>
            <a:off x="1187623" y="785813"/>
            <a:ext cx="7470601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mtClean="0"/>
              <a:t>Para pesquisa aplicada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16198" y="1857375"/>
            <a:ext cx="7470601" cy="42687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dirty="0" smtClean="0"/>
              <a:t>Ex. Informática forense, informática médica, informática na educação.</a:t>
            </a:r>
          </a:p>
          <a:p>
            <a:pPr eaLnBrk="1" hangingPunct="1"/>
            <a:r>
              <a:rPr lang="pt-BR" dirty="0" smtClean="0"/>
              <a:t>É necessário conhecer:</a:t>
            </a:r>
          </a:p>
          <a:p>
            <a:pPr lvl="1" eaLnBrk="1" hangingPunct="1"/>
            <a:r>
              <a:rPr lang="pt-BR" dirty="0" smtClean="0"/>
              <a:t>A área do problema</a:t>
            </a:r>
          </a:p>
          <a:p>
            <a:pPr lvl="1" eaLnBrk="1" hangingPunct="1"/>
            <a:r>
              <a:rPr lang="pt-BR" dirty="0" smtClean="0"/>
              <a:t>A área das ferramentas usadas</a:t>
            </a:r>
          </a:p>
          <a:p>
            <a:pPr lvl="1" eaLnBrk="1" hangingPunct="1"/>
            <a:r>
              <a:rPr lang="pt-BR" dirty="0" smtClean="0"/>
              <a:t>As tentativas anteriores de </a:t>
            </a:r>
            <a:br>
              <a:rPr lang="pt-BR" dirty="0" smtClean="0"/>
            </a:br>
            <a:r>
              <a:rPr lang="pt-BR" dirty="0" smtClean="0"/>
              <a:t>resolver o problema com as </a:t>
            </a:r>
            <a:br>
              <a:rPr lang="pt-BR" dirty="0" smtClean="0"/>
            </a:br>
            <a:r>
              <a:rPr lang="pt-BR" dirty="0" smtClean="0"/>
              <a:t>ferramentas </a:t>
            </a:r>
            <a:br>
              <a:rPr lang="pt-BR" dirty="0" smtClean="0"/>
            </a:br>
            <a:r>
              <a:rPr lang="pt-BR" dirty="0" smtClean="0"/>
              <a:t>propostas ou semelhantes.</a:t>
            </a:r>
          </a:p>
        </p:txBody>
      </p:sp>
      <p:pic>
        <p:nvPicPr>
          <p:cNvPr id="62466" name="Picture 2" descr="http://1.bp.blogspot.com/_VyuE3zWblZs/Smp-TGv8AOI/AAAAAAAAAGc/EXfcxcZI8yE/s320/Catapulta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0817" y="4191016"/>
            <a:ext cx="2214546" cy="22145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 bwMode="auto">
          <a:xfrm>
            <a:off x="1187624" y="476673"/>
            <a:ext cx="7499176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Síndrome da Intersecção Esquecida (SIE)</a:t>
            </a:r>
          </a:p>
        </p:txBody>
      </p:sp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2571750"/>
            <a:ext cx="7643192" cy="35544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Pesquisar a área do problema e as ferramentas sem verificar se já houve tentativas de resolver o problema com essas ferramentas é, infelizmente, um erro comum.</a:t>
            </a:r>
          </a:p>
        </p:txBody>
      </p:sp>
      <p:pic>
        <p:nvPicPr>
          <p:cNvPr id="61442" name="Picture 2" descr="http://upload.wikimedia.org/wikipedia/commons/thumb/4/45/Set_intersection.png/180px-Set_intersec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20" y="4786322"/>
            <a:ext cx="2714644" cy="16287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 bwMode="auto">
          <a:xfrm>
            <a:off x="1187623" y="332656"/>
            <a:ext cx="7542039" cy="152471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Como o aluno justifica a SIE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1556792"/>
            <a:ext cx="7355160" cy="456937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800" dirty="0" smtClean="0"/>
              <a:t>“Mas não encontrei nada parecido com o que eu estou fazendo”. </a:t>
            </a:r>
          </a:p>
          <a:p>
            <a:pPr lvl="1" eaLnBrk="1" hangingPunct="1"/>
            <a:r>
              <a:rPr lang="pt-BR" sz="2400" dirty="0" smtClean="0"/>
              <a:t>Este raciocínio negativo deve ser evitado. </a:t>
            </a:r>
          </a:p>
          <a:p>
            <a:pPr lvl="1" eaLnBrk="1" hangingPunct="1"/>
            <a:r>
              <a:rPr lang="pt-BR" sz="2400" dirty="0" smtClean="0"/>
              <a:t>Nunca se deve dizer que não se achou nada semelhante. </a:t>
            </a:r>
          </a:p>
          <a:p>
            <a:pPr lvl="1" eaLnBrk="1" hangingPunct="1"/>
            <a:r>
              <a:rPr lang="pt-BR" sz="2400" dirty="0" smtClean="0"/>
              <a:t>Algo sempre deve ser apresentado como referência. </a:t>
            </a:r>
          </a:p>
          <a:p>
            <a:pPr lvl="1" eaLnBrk="1" hangingPunct="1"/>
            <a:r>
              <a:rPr lang="pt-BR" sz="2400" dirty="0" smtClean="0"/>
              <a:t>Essa referência poderá ser mais </a:t>
            </a:r>
            <a:br>
              <a:rPr lang="pt-BR" sz="2400" dirty="0" smtClean="0"/>
            </a:br>
            <a:r>
              <a:rPr lang="pt-BR" sz="2400" dirty="0" smtClean="0"/>
              <a:t>semelhante ou menos semelhante </a:t>
            </a:r>
            <a:br>
              <a:rPr lang="pt-BR" sz="2400" dirty="0" smtClean="0"/>
            </a:br>
            <a:r>
              <a:rPr lang="pt-BR" sz="2400" dirty="0" smtClean="0"/>
              <a:t>à abordagem usada de um ponto </a:t>
            </a:r>
            <a:br>
              <a:rPr lang="pt-BR" sz="2400" dirty="0" smtClean="0"/>
            </a:br>
            <a:r>
              <a:rPr lang="pt-BR" sz="2400" dirty="0" smtClean="0"/>
              <a:t>de vista relativo.</a:t>
            </a:r>
          </a:p>
          <a:p>
            <a:pPr eaLnBrk="1" hangingPunct="1"/>
            <a:endParaRPr lang="pt-BR" sz="2800" dirty="0" smtClean="0"/>
          </a:p>
        </p:txBody>
      </p:sp>
      <p:pic>
        <p:nvPicPr>
          <p:cNvPr id="60418" name="Picture 2" descr="http://www.mapher.com/wp-content/uploads/2009/06/cao-parecido-com-seu-dono-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6362" y="4581128"/>
            <a:ext cx="2667638" cy="18482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 bwMode="auto">
          <a:xfrm>
            <a:off x="1187624" y="714375"/>
            <a:ext cx="7499176" cy="7032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Melhor pensar assim: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1714488"/>
            <a:ext cx="7571184" cy="44116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pt-BR" sz="2800" dirty="0" smtClean="0"/>
              <a:t>   “Ninguém fez algo parecido com o que eu estou fazendo, </a:t>
            </a:r>
            <a:r>
              <a:rPr lang="pt-BR" sz="2800" i="1" dirty="0" smtClean="0">
                <a:solidFill>
                  <a:srgbClr val="C00000"/>
                </a:solidFill>
              </a:rPr>
              <a:t>mas</a:t>
            </a:r>
            <a:r>
              <a:rPr lang="pt-BR" sz="2800" dirty="0" smtClean="0"/>
              <a:t> muitas coisas já foram feitas pelos seres humanos ao longo da sua história. </a:t>
            </a:r>
            <a:endParaRPr lang="pt-BR" sz="2800" dirty="0" smtClean="0"/>
          </a:p>
          <a:p>
            <a:pPr eaLnBrk="1" hangingPunct="1">
              <a:buFontTx/>
              <a:buNone/>
            </a:pPr>
            <a:endParaRPr lang="pt-BR" sz="2800" i="1" dirty="0" smtClean="0">
              <a:solidFill>
                <a:srgbClr val="00B050"/>
              </a:solidFill>
            </a:endParaRPr>
          </a:p>
          <a:p>
            <a:pPr eaLnBrk="1" hangingPunct="1">
              <a:buFontTx/>
              <a:buNone/>
            </a:pPr>
            <a:r>
              <a:rPr lang="pt-BR" sz="2800" i="1" dirty="0" smtClean="0">
                <a:solidFill>
                  <a:srgbClr val="00B050"/>
                </a:solidFill>
              </a:rPr>
              <a:t>Então</a:t>
            </a:r>
            <a:r>
              <a:rPr lang="pt-BR" sz="2800" dirty="0" smtClean="0"/>
              <a:t>, eu poderia classificar as coisas que já foram feitas em termos de grau de semelhança com aquilo que eu estou fazendo. </a:t>
            </a:r>
            <a:endParaRPr lang="pt-BR" sz="2800" dirty="0" smtClean="0"/>
          </a:p>
          <a:p>
            <a:pPr eaLnBrk="1" hangingPunct="1">
              <a:buFontTx/>
              <a:buNone/>
            </a:pPr>
            <a:r>
              <a:rPr lang="pt-BR" sz="2800" u="sng" dirty="0" smtClean="0"/>
              <a:t>As </a:t>
            </a:r>
            <a:r>
              <a:rPr lang="pt-BR" sz="2800" u="sng" dirty="0" smtClean="0"/>
              <a:t>coisas mais parecidas</a:t>
            </a:r>
            <a:r>
              <a:rPr lang="pt-BR" sz="2800" dirty="0" smtClean="0"/>
              <a:t> com o meu trabalho serão minha referência, mesmo que a semelhança seja pequena”.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514488" y="2924944"/>
            <a:ext cx="615385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 bwMode="auto">
          <a:xfrm>
            <a:off x="1115616" y="714375"/>
            <a:ext cx="4885144" cy="7032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Fundamento Vazio</a:t>
            </a:r>
          </a:p>
        </p:txBody>
      </p:sp>
      <p:sp>
        <p:nvSpPr>
          <p:cNvPr id="1536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971600" y="1571612"/>
            <a:ext cx="7715200" cy="455455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800" dirty="0" smtClean="0"/>
              <a:t>= Dizer que seu </a:t>
            </a:r>
            <a:br>
              <a:rPr lang="pt-BR" sz="2800" dirty="0" smtClean="0"/>
            </a:br>
            <a:r>
              <a:rPr lang="pt-BR" sz="2800" dirty="0" smtClean="0"/>
              <a:t>trabalho é original porque </a:t>
            </a:r>
            <a:br>
              <a:rPr lang="pt-BR" sz="2800" dirty="0" smtClean="0"/>
            </a:br>
            <a:r>
              <a:rPr lang="pt-BR" sz="2800" dirty="0" smtClean="0"/>
              <a:t>ninguém nunca fez nada </a:t>
            </a:r>
            <a:br>
              <a:rPr lang="pt-BR" sz="2800" dirty="0" smtClean="0"/>
            </a:br>
            <a:r>
              <a:rPr lang="pt-BR" sz="2800" dirty="0" smtClean="0"/>
              <a:t>parecido.</a:t>
            </a:r>
          </a:p>
          <a:p>
            <a:pPr eaLnBrk="1" hangingPunct="1"/>
            <a:r>
              <a:rPr lang="pt-BR" sz="2800" dirty="0" smtClean="0"/>
              <a:t>Não se deve fundamentar todo um trabalho de pesquisa em uma negação. </a:t>
            </a:r>
          </a:p>
          <a:p>
            <a:pPr eaLnBrk="1" hangingPunct="1"/>
            <a:r>
              <a:rPr lang="pt-BR" sz="2800" dirty="0" smtClean="0"/>
              <a:t>Deve-se mostrar o que outros fizeram, e depois mostrar que o trabalho feito é diferente ou melhor do que essas referências.</a:t>
            </a:r>
          </a:p>
        </p:txBody>
      </p:sp>
      <p:pic>
        <p:nvPicPr>
          <p:cNvPr id="58370" name="Picture 2" descr="http://www.11visions.com/wp-content/uploads/2009/07/Wile_E_Coyote_1-300x22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857232"/>
            <a:ext cx="2857500" cy="2152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259632" y="3429000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 bwMode="auto">
          <a:xfrm>
            <a:off x="1115615" y="836712"/>
            <a:ext cx="7542609" cy="11635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Fichas de Leitura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2071688"/>
            <a:ext cx="7643192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Durante todo o processo de leitura é fundamental que sejam feitas anotações. </a:t>
            </a:r>
          </a:p>
          <a:p>
            <a:pPr eaLnBrk="1" hangingPunct="1"/>
            <a:r>
              <a:rPr lang="pt-BR" dirty="0" err="1" smtClean="0"/>
              <a:t>Conceitos-chave</a:t>
            </a:r>
            <a:r>
              <a:rPr lang="pt-BR" dirty="0" smtClean="0"/>
              <a:t> e ideias novas devem ser anotados sempre que forem detectados na leitura. </a:t>
            </a:r>
          </a:p>
          <a:p>
            <a:pPr eaLnBrk="1" hangingPunct="1"/>
            <a:r>
              <a:rPr lang="pt-BR" dirty="0" smtClean="0"/>
              <a:t>É necessário que se saiba de onde estas ideias e conceitos saíram.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331640" y="3905346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 bwMode="auto">
          <a:xfrm>
            <a:off x="1259632" y="620689"/>
            <a:ext cx="7427168" cy="7969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Delimitação da Leitura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714488"/>
            <a:ext cx="7499176" cy="44116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pt-BR" dirty="0" smtClean="0"/>
              <a:t>Defina com seu orientador os veículos de pesquisa a serem consultados.</a:t>
            </a:r>
          </a:p>
          <a:p>
            <a:r>
              <a:rPr lang="pt-BR" dirty="0" smtClean="0"/>
              <a:t>Defina o período de tempo (ex. últimos 5 anos).</a:t>
            </a:r>
          </a:p>
          <a:p>
            <a:r>
              <a:rPr lang="pt-BR" dirty="0" smtClean="0"/>
              <a:t>Selecione os títulos interessantes e de eventos e revistas relevantes</a:t>
            </a:r>
          </a:p>
          <a:p>
            <a:r>
              <a:rPr lang="pt-BR" dirty="0" smtClean="0"/>
              <a:t>Leia os resumos e separe os mais interessantes</a:t>
            </a:r>
          </a:p>
          <a:p>
            <a:r>
              <a:rPr lang="pt-BR" dirty="0" smtClean="0"/>
              <a:t>Leia os artigos completos pertinentes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 bwMode="auto">
          <a:xfrm>
            <a:off x="1331640" y="692696"/>
            <a:ext cx="7355160" cy="72494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Depois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475656" y="1484784"/>
            <a:ext cx="7211144" cy="464137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Olhe para o </a:t>
            </a:r>
            <a:r>
              <a:rPr lang="pt-BR" dirty="0" smtClean="0">
                <a:solidFill>
                  <a:srgbClr val="FF0000"/>
                </a:solidFill>
              </a:rPr>
              <a:t>passado</a:t>
            </a:r>
            <a:r>
              <a:rPr lang="pt-BR" dirty="0" smtClean="0"/>
              <a:t>: Verifique a bibliografia dos trabalhos consultados.</a:t>
            </a:r>
          </a:p>
          <a:p>
            <a:r>
              <a:rPr lang="pt-BR" dirty="0" smtClean="0"/>
              <a:t>Olhe para o </a:t>
            </a:r>
            <a:r>
              <a:rPr lang="pt-BR" dirty="0" smtClean="0">
                <a:solidFill>
                  <a:srgbClr val="33CC33"/>
                </a:solidFill>
              </a:rPr>
              <a:t>futuro</a:t>
            </a:r>
            <a:r>
              <a:rPr lang="pt-BR" dirty="0" smtClean="0"/>
              <a:t>: Busque, com ferramentas </a:t>
            </a:r>
            <a:r>
              <a:rPr lang="pt-BR" i="1" dirty="0" smtClean="0"/>
              <a:t>web</a:t>
            </a:r>
            <a:r>
              <a:rPr lang="pt-BR" dirty="0" smtClean="0"/>
              <a:t> trabalhos mais recentes dos mesmos autores.</a:t>
            </a:r>
          </a:p>
          <a:p>
            <a:endParaRPr lang="pt-BR" dirty="0" smtClean="0"/>
          </a:p>
        </p:txBody>
      </p:sp>
      <p:pic>
        <p:nvPicPr>
          <p:cNvPr id="55298" name="Picture 2" descr="http://osorrisodogato.files.wordpress.com/2009/04/passado_futuro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4429132"/>
            <a:ext cx="3762368" cy="15350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331640" y="4434379"/>
            <a:ext cx="7416824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 bwMode="auto">
          <a:xfrm>
            <a:off x="1187624" y="714356"/>
            <a:ext cx="7956376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z="4000" dirty="0" smtClean="0"/>
              <a:t>Perguntas geradoras de idéias de pesquisa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1928802"/>
            <a:ext cx="7571184" cy="41973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800" dirty="0" smtClean="0"/>
              <a:t>De onde o autor parece tirar suas idéias?</a:t>
            </a:r>
          </a:p>
          <a:p>
            <a:pPr eaLnBrk="1" hangingPunct="1"/>
            <a:r>
              <a:rPr lang="pt-BR" sz="2800" dirty="0" smtClean="0"/>
              <a:t>O que foi obtido como resultado deste de trabalho?</a:t>
            </a:r>
          </a:p>
          <a:p>
            <a:pPr eaLnBrk="1" hangingPunct="1"/>
            <a:r>
              <a:rPr lang="pt-BR" sz="2800" dirty="0" smtClean="0"/>
              <a:t>Como este trabalho se relaciona com outros na mesma área?</a:t>
            </a:r>
          </a:p>
          <a:p>
            <a:pPr eaLnBrk="1" hangingPunct="1"/>
            <a:r>
              <a:rPr lang="pt-BR" sz="2800" dirty="0" smtClean="0"/>
              <a:t>Qual seria um próximo passo razoável para dar continuidade a essa pesquisa?</a:t>
            </a:r>
          </a:p>
          <a:p>
            <a:pPr eaLnBrk="1" hangingPunct="1"/>
            <a:r>
              <a:rPr lang="pt-BR" sz="2800" dirty="0" smtClean="0"/>
              <a:t>Que idéias de áreas próximas poderiam ser aproveitadas neste trabalho?</a:t>
            </a:r>
          </a:p>
          <a:p>
            <a:pPr eaLnBrk="1" hangingPunct="1"/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Exposição à Pesquisa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2071688"/>
            <a:ext cx="7499176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Projetos de pesquisa</a:t>
            </a:r>
          </a:p>
          <a:p>
            <a:pPr eaLnBrk="1" hangingPunct="1"/>
            <a:r>
              <a:rPr lang="pt-BR" dirty="0" smtClean="0"/>
              <a:t>Seminários e defesas</a:t>
            </a:r>
          </a:p>
          <a:p>
            <a:pPr eaLnBrk="1" hangingPunct="1"/>
            <a:r>
              <a:rPr lang="pt-BR" dirty="0" smtClean="0"/>
              <a:t>Conversas com o orientador</a:t>
            </a:r>
          </a:p>
          <a:p>
            <a:pPr eaLnBrk="1" hangingPunct="1"/>
            <a:r>
              <a:rPr lang="pt-BR" dirty="0" smtClean="0"/>
              <a:t>Congressos, simpósios e </a:t>
            </a:r>
            <a:br>
              <a:rPr lang="pt-BR" dirty="0" smtClean="0"/>
            </a:br>
            <a:r>
              <a:rPr lang="pt-BR" dirty="0" smtClean="0"/>
              <a:t>palestras</a:t>
            </a:r>
          </a:p>
        </p:txBody>
      </p:sp>
      <p:pic>
        <p:nvPicPr>
          <p:cNvPr id="52226" name="Picture 2" descr="http://www.ichca.ufal.br/graduacao/biblioteconomia/v1/wp-content/uploads/palest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2214554"/>
            <a:ext cx="2066917" cy="26250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403648" y="4896870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 bwMode="auto">
          <a:xfrm>
            <a:off x="1259632" y="785813"/>
            <a:ext cx="7427168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Ferramentas de Pesquisa Bibliográfica</a:t>
            </a:r>
          </a:p>
        </p:txBody>
      </p:sp>
      <p:sp>
        <p:nvSpPr>
          <p:cNvPr id="3584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2286000"/>
            <a:ext cx="7499176" cy="3840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#1: Sua biblioteca</a:t>
            </a:r>
          </a:p>
        </p:txBody>
      </p:sp>
      <p:pic>
        <p:nvPicPr>
          <p:cNvPr id="37890" name="Picture 2" descr="http://absurdo.files.wordpress.com/2008/03/biblioteca-angelica-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571876"/>
            <a:ext cx="6929486" cy="27003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 bwMode="auto">
          <a:xfrm>
            <a:off x="1187624" y="714375"/>
            <a:ext cx="7499176" cy="8572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Bases de Dados</a:t>
            </a:r>
          </a:p>
        </p:txBody>
      </p:sp>
      <p:sp>
        <p:nvSpPr>
          <p:cNvPr id="3686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785926"/>
            <a:ext cx="7499176" cy="43402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b="1" dirty="0" smtClean="0"/>
              <a:t>Bases de Dados Referenciais </a:t>
            </a:r>
            <a:r>
              <a:rPr lang="pt-BR" sz="2800" dirty="0" smtClean="0"/>
              <a:t>- listam referências bibliográficas de determinados assuntos, cujo conteúdo abrange a descrição dos dados de artigos de periódicos. Geralmente incluem o resumo do artigo.</a:t>
            </a:r>
          </a:p>
          <a:p>
            <a:r>
              <a:rPr lang="pt-BR" sz="2800" b="1" dirty="0" smtClean="0"/>
              <a:t>Bases de Dados Textuais </a:t>
            </a:r>
            <a:r>
              <a:rPr lang="pt-BR" sz="2800" dirty="0" smtClean="0"/>
              <a:t>- são aquelas que, além de incluir todas as informações dadas numa Base Referencial, dão acesso imediato ao texto completo do artigo.</a:t>
            </a:r>
          </a:p>
          <a:p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 bwMode="auto">
          <a:xfrm>
            <a:off x="1043608" y="785813"/>
            <a:ext cx="7643192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Algumas Bases de Dados Disponíveis via Internet</a:t>
            </a:r>
          </a:p>
        </p:txBody>
      </p:sp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2500313"/>
            <a:ext cx="7643192" cy="36258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fr-FR" sz="2800" dirty="0" smtClean="0"/>
              <a:t>UFSC – www.bu.ufsc.br</a:t>
            </a:r>
          </a:p>
          <a:p>
            <a:r>
              <a:rPr lang="fr-FR" sz="2800" dirty="0" smtClean="0"/>
              <a:t>UNB – www.bce.unb.br</a:t>
            </a:r>
          </a:p>
          <a:p>
            <a:r>
              <a:rPr lang="fr-FR" sz="2800" dirty="0" smtClean="0"/>
              <a:t>PUCCAMP – www.puccamp.br</a:t>
            </a:r>
          </a:p>
          <a:p>
            <a:r>
              <a:rPr lang="fr-FR" sz="2800" dirty="0" smtClean="0"/>
              <a:t>USP – www.usp.br/sibi</a:t>
            </a:r>
          </a:p>
          <a:p>
            <a:r>
              <a:rPr lang="fr-FR" sz="2800" b="1" dirty="0" smtClean="0"/>
              <a:t>Portal Capes: </a:t>
            </a:r>
          </a:p>
          <a:p>
            <a:pPr lvl="1">
              <a:buFontTx/>
              <a:buNone/>
            </a:pPr>
            <a:r>
              <a:rPr lang="pt-BR" sz="2400" b="1" dirty="0" smtClean="0">
                <a:hlinkClick r:id="rId2"/>
              </a:rPr>
              <a:t>www.periodicos.capes.gov.br/portugues/index.jsp</a:t>
            </a:r>
            <a:endParaRPr lang="pt-BR" sz="2400" b="1" dirty="0" smtClean="0"/>
          </a:p>
          <a:p>
            <a:pPr lvl="1">
              <a:buFontTx/>
              <a:buNone/>
            </a:pPr>
            <a:endParaRPr lang="pt-BR" sz="2400" b="1" dirty="0"/>
          </a:p>
          <a:p>
            <a:pPr lvl="1">
              <a:buFontTx/>
              <a:buNone/>
            </a:pPr>
            <a:r>
              <a:rPr lang="pt-BR" sz="2400" b="1" dirty="0" smtClean="0"/>
              <a:t>OBS: muitos artigos apenas podem ser baixados via UFSC: exemplo:</a:t>
            </a:r>
          </a:p>
          <a:p>
            <a:pPr lvl="1">
              <a:buFontTx/>
              <a:buNone/>
            </a:pPr>
            <a:endParaRPr lang="pt-BR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 bwMode="auto">
          <a:xfrm>
            <a:off x="1187624" y="785813"/>
            <a:ext cx="7499176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Portal Capes</a:t>
            </a:r>
          </a:p>
        </p:txBody>
      </p:sp>
      <p:sp>
        <p:nvSpPr>
          <p:cNvPr id="3891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714500"/>
            <a:ext cx="7499176" cy="44116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100" dirty="0" smtClean="0"/>
              <a:t>Professores, pesquisadores, alunos e funcionários de 268 instituições de ensino superior e de pesquisa em todo o País têm acesso imediato à produção científica mundial atualizada.</a:t>
            </a:r>
          </a:p>
          <a:p>
            <a:r>
              <a:rPr lang="pt-BR" sz="2100" dirty="0" smtClean="0"/>
              <a:t>Oferece acesso aos textos completos de artigos selecionados de mais de 15.475 revistas internacionais, nacionais e estrangeiras, e 126 bases de dados com resumos de documentos em todas as áreas do conhecimento. Inclui também uma seleção de importantes fontes de informação acadêmica com acesso gratuito na Internet. </a:t>
            </a:r>
          </a:p>
          <a:p>
            <a:r>
              <a:rPr lang="pt-BR" sz="2100" dirty="0" smtClean="0"/>
              <a:t>O uso do Portal é livre e gratuito para os usuários das instituições participantes. O acesso é realizado a partir de qualquer terminal ligado à Internet localizado nas instituições ou por elas autorizado.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Pesquisa 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pt-BR" dirty="0" smtClean="0"/>
              <a:t>Fontes</a:t>
            </a:r>
          </a:p>
          <a:p>
            <a:pPr lvl="0"/>
            <a:r>
              <a:rPr lang="pt-BR" dirty="0" smtClean="0"/>
              <a:t>Leitura Crítica</a:t>
            </a:r>
          </a:p>
          <a:p>
            <a:pPr lvl="0"/>
            <a:r>
              <a:rPr lang="pt-BR" dirty="0" smtClean="0"/>
              <a:t>Síndrome da Intersecção Esquecida</a:t>
            </a:r>
          </a:p>
          <a:p>
            <a:pPr lvl="0"/>
            <a:r>
              <a:rPr lang="pt-BR" dirty="0" smtClean="0"/>
              <a:t>Problema do Fundamento Vazio</a:t>
            </a:r>
          </a:p>
          <a:p>
            <a:pPr lvl="0"/>
            <a:r>
              <a:rPr lang="pt-BR" dirty="0" err="1" smtClean="0"/>
              <a:t>Fichamento</a:t>
            </a:r>
            <a:endParaRPr lang="pt-BR" dirty="0" smtClean="0"/>
          </a:p>
          <a:p>
            <a:pPr lvl="0"/>
            <a:r>
              <a:rPr lang="pt-BR" dirty="0" smtClean="0"/>
              <a:t>Delimitação da Leitura</a:t>
            </a:r>
          </a:p>
          <a:p>
            <a:pPr lvl="0"/>
            <a:r>
              <a:rPr lang="pt-BR" dirty="0" smtClean="0"/>
              <a:t>Perguntas Geradoras de Ideias de Pesquisa</a:t>
            </a:r>
          </a:p>
          <a:p>
            <a:pPr lvl="0"/>
            <a:r>
              <a:rPr lang="pt-BR" dirty="0" smtClean="0"/>
              <a:t>Ferramentas de Pesquisa </a:t>
            </a:r>
          </a:p>
          <a:p>
            <a:pPr lvl="0"/>
            <a:r>
              <a:rPr lang="pt-BR" dirty="0" smtClean="0"/>
              <a:t>Referências</a:t>
            </a:r>
          </a:p>
          <a:p>
            <a:pPr lvl="0"/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1403648" y="5373216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20" name="Picture 4" descr="http://comofas.com/wp-content/uploads/2012/04/binoculos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0" y="1"/>
            <a:ext cx="1484783" cy="1484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 bwMode="auto">
          <a:xfrm>
            <a:off x="1187624" y="785813"/>
            <a:ext cx="7499176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Referências</a:t>
            </a:r>
            <a:br>
              <a:rPr lang="pt-BR" dirty="0" smtClean="0"/>
            </a:br>
            <a:r>
              <a:rPr lang="pt-BR" sz="2400" b="0" dirty="0" smtClean="0"/>
              <a:t>Fonte: http://www.bu.ufsc.br/design/Citacao1.htm</a:t>
            </a:r>
            <a:endParaRPr lang="pt-BR" b="0" dirty="0" smtClean="0"/>
          </a:p>
        </p:txBody>
      </p:sp>
      <p:sp>
        <p:nvSpPr>
          <p:cNvPr id="3993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2071688"/>
            <a:ext cx="7499176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Citação</a:t>
            </a:r>
          </a:p>
          <a:p>
            <a:r>
              <a:rPr lang="pt-BR" dirty="0" smtClean="0"/>
              <a:t>Formas de Citação</a:t>
            </a:r>
          </a:p>
          <a:p>
            <a:r>
              <a:rPr lang="pt-BR" dirty="0" smtClean="0"/>
              <a:t>Sistemas de Chamada</a:t>
            </a:r>
          </a:p>
          <a:p>
            <a:r>
              <a:rPr lang="pt-BR" dirty="0" smtClean="0"/>
              <a:t>Notas de Rodapé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 bwMode="auto">
          <a:xfrm>
            <a:off x="1187624" y="785813"/>
            <a:ext cx="7499176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Usa-se </a:t>
            </a:r>
            <a:r>
              <a:rPr lang="pt-BR" i="1" smtClean="0"/>
              <a:t>Citação</a:t>
            </a:r>
            <a:r>
              <a:rPr lang="pt-BR" smtClean="0"/>
              <a:t> para</a:t>
            </a:r>
          </a:p>
        </p:txBody>
      </p:sp>
      <p:sp>
        <p:nvSpPr>
          <p:cNvPr id="4096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2071688"/>
            <a:ext cx="7499176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Dar credibilidade ao trabalho científico </a:t>
            </a:r>
          </a:p>
          <a:p>
            <a:r>
              <a:rPr lang="pt-BR" dirty="0" smtClean="0"/>
              <a:t>Fornecer informações a respeito dos trabalhos desenvolvidos na área de pesquisa </a:t>
            </a:r>
          </a:p>
          <a:p>
            <a:r>
              <a:rPr lang="pt-BR" dirty="0" smtClean="0"/>
              <a:t>Fornecer exemplos de pontos de vista semelhantes ou divergentes sobre o assunto objeto de sua pesquisa 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Quando atribuir crédito à fonte  citada?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15616" y="2071688"/>
            <a:ext cx="7571184" cy="4054475"/>
          </a:xfrm>
        </p:spPr>
        <p:txBody>
          <a:bodyPr/>
          <a:lstStyle/>
          <a:p>
            <a:pPr>
              <a:defRPr/>
            </a:pPr>
            <a:r>
              <a:rPr lang="pt-BR" dirty="0" smtClean="0"/>
              <a:t>Quando usamos palavras ou idéias extraídas de:</a:t>
            </a:r>
            <a:r>
              <a:rPr lang="pt-BR" b="1" dirty="0" smtClean="0"/>
              <a:t> </a:t>
            </a:r>
            <a:endParaRPr lang="pt-BR" dirty="0" smtClean="0"/>
          </a:p>
          <a:p>
            <a:pPr lvl="1">
              <a:defRPr/>
            </a:pPr>
            <a:r>
              <a:rPr lang="pt-BR" dirty="0" smtClean="0">
                <a:ea typeface="+mn-ea"/>
                <a:cs typeface="+mn-cs"/>
              </a:rPr>
              <a:t>Livros, revistas, relatórios, programas de TV, filmes, cartas, páginas web, e-mail, listas de discussão etc.</a:t>
            </a:r>
            <a:endParaRPr lang="pt-BR" dirty="0" smtClean="0"/>
          </a:p>
          <a:p>
            <a:pPr lvl="1">
              <a:defRPr/>
            </a:pPr>
            <a:r>
              <a:rPr lang="pt-BR" dirty="0" smtClean="0">
                <a:ea typeface="+mn-ea"/>
                <a:cs typeface="+mn-cs"/>
              </a:rPr>
              <a:t>Informações extraídas de entrevistas e palestras.</a:t>
            </a:r>
            <a:endParaRPr lang="pt-BR" dirty="0" smtClean="0"/>
          </a:p>
          <a:p>
            <a:pPr lvl="1">
              <a:defRPr/>
            </a:pPr>
            <a:r>
              <a:rPr lang="pt-BR" dirty="0" smtClean="0">
                <a:ea typeface="+mn-ea"/>
                <a:cs typeface="+mn-cs"/>
              </a:rPr>
              <a:t>Cópia exata de um parágrafo ou frases.</a:t>
            </a:r>
            <a:endParaRPr lang="pt-BR" dirty="0" smtClean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 bwMode="auto">
          <a:xfrm>
            <a:off x="1259632" y="785813"/>
            <a:ext cx="7427168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Quando </a:t>
            </a:r>
            <a:r>
              <a:rPr lang="pt-BR" i="1" smtClean="0"/>
              <a:t>não</a:t>
            </a:r>
            <a:r>
              <a:rPr lang="pt-BR" smtClean="0"/>
              <a:t> precisamos atribuir crédito?</a:t>
            </a:r>
          </a:p>
        </p:txBody>
      </p:sp>
      <p:sp>
        <p:nvSpPr>
          <p:cNvPr id="4301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59632" y="2428875"/>
            <a:ext cx="7427168" cy="36972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400" dirty="0" smtClean="0"/>
              <a:t>Nossas próprias palavras ou idéias.</a:t>
            </a:r>
          </a:p>
          <a:p>
            <a:r>
              <a:rPr lang="pt-BR" sz="2400" dirty="0" smtClean="0"/>
              <a:t>Conhecimento comum.</a:t>
            </a:r>
          </a:p>
          <a:p>
            <a:r>
              <a:rPr lang="pt-BR" sz="2400" dirty="0" smtClean="0"/>
              <a:t>Informações contidas em enciclopédias, dicionários, etc. </a:t>
            </a:r>
          </a:p>
          <a:p>
            <a:r>
              <a:rPr lang="pt-BR" sz="2400" dirty="0" smtClean="0"/>
              <a:t>Informações históricas de conhecimento público.</a:t>
            </a:r>
          </a:p>
          <a:p>
            <a:pPr lvl="1"/>
            <a:r>
              <a:rPr lang="pt-BR" sz="2000" dirty="0" smtClean="0"/>
              <a:t>Ex: Getulio Vargas suicidou-se em 1954.</a:t>
            </a:r>
          </a:p>
          <a:p>
            <a:r>
              <a:rPr lang="pt-BR" sz="2400" dirty="0" smtClean="0"/>
              <a:t>Noticias publicadas em revistas ou jornais.</a:t>
            </a:r>
          </a:p>
          <a:p>
            <a:pPr lvl="1"/>
            <a:r>
              <a:rPr lang="pt-BR" sz="2000" dirty="0" smtClean="0"/>
              <a:t>Ex: Luiz Inácio Lula da Silva foi eleito presidente do Brasil.</a:t>
            </a:r>
          </a:p>
          <a:p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 bwMode="auto">
          <a:xfrm>
            <a:off x="1259632" y="785813"/>
            <a:ext cx="7427168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Formas de Citação</a:t>
            </a:r>
          </a:p>
        </p:txBody>
      </p:sp>
      <p:sp>
        <p:nvSpPr>
          <p:cNvPr id="4403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59632" y="2286000"/>
            <a:ext cx="7427168" cy="3840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400" dirty="0" smtClean="0"/>
              <a:t>Indireta</a:t>
            </a:r>
          </a:p>
          <a:p>
            <a:r>
              <a:rPr lang="pt-BR" sz="4400" dirty="0" smtClean="0"/>
              <a:t>Direta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 bwMode="auto">
          <a:xfrm>
            <a:off x="1259632" y="785813"/>
            <a:ext cx="7427168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Citação Direta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59632" y="1785938"/>
            <a:ext cx="7427168" cy="43402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É a transcrição ou cópia de um parágrafo, uma frase ou uma expressão, usando exatamente as mesmas palavras usadas pelo autor do trabalho consultado. </a:t>
            </a:r>
          </a:p>
          <a:p>
            <a:r>
              <a:rPr lang="pt-BR" dirty="0" smtClean="0"/>
              <a:t>Nesse caso, repete-se palavra por palavra e estas devem vir, obrigatoriamente entre “aspas duplas”, ou com destaque gráfico</a:t>
            </a:r>
            <a:r>
              <a:rPr lang="pt-BR" b="1" dirty="0" smtClean="0"/>
              <a:t>,</a:t>
            </a:r>
            <a:r>
              <a:rPr lang="pt-BR" dirty="0" smtClean="0"/>
              <a:t> seguidas da indicação da fonte consultada.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 bwMode="auto">
          <a:xfrm>
            <a:off x="1187624" y="785813"/>
            <a:ext cx="7499176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Citação Indireta ou Paráfrase</a:t>
            </a:r>
          </a:p>
        </p:txBody>
      </p:sp>
      <p:sp>
        <p:nvSpPr>
          <p:cNvPr id="4505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2071688"/>
            <a:ext cx="7499176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É a transcrição das ideias de um autor usando nossas próprias palavras. </a:t>
            </a:r>
          </a:p>
          <a:p>
            <a:r>
              <a:rPr lang="pt-BR" dirty="0" smtClean="0"/>
              <a:t>A citação indireta deve ser encorajada pois demonstra que temos uma visão sobre as ideias de outro autor e não apenas uma cópia.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mtClean="0"/>
              <a:t>Dicas para fazer uma citação indireta:</a:t>
            </a:r>
          </a:p>
        </p:txBody>
      </p:sp>
      <p:sp>
        <p:nvSpPr>
          <p:cNvPr id="4608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2428875"/>
            <a:ext cx="7571184" cy="36972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dirty="0" smtClean="0"/>
              <a:t>Leia e releia o texto original até que seja capaz de  reescrevê-lo com suas próprias palavras.</a:t>
            </a:r>
          </a:p>
          <a:p>
            <a:r>
              <a:rPr lang="pt-BR" sz="2800" dirty="0" smtClean="0"/>
              <a:t>Não use aspas nas citações indiretas/paráfrases</a:t>
            </a:r>
          </a:p>
          <a:p>
            <a:r>
              <a:rPr lang="pt-BR" sz="2800" dirty="0" smtClean="0"/>
              <a:t>Anote os dados referentes a fonte: sobrenome do autor seguido do ano de  publicação da obra.</a:t>
            </a:r>
          </a:p>
          <a:p>
            <a:r>
              <a:rPr lang="pt-BR" sz="2800" dirty="0" smtClean="0"/>
              <a:t>Confira a citação.</a:t>
            </a:r>
          </a:p>
          <a:p>
            <a:r>
              <a:rPr lang="pt-BR" sz="2800" dirty="0" smtClean="0"/>
              <a:t>Faça a referência.</a:t>
            </a:r>
          </a:p>
          <a:p>
            <a:endParaRPr lang="pt-BR" sz="2800" dirty="0" smtClean="0"/>
          </a:p>
        </p:txBody>
      </p:sp>
      <p:pic>
        <p:nvPicPr>
          <p:cNvPr id="24578" name="Picture 2" descr="https://encrypted-tbn1.google.com/images?q=tbn:ANd9GcQTAr3MIXOtJ-qkfVS_keYGrpU1TYVEtvBBjOLAMtKXU-dKfF_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792728"/>
            <a:ext cx="1224136" cy="18267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177</TotalTime>
  <Words>1778</Words>
  <Application>Microsoft Office PowerPoint</Application>
  <PresentationFormat>Apresentação na tela (4:3)</PresentationFormat>
  <Paragraphs>276</Paragraphs>
  <Slides>46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7" baseType="lpstr">
      <vt:lpstr>Solstício</vt:lpstr>
      <vt:lpstr>Pesquisa Bibliográfica</vt:lpstr>
      <vt:lpstr>Atenção!</vt:lpstr>
      <vt:lpstr>Pesquisa Bibliográfica</vt:lpstr>
      <vt:lpstr>Pesquisa Bibliográfica</vt:lpstr>
      <vt:lpstr>Como iniciar a pesquisa bibliográfica</vt:lpstr>
      <vt:lpstr>Inicie com um Survey</vt:lpstr>
      <vt:lpstr>Clássicos</vt:lpstr>
      <vt:lpstr>Tipos de Fontes Bibliográficas</vt:lpstr>
      <vt:lpstr>Outras Fontes</vt:lpstr>
      <vt:lpstr>Especificidade de Veículos  a uma Área</vt:lpstr>
      <vt:lpstr>Especificidade de Veículos  a uma Área</vt:lpstr>
      <vt:lpstr>Tipo de Veículo e Abrangência</vt:lpstr>
      <vt:lpstr>O que é o Qualis</vt:lpstr>
      <vt:lpstr>Estratos de Qualidade</vt:lpstr>
      <vt:lpstr>Conferências</vt:lpstr>
      <vt:lpstr>Pesquisa Bibliográfica</vt:lpstr>
      <vt:lpstr>Leitura Crítica</vt:lpstr>
      <vt:lpstr>Pesquisa Bibliográfica</vt:lpstr>
      <vt:lpstr>Para pesquisa aplicada</vt:lpstr>
      <vt:lpstr>Síndrome da Intersecção Esquecida (SIE)</vt:lpstr>
      <vt:lpstr>Como o aluno justifica a SIE</vt:lpstr>
      <vt:lpstr>Melhor pensar assim:</vt:lpstr>
      <vt:lpstr>Pesquisa Bibliográfica</vt:lpstr>
      <vt:lpstr>Fundamento Vazio</vt:lpstr>
      <vt:lpstr>Pesquisa Bibliográfica</vt:lpstr>
      <vt:lpstr>Fichas de Leitura</vt:lpstr>
      <vt:lpstr>Pesquisa Bibliográfica</vt:lpstr>
      <vt:lpstr>Delimitação da Leitura</vt:lpstr>
      <vt:lpstr>Depois</vt:lpstr>
      <vt:lpstr>Pesquisa Bibliográfica</vt:lpstr>
      <vt:lpstr>Perguntas geradoras de idéias de pesquisa</vt:lpstr>
      <vt:lpstr>Exposição à Pesquisa</vt:lpstr>
      <vt:lpstr>Pesquisa Bibliográfica</vt:lpstr>
      <vt:lpstr>Ferramentas de Pesquisa Bibliográfica</vt:lpstr>
      <vt:lpstr>Bases de Dados</vt:lpstr>
      <vt:lpstr>Algumas Bases de Dados Disponíveis via Internet</vt:lpstr>
      <vt:lpstr>Portal Capes</vt:lpstr>
      <vt:lpstr>Pesquisa Bibliográfica</vt:lpstr>
      <vt:lpstr>Referências Fonte: http://www.bu.ufsc.br/design/Citacao1.htm</vt:lpstr>
      <vt:lpstr>Usa-se Citação para</vt:lpstr>
      <vt:lpstr>Quando atribuir crédito à fonte  citada?</vt:lpstr>
      <vt:lpstr>Quando não precisamos atribuir crédito?</vt:lpstr>
      <vt:lpstr>Formas de Citação</vt:lpstr>
      <vt:lpstr>Citação Direta</vt:lpstr>
      <vt:lpstr>Citação Indireta ou Paráfrase</vt:lpstr>
      <vt:lpstr>Dicas para fazer uma citação indireta: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</dc:title>
  <cp:lastModifiedBy>Usuário</cp:lastModifiedBy>
  <cp:revision>15</cp:revision>
  <dcterms:modified xsi:type="dcterms:W3CDTF">2013-04-10T20:18:51Z</dcterms:modified>
</cp:coreProperties>
</file>